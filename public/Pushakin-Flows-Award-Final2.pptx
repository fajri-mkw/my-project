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86688" y="-642937"/>
            <a:ext cx="2000250" cy="200025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428625" y="2286000"/>
            <a:ext cx="1285875" cy="1285875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28625" y="1000125"/>
            <a:ext cx="1000125" cy="1000125"/>
          </a:xfrm>
          <a:prstGeom prst="ellipse">
            <a:avLst/>
          </a:prstGeom>
          <a:solidFill>
            <a:srgbClr val="FF9F1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715125" y="4214813"/>
            <a:ext cx="1571625" cy="1571625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257175"/>
            <a:ext cx="86360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925" dirty="0"/>
          </a:p>
        </p:txBody>
      </p:sp>
      <p:sp>
        <p:nvSpPr>
          <p:cNvPr id="8" name="Text 5"/>
          <p:cNvSpPr/>
          <p:nvPr/>
        </p:nvSpPr>
        <p:spPr>
          <a:xfrm>
            <a:off x="0" y="700088"/>
            <a:ext cx="8636000" cy="315468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spc="56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0" y="1042988"/>
            <a:ext cx="8636000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Produksi &amp; Manajemen Humas</a:t>
            </a:r>
            <a:endParaRPr lang="en-US" sz="1013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219" y="1293019"/>
            <a:ext cx="1071563" cy="214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1400175"/>
            <a:ext cx="8636000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0" y="1543050"/>
            <a:ext cx="863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RI — UIN Antasari Banjarmasin 2026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50044" y="1793081"/>
            <a:ext cx="8443913" cy="2100263"/>
          </a:xfrm>
          <a:prstGeom prst="roundRect">
            <a:avLst>
              <a:gd name="adj" fmla="val 6349"/>
            </a:avLst>
          </a:prstGeom>
          <a:solidFill>
            <a:srgbClr val="FFFBF0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14350" y="1900238"/>
            <a:ext cx="81153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44" b="1" spc="28" kern="0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📖</a:t>
            </a:r>
            <a:pPr algn="ctr" indent="0" marL="0">
              <a:buNone/>
            </a:pPr>
            <a:r>
              <a:rPr lang="en-US" sz="844" b="1" spc="28" kern="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Daftar Isi</a:t>
            </a:r>
            <a:endParaRPr lang="en-US" sz="844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3" y="2114550"/>
            <a:ext cx="3000375" cy="242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75384" y="2118122"/>
            <a:ext cx="2993231" cy="235744"/>
          </a:xfrm>
          <a:prstGeom prst="roundRect">
            <a:avLst>
              <a:gd name="adj" fmla="val 80808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207544" y="2157413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207544" y="215741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436144" y="2185988"/>
            <a:ext cx="25074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Pengertian &amp; Tujuan Sistem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3" y="2400300"/>
            <a:ext cx="3000375" cy="242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75384" y="2403872"/>
            <a:ext cx="2993231" cy="235744"/>
          </a:xfrm>
          <a:prstGeom prst="roundRect">
            <a:avLst>
              <a:gd name="adj" fmla="val 80808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3207544" y="2443163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207544" y="244316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3436144" y="2471738"/>
            <a:ext cx="25003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Latar Belakang &amp; Strategi</a:t>
            </a:r>
            <a:endParaRPr lang="en-US" sz="8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813" y="2686050"/>
            <a:ext cx="3000375" cy="2428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075384" y="2689622"/>
            <a:ext cx="2993231" cy="235744"/>
          </a:xfrm>
          <a:prstGeom prst="roundRect">
            <a:avLst>
              <a:gd name="adj" fmla="val 80808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3207544" y="2728913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3207544" y="272891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3436144" y="2757488"/>
            <a:ext cx="25074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Surat &amp; Inventaris</a:t>
            </a:r>
            <a:endParaRPr lang="en-US" sz="8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813" y="2971800"/>
            <a:ext cx="3000375" cy="2428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075384" y="2975372"/>
            <a:ext cx="2993231" cy="235744"/>
          </a:xfrm>
          <a:prstGeom prst="roundRect">
            <a:avLst>
              <a:gd name="adj" fmla="val 80808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3207544" y="3014663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3207544" y="301466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3436144" y="3043238"/>
            <a:ext cx="25074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Komunikasi untuk Petugas</a:t>
            </a:r>
            <a:endParaRPr lang="en-US" sz="8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1813" y="3257550"/>
            <a:ext cx="3000375" cy="2428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075384" y="3261122"/>
            <a:ext cx="2993231" cy="235744"/>
          </a:xfrm>
          <a:prstGeom prst="roundRect">
            <a:avLst>
              <a:gd name="adj" fmla="val 80808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3207544" y="3300413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3207544" y="330041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3436144" y="3328988"/>
            <a:ext cx="25003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Inovasi Integrasi: LIHUM</a:t>
            </a:r>
            <a:endParaRPr lang="en-US" sz="8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813" y="3543300"/>
            <a:ext cx="3000375" cy="2428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075384" y="3546872"/>
            <a:ext cx="2993231" cy="235744"/>
          </a:xfrm>
          <a:prstGeom prst="roundRect">
            <a:avLst>
              <a:gd name="adj" fmla="val 80808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2"/>
          <p:cNvSpPr/>
          <p:nvPr/>
        </p:nvSpPr>
        <p:spPr>
          <a:xfrm>
            <a:off x="3207544" y="3586163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3207544" y="358616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44" name="Text 34"/>
          <p:cNvSpPr/>
          <p:nvPr/>
        </p:nvSpPr>
        <p:spPr>
          <a:xfrm>
            <a:off x="3436144" y="3614738"/>
            <a:ext cx="25074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Eksekusi, Pengukuran &amp; Penutup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342900" y="4000500"/>
            <a:ext cx="8458200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8" kern="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Hubungan Masyarakat dan Keterbukaan Informasi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C2A8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0025"/>
            <a:ext cx="8686800" cy="3643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2172" y="203597"/>
            <a:ext cx="8679656" cy="357188"/>
          </a:xfrm>
          <a:prstGeom prst="roundRect">
            <a:avLst>
              <a:gd name="adj" fmla="val 37333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4C2A85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78619" y="289322"/>
            <a:ext cx="689818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Pengertian &amp; Tujuan</a:t>
            </a:r>
            <a:endParaRPr lang="en-US" sz="1238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090" y="278606"/>
            <a:ext cx="1474291" cy="207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94662" y="282178"/>
            <a:ext cx="1467148" cy="200025"/>
          </a:xfrm>
          <a:prstGeom prst="roundRect">
            <a:avLst>
              <a:gd name="adj" fmla="val 95238"/>
            </a:avLst>
          </a:prstGeom>
          <a:noFill/>
          <a:ln w="7144">
            <a:solidFill>
              <a:srgbClr val="B8941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7291090" y="278606"/>
            <a:ext cx="1474291" cy="207169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Menjawab: 🎯 Objektif (20%)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239316" y="650081"/>
            <a:ext cx="0" cy="107156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28600" y="650081"/>
            <a:ext cx="3200846" cy="108299"/>
          </a:xfrm>
          <a:prstGeom prst="rect">
            <a:avLst/>
          </a:prstGeom>
          <a:noFill/>
          <a:ln/>
        </p:spPr>
        <p:txBody>
          <a:bodyPr wrap="none" lIns="42863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Apa itu Pushakin Flows?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228600" y="785813"/>
            <a:ext cx="3200846" cy="373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manajemen produksi kehumasan yang terintegrasi end-to-end. Mewadahi proses produksi bagi setiap user sesuai peran, dan menyediakan manajemen terintegrasi untuk Humas — dari surat, kegiatan, konten, hingga inventaris.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239316" y="1187090"/>
            <a:ext cx="0" cy="107156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8600" y="1187090"/>
            <a:ext cx="3200846" cy="126609"/>
          </a:xfrm>
          <a:prstGeom prst="rect">
            <a:avLst/>
          </a:prstGeom>
          <a:noFill/>
          <a:ln/>
        </p:spPr>
        <p:txBody>
          <a:bodyPr wrap="none" lIns="42863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Tujuan Sistem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228600" y="1351397"/>
            <a:ext cx="3200846" cy="64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Dokumentasi tujuan komunikasi per kegiatan (Surat→Kegiatan→Proyek)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Mewadahi proses produksi bagi user sesuai peran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Manajemen terintegrasi: Surat, Kegiatan, Konten, Inventaris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Bukti kinerja SKP per petugas (PDF/Excel)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Transparansi publik via Public Tracker + LIHUM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239316" y="1997906"/>
            <a:ext cx="0" cy="100013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28600" y="1997906"/>
            <a:ext cx="3200846" cy="115443"/>
          </a:xfrm>
          <a:prstGeom prst="rect">
            <a:avLst/>
          </a:prstGeom>
          <a:noFill/>
          <a:ln/>
        </p:spPr>
        <p:txBody>
          <a:bodyPr wrap="none" lIns="42863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Objektif Tercatat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28600" y="2140781"/>
            <a:ext cx="3200846" cy="214313"/>
          </a:xfrm>
          <a:prstGeom prst="roundRect">
            <a:avLst>
              <a:gd name="adj" fmla="val 35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28600" y="2144353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425875" y="2140781"/>
            <a:ext cx="0" cy="2143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8600" y="2351522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39316" y="2140781"/>
            <a:ext cx="0" cy="214313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07181" y="2183643"/>
            <a:ext cx="128588" cy="128588"/>
          </a:xfrm>
          <a:prstGeom prst="roundRect">
            <a:avLst>
              <a:gd name="adj" fmla="val 66666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78631" y="2208647"/>
            <a:ext cx="1145902" cy="120701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Masuk — perihal, pengirim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307181" y="2183643"/>
            <a:ext cx="128588" cy="128588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28613" y="220507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8600" y="2383668"/>
            <a:ext cx="3200846" cy="214313"/>
          </a:xfrm>
          <a:prstGeom prst="roundRect">
            <a:avLst>
              <a:gd name="adj" fmla="val 35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228600" y="2387240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425875" y="2383668"/>
            <a:ext cx="0" cy="2143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28600" y="2594409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39316" y="2383668"/>
            <a:ext cx="0" cy="214313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07181" y="2426531"/>
            <a:ext cx="128588" cy="128588"/>
          </a:xfrm>
          <a:prstGeom prst="roundRect">
            <a:avLst>
              <a:gd name="adj" fmla="val 66666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78631" y="2451534"/>
            <a:ext cx="1177714" cy="120701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Program Kegiatan — nomor, jenis</a:t>
            </a:r>
            <a:endParaRPr lang="en-US" sz="600" dirty="0"/>
          </a:p>
        </p:txBody>
      </p:sp>
      <p:sp>
        <p:nvSpPr>
          <p:cNvPr id="34" name="Text 29"/>
          <p:cNvSpPr/>
          <p:nvPr/>
        </p:nvSpPr>
        <p:spPr>
          <a:xfrm>
            <a:off x="307181" y="2426531"/>
            <a:ext cx="128588" cy="128588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328613" y="244796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28600" y="2626556"/>
            <a:ext cx="3200846" cy="214313"/>
          </a:xfrm>
          <a:prstGeom prst="roundRect">
            <a:avLst>
              <a:gd name="adj" fmla="val 35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2"/>
          <p:cNvSpPr/>
          <p:nvPr/>
        </p:nvSpPr>
        <p:spPr>
          <a:xfrm>
            <a:off x="228600" y="2630128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425875" y="2626556"/>
            <a:ext cx="0" cy="21431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228600" y="2837297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239316" y="2626556"/>
            <a:ext cx="0" cy="214313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07181" y="2669418"/>
            <a:ext cx="128588" cy="128588"/>
          </a:xfrm>
          <a:prstGeom prst="roundRect">
            <a:avLst>
              <a:gd name="adj" fmla="val 66666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478631" y="2694422"/>
            <a:ext cx="989075" cy="120701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Proyek + Surat Tugas resmi</a:t>
            </a:r>
            <a:endParaRPr lang="en-US" sz="600" dirty="0"/>
          </a:p>
        </p:txBody>
      </p:sp>
      <p:sp>
        <p:nvSpPr>
          <p:cNvPr id="43" name="Text 38"/>
          <p:cNvSpPr/>
          <p:nvPr/>
        </p:nvSpPr>
        <p:spPr>
          <a:xfrm>
            <a:off x="307181" y="2669418"/>
            <a:ext cx="128588" cy="128588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328613" y="269085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3608040" y="657225"/>
            <a:ext cx="5300216" cy="3629025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3" descr="/tmp/h2p-fit-1791110927590-jmvp7j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046" y="1299716"/>
            <a:ext cx="5200204" cy="2344043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159573" y="4336256"/>
            <a:ext cx="219703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i="1" dirty="0">
                <a:solidFill>
                  <a:srgbClr val="1E5FA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 — Dashboard Pushakin Flows</a:t>
            </a:r>
            <a:endParaRPr lang="en-US" sz="619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579144"/>
            <a:ext cx="8686800" cy="221456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232172" y="4582716"/>
            <a:ext cx="8679656" cy="214313"/>
          </a:xfrm>
          <a:prstGeom prst="roundRect">
            <a:avLst>
              <a:gd name="adj" fmla="val 44444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228600" y="4579144"/>
            <a:ext cx="8636000" cy="309233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Tujuan komunikasi terdokumentasi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lapisan: Surat → Kegiatan → Proyek + Surat Tugas. Objektif jelas, terukur, tertulis.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4AF3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0025"/>
            <a:ext cx="8686800" cy="3643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2172" y="203597"/>
            <a:ext cx="8679656" cy="357188"/>
          </a:xfrm>
          <a:prstGeom prst="roundRect">
            <a:avLst>
              <a:gd name="adj" fmla="val 37333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4C2A85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78619" y="289322"/>
            <a:ext cx="689818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Latar Belakang &amp; Strategi</a:t>
            </a:r>
            <a:endParaRPr lang="en-US" sz="1238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090" y="278606"/>
            <a:ext cx="1474291" cy="207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94662" y="282178"/>
            <a:ext cx="1467148" cy="200025"/>
          </a:xfrm>
          <a:prstGeom prst="roundRect">
            <a:avLst>
              <a:gd name="adj" fmla="val 95238"/>
            </a:avLst>
          </a:prstGeom>
          <a:noFill/>
          <a:ln w="7144">
            <a:solidFill>
              <a:srgbClr val="B8941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7291090" y="278606"/>
            <a:ext cx="1474291" cy="207169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Menjawab: ♟️ Strategi (20%)</a:t>
            </a:r>
            <a:endParaRPr lang="en-US" sz="731" dirty="0"/>
          </a:p>
        </p:txBody>
      </p:sp>
      <p:sp>
        <p:nvSpPr>
          <p:cNvPr id="10" name="Shape 5"/>
          <p:cNvSpPr/>
          <p:nvPr/>
        </p:nvSpPr>
        <p:spPr>
          <a:xfrm>
            <a:off x="239316" y="650081"/>
            <a:ext cx="0" cy="107156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28600" y="650081"/>
            <a:ext cx="3200846" cy="108299"/>
          </a:xfrm>
          <a:prstGeom prst="rect">
            <a:avLst/>
          </a:prstGeom>
          <a:noFill/>
          <a:ln/>
        </p:spPr>
        <p:txBody>
          <a:bodyPr wrap="none" lIns="42863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Kenapa Sistem Dibuat?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228600" y="785813"/>
            <a:ext cx="345691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Kendala produksi kehumasan sebelum sistem: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228600" y="892969"/>
            <a:ext cx="320084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8B263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Koordinasi manual via WA — tidak tertracking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8B263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File tersebar — tidak terstruktur per kegiatan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8B263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Tidak ada bukti kinerja — SKP sulit dilaporkan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69"/>
              </a:spcAft>
              <a:buSzPct val="100000"/>
              <a:buChar char="•"/>
            </a:pPr>
            <a:r>
              <a:rPr lang="en-US" sz="800" dirty="0">
                <a:solidFill>
                  <a:srgbClr val="8B263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Tidak transparan — publik tidak bisa pantau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239316" y="1435894"/>
            <a:ext cx="0" cy="107156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" y="1435894"/>
            <a:ext cx="3200846" cy="108299"/>
          </a:xfrm>
          <a:prstGeom prst="rect">
            <a:avLst/>
          </a:prstGeom>
          <a:noFill/>
          <a:ln/>
        </p:spPr>
        <p:txBody>
          <a:bodyPr wrap="none" lIns="42863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Strategi yang Diterapkan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28600" y="1571625"/>
            <a:ext cx="345691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menjawab dengan 5 strategi: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228600" y="1678781"/>
            <a:ext cx="3200846" cy="200025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228600" y="1682353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425875" y="1678781"/>
            <a:ext cx="0" cy="200025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28600" y="1875234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39316" y="1678781"/>
            <a:ext cx="0" cy="200025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1488" y="1739503"/>
            <a:ext cx="1393813" cy="120701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Pemilihan petugas per role (16 role spesifik)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307181" y="1721644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28600" y="1907381"/>
            <a:ext cx="3200846" cy="200025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228600" y="1910953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425875" y="1907381"/>
            <a:ext cx="0" cy="200025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28600" y="2103834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39316" y="1907381"/>
            <a:ext cx="0" cy="200025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1488" y="1968103"/>
            <a:ext cx="1167445" cy="120701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Fast Track untuk kegiatan mendesak</a:t>
            </a:r>
            <a:endParaRPr lang="en-US" sz="600" dirty="0"/>
          </a:p>
        </p:txBody>
      </p:sp>
      <p:sp>
        <p:nvSpPr>
          <p:cNvPr id="30" name="Text 25"/>
          <p:cNvSpPr/>
          <p:nvPr/>
        </p:nvSpPr>
        <p:spPr>
          <a:xfrm>
            <a:off x="307181" y="1950244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228600" y="2135981"/>
            <a:ext cx="3200846" cy="200025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7"/>
          <p:cNvSpPr/>
          <p:nvPr/>
        </p:nvSpPr>
        <p:spPr>
          <a:xfrm>
            <a:off x="228600" y="2139553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425875" y="2135981"/>
            <a:ext cx="0" cy="200025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28600" y="2332434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39316" y="2135981"/>
            <a:ext cx="0" cy="200025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1488" y="2196703"/>
            <a:ext cx="1238324" cy="120701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Deteksi konflik jadwal petugas (±3 jam)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307181" y="2178844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28600" y="2364581"/>
            <a:ext cx="3200846" cy="200025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4"/>
          <p:cNvSpPr/>
          <p:nvPr/>
        </p:nvSpPr>
        <p:spPr>
          <a:xfrm>
            <a:off x="228600" y="2368153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425875" y="2364581"/>
            <a:ext cx="0" cy="200025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228600" y="2561034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239316" y="2364581"/>
            <a:ext cx="0" cy="200025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71488" y="2425303"/>
            <a:ext cx="1362224" cy="120701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inventaris pendukung kegiatan</a:t>
            </a:r>
            <a:endParaRPr lang="en-US" sz="600" dirty="0"/>
          </a:p>
        </p:txBody>
      </p:sp>
      <p:sp>
        <p:nvSpPr>
          <p:cNvPr id="44" name="Text 39"/>
          <p:cNvSpPr/>
          <p:nvPr/>
        </p:nvSpPr>
        <p:spPr>
          <a:xfrm>
            <a:off x="307181" y="2407444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228600" y="2593181"/>
            <a:ext cx="3200846" cy="200025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1"/>
          <p:cNvSpPr/>
          <p:nvPr/>
        </p:nvSpPr>
        <p:spPr>
          <a:xfrm>
            <a:off x="228600" y="2596753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425875" y="2593181"/>
            <a:ext cx="0" cy="200025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228600" y="2789634"/>
            <a:ext cx="320084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9316" y="2593181"/>
            <a:ext cx="0" cy="200025"/>
          </a:xfrm>
          <a:prstGeom prst="line">
            <a:avLst/>
          </a:prstGeom>
          <a:noFill/>
          <a:ln w="21431">
            <a:solidFill>
              <a:srgbClr val="2EC4B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71488" y="2653903"/>
            <a:ext cx="1391245" cy="120701"/>
          </a:xfrm>
          <a:prstGeom prst="rect">
            <a:avLst/>
          </a:prstGeom>
          <a:noFill/>
          <a:ln/>
        </p:spPr>
        <p:txBody>
          <a:bodyPr wrap="square" lIns="57150" tIns="35719" rIns="57150" bIns="35719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Reminder WA dengan progress per petugas</a:t>
            </a:r>
            <a:endParaRPr lang="en-US" sz="600" dirty="0"/>
          </a:p>
        </p:txBody>
      </p:sp>
      <p:sp>
        <p:nvSpPr>
          <p:cNvPr id="51" name="Text 46"/>
          <p:cNvSpPr/>
          <p:nvPr/>
        </p:nvSpPr>
        <p:spPr>
          <a:xfrm>
            <a:off x="307181" y="2636044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3608040" y="657225"/>
            <a:ext cx="5300216" cy="3629025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71450" dist="57150" dir="54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3" descr="/tmp/h2p-fit-1791110928060-gc2fv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046" y="1299716"/>
            <a:ext cx="5200204" cy="2344043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5087578" y="4336256"/>
            <a:ext cx="2341141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i="1" dirty="0">
                <a:solidFill>
                  <a:srgbClr val="1E5FA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Statistik &amp; Progress — Reminder WA dengan progress per petugas</a:t>
            </a:r>
            <a:endParaRPr lang="en-US" sz="619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579144"/>
            <a:ext cx="8686800" cy="221456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232172" y="4582716"/>
            <a:ext cx="8679656" cy="214313"/>
          </a:xfrm>
          <a:prstGeom prst="roundRect">
            <a:avLst>
              <a:gd name="adj" fmla="val 44444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228600" y="4579144"/>
            <a:ext cx="8636000" cy="309233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Strategi terdukung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sistem: pemilihan petugas, respons cepat, deteksi konflik, inventaris, koordinasi WA. Eksekusi komunikasi terkoordinasi &amp; efektif.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9F1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1450"/>
            <a:ext cx="8686800" cy="3643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2172" y="175022"/>
            <a:ext cx="8679656" cy="357188"/>
          </a:xfrm>
          <a:prstGeom prst="roundRect">
            <a:avLst>
              <a:gd name="adj" fmla="val 37333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4C2A85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78619" y="260747"/>
            <a:ext cx="7043738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Manajemen Surat &amp; Inventaris</a:t>
            </a:r>
            <a:endParaRPr lang="en-US" sz="1238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644" y="250031"/>
            <a:ext cx="1328738" cy="207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13784" y="237601"/>
            <a:ext cx="1374458" cy="232029"/>
          </a:xfrm>
          <a:prstGeom prst="roundRect">
            <a:avLst>
              <a:gd name="adj" fmla="val 82102"/>
            </a:avLst>
          </a:prstGeom>
          <a:noFill/>
          <a:ln w="7144">
            <a:solidFill>
              <a:srgbClr val="B8941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7436644" y="250031"/>
            <a:ext cx="13287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Modul Pendukung Utama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228600" y="592931"/>
            <a:ext cx="8636000" cy="135758"/>
          </a:xfrm>
          <a:prstGeom prst="rect">
            <a:avLst/>
          </a:prstGeom>
          <a:noFill/>
          <a:ln/>
        </p:spPr>
        <p:txBody>
          <a:bodyPr wrap="square" lIns="142875" tIns="0" rIns="142875" bIns="0" rtlCol="0" anchor="t">
            <a:normAutofit/>
          </a:bodyPr>
          <a:lstStyle/>
          <a:p>
            <a:pPr algn="ctr" indent="0" marL="0">
              <a:lnSpc>
                <a:spcPts val="835"/>
              </a:lnSpc>
              <a:buNone/>
            </a:pPr>
            <a:r>
              <a:rPr lang="en-US" sz="619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Dua modul inti yang mendasari proses komunikasi publik — manajemen surat sebagai dokumentasi objektif, dan manajemen inventaris sebagai dukungan eksekusi kegiatan.</a:t>
            </a:r>
            <a:endParaRPr lang="en-US" sz="619" dirty="0"/>
          </a:p>
        </p:txBody>
      </p:sp>
      <p:sp>
        <p:nvSpPr>
          <p:cNvPr id="11" name="Text 6"/>
          <p:cNvSpPr/>
          <p:nvPr/>
        </p:nvSpPr>
        <p:spPr>
          <a:xfrm>
            <a:off x="239316" y="766837"/>
            <a:ext cx="4264819" cy="3621881"/>
          </a:xfrm>
          <a:prstGeom prst="roundRect">
            <a:avLst>
              <a:gd name="adj" fmla="val 3682"/>
            </a:avLst>
          </a:prstGeom>
          <a:solidFill>
            <a:srgbClr val="FFFFFF"/>
          </a:solidFill>
          <a:ln w="21431">
            <a:solidFill>
              <a:srgbClr val="2EC4B6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350044" y="863278"/>
            <a:ext cx="40433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8C7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l" indent="0" marL="0">
              <a:buNone/>
            </a:pPr>
            <a:r>
              <a:rPr lang="en-US" sz="800" b="1" dirty="0">
                <a:solidFill>
                  <a:srgbClr val="1A8C7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Surat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50044" y="1006153"/>
            <a:ext cx="4043363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Mencatat surat masuk/keluar sebagai dokumentasi objektif setiap kegiatan komunikasi. Setiap surat punya: pengirim, perihal, kategori, status, dan dokumen pendukung.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50044" y="1241896"/>
            <a:ext cx="4043363" cy="601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Surat Masuk: permohonan, undangan, pemberitahuan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Surat Keluar: surat tugas, undangan, laporan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Kategori: Permohonan, Undangan, Pemberitahuan, Laporan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Rekapitulasi: filter + export PDF/Excel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Dokumen pendukung tersimpan di Drive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357188" y="1845543"/>
            <a:ext cx="4029075" cy="1557338"/>
          </a:xfrm>
          <a:prstGeom prst="roundRect">
            <a:avLst>
              <a:gd name="adj" fmla="val 6116"/>
            </a:avLst>
          </a:prstGeom>
          <a:solidFill>
            <a:srgbClr val="FAFAFA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tmp/h2p-fit-1791110927897-nl3w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40" y="1881262"/>
            <a:ext cx="3296171" cy="14857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0044" y="3438599"/>
            <a:ext cx="404336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1E5F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buNone/>
            </a:pPr>
            <a:r>
              <a:rPr lang="en-US" sz="800" b="1" u="sng" dirty="0">
                <a:solidFill>
                  <a:srgbClr val="1E5FA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Menu Manajemen Surat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4639866" y="766837"/>
            <a:ext cx="4264819" cy="3621881"/>
          </a:xfrm>
          <a:prstGeom prst="roundRect">
            <a:avLst>
              <a:gd name="adj" fmla="val 3682"/>
            </a:avLst>
          </a:prstGeom>
          <a:solidFill>
            <a:srgbClr val="FFFFFF"/>
          </a:solidFill>
          <a:ln w="21431">
            <a:solidFill>
              <a:srgbClr val="FF9F1C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750594" y="863278"/>
            <a:ext cx="40433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17A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buNone/>
            </a:pPr>
            <a:r>
              <a:rPr lang="en-US" sz="800" b="1" dirty="0">
                <a:solidFill>
                  <a:srgbClr val="D17A0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Inventaris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4750594" y="1006153"/>
            <a:ext cx="4043363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Mengelola barang humas untuk dukungan kegiatan. Peminjaman dan pembagian dengan tracking stok real-time dan bukti tertulis.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4750594" y="1241896"/>
            <a:ext cx="4043363" cy="601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Barang: CRUD + kode otomatis + foto + </a:t>
            </a:r>
            <a:pPr algn="l" indent="0" marL="0">
              <a:lnSpc>
                <a:spcPts val="75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pPr algn="l" indent="0" marL="0">
              <a:lnSpc>
                <a:spcPts val="75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kategori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Peminjaman: multi-item + foto peminjam + form PDF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Pembagian: distribusi barang + stok auto-deduct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History: tracking semua transaksi</a:t>
            </a:r>
            <a:endParaRPr lang="en-US" sz="800" dirty="0"/>
          </a:p>
          <a:p>
            <a:pPr algn="l" marL="342900" indent="-342900">
              <a:lnSpc>
                <a:spcPts val="759"/>
              </a:lnSpc>
              <a:spcAft>
                <a:spcPts val="113"/>
              </a:spcAft>
              <a:buSzPct val="100000"/>
              <a:buChar char="•"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Rekapitulasi: filter + sort + export Excel/PDF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4757738" y="1845543"/>
            <a:ext cx="4029075" cy="1557338"/>
          </a:xfrm>
          <a:prstGeom prst="roundRect">
            <a:avLst>
              <a:gd name="adj" fmla="val 6116"/>
            </a:avLst>
          </a:prstGeom>
          <a:solidFill>
            <a:srgbClr val="FAFAFA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/tmp/h2p-fit-1791110927898-pusu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190" y="1881262"/>
            <a:ext cx="3296171" cy="14857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50594" y="3438599"/>
            <a:ext cx="415309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1E5F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buNone/>
            </a:pPr>
            <a:r>
              <a:rPr lang="en-US" sz="800" b="1" u="sng" dirty="0">
                <a:solidFill>
                  <a:srgbClr val="1E5FA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Menu Manajemen Inventaris</a:t>
            </a:r>
            <a:endParaRPr lang="en-US" sz="8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4470871"/>
            <a:ext cx="8686800" cy="221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32172" y="4474443"/>
            <a:ext cx="8679656" cy="214313"/>
          </a:xfrm>
          <a:prstGeom prst="roundRect">
            <a:avLst>
              <a:gd name="adj" fmla="val 44444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228600" y="4470871"/>
            <a:ext cx="8636000" cy="309233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Manajemen Surat = dokumentasi objektif kegiatan. Manajemen Inventaris = dukungan eksekusi dengan bukti tertulis. Keduanya menghasilkan laporan SKP.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8686800" cy="3714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5744" y="235744"/>
            <a:ext cx="8672513" cy="357188"/>
          </a:xfrm>
          <a:prstGeom prst="roundRect">
            <a:avLst>
              <a:gd name="adj" fmla="val 37333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38100" dir="5400000">
              <a:srgbClr val="4C2A85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85763" y="321469"/>
            <a:ext cx="66931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Pesan Komunikasi untuk Petugas</a:t>
            </a:r>
            <a:endParaRPr lang="en-US" sz="1238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186" y="314325"/>
            <a:ext cx="1665052" cy="20002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093186" y="314325"/>
            <a:ext cx="1679339" cy="200025"/>
          </a:xfrm>
          <a:prstGeom prst="rect">
            <a:avLst/>
          </a:prstGeom>
          <a:noFill/>
          <a:ln/>
        </p:spPr>
        <p:txBody>
          <a:bodyPr wrap="none" lIns="114300" tIns="50006" rIns="114300" bIns="50006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Menjawab: 💬 Key Messages (15%)</a:t>
            </a:r>
            <a:endParaRPr lang="en-US" sz="675" dirty="0"/>
          </a:p>
        </p:txBody>
      </p:sp>
      <p:sp>
        <p:nvSpPr>
          <p:cNvPr id="9" name="Text 3"/>
          <p:cNvSpPr/>
          <p:nvPr/>
        </p:nvSpPr>
        <p:spPr>
          <a:xfrm>
            <a:off x="228600" y="671513"/>
            <a:ext cx="8636000" cy="153526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menentukan pesan yang ingin disampaikan, sistem meneruskannya ke setiap petugas melalui 3 level dokumentasi yang menjadi pedoman kerja.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228600" y="852897"/>
            <a:ext cx="32291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Bagaimana Pesan Disusun?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228600" y="1081497"/>
            <a:ext cx="3229198" cy="28600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mengisi pesan di 3 level saat membuat proyek. Setiap petugas menerima Surat Tugas resmi yang berisi pesan ini.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228600" y="1394929"/>
            <a:ext cx="3229198" cy="669280"/>
          </a:xfrm>
          <a:prstGeom prst="roundRect">
            <a:avLst>
              <a:gd name="adj" fmla="val 14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246459" y="1394929"/>
            <a:ext cx="0" cy="669280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4" y="1480654"/>
            <a:ext cx="185738" cy="1857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2905" y="1513515"/>
            <a:ext cx="12001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592931" y="1519944"/>
            <a:ext cx="277914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Project Description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350044" y="1709254"/>
            <a:ext cx="3131757" cy="106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tulis narasi kegiatan = pesan utama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350044" y="1842753"/>
            <a:ext cx="3022029" cy="135731"/>
          </a:xfrm>
          <a:prstGeom prst="roundRect">
            <a:avLst>
              <a:gd name="adj" fmla="val 35088"/>
            </a:avLst>
          </a:prstGeom>
          <a:solidFill>
            <a:srgbClr val="F5F3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2"/>
          <p:cNvSpPr/>
          <p:nvPr/>
        </p:nvSpPr>
        <p:spPr>
          <a:xfrm>
            <a:off x="357188" y="1842753"/>
            <a:ext cx="0" cy="135731"/>
          </a:xfrm>
          <a:prstGeom prst="line">
            <a:avLst/>
          </a:prstGeom>
          <a:noFill/>
          <a:ln w="14288">
            <a:solidFill>
              <a:srgbClr val="D4AF37"/>
            </a:solidFill>
            <a:prstDash val="dash"/>
          </a:ln>
        </p:spPr>
      </p:sp>
      <p:sp>
        <p:nvSpPr>
          <p:cNvPr id="20" name="Text 13"/>
          <p:cNvSpPr/>
          <p:nvPr/>
        </p:nvSpPr>
        <p:spPr>
          <a:xfrm>
            <a:off x="350044" y="1842753"/>
            <a:ext cx="3022029" cy="135731"/>
          </a:xfrm>
          <a:prstGeom prst="rect">
            <a:avLst/>
          </a:prstGeom>
          <a:noFill/>
          <a:ln/>
        </p:spPr>
        <p:txBody>
          <a:bodyPr wrap="square" lIns="42863" tIns="28575" rIns="42863" bIns="28575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"Dokumentasi kegiatan Pendampingan APS LAMGAMA untuk publikasi"</a:t>
            </a:r>
            <a:endParaRPr lang="en-US" sz="600" dirty="0"/>
          </a:p>
        </p:txBody>
      </p:sp>
      <p:sp>
        <p:nvSpPr>
          <p:cNvPr id="21" name="Text 14"/>
          <p:cNvSpPr/>
          <p:nvPr/>
        </p:nvSpPr>
        <p:spPr>
          <a:xfrm>
            <a:off x="228600" y="2135646"/>
            <a:ext cx="3229198" cy="669280"/>
          </a:xfrm>
          <a:prstGeom prst="roundRect">
            <a:avLst>
              <a:gd name="adj" fmla="val 14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246459" y="2135646"/>
            <a:ext cx="0" cy="66928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4" y="2221371"/>
            <a:ext cx="185738" cy="18573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2905" y="2254233"/>
            <a:ext cx="12001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592931" y="2260662"/>
            <a:ext cx="277914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Custom Activity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350044" y="2449971"/>
            <a:ext cx="3131757" cy="106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Konteks pesan + jenis kegiatan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350044" y="2583470"/>
            <a:ext cx="3022029" cy="135731"/>
          </a:xfrm>
          <a:prstGeom prst="roundRect">
            <a:avLst>
              <a:gd name="adj" fmla="val 35088"/>
            </a:avLst>
          </a:prstGeom>
          <a:solidFill>
            <a:srgbClr val="F5F3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357188" y="2583470"/>
            <a:ext cx="0" cy="135731"/>
          </a:xfrm>
          <a:prstGeom prst="line">
            <a:avLst/>
          </a:prstGeom>
          <a:noFill/>
          <a:ln w="14288">
            <a:solidFill>
              <a:srgbClr val="D4AF37"/>
            </a:solidFill>
            <a:prstDash val="dash"/>
          </a:ln>
        </p:spPr>
      </p:sp>
      <p:sp>
        <p:nvSpPr>
          <p:cNvPr id="29" name="Text 21"/>
          <p:cNvSpPr/>
          <p:nvPr/>
        </p:nvSpPr>
        <p:spPr>
          <a:xfrm>
            <a:off x="350044" y="2583470"/>
            <a:ext cx="3022029" cy="135731"/>
          </a:xfrm>
          <a:prstGeom prst="rect">
            <a:avLst/>
          </a:prstGeom>
          <a:noFill/>
          <a:ln/>
        </p:spPr>
        <p:txBody>
          <a:bodyPr wrap="square" lIns="42863" tIns="28575" rIns="42863" bIns="28575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"Meliput, Pemberitaan, Dokumentasi"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228600" y="2876364"/>
            <a:ext cx="3229198" cy="669280"/>
          </a:xfrm>
          <a:prstGeom prst="roundRect">
            <a:avLst>
              <a:gd name="adj" fmla="val 14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3"/>
          <p:cNvSpPr/>
          <p:nvPr/>
        </p:nvSpPr>
        <p:spPr>
          <a:xfrm>
            <a:off x="246459" y="2876364"/>
            <a:ext cx="0" cy="669280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4" y="2962089"/>
            <a:ext cx="185738" cy="18573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2905" y="2994950"/>
            <a:ext cx="12001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592931" y="3001380"/>
            <a:ext cx="277914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Catatan per Task + Surat Tugas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350044" y="3190689"/>
            <a:ext cx="3131757" cy="106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Instruksi pesan ke petugas + surat resmi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350044" y="3324188"/>
            <a:ext cx="3022029" cy="135731"/>
          </a:xfrm>
          <a:prstGeom prst="roundRect">
            <a:avLst>
              <a:gd name="adj" fmla="val 35088"/>
            </a:avLst>
          </a:prstGeom>
          <a:solidFill>
            <a:srgbClr val="F5F3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28"/>
          <p:cNvSpPr/>
          <p:nvPr/>
        </p:nvSpPr>
        <p:spPr>
          <a:xfrm>
            <a:off x="357188" y="3324188"/>
            <a:ext cx="0" cy="135731"/>
          </a:xfrm>
          <a:prstGeom prst="line">
            <a:avLst/>
          </a:prstGeom>
          <a:noFill/>
          <a:ln w="14288">
            <a:solidFill>
              <a:srgbClr val="D4AF37"/>
            </a:solidFill>
            <a:prstDash val="dash"/>
          </a:ln>
        </p:spPr>
      </p:sp>
      <p:sp>
        <p:nvSpPr>
          <p:cNvPr id="38" name="Text 29"/>
          <p:cNvSpPr/>
          <p:nvPr/>
        </p:nvSpPr>
        <p:spPr>
          <a:xfrm>
            <a:off x="350044" y="3324188"/>
            <a:ext cx="3022029" cy="135731"/>
          </a:xfrm>
          <a:prstGeom prst="rect">
            <a:avLst/>
          </a:prstGeom>
          <a:noFill/>
          <a:ln/>
        </p:spPr>
        <p:txBody>
          <a:bodyPr wrap="square" lIns="42863" tIns="28575" rIns="42863" bIns="28575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77777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"Foto menonjolkan kebersamaan, artikel fokus ke program"</a:t>
            </a:r>
            <a:endParaRPr lang="en-US" sz="6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3631369"/>
            <a:ext cx="3229198" cy="22982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246459" y="3631369"/>
            <a:ext cx="0" cy="229828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228600" y="3631369"/>
            <a:ext cx="3229198" cy="336205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📨</a:t>
            </a:r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Tugas otomatis dikirim ke Inbox setiap petugas dengan nomor surat resmi.</a:t>
            </a:r>
            <a:endParaRPr lang="en-US" sz="800" dirty="0"/>
          </a:p>
        </p:txBody>
      </p:sp>
      <p:pic>
        <p:nvPicPr>
          <p:cNvPr id="42" name="Image 8" descr="/tmp/h2p-fit-1791110928234-pnqfj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673" y="852897"/>
            <a:ext cx="5314727" cy="3586163"/>
          </a:xfrm>
          <a:prstGeom prst="rect">
            <a:avLst/>
          </a:prstGeom>
          <a:effectLst>
            <a:outerShdw sx="100000" sy="100000" kx="0" ky="0" algn="bl" rotWithShape="0" blurRad="190500" dist="76200" dir="5400000">
              <a:srgbClr val="4C2A85">
                <a:alpha val="20000"/>
              </a:srgbClr>
            </a:outerShdw>
          </a:effectLst>
        </p:spPr>
      </p:pic>
      <p:sp>
        <p:nvSpPr>
          <p:cNvPr id="43" name="Text 32"/>
          <p:cNvSpPr/>
          <p:nvPr/>
        </p:nvSpPr>
        <p:spPr>
          <a:xfrm>
            <a:off x="3600673" y="4481922"/>
            <a:ext cx="5314727" cy="11970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40A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Form Buat Proyek — description, activityTypes, catatan per task</a:t>
            </a:r>
            <a:endParaRPr lang="en-US" sz="8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4639084"/>
            <a:ext cx="8686800" cy="248915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232172" y="4642656"/>
            <a:ext cx="8679656" cy="241771"/>
          </a:xfrm>
          <a:prstGeom prst="roundRect">
            <a:avLst>
              <a:gd name="adj" fmla="val 39397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228600" y="4639084"/>
            <a:ext cx="8636000" cy="347576"/>
          </a:xfrm>
          <a:prstGeom prst="rect">
            <a:avLst/>
          </a:prstGeom>
          <a:noFill/>
          <a:ln/>
        </p:spPr>
        <p:txBody>
          <a:bodyPr wrap="square" lIns="114300" tIns="64294" rIns="114300" bIns="64294" rtlCol="0" anchor="t"/>
          <a:lstStyle/>
          <a:p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Pesan kunci tersampaikan </a:t>
            </a:r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level: description → customActivity → catatan task + Surat Tugas. Tim menerima pedoman pesan yang jelas &amp; tertulis.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8686800" cy="3857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5744" y="235744"/>
            <a:ext cx="8672513" cy="371475"/>
          </a:xfrm>
          <a:prstGeom prst="roundRect">
            <a:avLst>
              <a:gd name="adj" fmla="val 35897"/>
            </a:avLst>
          </a:prstGeom>
          <a:noFill/>
          <a:ln w="14288">
            <a:solidFill>
              <a:srgbClr val="B8941F"/>
            </a:solidFill>
            <a:prstDash val="solid"/>
          </a:ln>
          <a:effectLst>
            <a:outerShdw sx="100000" sy="100000" kx="0" ky="0" algn="bl" rotWithShape="0" blurRad="114300" dist="38100" dir="5400000">
              <a:srgbClr val="D4AF37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85763" y="328613"/>
            <a:ext cx="73428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5. Inovasi Integrasi: Pushakin Flows ↔ LIHUM</a:t>
            </a:r>
            <a:endParaRPr lang="en-US" sz="1238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932" y="314325"/>
            <a:ext cx="1015305" cy="21431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720072" y="301523"/>
            <a:ext cx="1061025" cy="239916"/>
          </a:xfrm>
          <a:prstGeom prst="roundRect">
            <a:avLst>
              <a:gd name="adj" fmla="val 79403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7742932" y="314325"/>
            <a:ext cx="10153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KUNCI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228600" y="685800"/>
            <a:ext cx="8636000" cy="153526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 dapat mengembed gallery LIHUM di web resmi UIN Antasari Banjarmasin. Publik dapat melihat dan mengunduh foto kegiatan secara mandiri 24/7.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228600" y="867184"/>
            <a:ext cx="3229198" cy="188105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Bagaimana Integrasi Bekerja?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228600" y="1095784"/>
            <a:ext cx="3229198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246459" y="1095784"/>
            <a:ext cx="0" cy="514350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4" y="1167222"/>
            <a:ext cx="185738" cy="1857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2905" y="1200083"/>
            <a:ext cx="12001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592931" y="1210084"/>
            <a:ext cx="277914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upload foto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350044" y="1381534"/>
            <a:ext cx="3022029" cy="153489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ke folder 3 (PUBLIC) — foto yang boleh dibagi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228600" y="1667284"/>
            <a:ext cx="3229198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2"/>
          <p:cNvSpPr/>
          <p:nvPr/>
        </p:nvSpPr>
        <p:spPr>
          <a:xfrm>
            <a:off x="246459" y="1667284"/>
            <a:ext cx="0" cy="51435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4" y="1738722"/>
            <a:ext cx="185738" cy="1857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2905" y="1771583"/>
            <a:ext cx="12001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800" dirty="0"/>
          </a:p>
        </p:txBody>
      </p:sp>
      <p:sp>
        <p:nvSpPr>
          <p:cNvPr id="22" name="Text 14"/>
          <p:cNvSpPr/>
          <p:nvPr/>
        </p:nvSpPr>
        <p:spPr>
          <a:xfrm>
            <a:off x="592931" y="1781584"/>
            <a:ext cx="277914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Publikasikan</a:t>
            </a:r>
            <a:endParaRPr lang="en-US" sz="800" dirty="0"/>
          </a:p>
        </p:txBody>
      </p:sp>
      <p:sp>
        <p:nvSpPr>
          <p:cNvPr id="23" name="Text 15"/>
          <p:cNvSpPr/>
          <p:nvPr/>
        </p:nvSpPr>
        <p:spPr>
          <a:xfrm>
            <a:off x="350044" y="1953034"/>
            <a:ext cx="3022029" cy="153489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klik di Project Detail → gallery otomatis dibuat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228600" y="2238784"/>
            <a:ext cx="3229198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17"/>
          <p:cNvSpPr/>
          <p:nvPr/>
        </p:nvSpPr>
        <p:spPr>
          <a:xfrm>
            <a:off x="246459" y="2238784"/>
            <a:ext cx="0" cy="514350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4" y="2310222"/>
            <a:ext cx="185738" cy="18573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2905" y="2343083"/>
            <a:ext cx="12001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592931" y="2353084"/>
            <a:ext cx="277914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live di LIHUM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350044" y="2524534"/>
            <a:ext cx="3022029" cy="153489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 lihat &amp; download tanpa akun Google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228600" y="2810284"/>
            <a:ext cx="3229198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2"/>
          <p:cNvSpPr/>
          <p:nvPr/>
        </p:nvSpPr>
        <p:spPr>
          <a:xfrm>
            <a:off x="246459" y="2810284"/>
            <a:ext cx="0" cy="514350"/>
          </a:xfrm>
          <a:prstGeom prst="line">
            <a:avLst/>
          </a:prstGeom>
          <a:noFill/>
          <a:ln w="35719">
            <a:solidFill>
              <a:srgbClr val="2563EB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044" y="2881722"/>
            <a:ext cx="185738" cy="18573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82905" y="2914583"/>
            <a:ext cx="12001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④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592931" y="2924584"/>
            <a:ext cx="277914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 embed</a:t>
            </a:r>
            <a:endParaRPr lang="en-US" sz="800" dirty="0"/>
          </a:p>
        </p:txBody>
      </p:sp>
      <p:sp>
        <p:nvSpPr>
          <p:cNvPr id="35" name="Text 25"/>
          <p:cNvSpPr/>
          <p:nvPr/>
        </p:nvSpPr>
        <p:spPr>
          <a:xfrm>
            <a:off x="350044" y="3096034"/>
            <a:ext cx="3022029" cy="153489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Copy link → embed di uin-antasari.ac.id</a:t>
            </a:r>
            <a:endParaRPr lang="en-US" sz="8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3410359"/>
            <a:ext cx="3229198" cy="24411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235744" y="3417503"/>
            <a:ext cx="3214911" cy="229828"/>
          </a:xfrm>
          <a:prstGeom prst="roundRect">
            <a:avLst>
              <a:gd name="adj" fmla="val 41444"/>
            </a:avLst>
          </a:prstGeom>
          <a:noFill/>
          <a:ln w="14288">
            <a:solidFill>
              <a:srgbClr val="DC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7"/>
          <p:cNvSpPr/>
          <p:nvPr/>
        </p:nvSpPr>
        <p:spPr>
          <a:xfrm>
            <a:off x="228600" y="3410359"/>
            <a:ext cx="3229198" cy="357106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algn="ctr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B9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pPr algn="ctr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B91C1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Folder </a:t>
            </a:r>
            <a:pPr algn="ctr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B91C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B91C1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(PRIVATE/RAHASIA) TIDAK PERNAH di-share. Hanya folder PUBLIC.</a:t>
            </a:r>
            <a:endParaRPr lang="en-US" sz="800" dirty="0"/>
          </a:p>
        </p:txBody>
      </p:sp>
      <p:pic>
        <p:nvPicPr>
          <p:cNvPr id="39" name="Image 9" descr="/tmp/h2p-fit-1791110928429-4aq8y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0673" y="867184"/>
            <a:ext cx="5314727" cy="3586163"/>
          </a:xfrm>
          <a:prstGeom prst="rect">
            <a:avLst/>
          </a:prstGeom>
          <a:effectLst>
            <a:outerShdw sx="100000" sy="100000" kx="0" ky="0" algn="bl" rotWithShape="0" blurRad="101600" dist="50800" dir="16200000">
              <a:srgbClr val="D4AF37">
                <a:alpha val="25000"/>
              </a:srgbClr>
            </a:outerShdw>
          </a:effectLst>
        </p:spPr>
      </p:pic>
      <p:sp>
        <p:nvSpPr>
          <p:cNvPr id="40" name="Text 28"/>
          <p:cNvSpPr/>
          <p:nvPr/>
        </p:nvSpPr>
        <p:spPr>
          <a:xfrm>
            <a:off x="3600673" y="4496209"/>
            <a:ext cx="5314727" cy="11970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40A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lihum.synclicen.workers.dev/?gallery=pendampingan-aps-lamgama — Gallery live</a:t>
            </a:r>
            <a:endParaRPr lang="en-US" sz="8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4653372"/>
            <a:ext cx="8686800" cy="248915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232172" y="4656944"/>
            <a:ext cx="8679656" cy="241771"/>
          </a:xfrm>
          <a:prstGeom prst="roundRect">
            <a:avLst>
              <a:gd name="adj" fmla="val 39397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228600" y="4653372"/>
            <a:ext cx="8636000" cy="347576"/>
          </a:xfrm>
          <a:prstGeom prst="rect">
            <a:avLst/>
          </a:prstGeom>
          <a:noFill/>
          <a:ln/>
        </p:spPr>
        <p:txBody>
          <a:bodyPr wrap="square" lIns="114300" tIns="64294" rIns="114300" bIns="64294" rtlCol="0" anchor="t"/>
          <a:lstStyle/>
          <a:p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Inovasi: workflow otomatis (upload → filter → publish → embed web resmi). Publisher Web embed LIHUM di uin-antasari.ac.id. Transparansi publik + filter keamanan.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200025"/>
            <a:ext cx="8743950" cy="3714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7169" y="207169"/>
            <a:ext cx="8729663" cy="357188"/>
          </a:xfrm>
          <a:prstGeom prst="roundRect">
            <a:avLst>
              <a:gd name="adj" fmla="val 37333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38100" dir="5400000">
              <a:srgbClr val="4C2A85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57188" y="292894"/>
            <a:ext cx="64549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Eksekusi, Pengukuran &amp; Penutup</a:t>
            </a:r>
            <a:endParaRPr lang="en-US" sz="1238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411" y="285750"/>
            <a:ext cx="1960401" cy="20002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826411" y="285750"/>
            <a:ext cx="1974689" cy="200025"/>
          </a:xfrm>
          <a:prstGeom prst="rect">
            <a:avLst/>
          </a:prstGeom>
          <a:noFill/>
          <a:ln/>
        </p:spPr>
        <p:txBody>
          <a:bodyPr wrap="none" lIns="114300" tIns="50006" rIns="114300" bIns="50006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Eksekusi (</a:t>
            </a:r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) + </a:t>
            </a:r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Pengukuran (</a:t>
            </a:r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)</a:t>
            </a:r>
            <a:endParaRPr lang="en-US" sz="675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" y="642938"/>
            <a:ext cx="3250853" cy="164306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214313" y="642938"/>
            <a:ext cx="0" cy="164306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200025" y="642938"/>
            <a:ext cx="3250853" cy="179737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Eksekusi — Workflow 5 Tahap</a:t>
            </a:r>
            <a:endParaRPr lang="en-US" sz="800" dirty="0"/>
          </a:p>
        </p:txBody>
      </p:sp>
      <p:sp>
        <p:nvSpPr>
          <p:cNvPr id="12" name="Text 5"/>
          <p:cNvSpPr/>
          <p:nvPr/>
        </p:nvSpPr>
        <p:spPr>
          <a:xfrm>
            <a:off x="200025" y="850106"/>
            <a:ext cx="3250853" cy="13464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mewadahi proses produksi: 5 tahap, 16 role, folder Drive otomatis, tracking real-time.</a:t>
            </a:r>
            <a:endParaRPr lang="en-US" sz="600" dirty="0"/>
          </a:p>
        </p:txBody>
      </p:sp>
      <p:sp>
        <p:nvSpPr>
          <p:cNvPr id="13" name="Text 6"/>
          <p:cNvSpPr/>
          <p:nvPr/>
        </p:nvSpPr>
        <p:spPr>
          <a:xfrm>
            <a:off x="200025" y="1012180"/>
            <a:ext cx="3250853" cy="173571"/>
          </a:xfrm>
          <a:prstGeom prst="roundRect">
            <a:avLst>
              <a:gd name="adj" fmla="val 38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214313" y="1012180"/>
            <a:ext cx="0" cy="173571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407194" y="1050243"/>
            <a:ext cx="1376958" cy="125403"/>
          </a:xfrm>
          <a:prstGeom prst="rect">
            <a:avLst/>
          </a:prstGeom>
          <a:noFill/>
          <a:ln/>
        </p:spPr>
        <p:txBody>
          <a:bodyPr wrap="square" lIns="64294" tIns="35719" rIns="64294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🔵 PRODUKSI — upload mentah (4 role)</a:t>
            </a:r>
            <a:endParaRPr lang="en-US" sz="600" dirty="0"/>
          </a:p>
        </p:txBody>
      </p:sp>
      <p:sp>
        <p:nvSpPr>
          <p:cNvPr id="16" name="Text 9"/>
          <p:cNvSpPr/>
          <p:nvPr/>
        </p:nvSpPr>
        <p:spPr>
          <a:xfrm>
            <a:off x="292894" y="1047899"/>
            <a:ext cx="9144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200025" y="1214326"/>
            <a:ext cx="3250853" cy="173571"/>
          </a:xfrm>
          <a:prstGeom prst="roundRect">
            <a:avLst>
              <a:gd name="adj" fmla="val 38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1"/>
          <p:cNvSpPr/>
          <p:nvPr/>
        </p:nvSpPr>
        <p:spPr>
          <a:xfrm>
            <a:off x="214313" y="1214326"/>
            <a:ext cx="0" cy="173571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07194" y="1252389"/>
            <a:ext cx="1062856" cy="125403"/>
          </a:xfrm>
          <a:prstGeom prst="rect">
            <a:avLst/>
          </a:prstGeom>
          <a:noFill/>
          <a:ln/>
        </p:spPr>
        <p:txBody>
          <a:bodyPr wrap="none" lIns="64294" tIns="35719" rIns="64294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🟠 PASCA — editor edit (6 role)</a:t>
            </a:r>
            <a:endParaRPr lang="en-US" sz="600" dirty="0"/>
          </a:p>
        </p:txBody>
      </p:sp>
      <p:sp>
        <p:nvSpPr>
          <p:cNvPr id="20" name="Text 13"/>
          <p:cNvSpPr/>
          <p:nvPr/>
        </p:nvSpPr>
        <p:spPr>
          <a:xfrm>
            <a:off x="292894" y="1250045"/>
            <a:ext cx="9144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200025" y="1416472"/>
            <a:ext cx="3250853" cy="173571"/>
          </a:xfrm>
          <a:prstGeom prst="roundRect">
            <a:avLst>
              <a:gd name="adj" fmla="val 38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214313" y="1416472"/>
            <a:ext cx="0" cy="173571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07194" y="1454534"/>
            <a:ext cx="1222586" cy="125403"/>
          </a:xfrm>
          <a:prstGeom prst="rect">
            <a:avLst/>
          </a:prstGeom>
          <a:noFill/>
          <a:ln/>
        </p:spPr>
        <p:txBody>
          <a:bodyPr wrap="square" lIns="64294" tIns="35719" rIns="64294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 — reviewer cek kualitas</a:t>
            </a:r>
            <a:endParaRPr lang="en-US" sz="600" dirty="0"/>
          </a:p>
        </p:txBody>
      </p:sp>
      <p:sp>
        <p:nvSpPr>
          <p:cNvPr id="24" name="Text 17"/>
          <p:cNvSpPr/>
          <p:nvPr/>
        </p:nvSpPr>
        <p:spPr>
          <a:xfrm>
            <a:off x="292894" y="1452190"/>
            <a:ext cx="9144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200025" y="1618617"/>
            <a:ext cx="3250853" cy="173571"/>
          </a:xfrm>
          <a:prstGeom prst="roundRect">
            <a:avLst>
              <a:gd name="adj" fmla="val 38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214313" y="1618617"/>
            <a:ext cx="0" cy="173571"/>
          </a:xfrm>
          <a:prstGeom prst="line">
            <a:avLst/>
          </a:prstGeom>
          <a:noFill/>
          <a:ln w="28575">
            <a:solidFill>
              <a:srgbClr val="9333E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07194" y="1656680"/>
            <a:ext cx="1289447" cy="125403"/>
          </a:xfrm>
          <a:prstGeom prst="rect">
            <a:avLst/>
          </a:prstGeom>
          <a:noFill/>
          <a:ln/>
        </p:spPr>
        <p:txBody>
          <a:bodyPr wrap="square" lIns="64294" tIns="35719" rIns="64294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 — publisher ke saluran</a:t>
            </a:r>
            <a:endParaRPr lang="en-US" sz="600" dirty="0"/>
          </a:p>
        </p:txBody>
      </p:sp>
      <p:sp>
        <p:nvSpPr>
          <p:cNvPr id="28" name="Text 21"/>
          <p:cNvSpPr/>
          <p:nvPr/>
        </p:nvSpPr>
        <p:spPr>
          <a:xfrm>
            <a:off x="292894" y="1654336"/>
            <a:ext cx="9144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33E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④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200025" y="1820763"/>
            <a:ext cx="3250853" cy="173571"/>
          </a:xfrm>
          <a:prstGeom prst="roundRect">
            <a:avLst>
              <a:gd name="adj" fmla="val 38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3"/>
          <p:cNvSpPr/>
          <p:nvPr/>
        </p:nvSpPr>
        <p:spPr>
          <a:xfrm>
            <a:off x="214313" y="1820763"/>
            <a:ext cx="0" cy="173571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07194" y="1858826"/>
            <a:ext cx="1024570" cy="125403"/>
          </a:xfrm>
          <a:prstGeom prst="rect">
            <a:avLst/>
          </a:prstGeom>
          <a:noFill/>
          <a:ln/>
        </p:spPr>
        <p:txBody>
          <a:bodyPr wrap="none" lIns="64294" tIns="35719" rIns="64294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SELESAI — arsip + LIHUM</a:t>
            </a:r>
            <a:endParaRPr lang="en-US" sz="600" dirty="0"/>
          </a:p>
        </p:txBody>
      </p:sp>
      <p:sp>
        <p:nvSpPr>
          <p:cNvPr id="32" name="Text 25"/>
          <p:cNvSpPr/>
          <p:nvPr/>
        </p:nvSpPr>
        <p:spPr>
          <a:xfrm>
            <a:off x="292894" y="1856482"/>
            <a:ext cx="9144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941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⑤</a:t>
            </a:r>
            <a:endParaRPr lang="en-US" sz="8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" y="2094347"/>
            <a:ext cx="3250853" cy="164306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214313" y="2094347"/>
            <a:ext cx="0" cy="164306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00025" y="2094347"/>
            <a:ext cx="32508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Pengukuran — 4 Level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200025" y="2315803"/>
            <a:ext cx="3250853" cy="168883"/>
          </a:xfrm>
          <a:prstGeom prst="roundRect">
            <a:avLst>
              <a:gd name="adj" fmla="val 39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29"/>
          <p:cNvSpPr/>
          <p:nvPr/>
        </p:nvSpPr>
        <p:spPr>
          <a:xfrm>
            <a:off x="214313" y="2315803"/>
            <a:ext cx="0" cy="168883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00025" y="2315803"/>
            <a:ext cx="3250853" cy="170026"/>
          </a:xfrm>
          <a:prstGeom prst="rect">
            <a:avLst/>
          </a:prstGeom>
          <a:noFill/>
          <a:ln/>
        </p:spPr>
        <p:txBody>
          <a:bodyPr wrap="square" lIns="64294" tIns="35719" rIns="64294" bIns="35719" rtlCol="0" anchor="t">
            <a:normAutofit/>
          </a:bodyPr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real-time (total, aktif, selesai)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200025" y="2513261"/>
            <a:ext cx="3250853" cy="168883"/>
          </a:xfrm>
          <a:prstGeom prst="roundRect">
            <a:avLst>
              <a:gd name="adj" fmla="val 39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2"/>
          <p:cNvSpPr/>
          <p:nvPr/>
        </p:nvSpPr>
        <p:spPr>
          <a:xfrm>
            <a:off x="214313" y="2513261"/>
            <a:ext cx="0" cy="168883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00025" y="2513261"/>
            <a:ext cx="3250853" cy="170026"/>
          </a:xfrm>
          <a:prstGeom prst="rect">
            <a:avLst/>
          </a:prstGeom>
          <a:noFill/>
          <a:ln/>
        </p:spPr>
        <p:txBody>
          <a:bodyPr wrap="square" lIns="64294" tIns="35719" rIns="64294" bIns="35719" rtlCol="0" anchor="t">
            <a:normAutofit/>
          </a:bodyPr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Laporan SKP per petugas (PDF/Excel)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200025" y="2710718"/>
            <a:ext cx="3250853" cy="168883"/>
          </a:xfrm>
          <a:prstGeom prst="roundRect">
            <a:avLst>
              <a:gd name="adj" fmla="val 39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35"/>
          <p:cNvSpPr/>
          <p:nvPr/>
        </p:nvSpPr>
        <p:spPr>
          <a:xfrm>
            <a:off x="214313" y="2710718"/>
            <a:ext cx="0" cy="168883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00025" y="2710718"/>
            <a:ext cx="3250853" cy="170026"/>
          </a:xfrm>
          <a:prstGeom prst="rect">
            <a:avLst/>
          </a:prstGeom>
          <a:noFill/>
          <a:ln/>
        </p:spPr>
        <p:txBody>
          <a:bodyPr wrap="square" lIns="64294" tIns="35719" rIns="64294" bIns="35719" rtlCol="0" anchor="t">
            <a:normAutofit/>
          </a:bodyPr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Public Tracker (transparansi publik)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200025" y="2908176"/>
            <a:ext cx="3250853" cy="168883"/>
          </a:xfrm>
          <a:prstGeom prst="roundRect">
            <a:avLst>
              <a:gd name="adj" fmla="val 39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38"/>
          <p:cNvSpPr/>
          <p:nvPr/>
        </p:nvSpPr>
        <p:spPr>
          <a:xfrm>
            <a:off x="214313" y="2908176"/>
            <a:ext cx="0" cy="168883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200025" y="2908176"/>
            <a:ext cx="3250853" cy="247051"/>
          </a:xfrm>
          <a:prstGeom prst="rect">
            <a:avLst/>
          </a:prstGeom>
          <a:noFill/>
          <a:ln/>
        </p:spPr>
        <p:txBody>
          <a:bodyPr wrap="square" lIns="64294" tIns="35719" rIns="64294" bIns="35719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LIHUM stats (foto + download count)</a:t>
            </a:r>
            <a:endParaRPr lang="en-US" sz="800" dirty="0"/>
          </a:p>
        </p:txBody>
      </p:sp>
      <p:pic>
        <p:nvPicPr>
          <p:cNvPr id="48" name="Image 6" descr="/tmp/h2p-fit-1791110928576-wezm2z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753" y="642938"/>
            <a:ext cx="5350222" cy="2871788"/>
          </a:xfrm>
          <a:prstGeom prst="rect">
            <a:avLst/>
          </a:prstGeom>
          <a:effectLst>
            <a:outerShdw sx="100000" sy="100000" kx="0" ky="0" algn="bl" rotWithShape="0" blurRad="190500" dist="76200" dir="5400000">
              <a:srgbClr val="4C2A85">
                <a:alpha val="20000"/>
              </a:srgbClr>
            </a:outerShdw>
          </a:effectLst>
        </p:spPr>
      </p:pic>
      <p:sp>
        <p:nvSpPr>
          <p:cNvPr id="49" name="Text 40"/>
          <p:cNvSpPr/>
          <p:nvPr/>
        </p:nvSpPr>
        <p:spPr>
          <a:xfrm>
            <a:off x="3593753" y="3557588"/>
            <a:ext cx="5350222" cy="11970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40A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— app.pushakin-flows.workers.dev/?public=tracker</a:t>
            </a:r>
            <a:endParaRPr lang="en-US" sz="8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25" y="3743325"/>
            <a:ext cx="8743950" cy="92868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207169" y="3750469"/>
            <a:ext cx="8729663" cy="914400"/>
          </a:xfrm>
          <a:prstGeom prst="roundRect">
            <a:avLst>
              <a:gd name="adj" fmla="val 14583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52400" dist="57150" dir="5400000">
              <a:srgbClr val="4C2A85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42"/>
          <p:cNvSpPr/>
          <p:nvPr/>
        </p:nvSpPr>
        <p:spPr>
          <a:xfrm>
            <a:off x="385763" y="4359027"/>
            <a:ext cx="83724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385763" y="3931295"/>
            <a:ext cx="837247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Kesimpulan</a:t>
            </a:r>
            <a:endParaRPr lang="en-US" sz="800" dirty="0"/>
          </a:p>
        </p:txBody>
      </p:sp>
      <p:sp>
        <p:nvSpPr>
          <p:cNvPr id="54" name="Text 44"/>
          <p:cNvSpPr/>
          <p:nvPr/>
        </p:nvSpPr>
        <p:spPr>
          <a:xfrm>
            <a:off x="642938" y="4088457"/>
            <a:ext cx="7858125" cy="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adalah sistem yang mewadahi proses produksi bagi user DAN manajemen bagi Humas. Dari objektif (Surat → Kegiatan → Proyek) hingga pengukuran (Laporan SKP + LIHUM stats). Inovasi integrasi LIHUM: Publisher Web embed gallery di web resmi UIN Antasari. Workflow end-to-end otomatis — dari produksi ke publik.</a:t>
            </a:r>
            <a:endParaRPr lang="en-US" sz="800" dirty="0"/>
          </a:p>
        </p:txBody>
      </p:sp>
      <p:sp>
        <p:nvSpPr>
          <p:cNvPr id="55" name="Text 45"/>
          <p:cNvSpPr/>
          <p:nvPr/>
        </p:nvSpPr>
        <p:spPr>
          <a:xfrm>
            <a:off x="385763" y="4355455"/>
            <a:ext cx="8372475" cy="188105"/>
          </a:xfrm>
          <a:prstGeom prst="rect">
            <a:avLst/>
          </a:prstGeom>
          <a:noFill/>
          <a:ln/>
        </p:spPr>
        <p:txBody>
          <a:bodyPr wrap="square" lIns="0" tIns="35719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| UIN Antasari Banjarmasin | app.pushakin-flows.workers.dev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2026-10-04T10:48:48Z</dcterms:created>
  <dcterms:modified xsi:type="dcterms:W3CDTF">2026-10-04T10:48:48Z</dcterms:modified>
</cp:coreProperties>
</file>