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8572500"/>
  <p:notesSz cx="85725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85722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386055" cy="85722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3378" y="558684"/>
            <a:ext cx="2310381" cy="311346"/>
          </a:xfrm>
          <a:prstGeom prst="roundRect">
            <a:avLst>
              <a:gd name="adj" fmla="val 3056238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19110" y="676258"/>
            <a:ext cx="76198" cy="76198"/>
          </a:xfrm>
          <a:prstGeom prst="roundRect">
            <a:avLst>
              <a:gd name="adj" fmla="val 50001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76238" y="571486"/>
            <a:ext cx="2264661" cy="28574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25" spc="124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HUMAS KEMAG AWARD 2026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476238" y="2451733"/>
            <a:ext cx="5433579" cy="1719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27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Pushakin</a:t>
            </a:r>
            <a:endParaRPr lang="en-US" sz="6600" dirty="0"/>
          </a:p>
          <a:p>
            <a:pPr algn="l" indent="0" marL="0">
              <a:lnSpc>
                <a:spcPts val="6270"/>
              </a:lnSpc>
              <a:buNone/>
            </a:pPr>
            <a:r>
              <a:rPr lang="en-US" sz="6600" b="1" i="1" dirty="0">
                <a:solidFill>
                  <a:srgbClr val="F59E0B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Flows</a:t>
            </a:r>
            <a:endParaRPr lang="en-US" sz="6600" dirty="0"/>
          </a:p>
        </p:txBody>
      </p:sp>
      <p:sp>
        <p:nvSpPr>
          <p:cNvPr id="8" name="Text 5"/>
          <p:cNvSpPr/>
          <p:nvPr/>
        </p:nvSpPr>
        <p:spPr>
          <a:xfrm>
            <a:off x="476238" y="4234650"/>
            <a:ext cx="4571886" cy="833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FFFFFF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Sistem Manajemen Produksi Kehumasan Terpadu — Inovatif, Efektif, Transparan, dan Partisipatif untuk Ekosistem Komunikasi Publik Kementerian Agama.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76238" y="5291898"/>
            <a:ext cx="5433579" cy="561961"/>
          </a:xfrm>
          <a:prstGeom prst="roundRect">
            <a:avLst>
              <a:gd name="adj" fmla="val 6780"/>
            </a:avLst>
          </a:prstGeom>
          <a:solidFill>
            <a:srgbClr val="F59E0B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490525" y="5291898"/>
            <a:ext cx="0" cy="561961"/>
          </a:xfrm>
          <a:prstGeom prst="line">
            <a:avLst/>
          </a:prstGeom>
          <a:noFill/>
          <a:ln w="28574">
            <a:solidFill>
              <a:srgbClr val="F59E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6258" y="5425245"/>
            <a:ext cx="5062113" cy="1154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F59E0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DIAJUKAN UNTUK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76258" y="5568116"/>
            <a:ext cx="5062113" cy="152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Penghargaan Komunikasi Inovatif — Kementerian Agama RI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76238" y="7395977"/>
            <a:ext cx="5433579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6238" y="7553136"/>
            <a:ext cx="5543307" cy="134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Pusat Hubungan Masyarakat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476238" y="7715057"/>
            <a:ext cx="5433579" cy="123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UIN Antasari Banjarmasin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476238" y="7905552"/>
            <a:ext cx="5543307" cy="95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>
                    <a:alpha val="50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app.pushakin-flows.workers.dev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386055" y="0"/>
            <a:ext cx="5805640" cy="85722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6767046" y="380990"/>
            <a:ext cx="5043659" cy="1234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b="1" spc="206" kern="0" dirty="0">
                <a:solidFill>
                  <a:srgbClr val="6D28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PENDAHULUAN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6767046" y="533387"/>
            <a:ext cx="5043659" cy="36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400" b="1" dirty="0">
                <a:solidFill>
                  <a:srgbClr val="1C19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Pengertian &amp; Tujuan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6767046" y="1135233"/>
            <a:ext cx="5043659" cy="914377"/>
          </a:xfrm>
          <a:prstGeom prst="roundRect">
            <a:avLst>
              <a:gd name="adj" fmla="val 4167"/>
            </a:avLst>
          </a:prstGeom>
          <a:solidFill>
            <a:srgbClr val="FAF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8"/>
          <p:cNvSpPr/>
          <p:nvPr/>
        </p:nvSpPr>
        <p:spPr>
          <a:xfrm>
            <a:off x="6781333" y="1135233"/>
            <a:ext cx="0" cy="914377"/>
          </a:xfrm>
          <a:prstGeom prst="line">
            <a:avLst/>
          </a:prstGeom>
          <a:noFill/>
          <a:ln w="28574">
            <a:solidFill>
              <a:srgbClr val="6D28D9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67066" y="1268579"/>
            <a:ext cx="4672193" cy="1059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35" kern="0" dirty="0">
                <a:solidFill>
                  <a:srgbClr val="6D28D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📋</a:t>
            </a:r>
            <a:pPr algn="l" indent="0" marL="0">
              <a:buNone/>
            </a:pPr>
            <a:r>
              <a:rPr lang="en-US" sz="800" b="1" spc="135" kern="0" dirty="0">
                <a:solidFill>
                  <a:srgbClr val="6D28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KOMUNIKASI INOVATIF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967066" y="1401926"/>
            <a:ext cx="4672193" cy="514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Terobosan strategi komunikasi publik yang menjadi cerminan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praktik baik (best practices)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untuk menginspirasi dan memberi nilai tambah dalam penyampaian pesan, keterlibatan masyarakat, serta pemanfaatan teknologi komunikasi.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767046" y="2182956"/>
            <a:ext cx="5043659" cy="914377"/>
          </a:xfrm>
          <a:prstGeom prst="roundRect">
            <a:avLst>
              <a:gd name="adj" fmla="val 4167"/>
            </a:avLst>
          </a:prstGeom>
          <a:solidFill>
            <a:srgbClr val="FAF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2"/>
          <p:cNvSpPr/>
          <p:nvPr/>
        </p:nvSpPr>
        <p:spPr>
          <a:xfrm>
            <a:off x="6781333" y="2182956"/>
            <a:ext cx="0" cy="914377"/>
          </a:xfrm>
          <a:prstGeom prst="line">
            <a:avLst/>
          </a:prstGeom>
          <a:noFill/>
          <a:ln w="28574">
            <a:solidFill>
              <a:srgbClr val="6D28D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67066" y="2316303"/>
            <a:ext cx="4672193" cy="1059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35" kern="0" dirty="0">
                <a:solidFill>
                  <a:srgbClr val="6D28D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🎯</a:t>
            </a:r>
            <a:pPr algn="l" indent="0" marL="0">
              <a:buNone/>
            </a:pPr>
            <a:r>
              <a:rPr lang="en-US" sz="800" b="1" spc="135" kern="0" dirty="0">
                <a:solidFill>
                  <a:srgbClr val="6D28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TUJUAN PENGHARGAAN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967066" y="2449650"/>
            <a:ext cx="4672193" cy="514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Mendorong terciptanya </a:t>
            </a:r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ekosistem komunikasi publik yang lebih inovatif, efektif, transparan, dan partisipatif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sebagai sarana pembelajaran bersama guna memperkuat kualitas komunikasi publik secara menyeluruh.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6767046" y="3230680"/>
            <a:ext cx="5153387" cy="12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135" kern="0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📊 KRITERIA PENILAIAN — 6 INDIKATOR</a:t>
            </a:r>
            <a:endParaRPr lang="en-US" sz="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7046" y="3383076"/>
          <a:ext cx="5043659" cy="914400"/>
        </p:xfrm>
        <a:graphic>
          <a:graphicData uri="http://schemas.openxmlformats.org/drawingml/2006/table">
            <a:tbl>
              <a:tblPr/>
              <a:tblGrid>
                <a:gridCol w="869730"/>
                <a:gridCol w="2757865"/>
                <a:gridCol w="1416064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198" marR="95248" marT="95248" marB="76198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Indikator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198" marR="95248" marT="95248" marB="76198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Bobot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198" marR="95248" marT="95248" marB="76198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198" marR="95248" marT="95248" marB="76198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Objektif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198" marR="95248" marT="95248" marB="76198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6D28D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20%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198" marR="95248" marT="95248" marB="76198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198" marR="95248" marT="95248" marB="76198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Strategi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198" marR="95248" marT="95248" marB="76198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6D28D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20%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198" marR="95248" marT="95248" marB="76198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198" marR="95248" marT="95248" marB="76198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Taktik / Saluran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198" marR="95248" marT="95248" marB="76198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6D28D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10%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198" marR="95248" marT="95248" marB="76198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4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198" marR="95248" marT="95248" marB="76198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Key Messages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198" marR="95248" marT="95248" marB="76198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6D28D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15%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198" marR="95248" marT="95248" marB="76198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5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198" marR="95248" marT="95248" marB="76198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Eksekusi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198" marR="95248" marT="95248" marB="76198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6D28D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20%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198" marR="95248" marT="95248" marB="76198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6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198" marR="95248" marT="95248" marB="76198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Pengukuran (Hasil)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198" marR="95248" marT="95248" marB="76198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6D28D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15%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198" marR="95248" marT="95248" marB="76198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4C1D9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TOTAL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198" marR="95248" marT="95248" marB="76198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4C1D9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100%</a:t>
                      </a:r>
                      <a:endParaRPr lang="en-US" sz="825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76198" marR="95248" marT="95248" marB="76198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F"/>
                    </a:solidFill>
                  </a:tcPr>
                </a:tc>
              </a:tr>
            </a:tbl>
          </a:graphicData>
        </a:graphic>
      </p:graphicFrame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7046" y="5678544"/>
            <a:ext cx="1203692" cy="64560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6771808" y="5683306"/>
            <a:ext cx="1194167" cy="636075"/>
          </a:xfrm>
          <a:prstGeom prst="roundRect">
            <a:avLst>
              <a:gd name="adj" fmla="val 8985"/>
            </a:avLst>
          </a:prstGeom>
          <a:noFill/>
          <a:ln w="9525">
            <a:solidFill>
              <a:srgbClr val="F3E8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6852768" y="5783316"/>
            <a:ext cx="1032246" cy="2106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253</a:t>
            </a:r>
            <a:endParaRPr lang="en-US" sz="1650" dirty="0"/>
          </a:p>
        </p:txBody>
      </p:sp>
      <p:sp>
        <p:nvSpPr>
          <p:cNvPr id="33" name="Text 28"/>
          <p:cNvSpPr/>
          <p:nvPr/>
        </p:nvSpPr>
        <p:spPr>
          <a:xfrm>
            <a:off x="6852768" y="6021435"/>
            <a:ext cx="1032246" cy="197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800" spc="60" kern="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PROYEK</a:t>
            </a:r>
            <a:endParaRPr lang="en-US" sz="800" dirty="0"/>
          </a:p>
          <a:p>
            <a:pPr algn="ctr" indent="0" marL="0">
              <a:lnSpc>
                <a:spcPts val="780"/>
              </a:lnSpc>
              <a:buNone/>
            </a:pPr>
            <a:r>
              <a:rPr lang="en-US" sz="800" spc="60" kern="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TRACKED</a:t>
            </a:r>
            <a:endParaRPr lang="en-US" sz="80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935" y="5678544"/>
            <a:ext cx="1203841" cy="64560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8051698" y="5683306"/>
            <a:ext cx="1194316" cy="636075"/>
          </a:xfrm>
          <a:prstGeom prst="roundRect">
            <a:avLst>
              <a:gd name="adj" fmla="val 8985"/>
            </a:avLst>
          </a:prstGeom>
          <a:noFill/>
          <a:ln w="9525">
            <a:solidFill>
              <a:srgbClr val="F3E8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0"/>
          <p:cNvSpPr/>
          <p:nvPr/>
        </p:nvSpPr>
        <p:spPr>
          <a:xfrm>
            <a:off x="8132658" y="5783316"/>
            <a:ext cx="1032395" cy="2106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</a:t>
            </a:r>
            <a:endParaRPr lang="en-US" sz="1650" dirty="0"/>
          </a:p>
        </p:txBody>
      </p:sp>
      <p:sp>
        <p:nvSpPr>
          <p:cNvPr id="37" name="Text 31"/>
          <p:cNvSpPr/>
          <p:nvPr/>
        </p:nvSpPr>
        <p:spPr>
          <a:xfrm>
            <a:off x="8132658" y="6021435"/>
            <a:ext cx="1032395" cy="197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800" spc="60" kern="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ROLE</a:t>
            </a:r>
            <a:endParaRPr lang="en-US" sz="800" dirty="0"/>
          </a:p>
          <a:p>
            <a:pPr algn="ctr" indent="0" marL="0">
              <a:lnSpc>
                <a:spcPts val="780"/>
              </a:lnSpc>
              <a:buNone/>
            </a:pPr>
            <a:r>
              <a:rPr lang="en-US" sz="800" spc="60" kern="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TERLIBAT</a:t>
            </a:r>
            <a:endParaRPr lang="en-US" sz="800" dirty="0"/>
          </a:p>
        </p:txBody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974" y="5678544"/>
            <a:ext cx="1203692" cy="64560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9331736" y="5683306"/>
            <a:ext cx="1194167" cy="636075"/>
          </a:xfrm>
          <a:prstGeom prst="roundRect">
            <a:avLst>
              <a:gd name="adj" fmla="val 8985"/>
            </a:avLst>
          </a:prstGeom>
          <a:noFill/>
          <a:ln w="9525">
            <a:solidFill>
              <a:srgbClr val="F3E8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3"/>
          <p:cNvSpPr/>
          <p:nvPr/>
        </p:nvSpPr>
        <p:spPr>
          <a:xfrm>
            <a:off x="9412697" y="5783316"/>
            <a:ext cx="1032246" cy="2106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529</a:t>
            </a:r>
            <a:endParaRPr lang="en-US" sz="1650" dirty="0"/>
          </a:p>
        </p:txBody>
      </p:sp>
      <p:sp>
        <p:nvSpPr>
          <p:cNvPr id="41" name="Text 34"/>
          <p:cNvSpPr/>
          <p:nvPr/>
        </p:nvSpPr>
        <p:spPr>
          <a:xfrm>
            <a:off x="9412697" y="6021435"/>
            <a:ext cx="1032246" cy="197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800" spc="60" kern="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SURAT TUGAS</a:t>
            </a:r>
            <a:endParaRPr lang="en-US" sz="800" dirty="0"/>
          </a:p>
          <a:p>
            <a:pPr algn="ctr" indent="0" marL="0">
              <a:lnSpc>
                <a:spcPts val="780"/>
              </a:lnSpc>
              <a:buNone/>
            </a:pPr>
            <a:r>
              <a:rPr lang="en-US" sz="800" spc="60" kern="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OTOMATIS</a:t>
            </a:r>
            <a:endParaRPr lang="en-US" sz="800" dirty="0"/>
          </a:p>
        </p:txBody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6864" y="5678544"/>
            <a:ext cx="1203841" cy="64560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10611626" y="5683306"/>
            <a:ext cx="1194316" cy="636075"/>
          </a:xfrm>
          <a:prstGeom prst="roundRect">
            <a:avLst>
              <a:gd name="adj" fmla="val 8985"/>
            </a:avLst>
          </a:prstGeom>
          <a:noFill/>
          <a:ln w="9525">
            <a:solidFill>
              <a:srgbClr val="F3E8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36"/>
          <p:cNvSpPr/>
          <p:nvPr/>
        </p:nvSpPr>
        <p:spPr>
          <a:xfrm>
            <a:off x="10692587" y="5783316"/>
            <a:ext cx="1032395" cy="2106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1.361</a:t>
            </a:r>
            <a:endParaRPr lang="en-US" sz="1650" dirty="0"/>
          </a:p>
        </p:txBody>
      </p:sp>
      <p:sp>
        <p:nvSpPr>
          <p:cNvPr id="45" name="Text 37"/>
          <p:cNvSpPr/>
          <p:nvPr/>
        </p:nvSpPr>
        <p:spPr>
          <a:xfrm>
            <a:off x="10692587" y="6021435"/>
            <a:ext cx="1032395" cy="197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800" spc="60" kern="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NOTIFIKASI</a:t>
            </a:r>
            <a:endParaRPr lang="en-US" sz="800" dirty="0"/>
          </a:p>
          <a:p>
            <a:pPr algn="ctr" indent="0" marL="0">
              <a:lnSpc>
                <a:spcPts val="780"/>
              </a:lnSpc>
              <a:buNone/>
            </a:pPr>
            <a:r>
              <a:rPr lang="en-US" sz="800" spc="60" kern="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TERKIRIM</a:t>
            </a:r>
            <a:endParaRPr lang="en-US" sz="800" dirty="0"/>
          </a:p>
        </p:txBody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7046" y="6381293"/>
            <a:ext cx="5043659" cy="623872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6767046" y="6381293"/>
            <a:ext cx="5043659" cy="718718"/>
          </a:xfrm>
          <a:prstGeom prst="rect">
            <a:avLst/>
          </a:prstGeom>
          <a:noFill/>
          <a:ln/>
        </p:spPr>
        <p:txBody>
          <a:bodyPr wrap="square" lIns="133347" tIns="95248" rIns="133347" bIns="95248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spc="67" kern="0" dirty="0">
                <a:solidFill>
                  <a:srgbClr val="F59E0B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🎯</a:t>
            </a:r>
            <a:pPr algn="l" indent="0" marL="0">
              <a:lnSpc>
                <a:spcPts val="1125"/>
              </a:lnSpc>
              <a:buNone/>
            </a:pPr>
            <a:r>
              <a:rPr lang="en-US" sz="800" b="1" spc="67" kern="0" dirty="0">
                <a:solidFill>
                  <a:srgbClr val="F59E0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TENTANG PUSHAKIN FLOWS</a:t>
            </a:r>
            <a:endParaRPr lang="en-US" sz="800" dirty="0"/>
          </a:p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Sistem manajemen produksi kehumasan terpadu — dari permohonan hingga publikasi — dibangun dengan teknologi </a:t>
            </a:r>
            <a:pPr algn="l" indent="0" marL="0">
              <a:lnSpc>
                <a:spcPts val="1125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Next.js 16 + Cloudflare Workers (edge global)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untuk UIN Antasari Banjarmasin.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85722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38" y="881040"/>
            <a:ext cx="11239219" cy="0"/>
          </a:xfrm>
          <a:prstGeom prst="line">
            <a:avLst/>
          </a:prstGeom>
          <a:noFill/>
          <a:ln w="19050">
            <a:solidFill>
              <a:srgbClr val="E7E5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6238" y="304792"/>
            <a:ext cx="8636000" cy="115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87" kern="0" dirty="0">
                <a:solidFill>
                  <a:srgbClr val="6D28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TELAAH KRITERIA &amp; METODOLOGI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76238" y="447664"/>
            <a:ext cx="8636000" cy="328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87"/>
              </a:lnSpc>
              <a:buNone/>
            </a:pPr>
            <a:r>
              <a:rPr lang="en-US" sz="2250" b="1" dirty="0">
                <a:solidFill>
                  <a:srgbClr val="1C19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Mengapa Pushakin Flows Menjawab Kriteria Penilaian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0810240" y="395278"/>
            <a:ext cx="905217" cy="1059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spc="101" kern="0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PENDEKATAN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795030" y="528624"/>
            <a:ext cx="948575" cy="246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6D28D9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Ilmiah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6238" y="1023912"/>
            <a:ext cx="6803914" cy="195448"/>
          </a:xfrm>
          <a:prstGeom prst="rect">
            <a:avLst/>
          </a:prstGeom>
          <a:noFill/>
          <a:ln/>
        </p:spPr>
        <p:txBody>
          <a:bodyPr wrap="square" lIns="0" tIns="0" rIns="0" bIns="57149" rtlCol="0" anchor="t"/>
          <a:lstStyle/>
          <a:p>
            <a:pPr algn="l" indent="0" marL="0">
              <a:buNone/>
            </a:pPr>
            <a:r>
              <a:rPr lang="en-US" sz="825" b="1" spc="165" kern="0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A. TELAAH 6 INDIKATOR PENILAIAN</a:t>
            </a:r>
            <a:endParaRPr lang="en-US" sz="825" dirty="0"/>
          </a:p>
        </p:txBody>
      </p:sp>
      <p:sp>
        <p:nvSpPr>
          <p:cNvPr id="9" name="Shape 7"/>
          <p:cNvSpPr/>
          <p:nvPr/>
        </p:nvSpPr>
        <p:spPr>
          <a:xfrm>
            <a:off x="476238" y="2307671"/>
            <a:ext cx="5533887" cy="0"/>
          </a:xfrm>
          <a:prstGeom prst="line">
            <a:avLst/>
          </a:prstGeom>
          <a:noFill/>
          <a:ln w="9525">
            <a:solidFill>
              <a:srgbClr val="F5F5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6238" y="1376328"/>
            <a:ext cx="247644" cy="247644"/>
          </a:xfrm>
          <a:prstGeom prst="ellipse">
            <a:avLst/>
          </a:prstGeom>
          <a:solidFill>
            <a:srgbClr val="F3E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6238" y="1376328"/>
            <a:ext cx="295268" cy="247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815903" y="1381090"/>
            <a:ext cx="665766" cy="1392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Objektif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5741171" y="1376328"/>
            <a:ext cx="290263" cy="164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20%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819130" y="1547774"/>
            <a:ext cx="5190995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Tujuan &amp; masalah yang dipecahkan — workflow terfragmentasi menjadi terstruktur.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6238" y="3320124"/>
            <a:ext cx="5533887" cy="0"/>
          </a:xfrm>
          <a:prstGeom prst="line">
            <a:avLst/>
          </a:prstGeom>
          <a:noFill/>
          <a:ln w="9525">
            <a:solidFill>
              <a:srgbClr val="F5F5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6238" y="2388632"/>
            <a:ext cx="247644" cy="247644"/>
          </a:xfrm>
          <a:prstGeom prst="ellipse">
            <a:avLst/>
          </a:prstGeom>
          <a:solidFill>
            <a:srgbClr val="F3E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6238" y="2388632"/>
            <a:ext cx="295268" cy="247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815903" y="2393394"/>
            <a:ext cx="665766" cy="1392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Strategi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5741171" y="2388632"/>
            <a:ext cx="290263" cy="164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20%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819130" y="2560077"/>
            <a:ext cx="5190995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5-tahap gating + 3 mode adaptif (Normal/FastTrack/FastProduction).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76238" y="4332427"/>
            <a:ext cx="5533887" cy="0"/>
          </a:xfrm>
          <a:prstGeom prst="line">
            <a:avLst/>
          </a:prstGeom>
          <a:noFill/>
          <a:ln w="9525">
            <a:solidFill>
              <a:srgbClr val="F5F5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6238" y="3401084"/>
            <a:ext cx="247644" cy="247644"/>
          </a:xfrm>
          <a:prstGeom prst="ellipse">
            <a:avLst/>
          </a:prstGeom>
          <a:solidFill>
            <a:srgbClr val="F3E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6238" y="3401084"/>
            <a:ext cx="295268" cy="247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819130" y="3405846"/>
            <a:ext cx="1132740" cy="1392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Taktik / Saluran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5741171" y="3401084"/>
            <a:ext cx="290263" cy="164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10%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819130" y="3572530"/>
            <a:ext cx="5190995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12+ channel terintegrasi: WA gratis, email, public tracker, LIHUM, 14 platform.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6238" y="5344880"/>
            <a:ext cx="5533887" cy="0"/>
          </a:xfrm>
          <a:prstGeom prst="line">
            <a:avLst/>
          </a:prstGeom>
          <a:noFill/>
          <a:ln w="9525">
            <a:solidFill>
              <a:srgbClr val="F5F5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6238" y="4413388"/>
            <a:ext cx="247644" cy="247644"/>
          </a:xfrm>
          <a:prstGeom prst="ellipse">
            <a:avLst/>
          </a:prstGeom>
          <a:solidFill>
            <a:srgbClr val="F3E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6238" y="4413388"/>
            <a:ext cx="295268" cy="247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819130" y="4418150"/>
            <a:ext cx="1067071" cy="1392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Key Messages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5741171" y="4413388"/>
            <a:ext cx="290263" cy="164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15%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819130" y="4584833"/>
            <a:ext cx="5190995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5-lapis pesan terstruktur + 3-trigger notifikasi otomatis siap pakai.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6238" y="6357183"/>
            <a:ext cx="5533887" cy="0"/>
          </a:xfrm>
          <a:prstGeom prst="line">
            <a:avLst/>
          </a:prstGeom>
          <a:noFill/>
          <a:ln w="9525">
            <a:solidFill>
              <a:srgbClr val="F5F5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6238" y="5425840"/>
            <a:ext cx="247644" cy="247644"/>
          </a:xfrm>
          <a:prstGeom prst="ellipse">
            <a:avLst/>
          </a:prstGeom>
          <a:solidFill>
            <a:srgbClr val="F3E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76238" y="5425840"/>
            <a:ext cx="295268" cy="247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819130" y="5430602"/>
            <a:ext cx="767851" cy="1392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Eksekusi</a:t>
            </a:r>
            <a:endParaRPr lang="en-US" sz="975" dirty="0"/>
          </a:p>
        </p:txBody>
      </p:sp>
      <p:sp>
        <p:nvSpPr>
          <p:cNvPr id="37" name="Text 35"/>
          <p:cNvSpPr/>
          <p:nvPr/>
        </p:nvSpPr>
        <p:spPr>
          <a:xfrm>
            <a:off x="5741171" y="5425840"/>
            <a:ext cx="290263" cy="164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20%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819130" y="5597286"/>
            <a:ext cx="5190995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15 fitur kunci end-to-end dengan audit trail lengkap.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6238" y="6438144"/>
            <a:ext cx="247644" cy="247644"/>
          </a:xfrm>
          <a:prstGeom prst="ellipse">
            <a:avLst/>
          </a:prstGeom>
          <a:solidFill>
            <a:srgbClr val="F3E8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76238" y="6438144"/>
            <a:ext cx="295268" cy="247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819130" y="6442906"/>
            <a:ext cx="894435" cy="13925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Pengukuran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5762481" y="6438144"/>
            <a:ext cx="396230" cy="164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15%</a:t>
            </a:r>
            <a:endParaRPr lang="en-US" sz="975" dirty="0"/>
          </a:p>
        </p:txBody>
      </p:sp>
      <p:sp>
        <p:nvSpPr>
          <p:cNvPr id="43" name="Text 41"/>
          <p:cNvSpPr/>
          <p:nvPr/>
        </p:nvSpPr>
        <p:spPr>
          <a:xfrm>
            <a:off x="819130" y="6609589"/>
            <a:ext cx="5190995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5-section dashboard statistik + auto-generate Laporan Kegiatan SKP.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181570" y="1023912"/>
            <a:ext cx="5643615" cy="195448"/>
          </a:xfrm>
          <a:prstGeom prst="rect">
            <a:avLst/>
          </a:prstGeom>
          <a:noFill/>
          <a:ln/>
        </p:spPr>
        <p:txBody>
          <a:bodyPr wrap="square" lIns="0" tIns="0" rIns="0" bIns="57149" rtlCol="0" anchor="t"/>
          <a:lstStyle/>
          <a:p>
            <a:pPr algn="l" indent="0" marL="0">
              <a:buNone/>
            </a:pPr>
            <a:r>
              <a:rPr lang="en-US" sz="825" b="1" spc="165" kern="0" dirty="0">
                <a:solidFill>
                  <a:srgbClr val="6D28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B. METODOLOGI PUSHAKIN FLOWS</a:t>
            </a:r>
            <a:endParaRPr lang="en-US" sz="825" dirty="0"/>
          </a:p>
        </p:txBody>
      </p:sp>
      <p:sp>
        <p:nvSpPr>
          <p:cNvPr id="45" name="Text 43"/>
          <p:cNvSpPr/>
          <p:nvPr/>
        </p:nvSpPr>
        <p:spPr>
          <a:xfrm>
            <a:off x="6181570" y="1300130"/>
            <a:ext cx="5533887" cy="934468"/>
          </a:xfrm>
          <a:prstGeom prst="roundRect">
            <a:avLst>
              <a:gd name="adj" fmla="val 4077"/>
            </a:avLst>
          </a:prstGeom>
          <a:solidFill>
            <a:srgbClr val="FAF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6195857" y="1300130"/>
            <a:ext cx="0" cy="934468"/>
          </a:xfrm>
          <a:prstGeom prst="line">
            <a:avLst/>
          </a:prstGeom>
          <a:noFill/>
          <a:ln w="28574">
            <a:solidFill>
              <a:srgbClr val="6D28D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24442" y="1543458"/>
            <a:ext cx="5276718" cy="1059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01" kern="0" dirty="0">
                <a:solidFill>
                  <a:srgbClr val="6D28D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🔧</a:t>
            </a:r>
            <a:pPr algn="l" indent="0" marL="0">
              <a:buNone/>
            </a:pPr>
            <a:r>
              <a:rPr lang="en-US" sz="800" b="1" spc="101" kern="0" dirty="0">
                <a:solidFill>
                  <a:srgbClr val="6D28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TECH STACK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6324442" y="1676805"/>
            <a:ext cx="5276718" cy="339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7"/>
              </a:lnSpc>
              <a:buNone/>
            </a:pPr>
            <a:r>
              <a:rPr lang="en-US" sz="825" b="1" dirty="0">
                <a:solidFill>
                  <a:srgbClr val="4C1D9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Next.js 16 + TypeScript + Cloudflare Workers (edge)</a:t>
            </a:r>
            <a:pPr algn="l" indent="0" marL="0">
              <a:lnSpc>
                <a:spcPts val="1237"/>
              </a:lnSpc>
              <a:buNone/>
            </a:pPr>
            <a:r>
              <a:rPr lang="en-US" sz="825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Prisma ORM + D1 database, Google Drive API, LIHUM API, 3 WhatsApp API providers, jsPDF + SheetJS.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6181570" y="2310796"/>
            <a:ext cx="5533887" cy="934617"/>
          </a:xfrm>
          <a:prstGeom prst="roundRect">
            <a:avLst>
              <a:gd name="adj" fmla="val 4077"/>
            </a:avLst>
          </a:prstGeom>
          <a:solidFill>
            <a:srgbClr val="FAF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6195857" y="2310796"/>
            <a:ext cx="0" cy="934617"/>
          </a:xfrm>
          <a:prstGeom prst="line">
            <a:avLst/>
          </a:prstGeom>
          <a:noFill/>
          <a:ln w="28574">
            <a:solidFill>
              <a:srgbClr val="6D28D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24442" y="2554273"/>
            <a:ext cx="5276718" cy="1059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01" kern="0" dirty="0">
                <a:solidFill>
                  <a:srgbClr val="6D28D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📐</a:t>
            </a:r>
            <a:pPr algn="l" indent="0" marL="0">
              <a:buNone/>
            </a:pPr>
            <a:r>
              <a:rPr lang="en-US" sz="800" b="1" spc="101" kern="0" dirty="0">
                <a:solidFill>
                  <a:srgbClr val="6D28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ARSITEKTUR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324442" y="2687620"/>
            <a:ext cx="5276718" cy="339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7"/>
              </a:lnSpc>
              <a:buNone/>
            </a:pPr>
            <a:r>
              <a:rPr lang="en-US" sz="825" b="1" dirty="0">
                <a:solidFill>
                  <a:srgbClr val="4C1D9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5-Tahap Workflow Gating</a:t>
            </a:r>
            <a:pPr algn="l" indent="0" marL="0">
              <a:lnSpc>
                <a:spcPts val="1237"/>
              </a:lnSpc>
              <a:buNone/>
            </a:pPr>
            <a:r>
              <a:rPr lang="en-US" sz="825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Perencanaan → Produksi → Pasca Produksi → Review → Publikasi → Selesai. </a:t>
            </a:r>
            <a:pPr algn="l" indent="0" marL="0">
              <a:lnSpc>
                <a:spcPts val="1237"/>
              </a:lnSpc>
              <a:buNone/>
            </a:pPr>
            <a:r>
              <a:rPr lang="en-US" sz="825" b="1" dirty="0">
                <a:solidFill>
                  <a:srgbClr val="4C1D9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 role</a:t>
            </a:r>
            <a:pPr algn="l" indent="0" marL="0">
              <a:lnSpc>
                <a:spcPts val="1237"/>
              </a:lnSpc>
              <a:buNone/>
            </a:pPr>
            <a:r>
              <a:rPr lang="en-US" sz="825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spesifik dengan tipe tugas berbeda (upload/download_upload/paste_streaming/review/publish).</a:t>
            </a:r>
            <a:endParaRPr lang="en-US" sz="825" dirty="0"/>
          </a:p>
        </p:txBody>
      </p:sp>
      <p:sp>
        <p:nvSpPr>
          <p:cNvPr id="53" name="Text 51"/>
          <p:cNvSpPr/>
          <p:nvPr/>
        </p:nvSpPr>
        <p:spPr>
          <a:xfrm>
            <a:off x="6181570" y="3321612"/>
            <a:ext cx="5533887" cy="934468"/>
          </a:xfrm>
          <a:prstGeom prst="roundRect">
            <a:avLst>
              <a:gd name="adj" fmla="val 4077"/>
            </a:avLst>
          </a:prstGeom>
          <a:solidFill>
            <a:srgbClr val="FAF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6195857" y="3321612"/>
            <a:ext cx="0" cy="934468"/>
          </a:xfrm>
          <a:prstGeom prst="line">
            <a:avLst/>
          </a:prstGeom>
          <a:noFill/>
          <a:ln w="28574">
            <a:solidFill>
              <a:srgbClr val="6D28D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24442" y="3564940"/>
            <a:ext cx="5276718" cy="1059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01" kern="0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🔄 WORKFLOW 3-LAPIS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6324442" y="3698286"/>
            <a:ext cx="5276718" cy="339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7"/>
              </a:lnSpc>
              <a:buNone/>
            </a:pPr>
            <a:r>
              <a:rPr lang="en-US" sz="825" b="1" dirty="0">
                <a:solidFill>
                  <a:srgbClr val="4C1D9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Surat (Administrator)</a:t>
            </a:r>
            <a:pPr algn="l" indent="0" marL="0">
              <a:lnSpc>
                <a:spcPts val="1237"/>
              </a:lnSpc>
              <a:buNone/>
            </a:pPr>
            <a:r>
              <a:rPr lang="en-US" sz="825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→ </a:t>
            </a:r>
            <a:pPr algn="l" indent="0" marL="0">
              <a:lnSpc>
                <a:spcPts val="1237"/>
              </a:lnSpc>
              <a:buNone/>
            </a:pPr>
            <a:r>
              <a:rPr lang="en-US" sz="825" b="1" dirty="0">
                <a:solidFill>
                  <a:srgbClr val="4C1D9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Program Kegiatan</a:t>
            </a:r>
            <a:pPr algn="l" indent="0" marL="0">
              <a:lnSpc>
                <a:spcPts val="1237"/>
              </a:lnSpc>
              <a:buNone/>
            </a:pPr>
            <a:r>
              <a:rPr lang="en-US" sz="825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→ </a:t>
            </a:r>
            <a:pPr algn="l" indent="0" marL="0">
              <a:lnSpc>
                <a:spcPts val="1237"/>
              </a:lnSpc>
              <a:buNone/>
            </a:pPr>
            <a:r>
              <a:rPr lang="en-US" sz="825" b="1" dirty="0">
                <a:solidFill>
                  <a:srgbClr val="4C1D9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Inisiasi Proyek (Manager)</a:t>
            </a:r>
            <a:pPr algn="l" indent="0" marL="0">
              <a:lnSpc>
                <a:spcPts val="1237"/>
              </a:lnSpc>
              <a:buNone/>
            </a:pPr>
            <a:r>
              <a:rPr lang="en-US" sz="825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→ </a:t>
            </a:r>
            <a:pPr algn="l" indent="0" marL="0">
              <a:lnSpc>
                <a:spcPts val="1237"/>
              </a:lnSpc>
              <a:buNone/>
            </a:pPr>
            <a:r>
              <a:rPr lang="en-US" sz="825" b="1" dirty="0">
                <a:solidFill>
                  <a:srgbClr val="4C1D9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Surat Tugas otomatis</a:t>
            </a:r>
            <a:pPr algn="l" indent="0" marL="0">
              <a:lnSpc>
                <a:spcPts val="1237"/>
              </a:lnSpc>
              <a:buNone/>
            </a:pPr>
            <a:r>
              <a:rPr lang="en-US" sz="825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→ </a:t>
            </a:r>
            <a:pPr algn="l" indent="0" marL="0">
              <a:lnSpc>
                <a:spcPts val="1237"/>
              </a:lnSpc>
              <a:buNone/>
            </a:pPr>
            <a:r>
              <a:rPr lang="en-US" sz="825" b="1" dirty="0">
                <a:solidFill>
                  <a:srgbClr val="4C1D9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Eksekusi 5-tahap</a:t>
            </a:r>
            <a:pPr algn="l" indent="0" marL="0">
              <a:lnSpc>
                <a:spcPts val="1237"/>
              </a:lnSpc>
              <a:buNone/>
            </a:pPr>
            <a:r>
              <a:rPr lang="en-US" sz="825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→ </a:t>
            </a:r>
            <a:pPr algn="l" indent="0" marL="0">
              <a:lnSpc>
                <a:spcPts val="1237"/>
              </a:lnSpc>
              <a:buNone/>
            </a:pPr>
            <a:r>
              <a:rPr lang="en-US" sz="825" b="1" dirty="0">
                <a:solidFill>
                  <a:srgbClr val="4C1D9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Laporan Kegiatan auto-generate untuk SKP</a:t>
            </a:r>
            <a:pPr algn="l" indent="0" marL="0">
              <a:lnSpc>
                <a:spcPts val="1237"/>
              </a:lnSpc>
              <a:buNone/>
            </a:pPr>
            <a:r>
              <a:rPr lang="en-US" sz="825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25" dirty="0"/>
          </a:p>
        </p:txBody>
      </p:sp>
      <p:sp>
        <p:nvSpPr>
          <p:cNvPr id="57" name="Text 55"/>
          <p:cNvSpPr/>
          <p:nvPr/>
        </p:nvSpPr>
        <p:spPr>
          <a:xfrm>
            <a:off x="6181570" y="4332278"/>
            <a:ext cx="5533887" cy="934617"/>
          </a:xfrm>
          <a:prstGeom prst="roundRect">
            <a:avLst>
              <a:gd name="adj" fmla="val 4077"/>
            </a:avLst>
          </a:prstGeom>
          <a:solidFill>
            <a:srgbClr val="FAF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Shape 56"/>
          <p:cNvSpPr/>
          <p:nvPr/>
        </p:nvSpPr>
        <p:spPr>
          <a:xfrm>
            <a:off x="6195857" y="4332278"/>
            <a:ext cx="0" cy="934617"/>
          </a:xfrm>
          <a:prstGeom prst="line">
            <a:avLst/>
          </a:prstGeom>
          <a:noFill/>
          <a:ln w="28574">
            <a:solidFill>
              <a:srgbClr val="6D28D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24442" y="4497176"/>
            <a:ext cx="5276718" cy="1059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01" kern="0" dirty="0">
                <a:solidFill>
                  <a:srgbClr val="6D28D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🌐</a:t>
            </a:r>
            <a:pPr algn="l" indent="0" marL="0">
              <a:buNone/>
            </a:pPr>
            <a:r>
              <a:rPr lang="en-US" sz="800" b="1" spc="101" kern="0" dirty="0">
                <a:solidFill>
                  <a:srgbClr val="6D28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BUKTI SISTEM LIVE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324442" y="4630522"/>
            <a:ext cx="5276718" cy="509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7"/>
              </a:lnSpc>
              <a:buNone/>
            </a:pPr>
            <a:r>
              <a:rPr lang="en-US" sz="825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URL Produksi: </a:t>
            </a:r>
            <a:pPr algn="l" indent="0" marL="0">
              <a:lnSpc>
                <a:spcPts val="1237"/>
              </a:lnSpc>
              <a:buNone/>
            </a:pPr>
            <a:r>
              <a:rPr lang="en-US" sz="825" b="1" dirty="0">
                <a:solidFill>
                  <a:srgbClr val="4C1D9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app.pushakin-flows.workers.dev</a:t>
            </a:r>
            <a:pPr algn="l" indent="0" marL="0">
              <a:lnSpc>
                <a:spcPts val="1237"/>
              </a:lnSpc>
              <a:buNone/>
            </a:pPr>
            <a:r>
              <a:rPr lang="en-US" sz="825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(Cloudflare Workers edge global). Public Tracker: </a:t>
            </a:r>
            <a:pPr algn="l" indent="0" marL="0">
              <a:lnSpc>
                <a:spcPts val="1237"/>
              </a:lnSpc>
              <a:buNone/>
            </a:pPr>
            <a:r>
              <a:rPr lang="en-US" sz="825" b="1" dirty="0">
                <a:solidFill>
                  <a:srgbClr val="4C1D9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?public=tracker</a:t>
            </a:r>
            <a:pPr algn="l" indent="0" marL="0">
              <a:lnSpc>
                <a:spcPts val="1237"/>
              </a:lnSpc>
              <a:buNone/>
            </a:pPr>
            <a:r>
              <a:rPr lang="en-US" sz="825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(no-auth). LIHUM Gallery: </a:t>
            </a:r>
            <a:pPr algn="l" indent="0" marL="0">
              <a:lnSpc>
                <a:spcPts val="1237"/>
              </a:lnSpc>
              <a:buNone/>
            </a:pPr>
            <a:r>
              <a:rPr lang="en-US" sz="825" b="1" dirty="0">
                <a:solidFill>
                  <a:srgbClr val="4C1D9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lihum.synclicen.workers.dev</a:t>
            </a:r>
            <a:pPr algn="l" indent="0" marL="0">
              <a:lnSpc>
                <a:spcPts val="1237"/>
              </a:lnSpc>
              <a:buNone/>
            </a:pPr>
            <a:r>
              <a:rPr lang="en-US" sz="825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Screenshot sistem asli ada di slide berikutnya.</a:t>
            </a:r>
            <a:endParaRPr lang="en-US" sz="825" dirty="0"/>
          </a:p>
        </p:txBody>
      </p:sp>
      <p:sp>
        <p:nvSpPr>
          <p:cNvPr id="61" name="Text 59"/>
          <p:cNvSpPr/>
          <p:nvPr/>
        </p:nvSpPr>
        <p:spPr>
          <a:xfrm>
            <a:off x="6181570" y="5343094"/>
            <a:ext cx="5533887" cy="934617"/>
          </a:xfrm>
          <a:prstGeom prst="roundRect">
            <a:avLst>
              <a:gd name="adj" fmla="val 4077"/>
            </a:avLst>
          </a:prstGeom>
          <a:solidFill>
            <a:srgbClr val="FAF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Shape 60"/>
          <p:cNvSpPr/>
          <p:nvPr/>
        </p:nvSpPr>
        <p:spPr>
          <a:xfrm>
            <a:off x="6195857" y="5343094"/>
            <a:ext cx="0" cy="934617"/>
          </a:xfrm>
          <a:prstGeom prst="line">
            <a:avLst/>
          </a:prstGeom>
          <a:noFill/>
          <a:ln w="28574">
            <a:solidFill>
              <a:srgbClr val="6D28D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24442" y="5586570"/>
            <a:ext cx="5386446" cy="105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01" kern="0" dirty="0">
                <a:solidFill>
                  <a:srgbClr val="6D28D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📊</a:t>
            </a:r>
            <a:pPr algn="l" indent="0" marL="0">
              <a:buNone/>
            </a:pPr>
            <a:r>
              <a:rPr lang="en-US" sz="800" b="1" spc="101" kern="0" dirty="0">
                <a:solidFill>
                  <a:srgbClr val="6D28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SKALA PRODUKSI (VERIFIKASI)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324442" y="5719917"/>
            <a:ext cx="5276718" cy="339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7"/>
              </a:lnSpc>
              <a:buNone/>
            </a:pPr>
            <a:r>
              <a:rPr lang="en-US" sz="825" b="1" dirty="0">
                <a:solidFill>
                  <a:srgbClr val="4C1D9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253 proyek</a:t>
            </a:r>
            <a:pPr algn="l" indent="0" marL="0">
              <a:lnSpc>
                <a:spcPts val="1237"/>
              </a:lnSpc>
              <a:buNone/>
            </a:pPr>
            <a:r>
              <a:rPr lang="en-US" sz="825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tracked, </a:t>
            </a:r>
            <a:pPr algn="l" indent="0" marL="0">
              <a:lnSpc>
                <a:spcPts val="1237"/>
              </a:lnSpc>
              <a:buNone/>
            </a:pPr>
            <a:r>
              <a:rPr lang="en-US" sz="825" b="1" dirty="0">
                <a:solidFill>
                  <a:srgbClr val="4C1D9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793 task</a:t>
            </a:r>
            <a:pPr algn="l" indent="0" marL="0">
              <a:lnSpc>
                <a:spcPts val="1237"/>
              </a:lnSpc>
              <a:buNone/>
            </a:pPr>
            <a:r>
              <a:rPr lang="en-US" sz="825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1237"/>
              </a:lnSpc>
              <a:buNone/>
            </a:pPr>
            <a:r>
              <a:rPr lang="en-US" sz="825" b="1" dirty="0">
                <a:solidFill>
                  <a:srgbClr val="4C1D9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529 surat tugas</a:t>
            </a:r>
            <a:pPr algn="l" indent="0" marL="0">
              <a:lnSpc>
                <a:spcPts val="1237"/>
              </a:lnSpc>
              <a:buNone/>
            </a:pPr>
            <a:r>
              <a:rPr lang="en-US" sz="825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auto, </a:t>
            </a:r>
            <a:pPr algn="l" indent="0" marL="0">
              <a:lnSpc>
                <a:spcPts val="1237"/>
              </a:lnSpc>
              <a:buNone/>
            </a:pPr>
            <a:r>
              <a:rPr lang="en-US" sz="825" b="1" dirty="0">
                <a:solidFill>
                  <a:srgbClr val="4C1D9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1.361 notifikasi</a:t>
            </a:r>
            <a:pPr algn="l" indent="0" marL="0">
              <a:lnSpc>
                <a:spcPts val="1237"/>
              </a:lnSpc>
              <a:buNone/>
            </a:pPr>
            <a:r>
              <a:rPr lang="en-US" sz="825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1237"/>
              </a:lnSpc>
              <a:buNone/>
            </a:pPr>
            <a:r>
              <a:rPr lang="en-US" sz="825" b="1" dirty="0">
                <a:solidFill>
                  <a:srgbClr val="4C1D9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 stuck permanen</a:t>
            </a:r>
            <a:pPr algn="l" indent="0" marL="0">
              <a:lnSpc>
                <a:spcPts val="1237"/>
              </a:lnSpc>
              <a:buNone/>
            </a:pPr>
            <a:r>
              <a:rPr lang="en-US" sz="825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(auto-repair), Worker startup </a:t>
            </a:r>
            <a:pPr algn="l" indent="0" marL="0">
              <a:lnSpc>
                <a:spcPts val="1237"/>
              </a:lnSpc>
              <a:buNone/>
            </a:pPr>
            <a:r>
              <a:rPr lang="en-US" sz="825" b="1" dirty="0">
                <a:solidFill>
                  <a:srgbClr val="4C1D9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26ms</a:t>
            </a:r>
            <a:pPr algn="l" indent="0" marL="0">
              <a:lnSpc>
                <a:spcPts val="1237"/>
              </a:lnSpc>
              <a:buNone/>
            </a:pPr>
            <a:r>
              <a:rPr lang="en-US" sz="825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25" dirty="0"/>
          </a:p>
        </p:txBody>
      </p:sp>
      <p:sp>
        <p:nvSpPr>
          <p:cNvPr id="65" name="Text 63"/>
          <p:cNvSpPr/>
          <p:nvPr/>
        </p:nvSpPr>
        <p:spPr>
          <a:xfrm>
            <a:off x="6181570" y="6353909"/>
            <a:ext cx="5533887" cy="934617"/>
          </a:xfrm>
          <a:prstGeom prst="roundRect">
            <a:avLst>
              <a:gd name="adj" fmla="val 4077"/>
            </a:avLst>
          </a:prstGeom>
          <a:solidFill>
            <a:srgbClr val="FAF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Shape 64"/>
          <p:cNvSpPr/>
          <p:nvPr/>
        </p:nvSpPr>
        <p:spPr>
          <a:xfrm>
            <a:off x="6195857" y="6353909"/>
            <a:ext cx="0" cy="934617"/>
          </a:xfrm>
          <a:prstGeom prst="line">
            <a:avLst/>
          </a:prstGeom>
          <a:noFill/>
          <a:ln w="28574">
            <a:solidFill>
              <a:srgbClr val="6D28D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24442" y="6597386"/>
            <a:ext cx="5276718" cy="1059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01" kern="0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🎯 PEMETAAN KE 4 TUJUAN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6324442" y="6730732"/>
            <a:ext cx="5276718" cy="339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7"/>
              </a:lnSpc>
              <a:buNone/>
            </a:pPr>
            <a:r>
              <a:rPr lang="en-US" sz="825" b="1" dirty="0">
                <a:solidFill>
                  <a:srgbClr val="4C1D9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INOVATIF</a:t>
            </a:r>
            <a:pPr algn="l" indent="0" marL="0">
              <a:lnSpc>
                <a:spcPts val="1237"/>
              </a:lnSpc>
              <a:buNone/>
            </a:pPr>
            <a:r>
              <a:rPr lang="en-US" sz="825" dirty="0">
                <a:solidFill>
                  <a:srgbClr val="44403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(3 mode + active duration), </a:t>
            </a:r>
            <a:pPr algn="l" indent="0" marL="0">
              <a:lnSpc>
                <a:spcPts val="1237"/>
              </a:lnSpc>
              <a:buNone/>
            </a:pPr>
            <a:r>
              <a:rPr lang="en-US" sz="825" b="1" dirty="0">
                <a:solidFill>
                  <a:srgbClr val="4C1D9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EFEKTIF</a:t>
            </a:r>
            <a:pPr algn="l" indent="0" marL="0">
              <a:lnSpc>
                <a:spcPts val="1237"/>
              </a:lnSpc>
              <a:buNone/>
            </a:pPr>
            <a:r>
              <a:rPr lang="en-US" sz="825" dirty="0">
                <a:solidFill>
                  <a:srgbClr val="44403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(793 task), </a:t>
            </a:r>
            <a:pPr algn="l" indent="0" marL="0">
              <a:lnSpc>
                <a:spcPts val="1237"/>
              </a:lnSpc>
              <a:buNone/>
            </a:pPr>
            <a:r>
              <a:rPr lang="en-US" sz="825" b="1" dirty="0">
                <a:solidFill>
                  <a:srgbClr val="4C1D9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TRANSPARAN</a:t>
            </a:r>
            <a:pPr algn="l" indent="0" marL="0">
              <a:lnSpc>
                <a:spcPts val="1237"/>
              </a:lnSpc>
              <a:buNone/>
            </a:pPr>
            <a:r>
              <a:rPr lang="en-US" sz="825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(public tracker + audit trail), </a:t>
            </a:r>
            <a:pPr algn="l" indent="0" marL="0">
              <a:lnSpc>
                <a:spcPts val="1237"/>
              </a:lnSpc>
              <a:buNone/>
            </a:pPr>
            <a:r>
              <a:rPr lang="en-US" sz="825" b="1" dirty="0">
                <a:solidFill>
                  <a:srgbClr val="4C1D9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PARTISIPATIF</a:t>
            </a:r>
            <a:pPr algn="l" indent="0" marL="0">
              <a:lnSpc>
                <a:spcPts val="1237"/>
              </a:lnSpc>
              <a:buNone/>
            </a:pPr>
            <a:r>
              <a:rPr lang="en-US" sz="825" dirty="0">
                <a:solidFill>
                  <a:srgbClr val="44403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(15 role + Relasi form).</a:t>
            </a:r>
            <a:endParaRPr lang="en-US" sz="825" dirty="0"/>
          </a:p>
        </p:txBody>
      </p:sp>
      <p:sp>
        <p:nvSpPr>
          <p:cNvPr id="69" name="Shape 67"/>
          <p:cNvSpPr/>
          <p:nvPr/>
        </p:nvSpPr>
        <p:spPr>
          <a:xfrm>
            <a:off x="476238" y="7374249"/>
            <a:ext cx="11239219" cy="0"/>
          </a:xfrm>
          <a:prstGeom prst="line">
            <a:avLst/>
          </a:prstGeom>
          <a:noFill/>
          <a:ln w="19050">
            <a:solidFill>
              <a:srgbClr val="F3E8FF"/>
            </a:solidFill>
            <a:prstDash val="dash"/>
          </a:ln>
        </p:spPr>
      </p:sp>
      <p:pic>
        <p:nvPicPr>
          <p:cNvPr id="7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38" y="7498071"/>
            <a:ext cx="1809705" cy="845620"/>
          </a:xfrm>
          <a:prstGeom prst="rect">
            <a:avLst/>
          </a:prstGeom>
        </p:spPr>
      </p:pic>
      <p:sp>
        <p:nvSpPr>
          <p:cNvPr id="71" name="Text 68"/>
          <p:cNvSpPr/>
          <p:nvPr/>
        </p:nvSpPr>
        <p:spPr>
          <a:xfrm>
            <a:off x="481000" y="7502833"/>
            <a:ext cx="1800180" cy="836095"/>
          </a:xfrm>
          <a:prstGeom prst="roundRect">
            <a:avLst>
              <a:gd name="adj" fmla="val 9114"/>
            </a:avLst>
          </a:prstGeom>
          <a:noFill/>
          <a:ln w="9525">
            <a:solidFill>
              <a:srgbClr val="F3E8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2" name="Text 69"/>
          <p:cNvSpPr/>
          <p:nvPr/>
        </p:nvSpPr>
        <p:spPr>
          <a:xfrm>
            <a:off x="542911" y="7602843"/>
            <a:ext cx="1676358" cy="172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925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📊</a:t>
            </a:r>
            <a:endParaRPr lang="en-US" sz="1200" dirty="0"/>
          </a:p>
        </p:txBody>
      </p:sp>
      <p:sp>
        <p:nvSpPr>
          <p:cNvPr id="73" name="Text 70"/>
          <p:cNvSpPr/>
          <p:nvPr/>
        </p:nvSpPr>
        <p:spPr>
          <a:xfrm>
            <a:off x="542911" y="7802863"/>
            <a:ext cx="1676358" cy="2106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253</a:t>
            </a:r>
            <a:endParaRPr lang="en-US" sz="1650" dirty="0"/>
          </a:p>
        </p:txBody>
      </p:sp>
      <p:sp>
        <p:nvSpPr>
          <p:cNvPr id="74" name="Text 71"/>
          <p:cNvSpPr/>
          <p:nvPr/>
        </p:nvSpPr>
        <p:spPr>
          <a:xfrm>
            <a:off x="542911" y="8040982"/>
            <a:ext cx="1676358" cy="197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800" spc="60" kern="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PROYEK</a:t>
            </a:r>
            <a:endParaRPr lang="en-US" sz="800" dirty="0"/>
          </a:p>
          <a:p>
            <a:pPr algn="ctr" indent="0" marL="0">
              <a:lnSpc>
                <a:spcPts val="780"/>
              </a:lnSpc>
              <a:buNone/>
            </a:pPr>
            <a:r>
              <a:rPr lang="en-US" sz="800" spc="60" kern="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TRACKED</a:t>
            </a:r>
            <a:endParaRPr lang="en-US" sz="800" dirty="0"/>
          </a:p>
        </p:txBody>
      </p:sp>
      <p:pic>
        <p:nvPicPr>
          <p:cNvPr id="7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141" y="7498071"/>
            <a:ext cx="1809705" cy="845620"/>
          </a:xfrm>
          <a:prstGeom prst="rect">
            <a:avLst/>
          </a:prstGeom>
        </p:spPr>
      </p:pic>
      <p:sp>
        <p:nvSpPr>
          <p:cNvPr id="76" name="Text 72"/>
          <p:cNvSpPr/>
          <p:nvPr/>
        </p:nvSpPr>
        <p:spPr>
          <a:xfrm>
            <a:off x="2366903" y="7502833"/>
            <a:ext cx="1800180" cy="836095"/>
          </a:xfrm>
          <a:prstGeom prst="roundRect">
            <a:avLst>
              <a:gd name="adj" fmla="val 9114"/>
            </a:avLst>
          </a:prstGeom>
          <a:noFill/>
          <a:ln w="9525">
            <a:solidFill>
              <a:srgbClr val="F3E8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3"/>
          <p:cNvSpPr/>
          <p:nvPr/>
        </p:nvSpPr>
        <p:spPr>
          <a:xfrm>
            <a:off x="2428814" y="7602843"/>
            <a:ext cx="1676358" cy="172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925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lang="en-US" sz="1200" dirty="0"/>
          </a:p>
        </p:txBody>
      </p:sp>
      <p:sp>
        <p:nvSpPr>
          <p:cNvPr id="78" name="Text 74"/>
          <p:cNvSpPr/>
          <p:nvPr/>
        </p:nvSpPr>
        <p:spPr>
          <a:xfrm>
            <a:off x="2428814" y="7802863"/>
            <a:ext cx="1676358" cy="2106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26</a:t>
            </a:r>
            <a:pPr algn="ctr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D28D9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ms</a:t>
            </a:r>
            <a:endParaRPr lang="en-US" sz="1650" dirty="0"/>
          </a:p>
        </p:txBody>
      </p:sp>
      <p:sp>
        <p:nvSpPr>
          <p:cNvPr id="79" name="Text 75"/>
          <p:cNvSpPr/>
          <p:nvPr/>
        </p:nvSpPr>
        <p:spPr>
          <a:xfrm>
            <a:off x="2428814" y="8040982"/>
            <a:ext cx="1676358" cy="197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800" spc="60" kern="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WORKER</a:t>
            </a:r>
            <a:endParaRPr lang="en-US" sz="800" dirty="0"/>
          </a:p>
          <a:p>
            <a:pPr algn="ctr" indent="0" marL="0">
              <a:lnSpc>
                <a:spcPts val="780"/>
              </a:lnSpc>
              <a:buNone/>
            </a:pPr>
            <a:r>
              <a:rPr lang="en-US" sz="800" spc="60" kern="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STARTUP</a:t>
            </a:r>
            <a:endParaRPr lang="en-US" sz="800" dirty="0"/>
          </a:p>
        </p:txBody>
      </p:sp>
      <p:pic>
        <p:nvPicPr>
          <p:cNvPr id="8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044" y="7498071"/>
            <a:ext cx="1809705" cy="845620"/>
          </a:xfrm>
          <a:prstGeom prst="rect">
            <a:avLst/>
          </a:prstGeom>
        </p:spPr>
      </p:pic>
      <p:sp>
        <p:nvSpPr>
          <p:cNvPr id="81" name="Text 76"/>
          <p:cNvSpPr/>
          <p:nvPr/>
        </p:nvSpPr>
        <p:spPr>
          <a:xfrm>
            <a:off x="4252806" y="7502833"/>
            <a:ext cx="1800180" cy="836095"/>
          </a:xfrm>
          <a:prstGeom prst="roundRect">
            <a:avLst>
              <a:gd name="adj" fmla="val 9114"/>
            </a:avLst>
          </a:prstGeom>
          <a:noFill/>
          <a:ln w="9525">
            <a:solidFill>
              <a:srgbClr val="F3E8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77"/>
          <p:cNvSpPr/>
          <p:nvPr/>
        </p:nvSpPr>
        <p:spPr>
          <a:xfrm>
            <a:off x="4314717" y="7602843"/>
            <a:ext cx="1676358" cy="172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925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📦</a:t>
            </a:r>
            <a:endParaRPr lang="en-US" sz="1200" dirty="0"/>
          </a:p>
        </p:txBody>
      </p:sp>
      <p:sp>
        <p:nvSpPr>
          <p:cNvPr id="83" name="Text 78"/>
          <p:cNvSpPr/>
          <p:nvPr/>
        </p:nvSpPr>
        <p:spPr>
          <a:xfrm>
            <a:off x="4314717" y="7802863"/>
            <a:ext cx="1676358" cy="2106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500</a:t>
            </a:r>
            <a:pPr algn="ctr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6D28D9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KB</a:t>
            </a:r>
            <a:endParaRPr lang="en-US" sz="1650" dirty="0"/>
          </a:p>
        </p:txBody>
      </p:sp>
      <p:sp>
        <p:nvSpPr>
          <p:cNvPr id="84" name="Text 79"/>
          <p:cNvSpPr/>
          <p:nvPr/>
        </p:nvSpPr>
        <p:spPr>
          <a:xfrm>
            <a:off x="4314717" y="8040982"/>
            <a:ext cx="1676358" cy="197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800" spc="60" kern="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INITIAL</a:t>
            </a:r>
            <a:endParaRPr lang="en-US" sz="800" dirty="0"/>
          </a:p>
          <a:p>
            <a:pPr algn="ctr" indent="0" marL="0">
              <a:lnSpc>
                <a:spcPts val="780"/>
              </a:lnSpc>
              <a:buNone/>
            </a:pPr>
            <a:r>
              <a:rPr lang="en-US" sz="800" spc="60" kern="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BUNDLE</a:t>
            </a:r>
            <a:endParaRPr lang="en-US" sz="800" dirty="0"/>
          </a:p>
        </p:txBody>
      </p:sp>
      <p:pic>
        <p:nvPicPr>
          <p:cNvPr id="8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3947" y="7498071"/>
            <a:ext cx="1809705" cy="845620"/>
          </a:xfrm>
          <a:prstGeom prst="rect">
            <a:avLst/>
          </a:prstGeom>
        </p:spPr>
      </p:pic>
      <p:sp>
        <p:nvSpPr>
          <p:cNvPr id="86" name="Text 80"/>
          <p:cNvSpPr/>
          <p:nvPr/>
        </p:nvSpPr>
        <p:spPr>
          <a:xfrm>
            <a:off x="6138709" y="7502833"/>
            <a:ext cx="1800180" cy="836095"/>
          </a:xfrm>
          <a:prstGeom prst="roundRect">
            <a:avLst>
              <a:gd name="adj" fmla="val 9114"/>
            </a:avLst>
          </a:prstGeom>
          <a:noFill/>
          <a:ln w="9525">
            <a:solidFill>
              <a:srgbClr val="F3E8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1"/>
          <p:cNvSpPr/>
          <p:nvPr/>
        </p:nvSpPr>
        <p:spPr>
          <a:xfrm>
            <a:off x="6200620" y="7602843"/>
            <a:ext cx="1676358" cy="172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925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200" dirty="0"/>
          </a:p>
        </p:txBody>
      </p:sp>
      <p:sp>
        <p:nvSpPr>
          <p:cNvPr id="88" name="Text 82"/>
          <p:cNvSpPr/>
          <p:nvPr/>
        </p:nvSpPr>
        <p:spPr>
          <a:xfrm>
            <a:off x="6200620" y="7802863"/>
            <a:ext cx="1676358" cy="2106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endParaRPr lang="en-US" sz="1650" dirty="0"/>
          </a:p>
        </p:txBody>
      </p:sp>
      <p:sp>
        <p:nvSpPr>
          <p:cNvPr id="89" name="Text 83"/>
          <p:cNvSpPr/>
          <p:nvPr/>
        </p:nvSpPr>
        <p:spPr>
          <a:xfrm>
            <a:off x="6200620" y="8040982"/>
            <a:ext cx="1676358" cy="197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800" spc="60" kern="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STUCK</a:t>
            </a:r>
            <a:endParaRPr lang="en-US" sz="800" dirty="0"/>
          </a:p>
          <a:p>
            <a:pPr algn="ctr" indent="0" marL="0">
              <a:lnSpc>
                <a:spcPts val="780"/>
              </a:lnSpc>
              <a:buNone/>
            </a:pPr>
            <a:r>
              <a:rPr lang="en-US" sz="800" spc="60" kern="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PERMANEN</a:t>
            </a:r>
            <a:endParaRPr lang="en-US" sz="800" dirty="0"/>
          </a:p>
        </p:txBody>
      </p:sp>
      <p:pic>
        <p:nvPicPr>
          <p:cNvPr id="9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9849" y="7498071"/>
            <a:ext cx="1809705" cy="845620"/>
          </a:xfrm>
          <a:prstGeom prst="rect">
            <a:avLst/>
          </a:prstGeom>
        </p:spPr>
      </p:pic>
      <p:sp>
        <p:nvSpPr>
          <p:cNvPr id="91" name="Text 84"/>
          <p:cNvSpPr/>
          <p:nvPr/>
        </p:nvSpPr>
        <p:spPr>
          <a:xfrm>
            <a:off x="8024612" y="7502833"/>
            <a:ext cx="1800180" cy="836095"/>
          </a:xfrm>
          <a:prstGeom prst="roundRect">
            <a:avLst>
              <a:gd name="adj" fmla="val 9114"/>
            </a:avLst>
          </a:prstGeom>
          <a:noFill/>
          <a:ln w="9525">
            <a:solidFill>
              <a:srgbClr val="F3E8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Text 85"/>
          <p:cNvSpPr/>
          <p:nvPr/>
        </p:nvSpPr>
        <p:spPr>
          <a:xfrm>
            <a:off x="8086523" y="7602843"/>
            <a:ext cx="1676358" cy="172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925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🌐</a:t>
            </a:r>
            <a:endParaRPr lang="en-US" sz="1200" dirty="0"/>
          </a:p>
        </p:txBody>
      </p:sp>
      <p:sp>
        <p:nvSpPr>
          <p:cNvPr id="93" name="Text 86"/>
          <p:cNvSpPr/>
          <p:nvPr/>
        </p:nvSpPr>
        <p:spPr>
          <a:xfrm>
            <a:off x="8086523" y="7802863"/>
            <a:ext cx="1676358" cy="2106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lang="en-US" sz="1650" dirty="0"/>
          </a:p>
        </p:txBody>
      </p:sp>
      <p:sp>
        <p:nvSpPr>
          <p:cNvPr id="94" name="Text 87"/>
          <p:cNvSpPr/>
          <p:nvPr/>
        </p:nvSpPr>
        <p:spPr>
          <a:xfrm>
            <a:off x="8086523" y="8040982"/>
            <a:ext cx="1676358" cy="197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800" spc="60" kern="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</a:t>
            </a:r>
            <a:endParaRPr lang="en-US" sz="800" dirty="0"/>
          </a:p>
          <a:p>
            <a:pPr algn="ctr" indent="0" marL="0">
              <a:lnSpc>
                <a:spcPts val="780"/>
              </a:lnSpc>
              <a:buNone/>
            </a:pPr>
            <a:r>
              <a:rPr lang="en-US" sz="800" spc="60" kern="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PUBLIKASI</a:t>
            </a:r>
            <a:endParaRPr lang="en-US" sz="800" dirty="0"/>
          </a:p>
        </p:txBody>
      </p:sp>
      <p:pic>
        <p:nvPicPr>
          <p:cNvPr id="9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5752" y="7498071"/>
            <a:ext cx="1809705" cy="845620"/>
          </a:xfrm>
          <a:prstGeom prst="rect">
            <a:avLst/>
          </a:prstGeom>
        </p:spPr>
      </p:pic>
      <p:sp>
        <p:nvSpPr>
          <p:cNvPr id="96" name="Text 88"/>
          <p:cNvSpPr/>
          <p:nvPr/>
        </p:nvSpPr>
        <p:spPr>
          <a:xfrm>
            <a:off x="9910515" y="7502833"/>
            <a:ext cx="1800180" cy="836095"/>
          </a:xfrm>
          <a:prstGeom prst="roundRect">
            <a:avLst>
              <a:gd name="adj" fmla="val 9114"/>
            </a:avLst>
          </a:prstGeom>
          <a:noFill/>
          <a:ln w="9525">
            <a:solidFill>
              <a:srgbClr val="F3E8FF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Text 89"/>
          <p:cNvSpPr/>
          <p:nvPr/>
        </p:nvSpPr>
        <p:spPr>
          <a:xfrm>
            <a:off x="9972426" y="7602843"/>
            <a:ext cx="1676358" cy="1725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925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💬</a:t>
            </a:r>
            <a:endParaRPr lang="en-US" sz="1200" dirty="0"/>
          </a:p>
        </p:txBody>
      </p:sp>
      <p:sp>
        <p:nvSpPr>
          <p:cNvPr id="98" name="Text 90"/>
          <p:cNvSpPr/>
          <p:nvPr/>
        </p:nvSpPr>
        <p:spPr>
          <a:xfrm>
            <a:off x="9972426" y="7802863"/>
            <a:ext cx="1676358" cy="2106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1650" dirty="0"/>
          </a:p>
        </p:txBody>
      </p:sp>
      <p:sp>
        <p:nvSpPr>
          <p:cNvPr id="99" name="Text 91"/>
          <p:cNvSpPr/>
          <p:nvPr/>
        </p:nvSpPr>
        <p:spPr>
          <a:xfrm>
            <a:off x="9972426" y="8040982"/>
            <a:ext cx="1676358" cy="197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800" spc="60" kern="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 PROVIDER</a:t>
            </a:r>
            <a:endParaRPr lang="en-US" sz="800" dirty="0"/>
          </a:p>
          <a:p>
            <a:pPr algn="ctr" indent="0" marL="0">
              <a:lnSpc>
                <a:spcPts val="780"/>
              </a:lnSpc>
              <a:buNone/>
            </a:pPr>
            <a:r>
              <a:rPr lang="en-US" sz="800" spc="60" kern="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(GRATIS)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85722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38" y="881040"/>
            <a:ext cx="11239219" cy="0"/>
          </a:xfrm>
          <a:prstGeom prst="line">
            <a:avLst/>
          </a:prstGeom>
          <a:noFill/>
          <a:ln w="19050">
            <a:solidFill>
              <a:srgbClr val="E7E5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6238" y="304792"/>
            <a:ext cx="8636000" cy="115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87" kern="0" dirty="0">
                <a:solidFill>
                  <a:srgbClr val="6D28D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💡</a:t>
            </a:r>
            <a:pPr algn="l" indent="0" marL="0">
              <a:buNone/>
            </a:pPr>
            <a:r>
              <a:rPr lang="en-US" sz="800" b="1" spc="187" kern="0" dirty="0">
                <a:solidFill>
                  <a:srgbClr val="6D28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INOVATIF &amp; ⚡ EFEKTIF — WORKFLOW END-TO-END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76238" y="447664"/>
            <a:ext cx="8636000" cy="328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87"/>
              </a:lnSpc>
              <a:buNone/>
            </a:pPr>
            <a:r>
              <a:rPr lang="en-US" sz="2250" b="1" dirty="0">
                <a:solidFill>
                  <a:srgbClr val="1C19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Dari Surat Masuk ke Laporan SKP — Otomatis &amp; Terstruktur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0983955" y="395278"/>
            <a:ext cx="731502" cy="1059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spc="101" kern="0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BOBOT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83955" y="528624"/>
            <a:ext cx="731502" cy="246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6238" y="1023912"/>
            <a:ext cx="11239219" cy="504812"/>
          </a:xfrm>
          <a:prstGeom prst="roundRect">
            <a:avLst>
              <a:gd name="adj" fmla="val 7547"/>
            </a:avLst>
          </a:prstGeom>
          <a:solidFill>
            <a:srgbClr val="FAF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90525" y="1023912"/>
            <a:ext cx="0" cy="504812"/>
          </a:xfrm>
          <a:prstGeom prst="line">
            <a:avLst/>
          </a:prstGeom>
          <a:noFill/>
          <a:ln w="28574">
            <a:solidFill>
              <a:srgbClr val="6D28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6238" y="1023912"/>
            <a:ext cx="8636000" cy="545197"/>
          </a:xfrm>
          <a:prstGeom prst="rect">
            <a:avLst/>
          </a:prstGeom>
          <a:noFill/>
          <a:ln/>
        </p:spPr>
        <p:txBody>
          <a:bodyPr wrap="square" lIns="133347" tIns="95248" rIns="133347" bIns="95248" rtlCol="0" anchor="t"/>
          <a:lstStyle/>
          <a:p>
            <a:pPr algn="l" indent="0" marL="0">
              <a:lnSpc>
                <a:spcPts val="1237"/>
              </a:lnSpc>
              <a:buNone/>
            </a:pPr>
            <a:r>
              <a:rPr lang="en-US" sz="825" b="1" dirty="0">
                <a:solidFill>
                  <a:srgbClr val="4C1D9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Workflow 8-langkah</a:t>
            </a:r>
            <a:pPr algn="l" indent="0" marL="0">
              <a:lnSpc>
                <a:spcPts val="1237"/>
              </a:lnSpc>
              <a:buNone/>
            </a:pPr>
            <a:r>
              <a:rPr lang="en-US" sz="825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mengubah surat fisik manual menjadi alur digital terstruktur: Administrator terima surat → teruskan ke Manager → Manager inisiasi proyek dengan 15 role → sistem auto-buat Surat Tugas bernomor → petugas kerjakan 5-tahap → Reviewer QC → Publisher publish ke 14 platform → sistem </a:t>
            </a:r>
            <a:pPr algn="l" indent="0" marL="0">
              <a:lnSpc>
                <a:spcPts val="1237"/>
              </a:lnSpc>
              <a:buNone/>
            </a:pPr>
            <a:r>
              <a:rPr lang="en-US" sz="825" b="1" dirty="0">
                <a:solidFill>
                  <a:srgbClr val="4C1D9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auto-generate Laporan Kegiatan untuk SKP</a:t>
            </a:r>
            <a:pPr algn="l" indent="0" marL="0">
              <a:lnSpc>
                <a:spcPts val="1237"/>
              </a:lnSpc>
              <a:buNone/>
            </a:pPr>
            <a:r>
              <a:rPr lang="en-US" sz="825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76238" y="1643021"/>
            <a:ext cx="1238219" cy="627444"/>
          </a:xfrm>
          <a:prstGeom prst="roundRect">
            <a:avLst>
              <a:gd name="adj" fmla="val 9108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6238" y="1657309"/>
            <a:ext cx="1238219" cy="0"/>
          </a:xfrm>
          <a:prstGeom prst="line">
            <a:avLst/>
          </a:prstGeom>
          <a:noFill/>
          <a:ln w="28574">
            <a:solidFill>
              <a:srgbClr val="D9770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09695" y="1643021"/>
            <a:ext cx="0" cy="627444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6238" y="2265703"/>
            <a:ext cx="1238219" cy="0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1000" y="1643021"/>
            <a:ext cx="0" cy="627444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2911" y="1766843"/>
            <a:ext cx="1104872" cy="963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🔧</a:t>
            </a:r>
            <a:pPr algn="ctr" indent="0" marL="0">
              <a:buNone/>
            </a:pPr>
            <a:r>
              <a:rPr lang="en-US" sz="800" b="1" spc="60" kern="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ADMINISTRATOR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2911" y="1890665"/>
            <a:ext cx="1104872" cy="135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 Surat Masuk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542911" y="2054372"/>
            <a:ext cx="1104872" cy="111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Terima &amp; kategorikan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1752556" y="1890070"/>
            <a:ext cx="114297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A2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904952" y="1643021"/>
            <a:ext cx="1238219" cy="627444"/>
          </a:xfrm>
          <a:prstGeom prst="roundRect">
            <a:avLst>
              <a:gd name="adj" fmla="val 9108"/>
            </a:avLst>
          </a:prstGeom>
          <a:solidFill>
            <a:srgbClr val="FAF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1904952" y="1657309"/>
            <a:ext cx="1238219" cy="0"/>
          </a:xfrm>
          <a:prstGeom prst="line">
            <a:avLst/>
          </a:prstGeom>
          <a:noFill/>
          <a:ln w="28574">
            <a:solidFill>
              <a:srgbClr val="6D28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38409" y="1643021"/>
            <a:ext cx="0" cy="627444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4952" y="2265703"/>
            <a:ext cx="1238219" cy="0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09715" y="1643021"/>
            <a:ext cx="0" cy="627444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71626" y="1766843"/>
            <a:ext cx="1104872" cy="963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6D28D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📋</a:t>
            </a:r>
            <a:pPr algn="ctr" indent="0" marL="0">
              <a:buNone/>
            </a:pPr>
            <a:r>
              <a:rPr lang="en-US" sz="800" b="1" spc="60" kern="0" dirty="0">
                <a:solidFill>
                  <a:srgbClr val="6D28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MANAGER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971626" y="1890665"/>
            <a:ext cx="1104872" cy="135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 Inisiasi Proyek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1971626" y="2054372"/>
            <a:ext cx="1104872" cy="111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Pre-fill dari surat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181270" y="1890070"/>
            <a:ext cx="114297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A2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33667" y="1643021"/>
            <a:ext cx="1238219" cy="627444"/>
          </a:xfrm>
          <a:prstGeom prst="roundRect">
            <a:avLst>
              <a:gd name="adj" fmla="val 9108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3333667" y="1657309"/>
            <a:ext cx="1238219" cy="0"/>
          </a:xfrm>
          <a:prstGeom prst="line">
            <a:avLst/>
          </a:prstGeom>
          <a:noFill/>
          <a:ln w="28574">
            <a:solidFill>
              <a:srgbClr val="0284C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67123" y="1643021"/>
            <a:ext cx="0" cy="627444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33667" y="2265703"/>
            <a:ext cx="1238219" cy="0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38429" y="1643021"/>
            <a:ext cx="0" cy="627444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00340" y="1766843"/>
            <a:ext cx="1104872" cy="963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284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⚙ SISTEM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400340" y="1890665"/>
            <a:ext cx="1104872" cy="135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3. Surat Tugas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3400340" y="2054372"/>
            <a:ext cx="1104872" cy="111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 bernomor resmi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609985" y="1890070"/>
            <a:ext cx="114297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A2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62381" y="1643021"/>
            <a:ext cx="1238219" cy="627444"/>
          </a:xfrm>
          <a:prstGeom prst="roundRect">
            <a:avLst>
              <a:gd name="adj" fmla="val 9108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4762381" y="1657309"/>
            <a:ext cx="1238219" cy="0"/>
          </a:xfrm>
          <a:prstGeom prst="line">
            <a:avLst/>
          </a:prstGeom>
          <a:noFill/>
          <a:ln w="28574">
            <a:solidFill>
              <a:srgbClr val="05966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95838" y="1643021"/>
            <a:ext cx="0" cy="627444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62381" y="2265703"/>
            <a:ext cx="1238219" cy="0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67143" y="1643021"/>
            <a:ext cx="0" cy="627444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29054" y="1766843"/>
            <a:ext cx="1104872" cy="963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596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📸 15 ROLE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829054" y="1890665"/>
            <a:ext cx="1104872" cy="135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4. Eksekusi 5-Tahap</a:t>
            </a:r>
            <a:endParaRPr lang="en-US" sz="825" dirty="0"/>
          </a:p>
        </p:txBody>
      </p:sp>
      <p:sp>
        <p:nvSpPr>
          <p:cNvPr id="45" name="Text 43"/>
          <p:cNvSpPr/>
          <p:nvPr/>
        </p:nvSpPr>
        <p:spPr>
          <a:xfrm>
            <a:off x="4829054" y="2054372"/>
            <a:ext cx="1104872" cy="111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675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Produksi → Publikasi</a:t>
            </a:r>
            <a:endParaRPr lang="en-US" sz="675" dirty="0"/>
          </a:p>
        </p:txBody>
      </p:sp>
      <p:sp>
        <p:nvSpPr>
          <p:cNvPr id="46" name="Text 44"/>
          <p:cNvSpPr/>
          <p:nvPr/>
        </p:nvSpPr>
        <p:spPr>
          <a:xfrm>
            <a:off x="6038699" y="1890070"/>
            <a:ext cx="114297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A2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191095" y="1643021"/>
            <a:ext cx="1238219" cy="627444"/>
          </a:xfrm>
          <a:prstGeom prst="roundRect">
            <a:avLst>
              <a:gd name="adj" fmla="val 9108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6191095" y="1657309"/>
            <a:ext cx="1238219" cy="0"/>
          </a:xfrm>
          <a:prstGeom prst="line">
            <a:avLst/>
          </a:prstGeom>
          <a:noFill/>
          <a:ln w="28574">
            <a:solidFill>
              <a:srgbClr val="05966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24552" y="1643021"/>
            <a:ext cx="0" cy="627444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91095" y="2265703"/>
            <a:ext cx="1238219" cy="0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95857" y="1643021"/>
            <a:ext cx="0" cy="627444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57768" y="1766843"/>
            <a:ext cx="1104872" cy="963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 REVIEWER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257768" y="1890665"/>
            <a:ext cx="1104872" cy="135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5. QC Review</a:t>
            </a:r>
            <a:endParaRPr lang="en-US" sz="825" dirty="0"/>
          </a:p>
        </p:txBody>
      </p:sp>
      <p:sp>
        <p:nvSpPr>
          <p:cNvPr id="54" name="Text 52"/>
          <p:cNvSpPr/>
          <p:nvPr/>
        </p:nvSpPr>
        <p:spPr>
          <a:xfrm>
            <a:off x="6257768" y="2054372"/>
            <a:ext cx="1104872" cy="111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Setujou / revisi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467413" y="1890070"/>
            <a:ext cx="114297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A2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619809" y="1643021"/>
            <a:ext cx="1238219" cy="627444"/>
          </a:xfrm>
          <a:prstGeom prst="roundRect">
            <a:avLst>
              <a:gd name="adj" fmla="val 9108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7619809" y="1657309"/>
            <a:ext cx="1238219" cy="0"/>
          </a:xfrm>
          <a:prstGeom prst="line">
            <a:avLst/>
          </a:prstGeom>
          <a:noFill/>
          <a:ln w="28574">
            <a:solidFill>
              <a:srgbClr val="05966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853266" y="1643021"/>
            <a:ext cx="0" cy="627444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619809" y="2265703"/>
            <a:ext cx="1238219" cy="0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624572" y="1643021"/>
            <a:ext cx="0" cy="627444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686483" y="1766843"/>
            <a:ext cx="1104872" cy="963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5966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🌐</a:t>
            </a:r>
            <a:pPr algn="ctr" indent="0" marL="0">
              <a:buNone/>
            </a:pPr>
            <a:r>
              <a:rPr lang="en-US" sz="800" b="1" spc="60" kern="0" dirty="0">
                <a:solidFill>
                  <a:srgbClr val="0596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PUBLISHER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686483" y="1890665"/>
            <a:ext cx="1104872" cy="135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6. Publikasi</a:t>
            </a:r>
            <a:endParaRPr lang="en-US" sz="825" dirty="0"/>
          </a:p>
        </p:txBody>
      </p:sp>
      <p:sp>
        <p:nvSpPr>
          <p:cNvPr id="63" name="Text 61"/>
          <p:cNvSpPr/>
          <p:nvPr/>
        </p:nvSpPr>
        <p:spPr>
          <a:xfrm>
            <a:off x="7686483" y="2054372"/>
            <a:ext cx="1104872" cy="111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78716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 platform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896127" y="1890070"/>
            <a:ext cx="114297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A2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9048524" y="1643021"/>
            <a:ext cx="1238219" cy="627444"/>
          </a:xfrm>
          <a:prstGeom prst="roundRect">
            <a:avLst>
              <a:gd name="adj" fmla="val 9108"/>
            </a:avLst>
          </a:prstGeom>
          <a:solidFill>
            <a:srgbClr val="F0F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Shape 64"/>
          <p:cNvSpPr/>
          <p:nvPr/>
        </p:nvSpPr>
        <p:spPr>
          <a:xfrm>
            <a:off x="9048524" y="1657309"/>
            <a:ext cx="1238219" cy="0"/>
          </a:xfrm>
          <a:prstGeom prst="line">
            <a:avLst/>
          </a:prstGeom>
          <a:noFill/>
          <a:ln w="28574">
            <a:solidFill>
              <a:srgbClr val="0284C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281980" y="1643021"/>
            <a:ext cx="0" cy="627444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048524" y="2265703"/>
            <a:ext cx="1238219" cy="0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053286" y="1643021"/>
            <a:ext cx="0" cy="627444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115197" y="1766843"/>
            <a:ext cx="1104872" cy="963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0284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⚙ SISTEM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9115197" y="1890665"/>
            <a:ext cx="1104872" cy="135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7. Laporan</a:t>
            </a:r>
            <a:endParaRPr lang="en-US" sz="825" dirty="0"/>
          </a:p>
        </p:txBody>
      </p:sp>
      <p:sp>
        <p:nvSpPr>
          <p:cNvPr id="72" name="Text 70"/>
          <p:cNvSpPr/>
          <p:nvPr/>
        </p:nvSpPr>
        <p:spPr>
          <a:xfrm>
            <a:off x="9115197" y="2054372"/>
            <a:ext cx="1104872" cy="111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Auto-generate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10324842" y="1890070"/>
            <a:ext cx="114297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A29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10477238" y="1643021"/>
            <a:ext cx="1238219" cy="627444"/>
          </a:xfrm>
          <a:prstGeom prst="roundRect">
            <a:avLst>
              <a:gd name="adj" fmla="val 9108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Shape 73"/>
          <p:cNvSpPr/>
          <p:nvPr/>
        </p:nvSpPr>
        <p:spPr>
          <a:xfrm>
            <a:off x="10477238" y="1657309"/>
            <a:ext cx="1238219" cy="0"/>
          </a:xfrm>
          <a:prstGeom prst="line">
            <a:avLst/>
          </a:prstGeom>
          <a:noFill/>
          <a:ln w="28574">
            <a:solidFill>
              <a:srgbClr val="D9770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710695" y="1643021"/>
            <a:ext cx="0" cy="627444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477238" y="2265703"/>
            <a:ext cx="1238219" cy="0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482000" y="1643021"/>
            <a:ext cx="0" cy="627444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0543911" y="1766843"/>
            <a:ext cx="1104872" cy="963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📁</a:t>
            </a:r>
            <a:pPr algn="ctr" indent="0" marL="0">
              <a:buNone/>
            </a:pPr>
            <a:r>
              <a:rPr lang="en-US" sz="800" b="1" spc="60" kern="0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ARSIP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10543911" y="1890665"/>
            <a:ext cx="1104872" cy="135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8. SKP</a:t>
            </a:r>
            <a:endParaRPr lang="en-US" sz="825" dirty="0"/>
          </a:p>
        </p:txBody>
      </p:sp>
      <p:sp>
        <p:nvSpPr>
          <p:cNvPr id="81" name="Text 79"/>
          <p:cNvSpPr/>
          <p:nvPr/>
        </p:nvSpPr>
        <p:spPr>
          <a:xfrm>
            <a:off x="10543911" y="2054372"/>
            <a:ext cx="1104872" cy="111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877"/>
              </a:lnSpc>
              <a:buNone/>
            </a:pPr>
            <a:r>
              <a:rPr lang="en-US" sz="800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Audit-ready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481000" y="2408574"/>
            <a:ext cx="5543411" cy="5930355"/>
          </a:xfrm>
          <a:prstGeom prst="roundRect">
            <a:avLst>
              <a:gd name="adj" fmla="val 1375"/>
            </a:avLst>
          </a:prstGeom>
          <a:noFill/>
          <a:ln w="9525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485763" y="2413337"/>
            <a:ext cx="5533887" cy="228594"/>
          </a:xfrm>
          <a:prstGeom prst="rect">
            <a:avLst/>
          </a:prstGeom>
          <a:solidFill>
            <a:srgbClr val="F5F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Shape 82"/>
          <p:cNvSpPr/>
          <p:nvPr/>
        </p:nvSpPr>
        <p:spPr>
          <a:xfrm>
            <a:off x="485763" y="2637168"/>
            <a:ext cx="5533887" cy="0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5389973" y="2470485"/>
            <a:ext cx="534428" cy="104772"/>
          </a:xfrm>
          <a:prstGeom prst="roundRect">
            <a:avLst>
              <a:gd name="adj" fmla="val 27274"/>
            </a:avLst>
          </a:prstGeom>
          <a:solidFill>
            <a:srgbClr val="6D28D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581010" y="2470485"/>
            <a:ext cx="1940224" cy="120701"/>
          </a:xfrm>
          <a:prstGeom prst="rect">
            <a:avLst/>
          </a:prstGeom>
          <a:noFill/>
          <a:ln/>
        </p:spPr>
        <p:txBody>
          <a:bodyPr wrap="square" lIns="95248" tIns="57149" rIns="95248" bIns="57149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4403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📋</a:t>
            </a:r>
            <a:pPr algn="l" indent="0" marL="0">
              <a:buNone/>
            </a:pPr>
            <a:r>
              <a:rPr lang="en-US" sz="750" b="1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Bukti: Manajemen Surat (Administrator)</a:t>
            </a:r>
            <a:endParaRPr lang="en-US" sz="750" dirty="0"/>
          </a:p>
        </p:txBody>
      </p:sp>
      <p:sp>
        <p:nvSpPr>
          <p:cNvPr id="87" name="Text 85"/>
          <p:cNvSpPr/>
          <p:nvPr/>
        </p:nvSpPr>
        <p:spPr>
          <a:xfrm>
            <a:off x="5368596" y="2464199"/>
            <a:ext cx="577183" cy="117345"/>
          </a:xfrm>
          <a:prstGeom prst="roundRect">
            <a:avLst>
              <a:gd name="adj" fmla="val 24351"/>
            </a:avLst>
          </a:prstGeom>
          <a:solidFill>
            <a:srgbClr val="6D28D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8" name="Text 86"/>
          <p:cNvSpPr/>
          <p:nvPr/>
        </p:nvSpPr>
        <p:spPr>
          <a:xfrm>
            <a:off x="5335491" y="2470485"/>
            <a:ext cx="643392" cy="1047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SLIDE 1/2</a:t>
            </a:r>
            <a:endParaRPr lang="en-US" sz="800" dirty="0"/>
          </a:p>
        </p:txBody>
      </p:sp>
      <p:pic>
        <p:nvPicPr>
          <p:cNvPr id="89" name="Image 0" descr="/tmp/h2p-fit-1791717450977-ljpwd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763" y="2641931"/>
            <a:ext cx="5533887" cy="5338034"/>
          </a:xfrm>
          <a:prstGeom prst="rect">
            <a:avLst/>
          </a:prstGeom>
        </p:spPr>
      </p:pic>
      <p:sp>
        <p:nvSpPr>
          <p:cNvPr id="90" name="Text 87"/>
          <p:cNvSpPr/>
          <p:nvPr/>
        </p:nvSpPr>
        <p:spPr>
          <a:xfrm>
            <a:off x="485763" y="7979964"/>
            <a:ext cx="5533887" cy="354202"/>
          </a:xfrm>
          <a:prstGeom prst="rect">
            <a:avLst/>
          </a:prstGeom>
          <a:solidFill>
            <a:srgbClr val="FA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Text 88"/>
          <p:cNvSpPr/>
          <p:nvPr/>
        </p:nvSpPr>
        <p:spPr>
          <a:xfrm>
            <a:off x="485763" y="7979964"/>
            <a:ext cx="5533887" cy="354202"/>
          </a:xfrm>
          <a:prstGeom prst="rect">
            <a:avLst/>
          </a:prstGeom>
          <a:noFill/>
          <a:ln/>
        </p:spPr>
        <p:txBody>
          <a:bodyPr wrap="square" lIns="95248" tIns="57149" rIns="95248" bIns="57149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Administrator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menerima surat masuk, kategorikan (Permohonan/Undangan/Pemberitahuan), lalu teruskan ke Manager — </a:t>
            </a:r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link app.pushakin-flows.workers.dev</a:t>
            </a:r>
            <a:endParaRPr lang="en-US" sz="800" dirty="0"/>
          </a:p>
        </p:txBody>
      </p:sp>
      <p:sp>
        <p:nvSpPr>
          <p:cNvPr id="92" name="Text 89"/>
          <p:cNvSpPr/>
          <p:nvPr/>
        </p:nvSpPr>
        <p:spPr>
          <a:xfrm>
            <a:off x="6167283" y="2408574"/>
            <a:ext cx="5543411" cy="5930355"/>
          </a:xfrm>
          <a:prstGeom prst="roundRect">
            <a:avLst>
              <a:gd name="adj" fmla="val 1375"/>
            </a:avLst>
          </a:prstGeom>
          <a:noFill/>
          <a:ln w="9525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3" name="Text 90"/>
          <p:cNvSpPr/>
          <p:nvPr/>
        </p:nvSpPr>
        <p:spPr>
          <a:xfrm>
            <a:off x="6172046" y="2413337"/>
            <a:ext cx="5533887" cy="228594"/>
          </a:xfrm>
          <a:prstGeom prst="rect">
            <a:avLst/>
          </a:prstGeom>
          <a:solidFill>
            <a:srgbClr val="F5F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4" name="Shape 91"/>
          <p:cNvSpPr/>
          <p:nvPr/>
        </p:nvSpPr>
        <p:spPr>
          <a:xfrm>
            <a:off x="6172046" y="2637168"/>
            <a:ext cx="5533887" cy="0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11076256" y="2470485"/>
            <a:ext cx="534428" cy="104772"/>
          </a:xfrm>
          <a:prstGeom prst="roundRect">
            <a:avLst>
              <a:gd name="adj" fmla="val 27274"/>
            </a:avLst>
          </a:prstGeom>
          <a:solidFill>
            <a:srgbClr val="6D28D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6" name="Text 93"/>
          <p:cNvSpPr/>
          <p:nvPr/>
        </p:nvSpPr>
        <p:spPr>
          <a:xfrm>
            <a:off x="6267293" y="2470485"/>
            <a:ext cx="1585873" cy="120701"/>
          </a:xfrm>
          <a:prstGeom prst="rect">
            <a:avLst/>
          </a:prstGeom>
          <a:noFill/>
          <a:ln/>
        </p:spPr>
        <p:txBody>
          <a:bodyPr wrap="square" lIns="95248" tIns="57149" rIns="95248" bIns="57149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4403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🎯</a:t>
            </a:r>
            <a:pPr algn="l" indent="0" marL="0">
              <a:buNone/>
            </a:pPr>
            <a:r>
              <a:rPr lang="en-US" sz="750" b="1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Bukti: Inisiasi Proyek (Manager)</a:t>
            </a:r>
            <a:endParaRPr lang="en-US" sz="750" dirty="0"/>
          </a:p>
        </p:txBody>
      </p:sp>
      <p:sp>
        <p:nvSpPr>
          <p:cNvPr id="97" name="Text 94"/>
          <p:cNvSpPr/>
          <p:nvPr/>
        </p:nvSpPr>
        <p:spPr>
          <a:xfrm>
            <a:off x="11054879" y="2464199"/>
            <a:ext cx="577183" cy="117345"/>
          </a:xfrm>
          <a:prstGeom prst="roundRect">
            <a:avLst>
              <a:gd name="adj" fmla="val 24351"/>
            </a:avLst>
          </a:prstGeom>
          <a:solidFill>
            <a:srgbClr val="6D28D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Text 95"/>
          <p:cNvSpPr/>
          <p:nvPr/>
        </p:nvSpPr>
        <p:spPr>
          <a:xfrm>
            <a:off x="11021774" y="2470485"/>
            <a:ext cx="643392" cy="1047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SLIDE 2/2</a:t>
            </a:r>
            <a:endParaRPr lang="en-US" sz="800" dirty="0"/>
          </a:p>
        </p:txBody>
      </p:sp>
      <p:pic>
        <p:nvPicPr>
          <p:cNvPr id="99" name="Image 1" descr="/tmp/h2p-fit-1791717450978-v9md8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046" y="2641931"/>
            <a:ext cx="5533887" cy="5338034"/>
          </a:xfrm>
          <a:prstGeom prst="rect">
            <a:avLst/>
          </a:prstGeom>
        </p:spPr>
      </p:pic>
      <p:sp>
        <p:nvSpPr>
          <p:cNvPr id="100" name="Text 96"/>
          <p:cNvSpPr/>
          <p:nvPr/>
        </p:nvSpPr>
        <p:spPr>
          <a:xfrm>
            <a:off x="6172046" y="7979964"/>
            <a:ext cx="5533887" cy="354202"/>
          </a:xfrm>
          <a:prstGeom prst="rect">
            <a:avLst/>
          </a:prstGeom>
          <a:solidFill>
            <a:srgbClr val="FA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Text 97"/>
          <p:cNvSpPr/>
          <p:nvPr/>
        </p:nvSpPr>
        <p:spPr>
          <a:xfrm>
            <a:off x="6172046" y="7979964"/>
            <a:ext cx="5533887" cy="354202"/>
          </a:xfrm>
          <a:prstGeom prst="rect">
            <a:avLst/>
          </a:prstGeom>
          <a:noFill/>
          <a:ln/>
        </p:spPr>
        <p:txBody>
          <a:bodyPr wrap="square" lIns="95248" tIns="57149" rIns="95248" bIns="57149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Manager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mengisi form inisiasi dengan field mandatori (judul, deskripsi, unit, lokasi, waktu, PIC, WA, output). Pre-fill otomatis dari surat permohonan.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85722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38" y="881040"/>
            <a:ext cx="11239219" cy="0"/>
          </a:xfrm>
          <a:prstGeom prst="line">
            <a:avLst/>
          </a:prstGeom>
          <a:noFill/>
          <a:ln w="19050">
            <a:solidFill>
              <a:srgbClr val="E7E5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6238" y="304792"/>
            <a:ext cx="8636000" cy="115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87" kern="0" dirty="0">
                <a:solidFill>
                  <a:srgbClr val="6D28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⚡ EFEKTIF — USER JOURNEY &amp; FITUR PEMBANTU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76238" y="447664"/>
            <a:ext cx="8636000" cy="328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87"/>
              </a:lnSpc>
              <a:buNone/>
            </a:pPr>
            <a:r>
              <a:rPr lang="en-US" sz="2250" b="1" dirty="0">
                <a:solidFill>
                  <a:srgbClr val="1C19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Bagaimana User Bekerja dari Delegasi hingga Selesai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0983955" y="395278"/>
            <a:ext cx="731502" cy="1059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spc="101" kern="0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BOBOT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83955" y="528624"/>
            <a:ext cx="731502" cy="246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20%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38" y="1023912"/>
            <a:ext cx="11239219" cy="74293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09585" y="1138209"/>
            <a:ext cx="8636000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spc="124" kern="0" dirty="0">
                <a:solidFill>
                  <a:srgbClr val="4C1D9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USER JOURNEY — DARI DELEGASI KE SELESAI</a:t>
            </a:r>
            <a:endParaRPr lang="en-US" sz="825" dirty="0"/>
          </a:p>
        </p:txBody>
      </p:sp>
      <p:sp>
        <p:nvSpPr>
          <p:cNvPr id="10" name="Text 7"/>
          <p:cNvSpPr/>
          <p:nvPr/>
        </p:nvSpPr>
        <p:spPr>
          <a:xfrm>
            <a:off x="614347" y="1333467"/>
            <a:ext cx="1134935" cy="314317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714357" y="1481100"/>
            <a:ext cx="1058737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Surat Tugas di Inbox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714357" y="1395378"/>
            <a:ext cx="934915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b="1" spc="60" kern="0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 DELEGASI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1792143" y="1423952"/>
            <a:ext cx="114297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949302" y="1333467"/>
            <a:ext cx="956792" cy="314317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2049312" y="1481100"/>
            <a:ext cx="880594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Klik link di Inbox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2049312" y="1395378"/>
            <a:ext cx="756772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b="1" spc="60" kern="0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 BUKA PROYEK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2948956" y="1423952"/>
            <a:ext cx="114297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106114" y="1333467"/>
            <a:ext cx="1019001" cy="314317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206124" y="1481100"/>
            <a:ext cx="942803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Task card spesifik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206124" y="1395378"/>
            <a:ext cx="818981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b="1" spc="60" kern="0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3. LIHAT TUGAS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4167976" y="1423952"/>
            <a:ext cx="114297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4325135" y="1333467"/>
            <a:ext cx="978223" cy="314317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4425145" y="1481100"/>
            <a:ext cx="902025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Drive auto-create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4425145" y="1395378"/>
            <a:ext cx="778203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b="1" spc="60" kern="0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4. UPLOAD FILE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5346219" y="1423952"/>
            <a:ext cx="114297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503378" y="1333467"/>
            <a:ext cx="874939" cy="314317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5603388" y="1481100"/>
            <a:ext cx="798741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Klik "Selesai"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5588079" y="1395378"/>
            <a:ext cx="705536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b="1" spc="60" kern="0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5. SELESAIKAN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6421178" y="1423952"/>
            <a:ext cx="114297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578336" y="1333467"/>
            <a:ext cx="1096389" cy="314317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6678346" y="1481100"/>
            <a:ext cx="4903764" cy="120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 ke petugas next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6678346" y="1395378"/>
            <a:ext cx="896369" cy="123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b="1" spc="60" kern="0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6. NOTIF OTOMATIS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476238" y="1862091"/>
            <a:ext cx="2752656" cy="1558489"/>
          </a:xfrm>
          <a:prstGeom prst="roundRect">
            <a:avLst>
              <a:gd name="adj" fmla="val 4889"/>
            </a:avLst>
          </a:prstGeom>
          <a:solidFill>
            <a:srgbClr val="FAF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1"/>
          <p:cNvSpPr/>
          <p:nvPr/>
        </p:nvSpPr>
        <p:spPr>
          <a:xfrm>
            <a:off x="476238" y="1866853"/>
            <a:ext cx="2752656" cy="0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24132" y="1862091"/>
            <a:ext cx="0" cy="1558489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76238" y="3415818"/>
            <a:ext cx="2752656" cy="0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90525" y="1862091"/>
            <a:ext cx="0" cy="1558489"/>
          </a:xfrm>
          <a:prstGeom prst="line">
            <a:avLst/>
          </a:prstGeom>
          <a:noFill/>
          <a:ln w="28574">
            <a:solidFill>
              <a:srgbClr val="6D28D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00060" y="1947814"/>
            <a:ext cx="2524062" cy="20116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2925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📥</a:t>
            </a:r>
            <a:endParaRPr lang="en-US" sz="1350" dirty="0"/>
          </a:p>
        </p:txBody>
      </p:sp>
      <p:sp>
        <p:nvSpPr>
          <p:cNvPr id="39" name="Text 36"/>
          <p:cNvSpPr/>
          <p:nvPr/>
        </p:nvSpPr>
        <p:spPr>
          <a:xfrm>
            <a:off x="600060" y="2176408"/>
            <a:ext cx="2524062" cy="1059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Inbox Surat Tugas</a:t>
            </a:r>
            <a:endParaRPr lang="en-US" sz="825" dirty="0"/>
          </a:p>
        </p:txBody>
      </p:sp>
      <p:sp>
        <p:nvSpPr>
          <p:cNvPr id="40" name="Text 37"/>
          <p:cNvSpPr/>
          <p:nvPr/>
        </p:nvSpPr>
        <p:spPr>
          <a:xfrm>
            <a:off x="600060" y="2309755"/>
            <a:ext cx="2524062" cy="1025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Surat Tugas bernomor resmi ("ST/001/I/2026") auto-generated. User klik link → langsung ke proyek.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3309855" y="1866853"/>
            <a:ext cx="2743131" cy="1548964"/>
          </a:xfrm>
          <a:prstGeom prst="roundRect">
            <a:avLst>
              <a:gd name="adj" fmla="val 4919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3409865" y="1947814"/>
            <a:ext cx="2543111" cy="20116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2925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🎯</a:t>
            </a:r>
            <a:endParaRPr lang="en-US" sz="1350" dirty="0"/>
          </a:p>
        </p:txBody>
      </p:sp>
      <p:sp>
        <p:nvSpPr>
          <p:cNvPr id="43" name="Text 40"/>
          <p:cNvSpPr/>
          <p:nvPr/>
        </p:nvSpPr>
        <p:spPr>
          <a:xfrm>
            <a:off x="3409865" y="2176408"/>
            <a:ext cx="2543111" cy="1059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Task Card Spesifik</a:t>
            </a:r>
            <a:endParaRPr lang="en-US" sz="825" dirty="0"/>
          </a:p>
        </p:txBody>
      </p:sp>
      <p:sp>
        <p:nvSpPr>
          <p:cNvPr id="44" name="Text 41"/>
          <p:cNvSpPr/>
          <p:nvPr/>
        </p:nvSpPr>
        <p:spPr>
          <a:xfrm>
            <a:off x="3409865" y="2309755"/>
            <a:ext cx="2543111" cy="1025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Tiap role lihat task sesuai tahap. Upload/download/paste link sesuai tipe tugas.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6138709" y="1866853"/>
            <a:ext cx="2743131" cy="1548964"/>
          </a:xfrm>
          <a:prstGeom prst="roundRect">
            <a:avLst>
              <a:gd name="adj" fmla="val 4919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6238719" y="1947814"/>
            <a:ext cx="2543111" cy="20116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2925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📁</a:t>
            </a:r>
            <a:endParaRPr lang="en-US" sz="1350" dirty="0"/>
          </a:p>
        </p:txBody>
      </p:sp>
      <p:sp>
        <p:nvSpPr>
          <p:cNvPr id="47" name="Text 44"/>
          <p:cNvSpPr/>
          <p:nvPr/>
        </p:nvSpPr>
        <p:spPr>
          <a:xfrm>
            <a:off x="6238719" y="2176408"/>
            <a:ext cx="2543111" cy="1059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Drive Auto-Create</a:t>
            </a:r>
            <a:endParaRPr lang="en-US" sz="825" dirty="0"/>
          </a:p>
        </p:txBody>
      </p:sp>
      <p:sp>
        <p:nvSpPr>
          <p:cNvPr id="48" name="Text 45"/>
          <p:cNvSpPr/>
          <p:nvPr/>
        </p:nvSpPr>
        <p:spPr>
          <a:xfrm>
            <a:off x="6238719" y="2309755"/>
            <a:ext cx="2543111" cy="1025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Subfolder per role + DL/UL policy. Chunked upload resumable untuk file besar.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8967563" y="1866853"/>
            <a:ext cx="2743131" cy="1548964"/>
          </a:xfrm>
          <a:prstGeom prst="roundRect">
            <a:avLst>
              <a:gd name="adj" fmla="val 4919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9067573" y="1947814"/>
            <a:ext cx="2543111" cy="20116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2925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💬</a:t>
            </a:r>
            <a:endParaRPr lang="en-US" sz="1350" dirty="0"/>
          </a:p>
        </p:txBody>
      </p:sp>
      <p:sp>
        <p:nvSpPr>
          <p:cNvPr id="51" name="Text 48"/>
          <p:cNvSpPr/>
          <p:nvPr/>
        </p:nvSpPr>
        <p:spPr>
          <a:xfrm>
            <a:off x="9067573" y="2176408"/>
            <a:ext cx="2543111" cy="1059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WA Notif Otomatis</a:t>
            </a:r>
            <a:endParaRPr lang="en-US" sz="825" dirty="0"/>
          </a:p>
        </p:txBody>
      </p:sp>
      <p:sp>
        <p:nvSpPr>
          <p:cNvPr id="52" name="Text 49"/>
          <p:cNvSpPr/>
          <p:nvPr/>
        </p:nvSpPr>
        <p:spPr>
          <a:xfrm>
            <a:off x="9067573" y="2309755"/>
            <a:ext cx="2543111" cy="1025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UltraMsg GRATIS, admin daftar sekali. Trigger: Tugas Baru, Stage Advance, Review Reject.</a:t>
            </a:r>
            <a:endParaRPr lang="en-US" sz="800" dirty="0"/>
          </a:p>
        </p:txBody>
      </p:sp>
      <p:sp>
        <p:nvSpPr>
          <p:cNvPr id="53" name="Text 50"/>
          <p:cNvSpPr/>
          <p:nvPr/>
        </p:nvSpPr>
        <p:spPr>
          <a:xfrm>
            <a:off x="481000" y="3501541"/>
            <a:ext cx="2743131" cy="1548964"/>
          </a:xfrm>
          <a:prstGeom prst="roundRect">
            <a:avLst>
              <a:gd name="adj" fmla="val 4919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581010" y="3582501"/>
            <a:ext cx="2543111" cy="20116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2925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🔁</a:t>
            </a:r>
            <a:endParaRPr lang="en-US" sz="1350" dirty="0"/>
          </a:p>
        </p:txBody>
      </p:sp>
      <p:sp>
        <p:nvSpPr>
          <p:cNvPr id="55" name="Text 52"/>
          <p:cNvSpPr/>
          <p:nvPr/>
        </p:nvSpPr>
        <p:spPr>
          <a:xfrm>
            <a:off x="581010" y="3811095"/>
            <a:ext cx="2543111" cy="1059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Stage Gating</a:t>
            </a:r>
            <a:endParaRPr lang="en-US" sz="825" dirty="0"/>
          </a:p>
        </p:txBody>
      </p:sp>
      <p:sp>
        <p:nvSpPr>
          <p:cNvPr id="56" name="Text 53"/>
          <p:cNvSpPr/>
          <p:nvPr/>
        </p:nvSpPr>
        <p:spPr>
          <a:xfrm>
            <a:off x="581010" y="3944442"/>
            <a:ext cx="2543111" cy="1025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Advance hanya saat semua task currentStage selesai. Tidak ada tahap skipped.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3309855" y="3501541"/>
            <a:ext cx="2743131" cy="1548964"/>
          </a:xfrm>
          <a:prstGeom prst="roundRect">
            <a:avLst>
              <a:gd name="adj" fmla="val 4919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8" name="Text 55"/>
          <p:cNvSpPr/>
          <p:nvPr/>
        </p:nvSpPr>
        <p:spPr>
          <a:xfrm>
            <a:off x="3409865" y="3582501"/>
            <a:ext cx="2543111" cy="20116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2925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350" dirty="0"/>
          </a:p>
        </p:txBody>
      </p:sp>
      <p:sp>
        <p:nvSpPr>
          <p:cNvPr id="59" name="Text 56"/>
          <p:cNvSpPr/>
          <p:nvPr/>
        </p:nvSpPr>
        <p:spPr>
          <a:xfrm>
            <a:off x="3409865" y="3811095"/>
            <a:ext cx="2543111" cy="1059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Review + Revisi</a:t>
            </a:r>
            <a:endParaRPr lang="en-US" sz="825" dirty="0"/>
          </a:p>
        </p:txBody>
      </p:sp>
      <p:sp>
        <p:nvSpPr>
          <p:cNvPr id="60" name="Text 57"/>
          <p:cNvSpPr/>
          <p:nvPr/>
        </p:nvSpPr>
        <p:spPr>
          <a:xfrm>
            <a:off x="3409865" y="3944442"/>
            <a:ext cx="2543111" cy="1025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Reviewer tolak → reset Tahap 2 + revisionCount tracking + notif WA ke petugas.</a:t>
            </a:r>
            <a:endParaRPr lang="en-US" sz="800" dirty="0"/>
          </a:p>
        </p:txBody>
      </p:sp>
      <p:sp>
        <p:nvSpPr>
          <p:cNvPr id="61" name="Text 58"/>
          <p:cNvSpPr/>
          <p:nvPr/>
        </p:nvSpPr>
        <p:spPr>
          <a:xfrm>
            <a:off x="6138709" y="3501541"/>
            <a:ext cx="2743131" cy="1548964"/>
          </a:xfrm>
          <a:prstGeom prst="roundRect">
            <a:avLst>
              <a:gd name="adj" fmla="val 4919"/>
            </a:avLst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6238719" y="3582501"/>
            <a:ext cx="2543111" cy="20116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2925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🚀</a:t>
            </a:r>
            <a:endParaRPr lang="en-US" sz="1350" dirty="0"/>
          </a:p>
        </p:txBody>
      </p:sp>
      <p:sp>
        <p:nvSpPr>
          <p:cNvPr id="63" name="Text 60"/>
          <p:cNvSpPr/>
          <p:nvPr/>
        </p:nvSpPr>
        <p:spPr>
          <a:xfrm>
            <a:off x="6238719" y="3811095"/>
            <a:ext cx="2543111" cy="1059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Mode Produksi</a:t>
            </a:r>
            <a:endParaRPr lang="en-US" sz="825" dirty="0"/>
          </a:p>
        </p:txBody>
      </p:sp>
      <p:sp>
        <p:nvSpPr>
          <p:cNvPr id="64" name="Text 61"/>
          <p:cNvSpPr/>
          <p:nvPr/>
        </p:nvSpPr>
        <p:spPr>
          <a:xfrm>
            <a:off x="6238719" y="3944442"/>
            <a:ext cx="2543111" cy="1025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Normal (urut), Fast Track (breaking news), Fast Production (paralel). Adaptif per kebutuhan.</a:t>
            </a:r>
            <a:endParaRPr lang="en-US" sz="800" dirty="0"/>
          </a:p>
        </p:txBody>
      </p:sp>
      <p:sp>
        <p:nvSpPr>
          <p:cNvPr id="65" name="Text 62"/>
          <p:cNvSpPr/>
          <p:nvPr/>
        </p:nvSpPr>
        <p:spPr>
          <a:xfrm>
            <a:off x="8962801" y="3496778"/>
            <a:ext cx="2752656" cy="1558489"/>
          </a:xfrm>
          <a:prstGeom prst="roundRect">
            <a:avLst>
              <a:gd name="adj" fmla="val 4889"/>
            </a:avLst>
          </a:prstGeom>
          <a:solidFill>
            <a:srgbClr val="FAF5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6" name="Shape 63"/>
          <p:cNvSpPr/>
          <p:nvPr/>
        </p:nvSpPr>
        <p:spPr>
          <a:xfrm>
            <a:off x="8962801" y="3501541"/>
            <a:ext cx="2752656" cy="0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11710695" y="3496778"/>
            <a:ext cx="0" cy="1558489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8962801" y="5050505"/>
            <a:ext cx="2752656" cy="0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8977088" y="3496778"/>
            <a:ext cx="0" cy="1558489"/>
          </a:xfrm>
          <a:prstGeom prst="line">
            <a:avLst/>
          </a:prstGeom>
          <a:noFill/>
          <a:ln w="28574">
            <a:solidFill>
              <a:srgbClr val="6D28D9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9086623" y="3582501"/>
            <a:ext cx="2524062" cy="20116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292524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📊</a:t>
            </a:r>
            <a:endParaRPr lang="en-US" sz="1350" dirty="0"/>
          </a:p>
        </p:txBody>
      </p:sp>
      <p:sp>
        <p:nvSpPr>
          <p:cNvPr id="71" name="Text 68"/>
          <p:cNvSpPr/>
          <p:nvPr/>
        </p:nvSpPr>
        <p:spPr>
          <a:xfrm>
            <a:off x="9086623" y="3811095"/>
            <a:ext cx="2524062" cy="1059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Auto-Generate Laporan</a:t>
            </a:r>
            <a:endParaRPr lang="en-US" sz="825" dirty="0"/>
          </a:p>
        </p:txBody>
      </p:sp>
      <p:sp>
        <p:nvSpPr>
          <p:cNvPr id="72" name="Text 69"/>
          <p:cNvSpPr/>
          <p:nvPr/>
        </p:nvSpPr>
        <p:spPr>
          <a:xfrm>
            <a:off x="9086623" y="3944442"/>
            <a:ext cx="2524062" cy="1025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Saat Tahap 5, sistem auto-generate Laporan Kegiatan PDF + Excel untuk SKP — zero manual work.</a:t>
            </a:r>
            <a:endParaRPr lang="en-US" sz="800" dirty="0"/>
          </a:p>
        </p:txBody>
      </p:sp>
      <p:sp>
        <p:nvSpPr>
          <p:cNvPr id="73" name="Text 70"/>
          <p:cNvSpPr/>
          <p:nvPr/>
        </p:nvSpPr>
        <p:spPr>
          <a:xfrm>
            <a:off x="481000" y="5155277"/>
            <a:ext cx="5562461" cy="3183652"/>
          </a:xfrm>
          <a:prstGeom prst="roundRect">
            <a:avLst>
              <a:gd name="adj" fmla="val 2393"/>
            </a:avLst>
          </a:prstGeom>
          <a:noFill/>
          <a:ln w="9525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1"/>
          <p:cNvSpPr/>
          <p:nvPr/>
        </p:nvSpPr>
        <p:spPr>
          <a:xfrm>
            <a:off x="485763" y="5160040"/>
            <a:ext cx="5552936" cy="228594"/>
          </a:xfrm>
          <a:prstGeom prst="rect">
            <a:avLst/>
          </a:prstGeom>
          <a:solidFill>
            <a:srgbClr val="F5F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Shape 72"/>
          <p:cNvSpPr/>
          <p:nvPr/>
        </p:nvSpPr>
        <p:spPr>
          <a:xfrm>
            <a:off x="485763" y="5383872"/>
            <a:ext cx="5552936" cy="0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5365864" y="5217188"/>
            <a:ext cx="577588" cy="104772"/>
          </a:xfrm>
          <a:prstGeom prst="roundRect">
            <a:avLst>
              <a:gd name="adj" fmla="val 27274"/>
            </a:avLst>
          </a:prstGeom>
          <a:solidFill>
            <a:srgbClr val="6D28D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4"/>
          <p:cNvSpPr/>
          <p:nvPr/>
        </p:nvSpPr>
        <p:spPr>
          <a:xfrm>
            <a:off x="581010" y="5217188"/>
            <a:ext cx="1562656" cy="120701"/>
          </a:xfrm>
          <a:prstGeom prst="rect">
            <a:avLst/>
          </a:prstGeom>
          <a:noFill/>
          <a:ln/>
        </p:spPr>
        <p:txBody>
          <a:bodyPr wrap="square" lIns="95248" tIns="57149" rIns="95248" bIns="57149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4403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📥</a:t>
            </a:r>
            <a:pPr algn="l" indent="0" marL="0">
              <a:buNone/>
            </a:pPr>
            <a:r>
              <a:rPr lang="en-US" sz="750" b="1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Bukti: Inbox Surat Tugas (User)</a:t>
            </a:r>
            <a:endParaRPr lang="en-US" sz="750" dirty="0"/>
          </a:p>
        </p:txBody>
      </p:sp>
      <p:sp>
        <p:nvSpPr>
          <p:cNvPr id="78" name="Text 75"/>
          <p:cNvSpPr/>
          <p:nvPr/>
        </p:nvSpPr>
        <p:spPr>
          <a:xfrm>
            <a:off x="5343004" y="5210902"/>
            <a:ext cx="623308" cy="117345"/>
          </a:xfrm>
          <a:prstGeom prst="roundRect">
            <a:avLst>
              <a:gd name="adj" fmla="val 24351"/>
            </a:avLst>
          </a:prstGeom>
          <a:solidFill>
            <a:srgbClr val="6D28D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9" name="Text 76"/>
          <p:cNvSpPr/>
          <p:nvPr/>
        </p:nvSpPr>
        <p:spPr>
          <a:xfrm>
            <a:off x="5339555" y="5217188"/>
            <a:ext cx="630204" cy="1047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PRODUKSI</a:t>
            </a:r>
            <a:endParaRPr lang="en-US" sz="800" dirty="0"/>
          </a:p>
        </p:txBody>
      </p:sp>
      <p:pic>
        <p:nvPicPr>
          <p:cNvPr id="80" name="Image 1" descr="/tmp/h2p-fit-1791717451486-mog5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63" y="5388634"/>
            <a:ext cx="5552936" cy="2711283"/>
          </a:xfrm>
          <a:prstGeom prst="rect">
            <a:avLst/>
          </a:prstGeom>
        </p:spPr>
      </p:pic>
      <p:sp>
        <p:nvSpPr>
          <p:cNvPr id="81" name="Text 77"/>
          <p:cNvSpPr/>
          <p:nvPr/>
        </p:nvSpPr>
        <p:spPr>
          <a:xfrm>
            <a:off x="485763" y="8099917"/>
            <a:ext cx="5552936" cy="234250"/>
          </a:xfrm>
          <a:prstGeom prst="rect">
            <a:avLst/>
          </a:prstGeom>
          <a:solidFill>
            <a:srgbClr val="FA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2" name="Text 78"/>
          <p:cNvSpPr/>
          <p:nvPr/>
        </p:nvSpPr>
        <p:spPr>
          <a:xfrm>
            <a:off x="485763" y="8099917"/>
            <a:ext cx="5552936" cy="234250"/>
          </a:xfrm>
          <a:prstGeom prst="rect">
            <a:avLst/>
          </a:prstGeom>
          <a:noFill/>
          <a:ln/>
        </p:spPr>
        <p:txBody>
          <a:bodyPr wrap="square" lIns="95248" tIns="57149" rIns="95248" bIns="57149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User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menerima Surat Tugas di Inbox dengan nomor resmi, klik link → buka proyek</a:t>
            </a:r>
            <a:endParaRPr lang="en-US" sz="800" dirty="0"/>
          </a:p>
        </p:txBody>
      </p:sp>
      <p:sp>
        <p:nvSpPr>
          <p:cNvPr id="83" name="Text 79"/>
          <p:cNvSpPr/>
          <p:nvPr/>
        </p:nvSpPr>
        <p:spPr>
          <a:xfrm>
            <a:off x="6148234" y="5155277"/>
            <a:ext cx="5562461" cy="3183652"/>
          </a:xfrm>
          <a:prstGeom prst="roundRect">
            <a:avLst>
              <a:gd name="adj" fmla="val 2393"/>
            </a:avLst>
          </a:prstGeom>
          <a:noFill/>
          <a:ln w="9525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4" name="Text 80"/>
          <p:cNvSpPr/>
          <p:nvPr/>
        </p:nvSpPr>
        <p:spPr>
          <a:xfrm>
            <a:off x="6152996" y="5160040"/>
            <a:ext cx="5552936" cy="228594"/>
          </a:xfrm>
          <a:prstGeom prst="rect">
            <a:avLst/>
          </a:prstGeom>
          <a:solidFill>
            <a:srgbClr val="F5F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5" name="Shape 81"/>
          <p:cNvSpPr/>
          <p:nvPr/>
        </p:nvSpPr>
        <p:spPr>
          <a:xfrm>
            <a:off x="6152996" y="5383872"/>
            <a:ext cx="5552936" cy="0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86" name="Text 82"/>
          <p:cNvSpPr/>
          <p:nvPr/>
        </p:nvSpPr>
        <p:spPr>
          <a:xfrm>
            <a:off x="11045747" y="5217188"/>
            <a:ext cx="564937" cy="104772"/>
          </a:xfrm>
          <a:prstGeom prst="roundRect">
            <a:avLst>
              <a:gd name="adj" fmla="val 27274"/>
            </a:avLst>
          </a:prstGeom>
          <a:solidFill>
            <a:srgbClr val="6D28D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3"/>
          <p:cNvSpPr/>
          <p:nvPr/>
        </p:nvSpPr>
        <p:spPr>
          <a:xfrm>
            <a:off x="6248244" y="5217188"/>
            <a:ext cx="1548816" cy="120701"/>
          </a:xfrm>
          <a:prstGeom prst="rect">
            <a:avLst/>
          </a:prstGeom>
          <a:noFill/>
          <a:ln/>
        </p:spPr>
        <p:txBody>
          <a:bodyPr wrap="square" lIns="95248" tIns="57149" rIns="95248" bIns="57149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4403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📄</a:t>
            </a:r>
            <a:pPr algn="l" indent="0" marL="0">
              <a:buNone/>
            </a:pPr>
            <a:r>
              <a:rPr lang="en-US" sz="750" b="1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Bukti: Project Detail (Eksekusi)</a:t>
            </a:r>
            <a:endParaRPr lang="en-US" sz="750" dirty="0"/>
          </a:p>
        </p:txBody>
      </p:sp>
      <p:sp>
        <p:nvSpPr>
          <p:cNvPr id="88" name="Text 84"/>
          <p:cNvSpPr/>
          <p:nvPr/>
        </p:nvSpPr>
        <p:spPr>
          <a:xfrm>
            <a:off x="11023150" y="5210902"/>
            <a:ext cx="610132" cy="117345"/>
          </a:xfrm>
          <a:prstGeom prst="roundRect">
            <a:avLst>
              <a:gd name="adj" fmla="val 24351"/>
            </a:avLst>
          </a:prstGeom>
          <a:solidFill>
            <a:srgbClr val="6D28D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5"/>
          <p:cNvSpPr/>
          <p:nvPr/>
        </p:nvSpPr>
        <p:spPr>
          <a:xfrm>
            <a:off x="11013114" y="5217188"/>
            <a:ext cx="630204" cy="1047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EKSEKUSI</a:t>
            </a:r>
            <a:endParaRPr lang="en-US" sz="800" dirty="0"/>
          </a:p>
        </p:txBody>
      </p:sp>
      <p:pic>
        <p:nvPicPr>
          <p:cNvPr id="90" name="Image 2" descr="/tmp/h2p-fit-1791717451486-4lfhc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996" y="5388634"/>
            <a:ext cx="5552936" cy="2711283"/>
          </a:xfrm>
          <a:prstGeom prst="rect">
            <a:avLst/>
          </a:prstGeom>
        </p:spPr>
      </p:pic>
      <p:sp>
        <p:nvSpPr>
          <p:cNvPr id="91" name="Text 86"/>
          <p:cNvSpPr/>
          <p:nvPr/>
        </p:nvSpPr>
        <p:spPr>
          <a:xfrm>
            <a:off x="6152996" y="8099917"/>
            <a:ext cx="5552936" cy="234250"/>
          </a:xfrm>
          <a:prstGeom prst="rect">
            <a:avLst/>
          </a:prstGeom>
          <a:solidFill>
            <a:srgbClr val="FA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Text 87"/>
          <p:cNvSpPr/>
          <p:nvPr/>
        </p:nvSpPr>
        <p:spPr>
          <a:xfrm>
            <a:off x="6152996" y="8099917"/>
            <a:ext cx="5552936" cy="234250"/>
          </a:xfrm>
          <a:prstGeom prst="rect">
            <a:avLst/>
          </a:prstGeom>
          <a:noFill/>
          <a:ln/>
        </p:spPr>
        <p:txBody>
          <a:bodyPr wrap="square" lIns="95248" tIns="57149" rIns="95248" bIns="57149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Project Detail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menampilkan tahap, petugas, drive folders, dan task card untuk eksekusi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85722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38" y="881040"/>
            <a:ext cx="11239219" cy="0"/>
          </a:xfrm>
          <a:prstGeom prst="line">
            <a:avLst/>
          </a:prstGeom>
          <a:noFill/>
          <a:ln w="19050">
            <a:solidFill>
              <a:srgbClr val="E7E5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6238" y="304792"/>
            <a:ext cx="8636000" cy="115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87" kern="0" dirty="0">
                <a:solidFill>
                  <a:srgbClr val="6D28D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🔍</a:t>
            </a:r>
            <a:pPr algn="l" indent="0" marL="0">
              <a:buNone/>
            </a:pPr>
            <a:r>
              <a:rPr lang="en-US" sz="800" b="1" spc="187" kern="0" dirty="0">
                <a:solidFill>
                  <a:srgbClr val="6D28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TRANSPARAN — LIHUM, PUBLIC TRACKER, AUDIT TRAIL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76238" y="447664"/>
            <a:ext cx="8636000" cy="328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87"/>
              </a:lnSpc>
              <a:buNone/>
            </a:pPr>
            <a:r>
              <a:rPr lang="en-US" sz="2250" b="1" dirty="0">
                <a:solidFill>
                  <a:srgbClr val="1C19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Transparansi Fisik &amp; Digital untuk Publik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0983955" y="395278"/>
            <a:ext cx="731502" cy="1059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spc="101" kern="0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BOBOT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83955" y="528624"/>
            <a:ext cx="731502" cy="246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6238" y="1023912"/>
            <a:ext cx="6752370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spc="165" kern="0" dirty="0">
                <a:solidFill>
                  <a:srgbClr val="0284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A. PUBLIC TRACKER (NO-AUTH)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481000" y="1219170"/>
            <a:ext cx="5543411" cy="6481600"/>
          </a:xfrm>
          <a:prstGeom prst="roundRect">
            <a:avLst>
              <a:gd name="adj" fmla="val 1375"/>
            </a:avLst>
          </a:prstGeom>
          <a:noFill/>
          <a:ln w="9525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tmp/h2p-fit-1791717451424-4atww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763" y="1223932"/>
            <a:ext cx="5533887" cy="611787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85763" y="7341805"/>
            <a:ext cx="5533887" cy="354202"/>
          </a:xfrm>
          <a:prstGeom prst="rect">
            <a:avLst/>
          </a:prstGeom>
          <a:solidFill>
            <a:srgbClr val="FA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85763" y="7341805"/>
            <a:ext cx="5533887" cy="354202"/>
          </a:xfrm>
          <a:prstGeom prst="rect">
            <a:avLst/>
          </a:prstGeom>
          <a:noFill/>
          <a:ln/>
        </p:spPr>
        <p:txBody>
          <a:bodyPr wrap="square" lIns="95248" tIns="57149" rIns="95248" bIns="57149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URL 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?public=tracker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</a:t>
            </a:r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tanpa login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untuk dipajang di TV lobby kantor. 11 grid layout, auto-refresh 30 min, auto-pagination 8s. Link: </a:t>
            </a:r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app.pushakin-flows.workers.dev/?public=tracker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81000" y="7881740"/>
            <a:ext cx="1335848" cy="457189"/>
          </a:xfrm>
          <a:prstGeom prst="roundRect">
            <a:avLst>
              <a:gd name="adj" fmla="val 12500"/>
            </a:avLst>
          </a:prstGeom>
          <a:solidFill>
            <a:srgbClr val="F0F9FF"/>
          </a:solidFill>
          <a:ln w="9525">
            <a:solidFill>
              <a:srgbClr val="E0F2F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42911" y="7962701"/>
            <a:ext cx="1212026" cy="1821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284C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42911" y="8172246"/>
            <a:ext cx="121202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spc="60" kern="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TOTAL PROYEK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883522" y="7881740"/>
            <a:ext cx="1335848" cy="457189"/>
          </a:xfrm>
          <a:prstGeom prst="roundRect">
            <a:avLst>
              <a:gd name="adj" fmla="val 12500"/>
            </a:avLst>
          </a:prstGeom>
          <a:solidFill>
            <a:srgbClr val="F0F9FF"/>
          </a:solidFill>
          <a:ln w="9525">
            <a:solidFill>
              <a:srgbClr val="E0F2F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1945433" y="7962701"/>
            <a:ext cx="1212026" cy="1821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284C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64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945433" y="8172246"/>
            <a:ext cx="121202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spc="60" kern="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BERJALAN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286043" y="7881740"/>
            <a:ext cx="1335848" cy="457189"/>
          </a:xfrm>
          <a:prstGeom prst="roundRect">
            <a:avLst>
              <a:gd name="adj" fmla="val 12500"/>
            </a:avLst>
          </a:prstGeom>
          <a:solidFill>
            <a:srgbClr val="F0F9FF"/>
          </a:solidFill>
          <a:ln w="9525">
            <a:solidFill>
              <a:srgbClr val="E0F2FE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3347954" y="7962701"/>
            <a:ext cx="1212026" cy="1821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284C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3347954" y="8172246"/>
            <a:ext cx="1212026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spc="60" kern="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GRID LAYOUT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6162521" y="1023912"/>
            <a:ext cx="5662664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spc="165" kern="0" dirty="0">
                <a:solidFill>
                  <a:srgbClr val="0284C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B. LIHUM GALLERY PUBLIK + AUDIT TRAIL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6167283" y="1219170"/>
            <a:ext cx="5543411" cy="5233857"/>
          </a:xfrm>
          <a:prstGeom prst="roundRect">
            <a:avLst>
              <a:gd name="adj" fmla="val 1456"/>
            </a:avLst>
          </a:prstGeom>
          <a:noFill/>
          <a:ln w="9525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1" descr="/tmp/h2p-fit-1791717451463-5wdjz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046" y="1223932"/>
            <a:ext cx="5533887" cy="487013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172046" y="6094062"/>
            <a:ext cx="5533887" cy="354202"/>
          </a:xfrm>
          <a:prstGeom prst="rect">
            <a:avLst/>
          </a:prstGeom>
          <a:solidFill>
            <a:srgbClr val="FA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2"/>
          <p:cNvSpPr/>
          <p:nvPr/>
        </p:nvSpPr>
        <p:spPr>
          <a:xfrm>
            <a:off x="6172046" y="6094062"/>
            <a:ext cx="5533887" cy="354202"/>
          </a:xfrm>
          <a:prstGeom prst="rect">
            <a:avLst/>
          </a:prstGeom>
          <a:noFill/>
          <a:ln/>
        </p:spPr>
        <p:txBody>
          <a:bodyPr wrap="square" lIns="95248" tIns="57149" rIns="95248" bIns="57149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LIHUM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(Lihat &amp; Unduh Mandiri) — 1-klik publish folder PUBLIC ke gallery publik. Hanya folder PUBLIC; PRIVATE tidak pernah di-share. Link: </a:t>
            </a:r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lihum.synclicen.workers.dev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6167283" y="6557798"/>
            <a:ext cx="5543411" cy="1781130"/>
          </a:xfrm>
          <a:prstGeom prst="roundRect">
            <a:avLst>
              <a:gd name="adj" fmla="val 3209"/>
            </a:avLst>
          </a:prstGeom>
          <a:solidFill>
            <a:srgbClr val="FAFAF9"/>
          </a:solidFill>
          <a:ln w="9525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4"/>
          <p:cNvSpPr/>
          <p:nvPr/>
        </p:nvSpPr>
        <p:spPr>
          <a:xfrm>
            <a:off x="6286343" y="7024512"/>
            <a:ext cx="5305292" cy="0"/>
          </a:xfrm>
          <a:prstGeom prst="line">
            <a:avLst/>
          </a:prstGeom>
          <a:noFill/>
          <a:ln w="9525">
            <a:solidFill>
              <a:srgbClr val="E7E5E4"/>
            </a:solidFill>
            <a:prstDash val="dash"/>
          </a:ln>
        </p:spPr>
      </p:sp>
      <p:sp>
        <p:nvSpPr>
          <p:cNvPr id="29" name="Text 25"/>
          <p:cNvSpPr/>
          <p:nvPr/>
        </p:nvSpPr>
        <p:spPr>
          <a:xfrm>
            <a:off x="6286343" y="6705432"/>
            <a:ext cx="91440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6438739" y="6705432"/>
            <a:ext cx="5152896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Audit Trail Lengkap:</a:t>
            </a:r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setiap task tercatat </a:t>
            </a:r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444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createdAt</a:t>
            </a:r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444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updatedAt</a:t>
            </a:r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444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revisionCount</a:t>
            </a:r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444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forceCompleted</a:t>
            </a:r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444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autoApproved</a:t>
            </a:r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444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completedBy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6286343" y="7262631"/>
            <a:ext cx="5305292" cy="0"/>
          </a:xfrm>
          <a:prstGeom prst="line">
            <a:avLst/>
          </a:prstGeom>
          <a:noFill/>
          <a:ln w="9525">
            <a:solidFill>
              <a:srgbClr val="E7E5E4"/>
            </a:solidFill>
            <a:prstDash val="dash"/>
          </a:ln>
        </p:spPr>
      </p:sp>
      <p:sp>
        <p:nvSpPr>
          <p:cNvPr id="32" name="Text 28"/>
          <p:cNvSpPr/>
          <p:nvPr/>
        </p:nvSpPr>
        <p:spPr>
          <a:xfrm>
            <a:off x="6286343" y="7076898"/>
            <a:ext cx="91440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33" name="Text 29"/>
          <p:cNvSpPr/>
          <p:nvPr/>
        </p:nvSpPr>
        <p:spPr>
          <a:xfrm>
            <a:off x="6438739" y="7076898"/>
            <a:ext cx="5152896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Statistik Stuck Rate: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proyek &gt;7 hari stuck → auto-repair PASS 1+2. Saat ini </a:t>
            </a:r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 stuck permanen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4403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dari 253 proyek</a:t>
            </a:r>
            <a:endParaRPr lang="en-US" sz="750" dirty="0"/>
          </a:p>
        </p:txBody>
      </p:sp>
      <p:sp>
        <p:nvSpPr>
          <p:cNvPr id="34" name="Shape 30"/>
          <p:cNvSpPr/>
          <p:nvPr/>
        </p:nvSpPr>
        <p:spPr>
          <a:xfrm>
            <a:off x="6286343" y="7500750"/>
            <a:ext cx="5305292" cy="0"/>
          </a:xfrm>
          <a:prstGeom prst="line">
            <a:avLst/>
          </a:prstGeom>
          <a:noFill/>
          <a:ln w="9525">
            <a:solidFill>
              <a:srgbClr val="E7E5E4"/>
            </a:solidFill>
            <a:prstDash val="dash"/>
          </a:ln>
        </p:spPr>
      </p:sp>
      <p:sp>
        <p:nvSpPr>
          <p:cNvPr id="35" name="Text 31"/>
          <p:cNvSpPr/>
          <p:nvPr/>
        </p:nvSpPr>
        <p:spPr>
          <a:xfrm>
            <a:off x="6286343" y="7315017"/>
            <a:ext cx="91440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6438739" y="7315017"/>
            <a:ext cx="5152896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Statistik Evaluasi 5-Section:</a:t>
            </a:r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per user, per tahap, per role, per tim, workflow — </a:t>
            </a:r>
            <a:pPr algn="l" indent="0" marL="0">
              <a:lnSpc>
                <a:spcPts val="1050"/>
              </a:lnSpc>
              <a:buNone/>
            </a:pPr>
            <a:r>
              <a:rPr lang="en-US" sz="75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stuck rate &amp; completion rate terlihat</a:t>
            </a:r>
            <a:endParaRPr lang="en-US" sz="750" dirty="0"/>
          </a:p>
        </p:txBody>
      </p:sp>
      <p:sp>
        <p:nvSpPr>
          <p:cNvPr id="37" name="Shape 33"/>
          <p:cNvSpPr/>
          <p:nvPr/>
        </p:nvSpPr>
        <p:spPr>
          <a:xfrm>
            <a:off x="6286343" y="7872216"/>
            <a:ext cx="5305292" cy="0"/>
          </a:xfrm>
          <a:prstGeom prst="line">
            <a:avLst/>
          </a:prstGeom>
          <a:noFill/>
          <a:ln w="9525">
            <a:solidFill>
              <a:srgbClr val="E7E5E4"/>
            </a:solidFill>
            <a:prstDash val="dash"/>
          </a:ln>
        </p:spPr>
      </p:sp>
      <p:sp>
        <p:nvSpPr>
          <p:cNvPr id="38" name="Text 34"/>
          <p:cNvSpPr/>
          <p:nvPr/>
        </p:nvSpPr>
        <p:spPr>
          <a:xfrm>
            <a:off x="6286343" y="7553136"/>
            <a:ext cx="91440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39" name="Text 35"/>
          <p:cNvSpPr/>
          <p:nvPr/>
        </p:nvSpPr>
        <p:spPr>
          <a:xfrm>
            <a:off x="6438739" y="7553136"/>
            <a:ext cx="5152896" cy="26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 Override (Super Admin):</a:t>
            </a:r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full access SEMUA folder untuk audit, debug, emergency retrieve — ter-log dengan </a:t>
            </a:r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4440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completedBy</a:t>
            </a:r>
            <a:endParaRPr lang="en-US" sz="800" dirty="0"/>
          </a:p>
        </p:txBody>
      </p:sp>
      <p:sp>
        <p:nvSpPr>
          <p:cNvPr id="40" name="Text 36"/>
          <p:cNvSpPr/>
          <p:nvPr/>
        </p:nvSpPr>
        <p:spPr>
          <a:xfrm>
            <a:off x="6286343" y="7924602"/>
            <a:ext cx="91440" cy="1333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800" dirty="0"/>
          </a:p>
        </p:txBody>
      </p:sp>
      <p:sp>
        <p:nvSpPr>
          <p:cNvPr id="41" name="Text 37"/>
          <p:cNvSpPr/>
          <p:nvPr/>
        </p:nvSpPr>
        <p:spPr>
          <a:xfrm>
            <a:off x="6438739" y="7924602"/>
            <a:ext cx="5152896" cy="30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Maintenance Mode Transparan:</a:t>
            </a:r>
            <a:pPr algn="l" indent="0" marL="0">
              <a:lnSpc>
                <a:spcPts val="1050"/>
              </a:lnSpc>
              <a:buNone/>
            </a:pPr>
            <a:r>
              <a:rPr lang="en-US" sz="80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toggle pemeliharaan dengan pesan custom, hanya Super Admin bisa login — user lain lihat branded UI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85722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38" y="881040"/>
            <a:ext cx="11239219" cy="0"/>
          </a:xfrm>
          <a:prstGeom prst="line">
            <a:avLst/>
          </a:prstGeom>
          <a:noFill/>
          <a:ln w="19050">
            <a:solidFill>
              <a:srgbClr val="E7E5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6238" y="304792"/>
            <a:ext cx="8636000" cy="115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87" kern="0" dirty="0">
                <a:solidFill>
                  <a:srgbClr val="6D28D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🤝</a:t>
            </a:r>
            <a:pPr algn="l" indent="0" marL="0">
              <a:buNone/>
            </a:pPr>
            <a:r>
              <a:rPr lang="en-US" sz="800" b="1" spc="187" kern="0" dirty="0">
                <a:solidFill>
                  <a:srgbClr val="6D28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PARTISIPATIF — RELASI, </a:t>
            </a:r>
            <a:pPr algn="l" indent="0" marL="0">
              <a:buNone/>
            </a:pPr>
            <a:r>
              <a:rPr lang="en-US" sz="800" b="1" spc="187" kern="0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</a:t>
            </a:r>
            <a:pPr algn="l" indent="0" marL="0">
              <a:buNone/>
            </a:pPr>
            <a:r>
              <a:rPr lang="en-US" sz="800" b="1" spc="187" kern="0" dirty="0">
                <a:solidFill>
                  <a:srgbClr val="6D28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ROLE, SELF-SERVICE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76238" y="447664"/>
            <a:ext cx="8636000" cy="328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87"/>
              </a:lnSpc>
              <a:buNone/>
            </a:pPr>
            <a:r>
              <a:rPr lang="en-US" sz="2250" b="1" dirty="0">
                <a:solidFill>
                  <a:srgbClr val="1C19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Partisipasi Multi-Stakeholder + Manajemen Inventaris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0983955" y="395278"/>
            <a:ext cx="731502" cy="1059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spc="101" kern="0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BOBOT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983955" y="528624"/>
            <a:ext cx="731502" cy="246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1000" y="1028674"/>
            <a:ext cx="5543411" cy="838179"/>
          </a:xfrm>
          <a:prstGeom prst="roundRect">
            <a:avLst>
              <a:gd name="adj" fmla="val 9091"/>
            </a:avLst>
          </a:prstGeom>
          <a:noFill/>
          <a:ln w="9525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19130" y="1147734"/>
            <a:ext cx="1936801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4530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Relasi Public Form (Mitra Eksternal)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600060" y="1128684"/>
            <a:ext cx="161921" cy="164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📝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0060" y="1338229"/>
            <a:ext cx="53052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Form </a:t>
            </a:r>
            <a:pPr algn="l" indent="0" marL="0">
              <a:lnSpc>
                <a:spcPts val="112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token-based, no-auth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untuk mitra eksternal kontribusi tanpa akun. Field types: text, textarea, email, phone, file, select, date, </a:t>
            </a:r>
            <a:pPr algn="l" indent="0" marL="0">
              <a:lnSpc>
                <a:spcPts val="112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Teks + Foto (multiple upload)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. Rate limit 10 submission/IP/jam.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167283" y="1028674"/>
            <a:ext cx="5543411" cy="838179"/>
          </a:xfrm>
          <a:prstGeom prst="roundRect">
            <a:avLst>
              <a:gd name="adj" fmla="val 9091"/>
            </a:avLst>
          </a:prstGeom>
          <a:noFill/>
          <a:ln w="9525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505412" y="1147734"/>
            <a:ext cx="1946445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B4530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 Role Berkontribusi + Self-Service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6286343" y="1128684"/>
            <a:ext cx="161921" cy="164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B45309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👥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86343" y="1338229"/>
            <a:ext cx="5305292" cy="4286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 role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Admin, Administrator, Manager, Reporter, Photographer/Videographer/Content Creator/Audio, 4 Editor, Graphic Designer, Streaming/Podcast Operator, Reviewer, 2 Publisher. </a:t>
            </a:r>
            <a:pPr algn="l" indent="0" marL="0">
              <a:lnSpc>
                <a:spcPts val="112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Self-service laporan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untuk SEMUA role — Manager tidak jadi bottleneck.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1000" y="1971626"/>
            <a:ext cx="3673284" cy="4984427"/>
          </a:xfrm>
          <a:prstGeom prst="roundRect">
            <a:avLst>
              <a:gd name="adj" fmla="val 2074"/>
            </a:avLst>
          </a:prstGeom>
          <a:noFill/>
          <a:ln w="9525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5763" y="1976388"/>
            <a:ext cx="3663759" cy="228594"/>
          </a:xfrm>
          <a:prstGeom prst="rect">
            <a:avLst/>
          </a:prstGeom>
          <a:solidFill>
            <a:srgbClr val="F5F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85763" y="2200220"/>
            <a:ext cx="3663759" cy="0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44680" y="2033537"/>
            <a:ext cx="709595" cy="104772"/>
          </a:xfrm>
          <a:prstGeom prst="roundRect">
            <a:avLst>
              <a:gd name="adj" fmla="val 27274"/>
            </a:avLst>
          </a:prstGeom>
          <a:solidFill>
            <a:srgbClr val="6D28D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81010" y="2033537"/>
            <a:ext cx="1262924" cy="120701"/>
          </a:xfrm>
          <a:prstGeom prst="rect">
            <a:avLst/>
          </a:prstGeom>
          <a:noFill/>
          <a:ln/>
        </p:spPr>
        <p:txBody>
          <a:bodyPr wrap="none" lIns="95248" tIns="57149" rIns="95248" bIns="57149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4403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📝</a:t>
            </a:r>
            <a:pPr algn="l" indent="0" marL="0">
              <a:buNone/>
            </a:pPr>
            <a:r>
              <a:rPr lang="en-US" sz="750" b="1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Bukti: Manajemen Relasi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321820" y="2027250"/>
            <a:ext cx="755315" cy="117345"/>
          </a:xfrm>
          <a:prstGeom prst="roundRect">
            <a:avLst>
              <a:gd name="adj" fmla="val 24351"/>
            </a:avLst>
          </a:prstGeom>
          <a:solidFill>
            <a:srgbClr val="6D28D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235714" y="2033537"/>
            <a:ext cx="927527" cy="1047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PARTISIPATIF</a:t>
            </a:r>
            <a:endParaRPr lang="en-US" sz="800" dirty="0"/>
          </a:p>
        </p:txBody>
      </p:sp>
      <p:pic>
        <p:nvPicPr>
          <p:cNvPr id="23" name="Image 0" descr="/tmp/h2p-fit-1791717450980-07b9c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763" y="2204982"/>
            <a:ext cx="3663759" cy="451205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485763" y="6717041"/>
            <a:ext cx="3663759" cy="234250"/>
          </a:xfrm>
          <a:prstGeom prst="rect">
            <a:avLst/>
          </a:prstGeom>
          <a:solidFill>
            <a:srgbClr val="FA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485763" y="6717041"/>
            <a:ext cx="3663759" cy="234250"/>
          </a:xfrm>
          <a:prstGeom prst="rect">
            <a:avLst/>
          </a:prstGeom>
          <a:noFill/>
          <a:ln/>
        </p:spPr>
        <p:txBody>
          <a:bodyPr wrap="square" lIns="95248" tIns="57149" rIns="95248" bIns="57149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Manajemen Relasi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form publik untuk mitra eksternal tanpa akun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259057" y="1971626"/>
            <a:ext cx="3673433" cy="4984427"/>
          </a:xfrm>
          <a:prstGeom prst="roundRect">
            <a:avLst>
              <a:gd name="adj" fmla="val 2074"/>
            </a:avLst>
          </a:prstGeom>
          <a:noFill/>
          <a:ln w="9525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4263819" y="1976388"/>
            <a:ext cx="3663908" cy="228594"/>
          </a:xfrm>
          <a:prstGeom prst="rect">
            <a:avLst/>
          </a:prstGeom>
          <a:solidFill>
            <a:srgbClr val="F5F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5"/>
          <p:cNvSpPr/>
          <p:nvPr/>
        </p:nvSpPr>
        <p:spPr>
          <a:xfrm>
            <a:off x="4263819" y="2200220"/>
            <a:ext cx="3663908" cy="0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347163" y="2033537"/>
            <a:ext cx="485316" cy="104772"/>
          </a:xfrm>
          <a:prstGeom prst="roundRect">
            <a:avLst>
              <a:gd name="adj" fmla="val 27274"/>
            </a:avLst>
          </a:prstGeom>
          <a:solidFill>
            <a:srgbClr val="6D28D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4359067" y="2033537"/>
            <a:ext cx="1675763" cy="120701"/>
          </a:xfrm>
          <a:prstGeom prst="rect">
            <a:avLst/>
          </a:prstGeom>
          <a:noFill/>
          <a:ln/>
        </p:spPr>
        <p:txBody>
          <a:bodyPr wrap="square" lIns="95248" tIns="57149" rIns="95248" bIns="57149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4403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👥</a:t>
            </a:r>
            <a:pPr algn="l" indent="0" marL="0">
              <a:buNone/>
            </a:pPr>
            <a:r>
              <a:rPr lang="en-US" sz="750" b="1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Bukti: Statistik Evaluasi </a:t>
            </a:r>
            <a:pPr algn="l" indent="0" marL="0">
              <a:buNone/>
            </a:pPr>
            <a:r>
              <a:rPr lang="en-US" sz="750" b="1" dirty="0">
                <a:solidFill>
                  <a:srgbClr val="44403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5-Section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7327750" y="2027250"/>
            <a:ext cx="524142" cy="117345"/>
          </a:xfrm>
          <a:prstGeom prst="roundRect">
            <a:avLst>
              <a:gd name="adj" fmla="val 24351"/>
            </a:avLst>
          </a:prstGeom>
          <a:solidFill>
            <a:srgbClr val="6D28D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7332265" y="2033537"/>
            <a:ext cx="515112" cy="1047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 ROLE</a:t>
            </a:r>
            <a:endParaRPr lang="en-US" sz="800" dirty="0"/>
          </a:p>
        </p:txBody>
      </p:sp>
      <p:pic>
        <p:nvPicPr>
          <p:cNvPr id="33" name="Image 1" descr="/tmp/h2p-fit-1791717450980-eicl9z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3819" y="2204982"/>
            <a:ext cx="3663908" cy="4512058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4263819" y="6717041"/>
            <a:ext cx="3663908" cy="234250"/>
          </a:xfrm>
          <a:prstGeom prst="rect">
            <a:avLst/>
          </a:prstGeom>
          <a:solidFill>
            <a:srgbClr val="FA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4263819" y="6717041"/>
            <a:ext cx="3663908" cy="234250"/>
          </a:xfrm>
          <a:prstGeom prst="rect">
            <a:avLst/>
          </a:prstGeom>
          <a:noFill/>
          <a:ln/>
        </p:spPr>
        <p:txBody>
          <a:bodyPr wrap="square" lIns="95248" tIns="57149" rIns="95248" bIns="57149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Statistik Evaluasi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per user, per tahap, per role, per tim, workflow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8037262" y="1971626"/>
            <a:ext cx="3673284" cy="4984427"/>
          </a:xfrm>
          <a:prstGeom prst="roundRect">
            <a:avLst>
              <a:gd name="adj" fmla="val 2074"/>
            </a:avLst>
          </a:prstGeom>
          <a:noFill/>
          <a:ln w="9525">
            <a:solidFill>
              <a:srgbClr val="E7E5E4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8042024" y="1976388"/>
            <a:ext cx="3663759" cy="228594"/>
          </a:xfrm>
          <a:prstGeom prst="rect">
            <a:avLst/>
          </a:prstGeom>
          <a:solidFill>
            <a:srgbClr val="F5F5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4"/>
          <p:cNvSpPr/>
          <p:nvPr/>
        </p:nvSpPr>
        <p:spPr>
          <a:xfrm>
            <a:off x="8042024" y="2200220"/>
            <a:ext cx="3663759" cy="0"/>
          </a:xfrm>
          <a:prstGeom prst="line">
            <a:avLst/>
          </a:prstGeom>
          <a:noFill/>
          <a:ln w="9525">
            <a:solidFill>
              <a:srgbClr val="E7E5E4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10851531" y="2033537"/>
            <a:ext cx="759004" cy="104772"/>
          </a:xfrm>
          <a:prstGeom prst="roundRect">
            <a:avLst>
              <a:gd name="adj" fmla="val 27274"/>
            </a:avLst>
          </a:prstGeom>
          <a:solidFill>
            <a:srgbClr val="6D28D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6"/>
          <p:cNvSpPr/>
          <p:nvPr/>
        </p:nvSpPr>
        <p:spPr>
          <a:xfrm>
            <a:off x="8137272" y="2033537"/>
            <a:ext cx="1463837" cy="120701"/>
          </a:xfrm>
          <a:prstGeom prst="rect">
            <a:avLst/>
          </a:prstGeom>
          <a:noFill/>
          <a:ln/>
        </p:spPr>
        <p:txBody>
          <a:bodyPr wrap="none" lIns="95248" tIns="57149" rIns="95248" bIns="57149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44403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📥</a:t>
            </a:r>
            <a:pPr algn="l" indent="0" marL="0">
              <a:buNone/>
            </a:pPr>
            <a:r>
              <a:rPr lang="en-US" sz="750" b="1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Bukti: Laporan Kegiatan SKP</a:t>
            </a:r>
            <a:endParaRPr lang="en-US" sz="750" dirty="0"/>
          </a:p>
        </p:txBody>
      </p:sp>
      <p:sp>
        <p:nvSpPr>
          <p:cNvPr id="41" name="Text 37"/>
          <p:cNvSpPr/>
          <p:nvPr/>
        </p:nvSpPr>
        <p:spPr>
          <a:xfrm>
            <a:off x="10828671" y="2027250"/>
            <a:ext cx="804724" cy="117345"/>
          </a:xfrm>
          <a:prstGeom prst="roundRect">
            <a:avLst>
              <a:gd name="adj" fmla="val 24351"/>
            </a:avLst>
          </a:prstGeom>
          <a:solidFill>
            <a:srgbClr val="6D28D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38"/>
          <p:cNvSpPr/>
          <p:nvPr/>
        </p:nvSpPr>
        <p:spPr>
          <a:xfrm>
            <a:off x="10777461" y="2033537"/>
            <a:ext cx="907146" cy="1047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00" b="1" spc="60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SELF-SERVICE</a:t>
            </a:r>
            <a:endParaRPr lang="en-US" sz="800" dirty="0"/>
          </a:p>
        </p:txBody>
      </p:sp>
      <p:pic>
        <p:nvPicPr>
          <p:cNvPr id="43" name="Image 2" descr="/tmp/h2p-fit-1791717450980-lho83j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2024" y="2204982"/>
            <a:ext cx="3663759" cy="4512058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8042024" y="6717041"/>
            <a:ext cx="3663759" cy="234250"/>
          </a:xfrm>
          <a:prstGeom prst="rect">
            <a:avLst/>
          </a:prstGeom>
          <a:solidFill>
            <a:srgbClr val="FAFA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0"/>
          <p:cNvSpPr/>
          <p:nvPr/>
        </p:nvSpPr>
        <p:spPr>
          <a:xfrm>
            <a:off x="8042024" y="6717041"/>
            <a:ext cx="3663759" cy="234250"/>
          </a:xfrm>
          <a:prstGeom prst="rect">
            <a:avLst/>
          </a:prstGeom>
          <a:noFill/>
          <a:ln/>
        </p:spPr>
        <p:txBody>
          <a:bodyPr wrap="square" lIns="95248" tIns="57149" rIns="95248" bIns="57149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1C191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Laporan Kegiatan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auto-generate untuk SKP, self-service semua role</a:t>
            </a:r>
            <a:endParaRPr lang="en-US" sz="800" dirty="0"/>
          </a:p>
        </p:txBody>
      </p:sp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38" y="7056063"/>
            <a:ext cx="11239219" cy="1287629"/>
          </a:xfrm>
          <a:prstGeom prst="rect">
            <a:avLst/>
          </a:prstGeom>
        </p:spPr>
      </p:pic>
      <p:sp>
        <p:nvSpPr>
          <p:cNvPr id="47" name="Shape 41"/>
          <p:cNvSpPr/>
          <p:nvPr/>
        </p:nvSpPr>
        <p:spPr>
          <a:xfrm>
            <a:off x="476238" y="7060825"/>
            <a:ext cx="11239219" cy="0"/>
          </a:xfrm>
          <a:prstGeom prst="line">
            <a:avLst/>
          </a:prstGeom>
          <a:noFill/>
          <a:ln w="9525">
            <a:solidFill>
              <a:srgbClr val="FEF3C7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11710695" y="7056063"/>
            <a:ext cx="0" cy="1287629"/>
          </a:xfrm>
          <a:prstGeom prst="line">
            <a:avLst/>
          </a:prstGeom>
          <a:noFill/>
          <a:ln w="9525">
            <a:solidFill>
              <a:srgbClr val="FEF3C7"/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476238" y="8338929"/>
            <a:ext cx="11239219" cy="0"/>
          </a:xfrm>
          <a:prstGeom prst="line">
            <a:avLst/>
          </a:prstGeom>
          <a:noFill/>
          <a:ln w="9525">
            <a:solidFill>
              <a:srgbClr val="FEF3C7"/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490525" y="7056063"/>
            <a:ext cx="0" cy="1287629"/>
          </a:xfrm>
          <a:prstGeom prst="line">
            <a:avLst/>
          </a:prstGeom>
          <a:noFill/>
          <a:ln w="28574">
            <a:solidFill>
              <a:srgbClr val="D97706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857229" y="7179884"/>
            <a:ext cx="3360009" cy="123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Manajemen Inventaris — Sarana Prasarana, Peminjaman, Distribusi</a:t>
            </a:r>
            <a:endParaRPr lang="en-US" sz="825" dirty="0"/>
          </a:p>
        </p:txBody>
      </p:sp>
      <p:sp>
        <p:nvSpPr>
          <p:cNvPr id="52" name="Text 46"/>
          <p:cNvSpPr/>
          <p:nvPr/>
        </p:nvSpPr>
        <p:spPr>
          <a:xfrm>
            <a:off x="638159" y="7160835"/>
            <a:ext cx="161921" cy="164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📦</a:t>
            </a:r>
            <a:endParaRPr lang="en-US" sz="1050" dirty="0"/>
          </a:p>
        </p:txBody>
      </p:sp>
      <p:sp>
        <p:nvSpPr>
          <p:cNvPr id="53" name="Text 47"/>
          <p:cNvSpPr/>
          <p:nvPr/>
        </p:nvSpPr>
        <p:spPr>
          <a:xfrm>
            <a:off x="638159" y="7351330"/>
            <a:ext cx="863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Sistem juga mengelola </a:t>
            </a:r>
            <a:pPr algn="l" indent="0" marL="0">
              <a:lnSpc>
                <a:spcPts val="1125"/>
              </a:lnSpc>
              <a:buNone/>
            </a:pPr>
            <a:r>
              <a:rPr lang="en-US" sz="800" b="1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Sarana Prasarana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(CRUD items dengan foto + QR), </a:t>
            </a:r>
            <a:pPr algn="l" indent="0" marL="0">
              <a:lnSpc>
                <a:spcPts val="1125"/>
              </a:lnSpc>
              <a:buNone/>
            </a:pPr>
            <a:r>
              <a:rPr lang="en-US" sz="800" b="1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Peminjaman Barang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(request → approval/reject → kembali, dengan webcam capture item + borrower photo), </a:t>
            </a:r>
            <a:pPr algn="l" indent="0" marL="0">
              <a:lnSpc>
                <a:spcPts val="1125"/>
              </a:lnSpc>
              <a:buNone/>
            </a:pPr>
            <a:r>
              <a:rPr lang="en-US" sz="800" b="1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Distribusi Barang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dan </a:t>
            </a:r>
            <a:pPr algn="l" indent="0" marL="0">
              <a:lnSpc>
                <a:spcPts val="1125"/>
              </a:lnSpc>
              <a:buNone/>
            </a:pPr>
            <a:r>
              <a:rPr lang="en-US" sz="800" b="1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History lengkap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57534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Export Excel/PDF rekap branded. Link: </a:t>
            </a:r>
            <a:pPr algn="l" indent="0" marL="0">
              <a:lnSpc>
                <a:spcPts val="1125"/>
              </a:lnSpc>
              <a:buNone/>
            </a:pPr>
            <a:r>
              <a:rPr lang="en-US" sz="800" b="1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app.pushakin-flows.workers.dev → Manajemen Inventaris</a:t>
            </a:r>
            <a:endParaRPr lang="en-US" sz="800" dirty="0"/>
          </a:p>
        </p:txBody>
      </p:sp>
      <p:sp>
        <p:nvSpPr>
          <p:cNvPr id="54" name="Text 48"/>
          <p:cNvSpPr/>
          <p:nvPr/>
        </p:nvSpPr>
        <p:spPr>
          <a:xfrm>
            <a:off x="642921" y="7718033"/>
            <a:ext cx="3597086" cy="224725"/>
          </a:xfrm>
          <a:prstGeom prst="roundRect">
            <a:avLst>
              <a:gd name="adj" fmla="val 16954"/>
            </a:avLst>
          </a:prstGeom>
          <a:solidFill>
            <a:srgbClr val="FFFFFF"/>
          </a:solidFill>
          <a:ln w="9525">
            <a:solidFill>
              <a:srgbClr val="FEF3C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49"/>
          <p:cNvSpPr/>
          <p:nvPr/>
        </p:nvSpPr>
        <p:spPr>
          <a:xfrm>
            <a:off x="638159" y="7713271"/>
            <a:ext cx="3606611" cy="299847"/>
          </a:xfrm>
          <a:prstGeom prst="rect">
            <a:avLst/>
          </a:prstGeom>
          <a:noFill/>
          <a:ln/>
        </p:spPr>
        <p:txBody>
          <a:bodyPr wrap="square" lIns="76198" tIns="47624" rIns="76198" bIns="47624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44403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📦 </a:t>
            </a:r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CRUD Sarana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kamera + QR code</a:t>
            </a:r>
            <a:endParaRPr lang="en-US" sz="800" dirty="0"/>
          </a:p>
        </p:txBody>
      </p:sp>
      <p:sp>
        <p:nvSpPr>
          <p:cNvPr id="56" name="Text 50"/>
          <p:cNvSpPr/>
          <p:nvPr/>
        </p:nvSpPr>
        <p:spPr>
          <a:xfrm>
            <a:off x="4306681" y="7718033"/>
            <a:ext cx="3597235" cy="224725"/>
          </a:xfrm>
          <a:prstGeom prst="roundRect">
            <a:avLst>
              <a:gd name="adj" fmla="val 16954"/>
            </a:avLst>
          </a:prstGeom>
          <a:solidFill>
            <a:srgbClr val="FFFFFF"/>
          </a:solidFill>
          <a:ln w="9525">
            <a:solidFill>
              <a:srgbClr val="FEF3C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1"/>
          <p:cNvSpPr/>
          <p:nvPr/>
        </p:nvSpPr>
        <p:spPr>
          <a:xfrm>
            <a:off x="4301918" y="7713271"/>
            <a:ext cx="3606759" cy="299847"/>
          </a:xfrm>
          <a:prstGeom prst="rect">
            <a:avLst/>
          </a:prstGeom>
          <a:noFill/>
          <a:ln/>
        </p:spPr>
        <p:txBody>
          <a:bodyPr wrap="square" lIns="76198" tIns="47624" rIns="76198" bIns="47624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44403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📥 </a:t>
            </a:r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Peminjaman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request → approval → kembali</a:t>
            </a:r>
            <a:endParaRPr lang="en-US" sz="800" dirty="0"/>
          </a:p>
        </p:txBody>
      </p:sp>
      <p:sp>
        <p:nvSpPr>
          <p:cNvPr id="58" name="Text 52"/>
          <p:cNvSpPr/>
          <p:nvPr/>
        </p:nvSpPr>
        <p:spPr>
          <a:xfrm>
            <a:off x="7970588" y="7718033"/>
            <a:ext cx="3597086" cy="224725"/>
          </a:xfrm>
          <a:prstGeom prst="roundRect">
            <a:avLst>
              <a:gd name="adj" fmla="val 16954"/>
            </a:avLst>
          </a:prstGeom>
          <a:solidFill>
            <a:srgbClr val="FFFFFF"/>
          </a:solidFill>
          <a:ln w="9525">
            <a:solidFill>
              <a:srgbClr val="FEF3C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3"/>
          <p:cNvSpPr/>
          <p:nvPr/>
        </p:nvSpPr>
        <p:spPr>
          <a:xfrm>
            <a:off x="7965826" y="7713271"/>
            <a:ext cx="3606611" cy="299847"/>
          </a:xfrm>
          <a:prstGeom prst="rect">
            <a:avLst/>
          </a:prstGeom>
          <a:noFill/>
          <a:ln/>
        </p:spPr>
        <p:txBody>
          <a:bodyPr wrap="square" lIns="76198" tIns="47624" rIns="76198" bIns="47624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44403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📸 </a:t>
            </a:r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Webcam Capture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foto item + peminjam</a:t>
            </a:r>
            <a:endParaRPr lang="en-US" sz="800" dirty="0"/>
          </a:p>
        </p:txBody>
      </p:sp>
      <p:sp>
        <p:nvSpPr>
          <p:cNvPr id="60" name="Text 54"/>
          <p:cNvSpPr/>
          <p:nvPr/>
        </p:nvSpPr>
        <p:spPr>
          <a:xfrm>
            <a:off x="642921" y="8009432"/>
            <a:ext cx="3597086" cy="224725"/>
          </a:xfrm>
          <a:prstGeom prst="roundRect">
            <a:avLst>
              <a:gd name="adj" fmla="val 16954"/>
            </a:avLst>
          </a:prstGeom>
          <a:solidFill>
            <a:srgbClr val="FFFFFF"/>
          </a:solidFill>
          <a:ln w="9525">
            <a:solidFill>
              <a:srgbClr val="FEF3C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5"/>
          <p:cNvSpPr/>
          <p:nvPr/>
        </p:nvSpPr>
        <p:spPr>
          <a:xfrm>
            <a:off x="638159" y="8004669"/>
            <a:ext cx="3606611" cy="234250"/>
          </a:xfrm>
          <a:prstGeom prst="rect">
            <a:avLst/>
          </a:prstGeom>
          <a:noFill/>
          <a:ln/>
        </p:spPr>
        <p:txBody>
          <a:bodyPr wrap="square" lIns="76198" tIns="47624" rIns="76198" bIns="47624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44403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📤 </a:t>
            </a:r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Distribusi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keluar/masuk barang</a:t>
            </a:r>
            <a:endParaRPr lang="en-US" sz="800" dirty="0"/>
          </a:p>
        </p:txBody>
      </p:sp>
      <p:sp>
        <p:nvSpPr>
          <p:cNvPr id="62" name="Text 56"/>
          <p:cNvSpPr/>
          <p:nvPr/>
        </p:nvSpPr>
        <p:spPr>
          <a:xfrm>
            <a:off x="4306681" y="8009432"/>
            <a:ext cx="3597235" cy="224725"/>
          </a:xfrm>
          <a:prstGeom prst="roundRect">
            <a:avLst>
              <a:gd name="adj" fmla="val 16954"/>
            </a:avLst>
          </a:prstGeom>
          <a:solidFill>
            <a:srgbClr val="FFFFFF"/>
          </a:solidFill>
          <a:ln w="9525">
            <a:solidFill>
              <a:srgbClr val="FEF3C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57"/>
          <p:cNvSpPr/>
          <p:nvPr/>
        </p:nvSpPr>
        <p:spPr>
          <a:xfrm>
            <a:off x="4301918" y="8004669"/>
            <a:ext cx="3606759" cy="234250"/>
          </a:xfrm>
          <a:prstGeom prst="rect">
            <a:avLst/>
          </a:prstGeom>
          <a:noFill/>
          <a:ln/>
        </p:spPr>
        <p:txBody>
          <a:bodyPr wrap="square" lIns="76198" tIns="47624" rIns="76198" bIns="47624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44403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📋 </a:t>
            </a:r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History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log semua transaksi</a:t>
            </a:r>
            <a:endParaRPr lang="en-US" sz="800" dirty="0"/>
          </a:p>
        </p:txBody>
      </p:sp>
      <p:sp>
        <p:nvSpPr>
          <p:cNvPr id="64" name="Text 58"/>
          <p:cNvSpPr/>
          <p:nvPr/>
        </p:nvSpPr>
        <p:spPr>
          <a:xfrm>
            <a:off x="7970588" y="8009432"/>
            <a:ext cx="3597086" cy="224725"/>
          </a:xfrm>
          <a:prstGeom prst="roundRect">
            <a:avLst>
              <a:gd name="adj" fmla="val 16954"/>
            </a:avLst>
          </a:prstGeom>
          <a:solidFill>
            <a:srgbClr val="FFFFFF"/>
          </a:solidFill>
          <a:ln w="9525">
            <a:solidFill>
              <a:srgbClr val="FEF3C7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59"/>
          <p:cNvSpPr/>
          <p:nvPr/>
        </p:nvSpPr>
        <p:spPr>
          <a:xfrm>
            <a:off x="7965826" y="8004669"/>
            <a:ext cx="3606611" cy="234250"/>
          </a:xfrm>
          <a:prstGeom prst="rect">
            <a:avLst/>
          </a:prstGeom>
          <a:noFill/>
          <a:ln/>
        </p:spPr>
        <p:txBody>
          <a:bodyPr wrap="square" lIns="76198" tIns="47624" rIns="76198" bIns="47624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44403C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📊 </a:t>
            </a:r>
            <a:pPr algn="l" indent="0" marL="0">
              <a:lnSpc>
                <a:spcPts val="945"/>
              </a:lnSpc>
              <a:buNone/>
            </a:pPr>
            <a:r>
              <a:rPr lang="en-US" sz="800" b="1" dirty="0">
                <a:solidFill>
                  <a:srgbClr val="D9770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Rekap Excel/PDF</a:t>
            </a:r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branded export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1695" cy="857228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476238" y="881040"/>
            <a:ext cx="11239219" cy="0"/>
          </a:xfrm>
          <a:prstGeom prst="line">
            <a:avLst/>
          </a:prstGeom>
          <a:noFill/>
          <a:ln w="19050">
            <a:solidFill>
              <a:srgbClr val="E7E5E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6238" y="304792"/>
            <a:ext cx="8636000" cy="1154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b="1" spc="187" kern="0" dirty="0">
                <a:solidFill>
                  <a:srgbClr val="6D28D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KESIMPULAN &amp; PENUTUP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76238" y="447664"/>
            <a:ext cx="8636000" cy="328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87"/>
              </a:lnSpc>
              <a:buNone/>
            </a:pPr>
            <a:r>
              <a:rPr lang="en-US" sz="2250" b="1" dirty="0">
                <a:solidFill>
                  <a:srgbClr val="1C1917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Pemenuhan 6 Indikator — 100% Bobot Terpenuhi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0801080" y="395278"/>
            <a:ext cx="914377" cy="1059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spc="101" kern="0" dirty="0">
                <a:solidFill>
                  <a:srgbClr val="78716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TOTAL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01080" y="528624"/>
            <a:ext cx="914377" cy="246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6238" y="1023912"/>
            <a:ext cx="11239219" cy="74293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783" y="1176308"/>
            <a:ext cx="4768125" cy="296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Pushakin Flows Memenuhi 6/6 Indikator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685783" y="1500150"/>
            <a:ext cx="4334660" cy="114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FFFFFF">
                    <a:alpha val="8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Ekosistem komunikasi publik inovatif, efektif, transparan, dan partisipatif</a:t>
            </a:r>
            <a:endParaRPr lang="en-US" sz="825" dirty="0"/>
          </a:p>
        </p:txBody>
      </p:sp>
      <p:sp>
        <p:nvSpPr>
          <p:cNvPr id="11" name="Text 8"/>
          <p:cNvSpPr/>
          <p:nvPr/>
        </p:nvSpPr>
        <p:spPr>
          <a:xfrm>
            <a:off x="9172003" y="1195358"/>
            <a:ext cx="919378" cy="277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59E0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6/6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9227580" y="1500150"/>
            <a:ext cx="808224" cy="114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spc="101" kern="0" dirty="0">
                <a:solidFill>
                  <a:srgbClr val="FFFFF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INDIKATOR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9933285" y="1195358"/>
            <a:ext cx="1142971" cy="2773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59E0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100%</a:t>
            </a:r>
            <a:endParaRPr lang="en-US" sz="2250" dirty="0"/>
          </a:p>
        </p:txBody>
      </p:sp>
      <p:sp>
        <p:nvSpPr>
          <p:cNvPr id="14" name="Text 11"/>
          <p:cNvSpPr/>
          <p:nvPr/>
        </p:nvSpPr>
        <p:spPr>
          <a:xfrm>
            <a:off x="9933285" y="1500150"/>
            <a:ext cx="1142971" cy="114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spc="101" kern="0" dirty="0">
                <a:solidFill>
                  <a:srgbClr val="FFFFF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BOBOT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0838698" y="1195358"/>
            <a:ext cx="669838" cy="27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59E0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4/4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10921671" y="1500150"/>
            <a:ext cx="584241" cy="1142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800" spc="101" kern="0" dirty="0">
                <a:solidFill>
                  <a:srgbClr val="FFFFF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TUJUAN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76238" y="1900190"/>
            <a:ext cx="6902300" cy="185161"/>
          </a:xfrm>
          <a:prstGeom prst="rect">
            <a:avLst/>
          </a:prstGeom>
          <a:noFill/>
          <a:ln/>
        </p:spPr>
        <p:txBody>
          <a:bodyPr wrap="square" lIns="0" tIns="0" rIns="0" bIns="38099" rtlCol="0" anchor="t"/>
          <a:lstStyle/>
          <a:p>
            <a:pPr algn="l" indent="0" marL="0">
              <a:buNone/>
            </a:pPr>
            <a:r>
              <a:rPr lang="en-US" sz="825" b="1" spc="165" kern="0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A. PEMENUHAN 6 INDIKATOR PENILAIAN</a:t>
            </a:r>
            <a:endParaRPr lang="en-US" sz="825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6238" y="2147834"/>
          <a:ext cx="5552936" cy="914400"/>
        </p:xfrm>
        <a:graphic>
          <a:graphicData uri="http://schemas.openxmlformats.org/drawingml/2006/table">
            <a:tbl>
              <a:tblPr/>
              <a:tblGrid>
                <a:gridCol w="414774"/>
                <a:gridCol w="1080912"/>
                <a:gridCol w="3354800"/>
                <a:gridCol w="70245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4C1D9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No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7624" marR="76198" marT="76198" marB="47624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4C1D9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Indikator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7624" marR="76198" marT="76198" marB="47624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4C1D9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Bukti Pemenuhan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7624" marR="76198" marT="76198" marB="47624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4C1D95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Bobot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7624" marR="76198" marT="76198" marB="47624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5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7624" marR="76198" marT="76198" marB="47624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Objektif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7624" marR="76198" marT="76198" marB="47624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3-lapis dokumentasi + Surat Tugas bernomor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7624" marR="76198" marT="76198" marB="47624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D28D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20%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7624" marR="76198" marT="76198" marB="47624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7624" marR="76198" marT="76198" marB="47624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Strategi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7624" marR="76198" marT="76198" marB="47624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5-tahap gating + 3 mode adaptif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7624" marR="76198" marT="76198" marB="47624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D28D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20%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7624" marR="76198" marT="76198" marB="47624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7624" marR="76198" marT="76198" marB="47624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Taktik/Saluran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7624" marR="76198" marT="76198" marB="47624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12+ channel (WA, email, tracker, LIHUM, 14 platform)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7624" marR="76198" marT="76198" marB="47624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D28D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10%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7624" marR="76198" marT="76198" marB="47624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4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7624" marR="76198" marT="76198" marB="47624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Key Messages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7624" marR="76198" marT="76198" marB="47624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5-lapis pesan + 3-trigger notifikasi otomatis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7624" marR="76198" marT="76198" marB="47624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D28D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15%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7624" marR="76198" marT="76198" marB="47624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5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7624" marR="76198" marT="76198" marB="47624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Eksekusi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7624" marR="76198" marT="76198" marB="47624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15 fitur kunci end-to-end + audit trail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7624" marR="76198" marT="76198" marB="47624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D28D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20%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7624" marR="76198" marT="76198" marB="47624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6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7624" marR="76198" marT="76198" marB="47624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Pengukuran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7624" marR="76198" marT="76198" marB="47624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44403C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5-section dashboard + auto-generate Laporan SKP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7624" marR="76198" marT="76198" marB="47624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6D28D9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15%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7624" marR="76198" marT="76198" marB="47624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 gridSpan="3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TOTAL BOBOT TERPENUHI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7624" marR="76198" marT="76198" marB="47624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59E0B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100%</a:t>
                      </a:r>
                      <a:endParaRPr lang="en-US" sz="800" dirty="0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7624" marR="76198" marT="76198" marB="47624" anchor="ctr">
                    <a:lnL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925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8D9"/>
                    </a:solidFill>
                  </a:tcPr>
                </a:tc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6162521" y="1900190"/>
            <a:ext cx="5662664" cy="185161"/>
          </a:xfrm>
          <a:prstGeom prst="rect">
            <a:avLst/>
          </a:prstGeom>
          <a:noFill/>
          <a:ln/>
        </p:spPr>
        <p:txBody>
          <a:bodyPr wrap="square" lIns="0" tIns="0" rIns="0" bIns="38099" rtlCol="0" anchor="t"/>
          <a:lstStyle/>
          <a:p>
            <a:pPr algn="l" indent="0" marL="0">
              <a:buNone/>
            </a:pPr>
            <a:r>
              <a:rPr lang="en-US" sz="825" b="1" spc="165" kern="0" dirty="0">
                <a:solidFill>
                  <a:srgbClr val="6D28D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B. PEMENUHAN 4 TUJUAN EKOSISTEM</a:t>
            </a:r>
            <a:endParaRPr lang="en-US" sz="825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2521" y="2147834"/>
            <a:ext cx="5552936" cy="590535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176808" y="2147834"/>
            <a:ext cx="0" cy="590535"/>
          </a:xfrm>
          <a:prstGeom prst="line">
            <a:avLst/>
          </a:prstGeom>
          <a:noFill/>
          <a:ln w="28574">
            <a:solidFill>
              <a:srgbClr val="059669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305392" y="2224032"/>
            <a:ext cx="5295768" cy="124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478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💡</a:t>
            </a:r>
            <a:pPr algn="l" indent="0" marL="0">
              <a:buNone/>
            </a:pPr>
            <a:r>
              <a:rPr lang="en-US" sz="825" b="1" dirty="0">
                <a:solidFill>
                  <a:srgbClr val="0478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INOVATIF</a:t>
            </a:r>
            <a:endParaRPr lang="en-US" sz="825" dirty="0"/>
          </a:p>
        </p:txBody>
      </p:sp>
      <p:sp>
        <p:nvSpPr>
          <p:cNvPr id="23" name="Text 18"/>
          <p:cNvSpPr/>
          <p:nvPr/>
        </p:nvSpPr>
        <p:spPr>
          <a:xfrm>
            <a:off x="6305392" y="2376428"/>
            <a:ext cx="5295768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 mode produksi, intra-stage dependency, 3 WA provider (gratis), public tracker 11 grid, LIHUM 1-click, </a:t>
            </a:r>
            <a:pPr algn="l" indent="0" marL="0">
              <a:lnSpc>
                <a:spcPts val="1125"/>
              </a:lnSpc>
              <a:buNone/>
            </a:pPr>
            <a:r>
              <a:rPr lang="en-US" sz="800" b="1" dirty="0">
                <a:solidFill>
                  <a:srgbClr val="4C1D9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active duration calculation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(adil per tahap — belum ada di workflow tool lain)</a:t>
            </a:r>
            <a:endParaRPr lang="en-US" sz="8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2521" y="2871716"/>
            <a:ext cx="5552936" cy="590535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6176808" y="2871716"/>
            <a:ext cx="0" cy="590535"/>
          </a:xfrm>
          <a:prstGeom prst="line">
            <a:avLst/>
          </a:prstGeom>
          <a:noFill/>
          <a:ln w="28574">
            <a:solidFill>
              <a:srgbClr val="059669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305392" y="2947914"/>
            <a:ext cx="5295768" cy="124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478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⚡ EFEKTIF</a:t>
            </a:r>
            <a:endParaRPr lang="en-US" sz="825" dirty="0"/>
          </a:p>
        </p:txBody>
      </p:sp>
      <p:sp>
        <p:nvSpPr>
          <p:cNvPr id="27" name="Text 21"/>
          <p:cNvSpPr/>
          <p:nvPr/>
        </p:nvSpPr>
        <p:spPr>
          <a:xfrm>
            <a:off x="6305392" y="3100310"/>
            <a:ext cx="5295768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253 proyek tracked, 793 task, 529 surat tugas, 1.361 notifikasi, </a:t>
            </a:r>
            <a:pPr algn="l" indent="0" marL="0">
              <a:lnSpc>
                <a:spcPts val="1125"/>
              </a:lnSpc>
              <a:buNone/>
            </a:pPr>
            <a:r>
              <a:rPr lang="en-US" sz="800" b="1" dirty="0">
                <a:solidFill>
                  <a:srgbClr val="4C1D9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 stuck permanen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Worker startup 26ms, bundle 500KB (vs 5MB sebelumnya)</a:t>
            </a:r>
            <a:endParaRPr lang="en-US" sz="8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2521" y="3595598"/>
            <a:ext cx="5552936" cy="447664"/>
          </a:xfrm>
          <a:prstGeom prst="rect">
            <a:avLst/>
          </a:prstGeom>
        </p:spPr>
      </p:pic>
      <p:sp>
        <p:nvSpPr>
          <p:cNvPr id="29" name="Shape 22"/>
          <p:cNvSpPr/>
          <p:nvPr/>
        </p:nvSpPr>
        <p:spPr>
          <a:xfrm>
            <a:off x="6176808" y="3595598"/>
            <a:ext cx="0" cy="447664"/>
          </a:xfrm>
          <a:prstGeom prst="line">
            <a:avLst/>
          </a:prstGeom>
          <a:noFill/>
          <a:ln w="28574">
            <a:solidFill>
              <a:srgbClr val="0284C7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6305392" y="3671796"/>
            <a:ext cx="5295768" cy="124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478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🔍</a:t>
            </a:r>
            <a:pPr algn="l" indent="0" marL="0">
              <a:buNone/>
            </a:pPr>
            <a:r>
              <a:rPr lang="en-US" sz="825" b="1" dirty="0">
                <a:solidFill>
                  <a:srgbClr val="0478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TRANSPARAN</a:t>
            </a:r>
            <a:endParaRPr lang="en-US" sz="825" dirty="0"/>
          </a:p>
        </p:txBody>
      </p:sp>
      <p:sp>
        <p:nvSpPr>
          <p:cNvPr id="31" name="Text 24"/>
          <p:cNvSpPr/>
          <p:nvPr/>
        </p:nvSpPr>
        <p:spPr>
          <a:xfrm>
            <a:off x="6305392" y="3824192"/>
            <a:ext cx="5295768" cy="1428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4C1D9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Public Tracker no-auth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(TV lobby), </a:t>
            </a:r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4C1D9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LIHUM gallery publik</a:t>
            </a:r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audit trail lengkap, statistik stuck rate &amp; completion rate terlihat</a:t>
            </a:r>
            <a:endParaRPr lang="en-US" sz="75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2521" y="4176608"/>
            <a:ext cx="5552936" cy="590535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6176808" y="4176608"/>
            <a:ext cx="0" cy="590535"/>
          </a:xfrm>
          <a:prstGeom prst="line">
            <a:avLst/>
          </a:prstGeom>
          <a:noFill/>
          <a:ln w="28574">
            <a:solidFill>
              <a:srgbClr val="D97706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6305392" y="4252806"/>
            <a:ext cx="5295768" cy="124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dirty="0">
                <a:solidFill>
                  <a:srgbClr val="04785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🤝</a:t>
            </a:r>
            <a:pPr algn="l" indent="0" marL="0">
              <a:buNone/>
            </a:pPr>
            <a:r>
              <a:rPr lang="en-US" sz="825" b="1" dirty="0">
                <a:solidFill>
                  <a:srgbClr val="04785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PARTISIPATIF</a:t>
            </a:r>
            <a:endParaRPr lang="en-US" sz="825" dirty="0"/>
          </a:p>
        </p:txBody>
      </p:sp>
      <p:sp>
        <p:nvSpPr>
          <p:cNvPr id="35" name="Text 27"/>
          <p:cNvSpPr/>
          <p:nvPr/>
        </p:nvSpPr>
        <p:spPr>
          <a:xfrm>
            <a:off x="6305392" y="4405202"/>
            <a:ext cx="5295768" cy="285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44403C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 role kontribusi, </a:t>
            </a:r>
            <a:pPr algn="l" indent="0" marL="0">
              <a:lnSpc>
                <a:spcPts val="1125"/>
              </a:lnSpc>
              <a:buNone/>
            </a:pPr>
            <a:r>
              <a:rPr lang="en-US" sz="800" b="1" dirty="0">
                <a:solidFill>
                  <a:srgbClr val="4C1D9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Relasi public form</a:t>
            </a:r>
            <a:pPr algn="l" indent="0" marL="0">
              <a:lnSpc>
                <a:spcPts val="1125"/>
              </a:lnSpc>
              <a:buNone/>
            </a:pPr>
            <a:r>
              <a:rPr lang="en-US" sz="800" dirty="0">
                <a:solidFill>
                  <a:srgbClr val="44403C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(mitra eksternal), self-service laporan semua role, Reviewer opt-in auto-approve, 3 WA budget tiers</a:t>
            </a:r>
            <a:endParaRPr lang="en-US" sz="800" dirty="0"/>
          </a:p>
        </p:txBody>
      </p:sp>
      <p:sp>
        <p:nvSpPr>
          <p:cNvPr id="36" name="Text 28"/>
          <p:cNvSpPr/>
          <p:nvPr/>
        </p:nvSpPr>
        <p:spPr>
          <a:xfrm>
            <a:off x="476238" y="7762681"/>
            <a:ext cx="11239219" cy="581010"/>
          </a:xfrm>
          <a:prstGeom prst="roundRect">
            <a:avLst>
              <a:gd name="adj" fmla="val 13115"/>
            </a:avLst>
          </a:prstGeom>
          <a:solidFill>
            <a:srgbClr val="1C191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29"/>
          <p:cNvSpPr/>
          <p:nvPr/>
        </p:nvSpPr>
        <p:spPr>
          <a:xfrm>
            <a:off x="647684" y="7896027"/>
            <a:ext cx="8636000" cy="182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"Mewujudkan ekosistem komunikasi publik yang inovatif, efektif, transparan, dan partisipatif."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647684" y="8105572"/>
            <a:ext cx="8636000" cy="104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spc="75" kern="0" dirty="0">
                <a:solidFill>
                  <a:srgbClr val="FFFFFF">
                    <a:alpha val="70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PUSAT HUBUNGAN MASYARAKAT • UIN ANTASARI BANJARMASIN •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2026-10-11T11:17:31Z</dcterms:created>
  <dcterms:modified xsi:type="dcterms:W3CDTF">2026-10-11T11:17:31Z</dcterms:modified>
</cp:coreProperties>
</file>