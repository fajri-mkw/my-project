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C2A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15125" y="-1428750"/>
            <a:ext cx="3714750" cy="3714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15125" y="-1428750"/>
            <a:ext cx="3714750" cy="3714750"/>
          </a:xfrm>
          <a:prstGeom prst="ellipse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57250" y="3286125"/>
            <a:ext cx="3000375" cy="30003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-857250" y="3286125"/>
            <a:ext cx="3000375" cy="3000375"/>
          </a:xfrm>
          <a:prstGeom prst="ellipse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203597" y="203597"/>
            <a:ext cx="8736806" cy="4736306"/>
          </a:xfrm>
          <a:prstGeom prst="roundRect">
            <a:avLst>
              <a:gd name="adj" fmla="val 1207"/>
            </a:avLst>
          </a:prstGeom>
          <a:noFill/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3"/>
          <p:cNvSpPr/>
          <p:nvPr/>
        </p:nvSpPr>
        <p:spPr>
          <a:xfrm>
            <a:off x="200025" y="207169"/>
            <a:ext cx="157163" cy="0"/>
          </a:xfrm>
          <a:prstGeom prst="line">
            <a:avLst/>
          </a:prstGeom>
          <a:noFill/>
          <a:ln w="14288">
            <a:solidFill>
              <a:srgbClr val="D4AF37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207169" y="200025"/>
            <a:ext cx="0" cy="157163"/>
          </a:xfrm>
          <a:prstGeom prst="line">
            <a:avLst/>
          </a:prstGeom>
          <a:noFill/>
          <a:ln w="14288">
            <a:solidFill>
              <a:srgbClr val="D4AF37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786813" y="207169"/>
            <a:ext cx="157163" cy="0"/>
          </a:xfrm>
          <a:prstGeom prst="line">
            <a:avLst/>
          </a:prstGeom>
          <a:noFill/>
          <a:ln w="14288">
            <a:solidFill>
              <a:srgbClr val="D4AF37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8936831" y="200025"/>
            <a:ext cx="0" cy="157163"/>
          </a:xfrm>
          <a:prstGeom prst="line">
            <a:avLst/>
          </a:prstGeom>
          <a:noFill/>
          <a:ln w="14288">
            <a:solidFill>
              <a:srgbClr val="D4AF37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200025" y="4936331"/>
            <a:ext cx="157163" cy="0"/>
          </a:xfrm>
          <a:prstGeom prst="line">
            <a:avLst/>
          </a:prstGeom>
          <a:noFill/>
          <a:ln w="14288">
            <a:solidFill>
              <a:srgbClr val="D4AF37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07169" y="4786313"/>
            <a:ext cx="0" cy="157163"/>
          </a:xfrm>
          <a:prstGeom prst="line">
            <a:avLst/>
          </a:prstGeom>
          <a:noFill/>
          <a:ln w="14288">
            <a:solidFill>
              <a:srgbClr val="D4AF37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936831" y="4786313"/>
            <a:ext cx="0" cy="157163"/>
          </a:xfrm>
          <a:prstGeom prst="line">
            <a:avLst/>
          </a:prstGeom>
          <a:noFill/>
          <a:ln w="14288">
            <a:solidFill>
              <a:srgbClr val="D4AF3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786813" y="4936331"/>
            <a:ext cx="157163" cy="0"/>
          </a:xfrm>
          <a:prstGeom prst="line">
            <a:avLst/>
          </a:prstGeom>
          <a:noFill/>
          <a:ln w="14288">
            <a:solidFill>
              <a:srgbClr val="D4AF3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214813" y="1197248"/>
            <a:ext cx="714375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🏆</a:t>
            </a:r>
            <a:endParaRPr lang="en-US" sz="4500" dirty="0"/>
          </a:p>
        </p:txBody>
      </p:sp>
      <p:sp>
        <p:nvSpPr>
          <p:cNvPr id="16" name="Text 12"/>
          <p:cNvSpPr/>
          <p:nvPr/>
        </p:nvSpPr>
        <p:spPr>
          <a:xfrm>
            <a:off x="274320" y="1883048"/>
            <a:ext cx="8595360" cy="407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70"/>
              </a:lnSpc>
              <a:buNone/>
            </a:pPr>
            <a:r>
              <a:rPr lang="en-US" sz="2700" b="1" spc="28" kern="0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Pushakin Flows</a:t>
            </a:r>
            <a:endParaRPr lang="en-US" sz="2700" dirty="0"/>
          </a:p>
        </p:txBody>
      </p:sp>
      <p:sp>
        <p:nvSpPr>
          <p:cNvPr id="17" name="Text 13"/>
          <p:cNvSpPr/>
          <p:nvPr/>
        </p:nvSpPr>
        <p:spPr>
          <a:xfrm>
            <a:off x="2573313" y="2417378"/>
            <a:ext cx="3997375" cy="200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38" dirty="0">
                <a:solidFill>
                  <a:srgbClr val="D4AF3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Sistem Manajemen Produksi Kehumasan Terintegrasi</a:t>
            </a:r>
            <a:endParaRPr lang="en-US" sz="1238" dirty="0"/>
          </a:p>
        </p:txBody>
      </p:sp>
      <p:sp>
        <p:nvSpPr>
          <p:cNvPr id="18" name="Text 14"/>
          <p:cNvSpPr/>
          <p:nvPr/>
        </p:nvSpPr>
        <p:spPr>
          <a:xfrm>
            <a:off x="3857625" y="2946016"/>
            <a:ext cx="1428750" cy="14288"/>
          </a:xfrm>
          <a:prstGeom prst="rect">
            <a:avLst/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3212120" y="3103178"/>
            <a:ext cx="2719648" cy="138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Penghargaan Pengelolaan Komunikasi Publik Inovatif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3608201" y="3274628"/>
            <a:ext cx="1927486" cy="1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8" dirty="0">
                <a:solidFill>
                  <a:srgbClr val="FFFFFF">
                    <a:alpha val="70000"/>
                  </a:srgbClr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Kementerian Agama Republik Indonesia</a:t>
            </a:r>
            <a:endParaRPr lang="en-US" sz="788" dirty="0"/>
          </a:p>
        </p:txBody>
      </p:sp>
      <p:sp>
        <p:nvSpPr>
          <p:cNvPr id="21" name="Text 17"/>
          <p:cNvSpPr/>
          <p:nvPr/>
        </p:nvSpPr>
        <p:spPr>
          <a:xfrm>
            <a:off x="3037991" y="3674678"/>
            <a:ext cx="3067906" cy="129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F3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Pusat Hubungan Masyarakat dan Keterbukaan Informasi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3749370" y="3831841"/>
            <a:ext cx="1645036" cy="1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8" dirty="0">
                <a:solidFill>
                  <a:srgbClr val="FFFFFF">
                    <a:alpha val="8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UIN Antasari Banjarmasin — 2026</a:t>
            </a:r>
            <a:endParaRPr lang="en-US" sz="788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228600"/>
            <a:ext cx="4560570" cy="2668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800" b="1" dirty="0">
                <a:solidFill>
                  <a:srgbClr val="4C2A8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Pushakin Flows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42900" y="522833"/>
            <a:ext cx="4690872" cy="138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Sistem Manajemen Komunikasi Publik Inovatif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42900" y="780008"/>
            <a:ext cx="4343400" cy="1564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103"/>
              </a:lnSpc>
              <a:spcAft>
                <a:spcPts val="563"/>
              </a:spcAft>
              <a:buSzPct val="100000"/>
              <a:buChar char="•"/>
            </a:pPr>
            <a:r>
              <a:rPr lang="en-US" sz="800" dirty="0">
                <a:solidFill>
                  <a:srgbClr val="1C191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✓Platform end-to-end produksi konten kehumasan</a:t>
            </a:r>
            <a:endParaRPr lang="en-US" sz="800" dirty="0"/>
          </a:p>
          <a:p>
            <a:pPr algn="l" marL="342900" indent="-342900">
              <a:lnSpc>
                <a:spcPts val="1103"/>
              </a:lnSpc>
              <a:spcAft>
                <a:spcPts val="563"/>
              </a:spcAft>
              <a:buSzPct val="100000"/>
              <a:buChar char="•"/>
            </a:pPr>
            <a:r>
              <a:rPr lang="en-US" sz="800" dirty="0">
                <a:solidFill>
                  <a:srgbClr val="1C191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✓5 Tahap Workflow: Perencanaan → Produksi → Pasca → Review → Publikasi</a:t>
            </a:r>
            <a:endParaRPr lang="en-US" sz="800" dirty="0"/>
          </a:p>
          <a:p>
            <a:pPr algn="l" marL="342900" indent="-342900">
              <a:lnSpc>
                <a:spcPts val="1103"/>
              </a:lnSpc>
              <a:spcAft>
                <a:spcPts val="563"/>
              </a:spcAft>
              <a:buSzPct val="100000"/>
              <a:buChar char="•"/>
            </a:pPr>
            <a:r>
              <a:rPr lang="en-US" sz="800" dirty="0">
                <a:solidFill>
                  <a:srgbClr val="1C191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✓16 Role dengan tugas spesifik per tahap</a:t>
            </a:r>
            <a:endParaRPr lang="en-US" sz="800" dirty="0"/>
          </a:p>
          <a:p>
            <a:pPr algn="l" marL="342900" indent="-342900">
              <a:lnSpc>
                <a:spcPts val="1103"/>
              </a:lnSpc>
              <a:spcAft>
                <a:spcPts val="563"/>
              </a:spcAft>
              <a:buSzPct val="100000"/>
              <a:buChar char="•"/>
            </a:pPr>
            <a:r>
              <a:rPr lang="en-US" sz="800" dirty="0">
                <a:solidFill>
                  <a:srgbClr val="1C191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✓Integrasi Google Drive untuk file management</a:t>
            </a:r>
            <a:endParaRPr lang="en-US" sz="800" dirty="0"/>
          </a:p>
          <a:p>
            <a:pPr algn="l" marL="342900" indent="-342900">
              <a:lnSpc>
                <a:spcPts val="1103"/>
              </a:lnSpc>
              <a:spcAft>
                <a:spcPts val="563"/>
              </a:spcAft>
              <a:buSzPct val="100000"/>
              <a:buChar char="•"/>
            </a:pPr>
            <a:r>
              <a:rPr lang="en-US" sz="800" dirty="0">
                <a:solidFill>
                  <a:srgbClr val="1C191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✓Integrasi LIHUM untuk galeri publik</a:t>
            </a:r>
            <a:endParaRPr lang="en-US" sz="800" dirty="0"/>
          </a:p>
          <a:p>
            <a:pPr algn="l" marL="342900" indent="-342900">
              <a:lnSpc>
                <a:spcPts val="1103"/>
              </a:lnSpc>
              <a:spcAft>
                <a:spcPts val="563"/>
              </a:spcAft>
              <a:buSzPct val="100000"/>
              <a:buChar char="•"/>
            </a:pPr>
            <a:r>
              <a:rPr lang="en-US" sz="800" dirty="0">
                <a:solidFill>
                  <a:srgbClr val="1C191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✓4 Modul terintegrasi: Surat, Kegiatan, Konten, Inventaris</a:t>
            </a:r>
            <a:endParaRPr lang="en-US" sz="800" dirty="0"/>
          </a:p>
          <a:p>
            <a:pPr algn="l" marL="342900" indent="-342900">
              <a:lnSpc>
                <a:spcPts val="1103"/>
              </a:lnSpc>
              <a:spcAft>
                <a:spcPts val="563"/>
              </a:spcAft>
              <a:buSzPct val="100000"/>
              <a:buChar char="•"/>
            </a:pPr>
            <a:r>
              <a:rPr lang="en-US" sz="800" dirty="0">
                <a:solidFill>
                  <a:srgbClr val="1C191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✓Laporan SKP per petugas (PDF/Excel) untuk bukti kinerja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42900" y="4657725"/>
            <a:ext cx="2083854" cy="257175"/>
          </a:xfrm>
          <a:prstGeom prst="roundRect">
            <a:avLst>
              <a:gd name="adj" fmla="val 3700000"/>
            </a:avLst>
          </a:prstGeom>
          <a:solidFill>
            <a:srgbClr val="D4AF37"/>
          </a:solidFill>
          <a:ln/>
          <a:effectLst>
            <a:outerShdw sx="100000" sy="100000" kx="0" ky="0" algn="bl" rotWithShape="0" blurRad="114300" dist="38100" dir="5400000">
              <a:srgbClr val="D4AF37">
                <a:alpha val="3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42900" y="4657725"/>
            <a:ext cx="2083854" cy="282158"/>
          </a:xfrm>
          <a:prstGeom prst="rect">
            <a:avLst/>
          </a:prstGeom>
          <a:noFill/>
          <a:ln/>
        </p:spPr>
        <p:txBody>
          <a:bodyPr wrap="square" lIns="128588" tIns="71438" rIns="128588" bIns="71438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D1A5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6 Indikator Penilaian Terpenuhi (100%)</a:t>
            </a:r>
            <a:endParaRPr lang="en-US" sz="800" dirty="0"/>
          </a:p>
        </p:txBody>
      </p:sp>
      <p:pic>
        <p:nvPicPr>
          <p:cNvPr id="7" name="Image 0" descr="/tmp/h2p-fit-1791073091618-dgvhy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433215"/>
            <a:ext cx="3771900" cy="213419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151104" y="3624560"/>
            <a:ext cx="1527981" cy="119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19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app.pushakin-flows.workers.dev</a:t>
            </a:r>
            <a:endParaRPr lang="en-US" sz="619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4C2A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42900" y="114300"/>
            <a:ext cx="342900" cy="342900"/>
          </a:xfrm>
          <a:prstGeom prst="ellipse">
            <a:avLst/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42900" y="114300"/>
            <a:ext cx="4000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20%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00100" y="171450"/>
            <a:ext cx="8001000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Objektif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8515350" y="171450"/>
            <a:ext cx="2857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🎯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42900" y="771525"/>
            <a:ext cx="8636000" cy="1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C191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Alur 3 Lapis Dokumentasi Objektif Komunikasi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46472" y="1017984"/>
            <a:ext cx="2716969" cy="3893344"/>
          </a:xfrm>
          <a:prstGeom prst="roundRect">
            <a:avLst>
              <a:gd name="adj" fmla="val 4207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  <a:effectLst>
            <a:outerShdw sx="100000" sy="100000" kx="0" ky="0" algn="bl" rotWithShape="0" blurRad="57150" dist="19050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78631" y="1150144"/>
            <a:ext cx="200025" cy="200025"/>
          </a:xfrm>
          <a:prstGeom prst="ellipse">
            <a:avLst/>
          </a:prstGeom>
          <a:solidFill>
            <a:srgbClr val="4C2A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78631" y="1150144"/>
            <a:ext cx="23574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50094" y="1181621"/>
            <a:ext cx="2181188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1C191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Surat / Permohonan Masuk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8631" y="1421606"/>
            <a:ext cx="2452650" cy="493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D4AF3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Manajemen Surat: terima surat masuk</a:t>
            </a:r>
            <a:endParaRPr lang="en-US" sz="800" dirty="0"/>
          </a:p>
          <a:p>
            <a:pPr algn="l" indent="0" marL="0">
              <a:lnSpc>
                <a:spcPts val="945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D4AF3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Field: pengirim, perihal, deskripsi</a:t>
            </a:r>
            <a:endParaRPr lang="en-US" sz="800" dirty="0"/>
          </a:p>
          <a:p>
            <a:pPr algn="l" indent="0" marL="0">
              <a:lnSpc>
                <a:spcPts val="945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D4AF3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Kategori: Permohonan, Undangan, dll</a:t>
            </a:r>
            <a:endParaRPr lang="en-US" sz="800" dirty="0"/>
          </a:p>
        </p:txBody>
      </p:sp>
      <p:pic>
        <p:nvPicPr>
          <p:cNvPr id="13" name="Image 0" descr="/tmp/h2p-fit-1791073091635-q1rg8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8631" y="3764756"/>
            <a:ext cx="2452650" cy="8572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78631" y="4693444"/>
            <a:ext cx="245265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Menu Manajemen Surat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213460" y="1017984"/>
            <a:ext cx="2717081" cy="3893344"/>
          </a:xfrm>
          <a:prstGeom prst="roundRect">
            <a:avLst>
              <a:gd name="adj" fmla="val 4207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  <a:effectLst>
            <a:outerShdw sx="100000" sy="100000" kx="0" ky="0" algn="bl" rotWithShape="0" blurRad="57150" dist="19050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3345619" y="1150144"/>
            <a:ext cx="200025" cy="200025"/>
          </a:xfrm>
          <a:prstGeom prst="ellipse">
            <a:avLst/>
          </a:prstGeom>
          <a:solidFill>
            <a:srgbClr val="4C2A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3345619" y="1150144"/>
            <a:ext cx="23574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3617082" y="1181621"/>
            <a:ext cx="2181299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1C191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Program Kegiatan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345619" y="1421606"/>
            <a:ext cx="2452762" cy="493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D4AF3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Nomor kegiatan + perihal + deskripsi</a:t>
            </a:r>
            <a:endParaRPr lang="en-US" sz="800" dirty="0"/>
          </a:p>
          <a:p>
            <a:pPr algn="l" indent="0" marL="0">
              <a:lnSpc>
                <a:spcPts val="945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D4AF3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Field: penyelenggara, jenis, kategori</a:t>
            </a:r>
            <a:endParaRPr lang="en-US" sz="800" dirty="0"/>
          </a:p>
          <a:p>
            <a:pPr algn="l" indent="0" marL="0">
              <a:lnSpc>
                <a:spcPts val="945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D4AF3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Dokumentasi terstruktur per kegiatan</a:t>
            </a:r>
            <a:endParaRPr lang="en-US" sz="800" dirty="0"/>
          </a:p>
        </p:txBody>
      </p:sp>
      <p:pic>
        <p:nvPicPr>
          <p:cNvPr id="20" name="Image 1" descr="/tmp/h2p-fit-1791073091635-587vj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5619" y="3764756"/>
            <a:ext cx="2452762" cy="85725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345619" y="4693444"/>
            <a:ext cx="2452762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Menu Program Kegiatan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6080559" y="1017984"/>
            <a:ext cx="2716969" cy="3893344"/>
          </a:xfrm>
          <a:prstGeom prst="roundRect">
            <a:avLst>
              <a:gd name="adj" fmla="val 4207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  <a:effectLst>
            <a:outerShdw sx="100000" sy="100000" kx="0" ky="0" algn="bl" rotWithShape="0" blurRad="57150" dist="19050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6212718" y="1150144"/>
            <a:ext cx="200025" cy="200025"/>
          </a:xfrm>
          <a:prstGeom prst="ellipse">
            <a:avLst/>
          </a:prstGeom>
          <a:solidFill>
            <a:srgbClr val="4C2A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6212718" y="1150144"/>
            <a:ext cx="23574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6484181" y="1181621"/>
            <a:ext cx="2181188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1C191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Inisiasi Proyek + Surat Tugas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12718" y="1421606"/>
            <a:ext cx="2452650" cy="493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D4AF3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Form Buat Proyek: activityTypes, outputNeeds</a:t>
            </a:r>
            <a:endParaRPr lang="en-US" sz="800" dirty="0"/>
          </a:p>
          <a:p>
            <a:pPr algn="l" indent="0" marL="0">
              <a:lnSpc>
                <a:spcPts val="945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D4AF3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Surat Tugas otomatis per petugas</a:t>
            </a:r>
            <a:endParaRPr lang="en-US" sz="800" dirty="0"/>
          </a:p>
          <a:p>
            <a:pPr algn="l" indent="0" marL="0">
              <a:lnSpc>
                <a:spcPts val="945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D4AF3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Nomor surat resmi = formalitas objektif</a:t>
            </a:r>
            <a:endParaRPr lang="en-US" sz="800" dirty="0"/>
          </a:p>
        </p:txBody>
      </p:sp>
      <p:pic>
        <p:nvPicPr>
          <p:cNvPr id="27" name="Image 2" descr="/tmp/h2p-fit-1791073091635-ie7pl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2718" y="3764756"/>
            <a:ext cx="2452650" cy="85725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212718" y="4693444"/>
            <a:ext cx="245265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Menu Buat Proyek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4C2A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42900" y="114300"/>
            <a:ext cx="342900" cy="342900"/>
          </a:xfrm>
          <a:prstGeom prst="ellipse">
            <a:avLst/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42900" y="114300"/>
            <a:ext cx="4000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20%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00100" y="171450"/>
            <a:ext cx="8001000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Strategi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8515350" y="171450"/>
            <a:ext cx="2857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46472" y="803672"/>
            <a:ext cx="2736056" cy="1578769"/>
          </a:xfrm>
          <a:prstGeom prst="roundRect">
            <a:avLst>
              <a:gd name="adj" fmla="val 6033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  <a:effectLst>
            <a:outerShdw sx="100000" sy="100000" kx="0" ky="0" algn="bl" rotWithShape="0" blurRad="57150" dist="19050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64344" y="921544"/>
            <a:ext cx="25003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👥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64344" y="1135856"/>
            <a:ext cx="2610041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Pemilihan Petugas per Role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64344" y="1298711"/>
            <a:ext cx="2500313" cy="3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Manager pilih 16 role spesifik. Setiap role punya tahap &amp; tugas berbeda.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203972" y="803672"/>
            <a:ext cx="2736056" cy="1578769"/>
          </a:xfrm>
          <a:prstGeom prst="roundRect">
            <a:avLst>
              <a:gd name="adj" fmla="val 6033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  <a:effectLst>
            <a:outerShdw sx="100000" sy="100000" kx="0" ky="0" algn="bl" rotWithShape="0" blurRad="57150" dist="19050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321844" y="921544"/>
            <a:ext cx="25003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321844" y="1135856"/>
            <a:ext cx="2610041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Fast Track &amp; Fast Production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321844" y="1298711"/>
            <a:ext cx="2500313" cy="3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Mode respons cepat untuk kegiatan mendesak. Skip tahap yang tidak perlu.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061472" y="803672"/>
            <a:ext cx="2736056" cy="1578769"/>
          </a:xfrm>
          <a:prstGeom prst="roundRect">
            <a:avLst>
              <a:gd name="adj" fmla="val 6033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  <a:effectLst>
            <a:outerShdw sx="100000" sy="100000" kx="0" ky="0" algn="bl" rotWithShape="0" blurRad="57150" dist="19050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179344" y="921544"/>
            <a:ext cx="25003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📅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179344" y="1135856"/>
            <a:ext cx="2500313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Deteksi Konflik Jadwal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179344" y="1298711"/>
            <a:ext cx="2500313" cy="158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1C191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Cek petugas bentrok jadwal (±3 jam). Warning + konfirmasi override.</a:t>
            </a:r>
            <a:endParaRPr lang="en-US" sz="619" dirty="0"/>
          </a:p>
        </p:txBody>
      </p:sp>
      <p:sp>
        <p:nvSpPr>
          <p:cNvPr id="19" name="Text 17"/>
          <p:cNvSpPr/>
          <p:nvPr/>
        </p:nvSpPr>
        <p:spPr>
          <a:xfrm>
            <a:off x="346472" y="2503884"/>
            <a:ext cx="4164806" cy="1578769"/>
          </a:xfrm>
          <a:prstGeom prst="roundRect">
            <a:avLst>
              <a:gd name="adj" fmla="val 6033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  <a:effectLst>
            <a:outerShdw sx="100000" sy="100000" kx="0" ky="0" algn="bl" rotWithShape="0" blurRad="57150" dist="19050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64344" y="2621756"/>
            <a:ext cx="392906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📦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64344" y="2836069"/>
            <a:ext cx="3929063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Manajemen Inventaris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64344" y="2998924"/>
            <a:ext cx="3929063" cy="158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1C191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Peminjaman &amp; pembagian barang. Stok tracking real-time untuk dukungan kegiatan.</a:t>
            </a:r>
            <a:endParaRPr lang="en-US" sz="619" dirty="0"/>
          </a:p>
        </p:txBody>
      </p:sp>
      <p:sp>
        <p:nvSpPr>
          <p:cNvPr id="23" name="Text 21"/>
          <p:cNvSpPr/>
          <p:nvPr/>
        </p:nvSpPr>
        <p:spPr>
          <a:xfrm>
            <a:off x="4632722" y="2503884"/>
            <a:ext cx="4164806" cy="1578769"/>
          </a:xfrm>
          <a:prstGeom prst="roundRect">
            <a:avLst>
              <a:gd name="adj" fmla="val 6033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  <a:effectLst>
            <a:outerShdw sx="100000" sy="100000" kx="0" ky="0" algn="bl" rotWithShape="0" blurRad="57150" dist="19050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750594" y="2621756"/>
            <a:ext cx="392906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💬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750594" y="2836069"/>
            <a:ext cx="3929063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Koordinasi via WhatsApp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750594" y="2998924"/>
            <a:ext cx="3929063" cy="158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Reminder WA dengan progress per petugas: belum 3 dari 5.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46472" y="4204097"/>
            <a:ext cx="8451056" cy="707231"/>
          </a:xfrm>
          <a:prstGeom prst="roundRect">
            <a:avLst>
              <a:gd name="adj" fmla="val 13468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8" name="Image 0" descr="/tmp/h2p-fit-1791073092140-ait3l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344" y="4257675"/>
            <a:ext cx="1428750" cy="600075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802225" y="4507706"/>
            <a:ext cx="5539550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Statistik &amp; Progress → Salin Reminder WA</a:t>
            </a:r>
            <a:endParaRPr lang="en-US" sz="800" dirty="0"/>
          </a:p>
        </p:txBody>
      </p:sp>
      <p:pic>
        <p:nvPicPr>
          <p:cNvPr id="30" name="Image 1" descr="/tmp/h2p-fit-1791073092140-dle2a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906" y="4257675"/>
            <a:ext cx="1428750" cy="6000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42925"/>
          </a:xfrm>
          <a:prstGeom prst="rect">
            <a:avLst/>
          </a:prstGeom>
          <a:solidFill>
            <a:srgbClr val="4C2A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42900" y="100013"/>
            <a:ext cx="342900" cy="342900"/>
          </a:xfrm>
          <a:prstGeom prst="ellipse">
            <a:avLst/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42900" y="100013"/>
            <a:ext cx="4000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10%</a:t>
            </a:r>
            <a:endParaRPr lang="en-US" sz="1013" dirty="0"/>
          </a:p>
        </p:txBody>
      </p:sp>
      <p:sp>
        <p:nvSpPr>
          <p:cNvPr id="5" name="Text 3"/>
          <p:cNvSpPr/>
          <p:nvPr/>
        </p:nvSpPr>
        <p:spPr>
          <a:xfrm>
            <a:off x="800100" y="164306"/>
            <a:ext cx="7693819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63" b="1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Taktik &amp; Saluran</a:t>
            </a:r>
            <a:endParaRPr lang="en-US" sz="1463" dirty="0"/>
          </a:p>
        </p:txBody>
      </p:sp>
      <p:sp>
        <p:nvSpPr>
          <p:cNvPr id="6" name="Text 4"/>
          <p:cNvSpPr/>
          <p:nvPr/>
        </p:nvSpPr>
        <p:spPr>
          <a:xfrm>
            <a:off x="8551069" y="153591"/>
            <a:ext cx="250031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75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📡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0" y="700088"/>
            <a:ext cx="8636000" cy="4011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D4AF3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14+</a:t>
            </a:r>
            <a:endParaRPr lang="en-US" sz="3150" dirty="0"/>
          </a:p>
        </p:txBody>
      </p:sp>
      <p:sp>
        <p:nvSpPr>
          <p:cNvPr id="8" name="Text 6"/>
          <p:cNvSpPr/>
          <p:nvPr/>
        </p:nvSpPr>
        <p:spPr>
          <a:xfrm>
            <a:off x="4572" y="1128713"/>
            <a:ext cx="8636000" cy="138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Saluran Publikasi Terintegrasi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46472" y="1389459"/>
            <a:ext cx="3164681" cy="1771650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78631" y="1646634"/>
            <a:ext cx="2900363" cy="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8631" y="1493044"/>
            <a:ext cx="2900363" cy="186881"/>
          </a:xfrm>
          <a:prstGeom prst="rect">
            <a:avLst/>
          </a:prstGeom>
          <a:noFill/>
          <a:ln/>
        </p:spPr>
        <p:txBody>
          <a:bodyPr wrap="none" lIns="0" tIns="0" rIns="0" bIns="42863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28" kern="0" dirty="0">
                <a:solidFill>
                  <a:srgbClr val="4C2A8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SALURAN DIGITAL SOSIAL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75906" y="1750219"/>
            <a:ext cx="841207" cy="122587"/>
          </a:xfrm>
          <a:prstGeom prst="rect">
            <a:avLst/>
          </a:prstGeom>
          <a:noFill/>
          <a:ln/>
        </p:spPr>
        <p:txBody>
          <a:bodyPr wrap="none" lIns="0" tIns="28575" rIns="0" bIns="28575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C191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Website Resmi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78631" y="1735931"/>
            <a:ext cx="157163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🌐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8213" y="1943100"/>
            <a:ext cx="608625" cy="122587"/>
          </a:xfrm>
          <a:prstGeom prst="rect">
            <a:avLst/>
          </a:prstGeom>
          <a:noFill/>
          <a:ln/>
        </p:spPr>
        <p:txBody>
          <a:bodyPr wrap="none" lIns="0" tIns="28575" rIns="0" bIns="28575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C191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Instagram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78631" y="1928813"/>
            <a:ext cx="157163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📱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07231" y="2135981"/>
            <a:ext cx="583245" cy="122587"/>
          </a:xfrm>
          <a:prstGeom prst="rect">
            <a:avLst/>
          </a:prstGeom>
          <a:noFill/>
          <a:ln/>
        </p:spPr>
        <p:txBody>
          <a:bodyPr wrap="none" lIns="0" tIns="28575" rIns="0" bIns="28575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C191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Facebook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78631" y="2121694"/>
            <a:ext cx="157163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📘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54797" y="2328863"/>
            <a:ext cx="620976" cy="122587"/>
          </a:xfrm>
          <a:prstGeom prst="rect">
            <a:avLst/>
          </a:prstGeom>
          <a:noFill/>
          <a:ln/>
        </p:spPr>
        <p:txBody>
          <a:bodyPr wrap="none" lIns="0" tIns="28575" rIns="0" bIns="28575" rtlCol="0" anchor="t">
            <a:normAutofit/>
          </a:bodyPr>
          <a:lstStyle/>
          <a:p>
            <a:pPr algn="l" indent="0" marL="0">
              <a:buNone/>
            </a:pPr>
            <a:r>
              <a:rPr lang="en-US" sz="731" dirty="0">
                <a:solidFill>
                  <a:srgbClr val="1C191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Twitter / X</a:t>
            </a:r>
            <a:endParaRPr lang="en-US" sz="731" dirty="0"/>
          </a:p>
        </p:txBody>
      </p:sp>
      <p:sp>
        <p:nvSpPr>
          <p:cNvPr id="19" name="Text 17"/>
          <p:cNvSpPr/>
          <p:nvPr/>
        </p:nvSpPr>
        <p:spPr>
          <a:xfrm>
            <a:off x="478631" y="2314575"/>
            <a:ext cx="157163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🐦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07231" y="2521744"/>
            <a:ext cx="521951" cy="122587"/>
          </a:xfrm>
          <a:prstGeom prst="rect">
            <a:avLst/>
          </a:prstGeom>
          <a:noFill/>
          <a:ln/>
        </p:spPr>
        <p:txBody>
          <a:bodyPr wrap="none" lIns="0" tIns="28575" rIns="0" bIns="28575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C191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YouTube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78631" y="2507456"/>
            <a:ext cx="157163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▶️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79824" y="2714625"/>
            <a:ext cx="433588" cy="122587"/>
          </a:xfrm>
          <a:prstGeom prst="rect">
            <a:avLst/>
          </a:prstGeom>
          <a:noFill/>
          <a:ln/>
        </p:spPr>
        <p:txBody>
          <a:bodyPr wrap="none" lIns="0" tIns="28575" rIns="0" bIns="28575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C191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TikTok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78631" y="2700338"/>
            <a:ext cx="157163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🎵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9175" y="2907506"/>
            <a:ext cx="558272" cy="126609"/>
          </a:xfrm>
          <a:prstGeom prst="rect">
            <a:avLst/>
          </a:prstGeom>
          <a:noFill/>
          <a:ln/>
        </p:spPr>
        <p:txBody>
          <a:bodyPr wrap="none" lIns="0" tIns="28575" rIns="0" bIns="28575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C191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LinkedIn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78631" y="2893219"/>
            <a:ext cx="157163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💼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18322" y="1389459"/>
            <a:ext cx="3164681" cy="1771650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3850481" y="1646634"/>
            <a:ext cx="2900363" cy="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50481" y="1493044"/>
            <a:ext cx="2900363" cy="186881"/>
          </a:xfrm>
          <a:prstGeom prst="rect">
            <a:avLst/>
          </a:prstGeom>
          <a:noFill/>
          <a:ln/>
        </p:spPr>
        <p:txBody>
          <a:bodyPr wrap="none" lIns="0" tIns="0" rIns="0" bIns="42863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28" kern="0" dirty="0">
                <a:solidFill>
                  <a:srgbClr val="4C2A8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SALURAN LAIN &amp; GALERI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046668" y="1750219"/>
            <a:ext cx="613305" cy="122587"/>
          </a:xfrm>
          <a:prstGeom prst="rect">
            <a:avLst/>
          </a:prstGeom>
          <a:noFill/>
          <a:ln/>
        </p:spPr>
        <p:txBody>
          <a:bodyPr wrap="none" lIns="0" tIns="28575" rIns="0" bIns="28575" rtlCol="0" anchor="t">
            <a:normAutofit/>
          </a:bodyPr>
          <a:lstStyle/>
          <a:p>
            <a:pPr algn="l" indent="0" marL="0">
              <a:buNone/>
            </a:pPr>
            <a:r>
              <a:rPr lang="en-US" sz="731" dirty="0">
                <a:solidFill>
                  <a:srgbClr val="1C191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Newsletter</a:t>
            </a:r>
            <a:endParaRPr lang="en-US" sz="731" dirty="0"/>
          </a:p>
        </p:txBody>
      </p:sp>
      <p:sp>
        <p:nvSpPr>
          <p:cNvPr id="30" name="Text 28"/>
          <p:cNvSpPr/>
          <p:nvPr/>
        </p:nvSpPr>
        <p:spPr>
          <a:xfrm>
            <a:off x="3850481" y="1735931"/>
            <a:ext cx="157163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📧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014069" y="1943100"/>
            <a:ext cx="768916" cy="122587"/>
          </a:xfrm>
          <a:prstGeom prst="rect">
            <a:avLst/>
          </a:prstGeom>
          <a:noFill/>
          <a:ln/>
        </p:spPr>
        <p:txBody>
          <a:bodyPr wrap="none" lIns="0" tIns="28575" rIns="0" bIns="28575" rtlCol="0" anchor="t">
            <a:normAutofit/>
          </a:bodyPr>
          <a:lstStyle/>
          <a:p>
            <a:pPr algn="l" indent="0" marL="0">
              <a:buNone/>
            </a:pPr>
            <a:r>
              <a:rPr lang="en-US" sz="731" dirty="0">
                <a:solidFill>
                  <a:srgbClr val="1C191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Portal Berita</a:t>
            </a:r>
            <a:endParaRPr lang="en-US" sz="731" dirty="0"/>
          </a:p>
        </p:txBody>
      </p:sp>
      <p:sp>
        <p:nvSpPr>
          <p:cNvPr id="32" name="Text 30"/>
          <p:cNvSpPr/>
          <p:nvPr/>
        </p:nvSpPr>
        <p:spPr>
          <a:xfrm>
            <a:off x="3850481" y="1928813"/>
            <a:ext cx="157163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📰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079081" y="2135981"/>
            <a:ext cx="871203" cy="122587"/>
          </a:xfrm>
          <a:prstGeom prst="rect">
            <a:avLst/>
          </a:prstGeom>
          <a:noFill/>
          <a:ln/>
        </p:spPr>
        <p:txBody>
          <a:bodyPr wrap="none" lIns="0" tIns="28575" rIns="0" bIns="28575" rtlCol="0" anchor="t">
            <a:normAutofit/>
          </a:bodyPr>
          <a:lstStyle/>
          <a:p>
            <a:pPr algn="l" indent="0" marL="0">
              <a:buNone/>
            </a:pPr>
            <a:r>
              <a:rPr lang="en-US" sz="731" dirty="0">
                <a:solidFill>
                  <a:srgbClr val="1C191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Spotify / Podcast</a:t>
            </a:r>
            <a:endParaRPr lang="en-US" sz="731" dirty="0"/>
          </a:p>
        </p:txBody>
      </p:sp>
      <p:sp>
        <p:nvSpPr>
          <p:cNvPr id="34" name="Text 32"/>
          <p:cNvSpPr/>
          <p:nvPr/>
        </p:nvSpPr>
        <p:spPr>
          <a:xfrm>
            <a:off x="3850481" y="2121694"/>
            <a:ext cx="157163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🎧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079081" y="2328863"/>
            <a:ext cx="774371" cy="122587"/>
          </a:xfrm>
          <a:prstGeom prst="rect">
            <a:avLst/>
          </a:prstGeom>
          <a:noFill/>
          <a:ln/>
        </p:spPr>
        <p:txBody>
          <a:bodyPr wrap="none" lIns="0" tIns="28575" rIns="0" bIns="28575" rtlCol="0" anchor="t">
            <a:normAutofit/>
          </a:bodyPr>
          <a:lstStyle/>
          <a:p>
            <a:pPr algn="l" indent="0" marL="0">
              <a:buNone/>
            </a:pPr>
            <a:r>
              <a:rPr lang="en-US" sz="731" dirty="0">
                <a:solidFill>
                  <a:srgbClr val="1C191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Streaming Live</a:t>
            </a:r>
            <a:endParaRPr lang="en-US" sz="731" dirty="0"/>
          </a:p>
        </p:txBody>
      </p:sp>
      <p:sp>
        <p:nvSpPr>
          <p:cNvPr id="36" name="Text 34"/>
          <p:cNvSpPr/>
          <p:nvPr/>
        </p:nvSpPr>
        <p:spPr>
          <a:xfrm>
            <a:off x="3850481" y="2314575"/>
            <a:ext cx="157163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📺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079081" y="2521744"/>
            <a:ext cx="890457" cy="122587"/>
          </a:xfrm>
          <a:prstGeom prst="rect">
            <a:avLst/>
          </a:prstGeom>
          <a:noFill/>
          <a:ln/>
        </p:spPr>
        <p:txBody>
          <a:bodyPr wrap="none" lIns="0" tIns="28575" rIns="0" bIns="28575" rtlCol="0" anchor="t">
            <a:normAutofit/>
          </a:bodyPr>
          <a:lstStyle/>
          <a:p>
            <a:pPr algn="l" indent="0" marL="0">
              <a:buNone/>
            </a:pPr>
            <a:r>
              <a:rPr lang="en-US" sz="731" dirty="0">
                <a:solidFill>
                  <a:srgbClr val="1C191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Lainnya (custom)</a:t>
            </a:r>
            <a:endParaRPr lang="en-US" sz="731" dirty="0"/>
          </a:p>
        </p:txBody>
      </p:sp>
      <p:sp>
        <p:nvSpPr>
          <p:cNvPr id="38" name="Text 36"/>
          <p:cNvSpPr/>
          <p:nvPr/>
        </p:nvSpPr>
        <p:spPr>
          <a:xfrm>
            <a:off x="3850481" y="2507456"/>
            <a:ext cx="157163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🔗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079081" y="2714625"/>
            <a:ext cx="1292433" cy="122587"/>
          </a:xfrm>
          <a:prstGeom prst="rect">
            <a:avLst/>
          </a:prstGeom>
          <a:noFill/>
          <a:ln/>
        </p:spPr>
        <p:txBody>
          <a:bodyPr wrap="none" lIns="0" tIns="28575" rIns="0" bIns="28575" rtlCol="0" anchor="t">
            <a:normAutofit/>
          </a:bodyPr>
          <a:lstStyle/>
          <a:p>
            <a:pPr algn="l" indent="0" marL="0">
              <a:buNone/>
            </a:pPr>
            <a:r>
              <a:rPr lang="en-US" sz="731" dirty="0">
                <a:solidFill>
                  <a:srgbClr val="1C191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Folder PUBLIC/PRIVATE</a:t>
            </a:r>
            <a:endParaRPr lang="en-US" sz="731" dirty="0"/>
          </a:p>
        </p:txBody>
      </p:sp>
      <p:sp>
        <p:nvSpPr>
          <p:cNvPr id="40" name="Text 38"/>
          <p:cNvSpPr/>
          <p:nvPr/>
        </p:nvSpPr>
        <p:spPr>
          <a:xfrm>
            <a:off x="3850481" y="2700338"/>
            <a:ext cx="157163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📁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053334" y="2907506"/>
            <a:ext cx="812750" cy="126609"/>
          </a:xfrm>
          <a:prstGeom prst="rect">
            <a:avLst/>
          </a:prstGeom>
          <a:noFill/>
          <a:ln/>
        </p:spPr>
        <p:txBody>
          <a:bodyPr wrap="none" lIns="0" tIns="28575" rIns="0" bIns="28575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1C191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LIHUM Gallery</a:t>
            </a:r>
            <a:endParaRPr lang="en-US" sz="731" dirty="0"/>
          </a:p>
        </p:txBody>
      </p:sp>
      <p:sp>
        <p:nvSpPr>
          <p:cNvPr id="42" name="Text 40"/>
          <p:cNvSpPr/>
          <p:nvPr/>
        </p:nvSpPr>
        <p:spPr>
          <a:xfrm>
            <a:off x="3850481" y="2893219"/>
            <a:ext cx="157163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📸</a:t>
            </a:r>
            <a:endParaRPr lang="en-US" sz="900" dirty="0"/>
          </a:p>
        </p:txBody>
      </p:sp>
      <p:pic>
        <p:nvPicPr>
          <p:cNvPr id="43" name="Image 0" descr="/tmp/h2p-fit-1791073091626-j6egh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1385888"/>
            <a:ext cx="1714500" cy="1428750"/>
          </a:xfrm>
          <a:prstGeom prst="rect">
            <a:avLst/>
          </a:prstGeom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</p:pic>
      <p:sp>
        <p:nvSpPr>
          <p:cNvPr id="44" name="Text 41"/>
          <p:cNvSpPr/>
          <p:nvPr/>
        </p:nvSpPr>
        <p:spPr>
          <a:xfrm>
            <a:off x="7256233" y="2857500"/>
            <a:ext cx="1375123" cy="119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19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lihum.synclicen.workers.dev</a:t>
            </a:r>
            <a:endParaRPr lang="en-US" sz="619" dirty="0"/>
          </a:p>
        </p:txBody>
      </p:sp>
      <p:sp>
        <p:nvSpPr>
          <p:cNvPr id="45" name="Text 42"/>
          <p:cNvSpPr/>
          <p:nvPr/>
        </p:nvSpPr>
        <p:spPr>
          <a:xfrm>
            <a:off x="342900" y="3293269"/>
            <a:ext cx="8458200" cy="471488"/>
          </a:xfrm>
          <a:prstGeom prst="roundRect">
            <a:avLst>
              <a:gd name="adj" fmla="val 20202"/>
            </a:avLst>
          </a:prstGeom>
          <a:solidFill>
            <a:srgbClr val="4C2A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3"/>
          <p:cNvSpPr/>
          <p:nvPr/>
        </p:nvSpPr>
        <p:spPr>
          <a:xfrm>
            <a:off x="485775" y="3393281"/>
            <a:ext cx="8172450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AF3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Role Khusus per Saluran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485775" y="3536156"/>
            <a:ext cx="817245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Publisher Web → website resmi | Publisher Social Media → sosmed | Streaming Operator → siaran live | Podcast Operator → podcast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42925"/>
          </a:xfrm>
          <a:prstGeom prst="rect">
            <a:avLst/>
          </a:prstGeom>
          <a:solidFill>
            <a:srgbClr val="4C2A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42900" y="100013"/>
            <a:ext cx="342900" cy="342900"/>
          </a:xfrm>
          <a:prstGeom prst="ellipse">
            <a:avLst/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42900" y="100013"/>
            <a:ext cx="4000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15%</a:t>
            </a:r>
            <a:endParaRPr lang="en-US" sz="1013" dirty="0"/>
          </a:p>
        </p:txBody>
      </p:sp>
      <p:sp>
        <p:nvSpPr>
          <p:cNvPr id="5" name="Text 3"/>
          <p:cNvSpPr/>
          <p:nvPr/>
        </p:nvSpPr>
        <p:spPr>
          <a:xfrm>
            <a:off x="800100" y="164306"/>
            <a:ext cx="7693819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63" b="1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Key Messages</a:t>
            </a:r>
            <a:endParaRPr lang="en-US" sz="1463" dirty="0"/>
          </a:p>
        </p:txBody>
      </p:sp>
      <p:sp>
        <p:nvSpPr>
          <p:cNvPr id="6" name="Text 4"/>
          <p:cNvSpPr/>
          <p:nvPr/>
        </p:nvSpPr>
        <p:spPr>
          <a:xfrm>
            <a:off x="8551069" y="153591"/>
            <a:ext cx="250031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75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💬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342900" y="700088"/>
            <a:ext cx="8636000" cy="126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C191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Alur Komunikasi Pesan ke Tim — 3 Level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42900" y="907256"/>
            <a:ext cx="8458200" cy="595722"/>
          </a:xfrm>
          <a:prstGeom prst="roundRect">
            <a:avLst>
              <a:gd name="adj" fmla="val 1279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42900" y="910828"/>
            <a:ext cx="8458200" cy="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97528" y="907256"/>
            <a:ext cx="0" cy="595722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900" y="1499406"/>
            <a:ext cx="8458200" cy="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7188" y="907256"/>
            <a:ext cx="0" cy="595722"/>
          </a:xfrm>
          <a:prstGeom prst="line">
            <a:avLst/>
          </a:prstGeom>
          <a:noFill/>
          <a:ln w="28575">
            <a:solidFill>
              <a:srgbClr val="4C2A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0063" y="1028700"/>
            <a:ext cx="200025" cy="200025"/>
          </a:xfrm>
          <a:prstGeom prst="ellipse">
            <a:avLst/>
          </a:prstGeom>
          <a:solidFill>
            <a:srgbClr val="4C2A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00063" y="1028700"/>
            <a:ext cx="25003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00100" y="1014413"/>
            <a:ext cx="7865269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4" b="1" dirty="0">
                <a:solidFill>
                  <a:srgbClr val="1C191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Project Description</a:t>
            </a:r>
            <a:endParaRPr lang="en-US" sz="844" dirty="0"/>
          </a:p>
        </p:txBody>
      </p:sp>
      <p:sp>
        <p:nvSpPr>
          <p:cNvPr id="16" name="Text 14"/>
          <p:cNvSpPr/>
          <p:nvPr/>
        </p:nvSpPr>
        <p:spPr>
          <a:xfrm>
            <a:off x="800100" y="1164431"/>
            <a:ext cx="7865269" cy="118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Manager tulis narasi kegiatan. Field description = pesan utama.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00100" y="1310097"/>
            <a:ext cx="786526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8716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Contoh: Dokumentasi kegiatan Pendampingan APS LAMGAMA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42900" y="1574416"/>
            <a:ext cx="8458200" cy="595722"/>
          </a:xfrm>
          <a:prstGeom prst="roundRect">
            <a:avLst>
              <a:gd name="adj" fmla="val 1279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342900" y="1577987"/>
            <a:ext cx="8458200" cy="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97528" y="1574416"/>
            <a:ext cx="0" cy="595722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2900" y="2166565"/>
            <a:ext cx="8458200" cy="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7188" y="1574416"/>
            <a:ext cx="0" cy="595722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0063" y="1695859"/>
            <a:ext cx="200025" cy="200025"/>
          </a:xfrm>
          <a:prstGeom prst="ellipse">
            <a:avLst/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00063" y="1695859"/>
            <a:ext cx="25003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00100" y="1681572"/>
            <a:ext cx="7865269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4" b="1" dirty="0">
                <a:solidFill>
                  <a:srgbClr val="1C191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Custom Activity</a:t>
            </a:r>
            <a:endParaRPr lang="en-US" sz="844" dirty="0"/>
          </a:p>
        </p:txBody>
      </p:sp>
      <p:sp>
        <p:nvSpPr>
          <p:cNvPr id="26" name="Text 24"/>
          <p:cNvSpPr/>
          <p:nvPr/>
        </p:nvSpPr>
        <p:spPr>
          <a:xfrm>
            <a:off x="800100" y="1831591"/>
            <a:ext cx="7865269" cy="118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Field customActivity = konteks pesan khusus + jenis kegiatan.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00100" y="1977256"/>
            <a:ext cx="7974997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8716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Contoh: Meliput, Pemberitaan, Dokumentasi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42900" y="2241575"/>
            <a:ext cx="8458200" cy="595722"/>
          </a:xfrm>
          <a:prstGeom prst="roundRect">
            <a:avLst>
              <a:gd name="adj" fmla="val 1279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342900" y="2245147"/>
            <a:ext cx="8458200" cy="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797528" y="2241575"/>
            <a:ext cx="0" cy="595722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2900" y="2833725"/>
            <a:ext cx="8458200" cy="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57188" y="2241575"/>
            <a:ext cx="0" cy="595722"/>
          </a:xfrm>
          <a:prstGeom prst="line">
            <a:avLst/>
          </a:prstGeom>
          <a:noFill/>
          <a:ln w="28575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0063" y="2363019"/>
            <a:ext cx="200025" cy="200025"/>
          </a:xfrm>
          <a:prstGeom prst="ellipse">
            <a:avLst/>
          </a:prstGeom>
          <a:solidFill>
            <a:srgbClr val="16A3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00063" y="2363019"/>
            <a:ext cx="25003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00100" y="2348731"/>
            <a:ext cx="7974997" cy="122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4" b="1" dirty="0">
                <a:solidFill>
                  <a:srgbClr val="1C191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Catatan per Task + Surat Tugas</a:t>
            </a:r>
            <a:endParaRPr lang="en-US" sz="844" dirty="0"/>
          </a:p>
        </p:txBody>
      </p:sp>
      <p:sp>
        <p:nvSpPr>
          <p:cNvPr id="36" name="Text 34"/>
          <p:cNvSpPr/>
          <p:nvPr/>
        </p:nvSpPr>
        <p:spPr>
          <a:xfrm>
            <a:off x="800100" y="2498750"/>
            <a:ext cx="7865269" cy="118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Manager tambah catatan ke setiap petugas per tahap. Surat Tugas resmi dengan nomor surat.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00100" y="2644415"/>
            <a:ext cx="786526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8716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Contoh catatan: foto menonjolkan kebersamaan, artikel fokus ke program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46472" y="2940881"/>
            <a:ext cx="8451056" cy="8929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9" name="Image 0" descr="/tmp/h2p-fit-1791073092137-knyyq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344" y="3030178"/>
            <a:ext cx="1714500" cy="714375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2307431" y="3265922"/>
            <a:ext cx="6481953" cy="122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C191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Form Buat Proyek — description field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2307431" y="3415940"/>
            <a:ext cx="2240918" cy="119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app.pushakin-flows.workers.dev → Buat Proyek</a:t>
            </a:r>
            <a:endParaRPr lang="en-US" sz="619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42925"/>
          </a:xfrm>
          <a:prstGeom prst="rect">
            <a:avLst/>
          </a:prstGeom>
          <a:solidFill>
            <a:srgbClr val="4C2A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42900" y="100013"/>
            <a:ext cx="342900" cy="342900"/>
          </a:xfrm>
          <a:prstGeom prst="ellipse">
            <a:avLst/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42900" y="100013"/>
            <a:ext cx="4000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20%</a:t>
            </a:r>
            <a:endParaRPr lang="en-US" sz="1013" dirty="0"/>
          </a:p>
        </p:txBody>
      </p:sp>
      <p:sp>
        <p:nvSpPr>
          <p:cNvPr id="5" name="Text 3"/>
          <p:cNvSpPr/>
          <p:nvPr/>
        </p:nvSpPr>
        <p:spPr>
          <a:xfrm>
            <a:off x="800100" y="164306"/>
            <a:ext cx="1018843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63" b="1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Eksekusi</a:t>
            </a:r>
            <a:endParaRPr lang="en-US" sz="1463" dirty="0"/>
          </a:p>
        </p:txBody>
      </p:sp>
      <p:sp>
        <p:nvSpPr>
          <p:cNvPr id="6" name="Shape 4"/>
          <p:cNvSpPr/>
          <p:nvPr/>
        </p:nvSpPr>
        <p:spPr>
          <a:xfrm>
            <a:off x="1630449" y="217884"/>
            <a:ext cx="0" cy="107156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26877" y="217884"/>
            <a:ext cx="6867041" cy="137160"/>
          </a:xfrm>
          <a:prstGeom prst="rect">
            <a:avLst/>
          </a:prstGeom>
          <a:noFill/>
          <a:ln/>
        </p:spPr>
        <p:txBody>
          <a:bodyPr wrap="none" lIns="85725" tIns="0" rIns="0" bIns="0" rtlCol="0" anchor="t"/>
          <a:lstStyle/>
          <a:p>
            <a:pPr algn="l" indent="0" marL="0">
              <a:buNone/>
            </a:pPr>
            <a:r>
              <a:rPr lang="en-US" sz="800" b="1" spc="56" kern="0" dirty="0">
                <a:solidFill>
                  <a:srgbClr val="D4AF3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KEKUATAN UTAMA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51069" y="153591"/>
            <a:ext cx="250031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75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575" dirty="0"/>
          </a:p>
        </p:txBody>
      </p:sp>
      <p:sp>
        <p:nvSpPr>
          <p:cNvPr id="9" name="Text 7"/>
          <p:cNvSpPr/>
          <p:nvPr/>
        </p:nvSpPr>
        <p:spPr>
          <a:xfrm>
            <a:off x="342900" y="700088"/>
            <a:ext cx="1634468" cy="1928813"/>
          </a:xfrm>
          <a:prstGeom prst="roundRect">
            <a:avLst>
              <a:gd name="adj" fmla="val 582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42900" y="714375"/>
            <a:ext cx="1634468" cy="0"/>
          </a:xfrm>
          <a:prstGeom prst="line">
            <a:avLst/>
          </a:pr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73796" y="700088"/>
            <a:ext cx="0" cy="1928813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900" y="2625328"/>
            <a:ext cx="1634468" cy="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6472" y="700088"/>
            <a:ext cx="0" cy="1928813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38634" y="828675"/>
            <a:ext cx="242888" cy="242888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038634" y="828675"/>
            <a:ext cx="24288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44" dirty="0"/>
          </a:p>
        </p:txBody>
      </p:sp>
      <p:sp>
        <p:nvSpPr>
          <p:cNvPr id="16" name="Text 14"/>
          <p:cNvSpPr/>
          <p:nvPr/>
        </p:nvSpPr>
        <p:spPr>
          <a:xfrm>
            <a:off x="829971" y="1143000"/>
            <a:ext cx="660213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spc="17" kern="0" dirty="0">
                <a:solidFill>
                  <a:srgbClr val="1C191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PRODUKSI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35769" y="1300163"/>
            <a:ext cx="1492192" cy="635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Petugas upload mentah (foto, video, audio, artikel). 4 role: Reporter, Photographer, Content Creator, Graphic Designer.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048805" y="700088"/>
            <a:ext cx="1634468" cy="1928813"/>
          </a:xfrm>
          <a:prstGeom prst="roundRect">
            <a:avLst>
              <a:gd name="adj" fmla="val 582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2048805" y="714375"/>
            <a:ext cx="1634468" cy="0"/>
          </a:xfrm>
          <a:prstGeom prst="line">
            <a:avLst/>
          </a:prstGeom>
          <a:noFill/>
          <a:ln w="28575">
            <a:solidFill>
              <a:srgbClr val="EA580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79701" y="700088"/>
            <a:ext cx="0" cy="1928813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48805" y="2625328"/>
            <a:ext cx="1634468" cy="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52377" y="700088"/>
            <a:ext cx="0" cy="1928813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4539" y="828675"/>
            <a:ext cx="242888" cy="242888"/>
          </a:xfrm>
          <a:prstGeom prst="ellipse">
            <a:avLst/>
          </a:prstGeom>
          <a:solidFill>
            <a:srgbClr val="EA58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744539" y="828675"/>
            <a:ext cx="24288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44" dirty="0"/>
          </a:p>
        </p:txBody>
      </p:sp>
      <p:sp>
        <p:nvSpPr>
          <p:cNvPr id="25" name="Text 23"/>
          <p:cNvSpPr/>
          <p:nvPr/>
        </p:nvSpPr>
        <p:spPr>
          <a:xfrm>
            <a:off x="2364304" y="1143000"/>
            <a:ext cx="1003469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spc="17" kern="0" dirty="0">
                <a:solidFill>
                  <a:srgbClr val="1C191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PASCA PRODUKSI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141674" y="1300163"/>
            <a:ext cx="1492192" cy="476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Editor edit hasil. 6 role: Editor Video, Web, Foto, Template Sosmed, Streaming, Podcast.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754710" y="700088"/>
            <a:ext cx="1634468" cy="1928813"/>
          </a:xfrm>
          <a:prstGeom prst="roundRect">
            <a:avLst>
              <a:gd name="adj" fmla="val 582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3754710" y="714375"/>
            <a:ext cx="1634468" cy="0"/>
          </a:xfrm>
          <a:prstGeom prst="line">
            <a:avLst/>
          </a:prstGeom>
          <a:noFill/>
          <a:ln w="28575">
            <a:solidFill>
              <a:srgbClr val="16A3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85606" y="700088"/>
            <a:ext cx="0" cy="1928813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754710" y="2625328"/>
            <a:ext cx="1634468" cy="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58282" y="700088"/>
            <a:ext cx="0" cy="1928813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50445" y="828675"/>
            <a:ext cx="242888" cy="242888"/>
          </a:xfrm>
          <a:prstGeom prst="ellipse">
            <a:avLst/>
          </a:prstGeom>
          <a:solidFill>
            <a:srgbClr val="16A3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450445" y="828675"/>
            <a:ext cx="24288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44" dirty="0"/>
          </a:p>
        </p:txBody>
      </p:sp>
      <p:sp>
        <p:nvSpPr>
          <p:cNvPr id="34" name="Text 32"/>
          <p:cNvSpPr/>
          <p:nvPr/>
        </p:nvSpPr>
        <p:spPr>
          <a:xfrm>
            <a:off x="4311766" y="1143000"/>
            <a:ext cx="520357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spc="17" kern="0" dirty="0">
                <a:solidFill>
                  <a:srgbClr val="1C191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REVIEW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847579" y="1300163"/>
            <a:ext cx="1492192" cy="3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Reviewer cek kualitas. Approve atau revisi dengan revisionCount tracking.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460616" y="700088"/>
            <a:ext cx="1634468" cy="1928813"/>
          </a:xfrm>
          <a:prstGeom prst="roundRect">
            <a:avLst>
              <a:gd name="adj" fmla="val 582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5460616" y="714375"/>
            <a:ext cx="1634468" cy="0"/>
          </a:xfrm>
          <a:prstGeom prst="line">
            <a:avLst/>
          </a:prstGeom>
          <a:noFill/>
          <a:ln w="28575">
            <a:solidFill>
              <a:srgbClr val="4C2A8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091511" y="700088"/>
            <a:ext cx="0" cy="1928813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60616" y="2625328"/>
            <a:ext cx="1634468" cy="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464187" y="700088"/>
            <a:ext cx="0" cy="1928813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56350" y="828675"/>
            <a:ext cx="242888" cy="242888"/>
          </a:xfrm>
          <a:prstGeom prst="ellipse">
            <a:avLst/>
          </a:prstGeom>
          <a:solidFill>
            <a:srgbClr val="4C2A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156350" y="828675"/>
            <a:ext cx="24288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44" dirty="0"/>
          </a:p>
        </p:txBody>
      </p:sp>
      <p:sp>
        <p:nvSpPr>
          <p:cNvPr id="43" name="Text 41"/>
          <p:cNvSpPr/>
          <p:nvPr/>
        </p:nvSpPr>
        <p:spPr>
          <a:xfrm>
            <a:off x="5925582" y="1143000"/>
            <a:ext cx="704535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spc="17" kern="0" dirty="0">
                <a:solidFill>
                  <a:srgbClr val="1C191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PUBLIKASI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553484" y="1300163"/>
            <a:ext cx="1492192" cy="3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Publisher publish ke saluran (web, sosmed). Input link per platform.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166521" y="700088"/>
            <a:ext cx="1634579" cy="1928813"/>
          </a:xfrm>
          <a:prstGeom prst="roundRect">
            <a:avLst>
              <a:gd name="adj" fmla="val 582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7166521" y="714375"/>
            <a:ext cx="1634579" cy="0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797528" y="700088"/>
            <a:ext cx="0" cy="1928813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166521" y="2625328"/>
            <a:ext cx="1634579" cy="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170093" y="700088"/>
            <a:ext cx="0" cy="1928813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862367" y="828675"/>
            <a:ext cx="242888" cy="242888"/>
          </a:xfrm>
          <a:prstGeom prst="ellipse">
            <a:avLst/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7862367" y="828675"/>
            <a:ext cx="24288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844" dirty="0"/>
          </a:p>
        </p:txBody>
      </p:sp>
      <p:sp>
        <p:nvSpPr>
          <p:cNvPr id="52" name="Text 50"/>
          <p:cNvSpPr/>
          <p:nvPr/>
        </p:nvSpPr>
        <p:spPr>
          <a:xfrm>
            <a:off x="7705873" y="1143000"/>
            <a:ext cx="555874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spc="17" kern="0" dirty="0">
                <a:solidFill>
                  <a:srgbClr val="1C191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SELESAI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259389" y="1300163"/>
            <a:ext cx="1492307" cy="3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Project complete. Arsip dokumentasi lengkap.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346472" y="2732484"/>
            <a:ext cx="6636544" cy="1035844"/>
          </a:xfrm>
          <a:prstGeom prst="roundRect">
            <a:avLst>
              <a:gd name="adj" fmla="val 7356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Shape 53"/>
          <p:cNvSpPr/>
          <p:nvPr/>
        </p:nvSpPr>
        <p:spPr>
          <a:xfrm>
            <a:off x="464344" y="2975372"/>
            <a:ext cx="6400800" cy="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4344" y="2821781"/>
            <a:ext cx="6400800" cy="186881"/>
          </a:xfrm>
          <a:prstGeom prst="rect">
            <a:avLst/>
          </a:prstGeom>
          <a:noFill/>
          <a:ln/>
        </p:spPr>
        <p:txBody>
          <a:bodyPr wrap="none" lIns="0" tIns="0" rIns="0" bIns="42863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C191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Fitur Pendukung Eksekusi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64344" y="3036094"/>
            <a:ext cx="3394710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• Folder Drive otomatis per proyek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3721894" y="3036094"/>
            <a:ext cx="3252978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• User subfolder per petugas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64344" y="3175397"/>
            <a:ext cx="3394710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• Dependency tracking (ETSM nunggu EFoto)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3721894" y="3175397"/>
            <a:ext cx="3252978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• Auto-repair stuck projects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464344" y="3314700"/>
            <a:ext cx="3394710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• 1-klik publikasi ke LIHUM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3721894" y="3314700"/>
            <a:ext cx="3252978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• File upload chunked ke Drive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7090172" y="2732484"/>
            <a:ext cx="1707356" cy="1035844"/>
          </a:xfrm>
          <a:prstGeom prst="roundRect">
            <a:avLst>
              <a:gd name="adj" fmla="val 7356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4" name="Image 0" descr="/tmp/h2p-fit-1791073091544-bv4h8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894" y="2793206"/>
            <a:ext cx="1585913" cy="714375"/>
          </a:xfrm>
          <a:prstGeom prst="rect">
            <a:avLst/>
          </a:prstGeom>
        </p:spPr>
      </p:pic>
      <p:sp>
        <p:nvSpPr>
          <p:cNvPr id="65" name="Text 62"/>
          <p:cNvSpPr/>
          <p:nvPr/>
        </p:nvSpPr>
        <p:spPr>
          <a:xfrm>
            <a:off x="7150894" y="3550444"/>
            <a:ext cx="158591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app.pushakin-flows.workers.dev/?public=tracker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42925"/>
          </a:xfrm>
          <a:prstGeom prst="rect">
            <a:avLst/>
          </a:prstGeom>
          <a:solidFill>
            <a:srgbClr val="4C2A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42900" y="100013"/>
            <a:ext cx="342900" cy="342900"/>
          </a:xfrm>
          <a:prstGeom prst="ellipse">
            <a:avLst/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42900" y="100013"/>
            <a:ext cx="4000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15%</a:t>
            </a:r>
            <a:endParaRPr lang="en-US" sz="1013" dirty="0"/>
          </a:p>
        </p:txBody>
      </p:sp>
      <p:sp>
        <p:nvSpPr>
          <p:cNvPr id="5" name="Text 3"/>
          <p:cNvSpPr/>
          <p:nvPr/>
        </p:nvSpPr>
        <p:spPr>
          <a:xfrm>
            <a:off x="800100" y="164306"/>
            <a:ext cx="7693819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63" b="1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Pengukuran</a:t>
            </a:r>
            <a:endParaRPr lang="en-US" sz="1463" dirty="0"/>
          </a:p>
        </p:txBody>
      </p:sp>
      <p:sp>
        <p:nvSpPr>
          <p:cNvPr id="6" name="Text 4"/>
          <p:cNvSpPr/>
          <p:nvPr/>
        </p:nvSpPr>
        <p:spPr>
          <a:xfrm>
            <a:off x="8551069" y="153591"/>
            <a:ext cx="250031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75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📊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346472" y="703659"/>
            <a:ext cx="4164806" cy="1921669"/>
          </a:xfrm>
          <a:prstGeom prst="roundRect">
            <a:avLst>
              <a:gd name="adj" fmla="val 4957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64344" y="807244"/>
            <a:ext cx="192881" cy="20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38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📈</a:t>
            </a:r>
            <a:endParaRPr lang="en-US" sz="1238" dirty="0"/>
          </a:p>
        </p:txBody>
      </p:sp>
      <p:sp>
        <p:nvSpPr>
          <p:cNvPr id="9" name="Text 7"/>
          <p:cNvSpPr/>
          <p:nvPr/>
        </p:nvSpPr>
        <p:spPr>
          <a:xfrm>
            <a:off x="728663" y="842963"/>
            <a:ext cx="3664744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C191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Output — Statistik Real-time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64344" y="1035844"/>
            <a:ext cx="3929063" cy="158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1C191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Dashboard: Total proyek, Sedang berjalan, Selesai. Filter waktu: hari/minggu/bulan/tahun.</a:t>
            </a:r>
            <a:endParaRPr lang="en-US" sz="619" dirty="0"/>
          </a:p>
        </p:txBody>
      </p:sp>
      <p:pic>
        <p:nvPicPr>
          <p:cNvPr id="11" name="Image 0" descr="/tmp/h2p-fit-1791073092174-nb3on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9444" y="1446386"/>
            <a:ext cx="1258863" cy="714263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64344" y="2443163"/>
            <a:ext cx="392906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Statistik &amp; Progress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632722" y="703659"/>
            <a:ext cx="4164806" cy="1921669"/>
          </a:xfrm>
          <a:prstGeom prst="roundRect">
            <a:avLst>
              <a:gd name="adj" fmla="val 4957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750594" y="807244"/>
            <a:ext cx="192881" cy="20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38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📄</a:t>
            </a:r>
            <a:endParaRPr lang="en-US" sz="1238" dirty="0"/>
          </a:p>
        </p:txBody>
      </p:sp>
      <p:sp>
        <p:nvSpPr>
          <p:cNvPr id="15" name="Text 12"/>
          <p:cNvSpPr/>
          <p:nvPr/>
        </p:nvSpPr>
        <p:spPr>
          <a:xfrm>
            <a:off x="5014913" y="842963"/>
            <a:ext cx="3664744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C191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Dokumentasi — Laporan SKP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750594" y="1035844"/>
            <a:ext cx="3929063" cy="158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1C191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Setiap user download laporan kegiatannya (PDF). Manager export rekap (PDF/Excel). Bukti kinerja triwulan.</a:t>
            </a:r>
            <a:endParaRPr lang="en-US" sz="619" dirty="0"/>
          </a:p>
        </p:txBody>
      </p:sp>
      <p:pic>
        <p:nvPicPr>
          <p:cNvPr id="17" name="Image 1" descr="/tmp/h2p-fit-1791073092176-fi9hr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5694" y="1446386"/>
            <a:ext cx="1258863" cy="714263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750594" y="2443163"/>
            <a:ext cx="392906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Laporan Kegiatan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346472" y="2746772"/>
            <a:ext cx="4164806" cy="1921669"/>
          </a:xfrm>
          <a:prstGeom prst="roundRect">
            <a:avLst>
              <a:gd name="adj" fmla="val 4957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464344" y="2850356"/>
            <a:ext cx="192881" cy="20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38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🔍</a:t>
            </a:r>
            <a:endParaRPr lang="en-US" sz="1238" dirty="0"/>
          </a:p>
        </p:txBody>
      </p:sp>
      <p:sp>
        <p:nvSpPr>
          <p:cNvPr id="21" name="Text 17"/>
          <p:cNvSpPr/>
          <p:nvPr/>
        </p:nvSpPr>
        <p:spPr>
          <a:xfrm>
            <a:off x="728663" y="2886075"/>
            <a:ext cx="3664744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C191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Transparansi — Public Tracker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464344" y="3078956"/>
            <a:ext cx="3929063" cy="158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1C191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Link publik untuk pantau progress real-time. Bisa dibagi ke stakeholder eksternal.</a:t>
            </a:r>
            <a:endParaRPr lang="en-US" sz="619" dirty="0"/>
          </a:p>
        </p:txBody>
      </p:sp>
      <p:pic>
        <p:nvPicPr>
          <p:cNvPr id="23" name="Image 2" descr="/tmp/h2p-fit-1791073092176-g86cg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9444" y="3489499"/>
            <a:ext cx="1258863" cy="714263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64344" y="4486275"/>
            <a:ext cx="392906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app.pushakin-flows.workers.dev/?public=tracker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4632722" y="2746772"/>
            <a:ext cx="4164806" cy="1921669"/>
          </a:xfrm>
          <a:prstGeom prst="roundRect">
            <a:avLst>
              <a:gd name="adj" fmla="val 4957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1"/>
          <p:cNvSpPr/>
          <p:nvPr/>
        </p:nvSpPr>
        <p:spPr>
          <a:xfrm>
            <a:off x="4750594" y="2850356"/>
            <a:ext cx="192881" cy="20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38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📑</a:t>
            </a:r>
            <a:endParaRPr lang="en-US" sz="1238" dirty="0"/>
          </a:p>
        </p:txBody>
      </p:sp>
      <p:sp>
        <p:nvSpPr>
          <p:cNvPr id="27" name="Text 22"/>
          <p:cNvSpPr/>
          <p:nvPr/>
        </p:nvSpPr>
        <p:spPr>
          <a:xfrm>
            <a:off x="5014913" y="2886075"/>
            <a:ext cx="3664744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C191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Rekapitulasi — Multi-modul Export</a:t>
            </a:r>
            <a:endParaRPr lang="en-US" sz="800" dirty="0"/>
          </a:p>
        </p:txBody>
      </p:sp>
      <p:sp>
        <p:nvSpPr>
          <p:cNvPr id="28" name="Text 23"/>
          <p:cNvSpPr/>
          <p:nvPr/>
        </p:nvSpPr>
        <p:spPr>
          <a:xfrm>
            <a:off x="4750594" y="3078956"/>
            <a:ext cx="3929063" cy="158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1C191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Surat: rekap masuk/keluar. Kegiatan: rekap + filter. Inventaris: stok + per-kategori. Semua export PDF/Excel.</a:t>
            </a:r>
            <a:endParaRPr lang="en-US" sz="619" dirty="0"/>
          </a:p>
        </p:txBody>
      </p:sp>
      <p:pic>
        <p:nvPicPr>
          <p:cNvPr id="29" name="Image 3" descr="/tmp/h2p-fit-1791073092176-qyf7t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5694" y="3489499"/>
            <a:ext cx="1258863" cy="714263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4750594" y="4486275"/>
            <a:ext cx="392906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Menu Rekapitulasi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42913"/>
          </a:xfrm>
          <a:prstGeom prst="rect">
            <a:avLst/>
          </a:prstGeom>
          <a:solidFill>
            <a:srgbClr val="4C2A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432197"/>
            <a:ext cx="9144000" cy="0"/>
          </a:xfrm>
          <a:prstGeom prst="line">
            <a:avLst/>
          </a:prstGeom>
          <a:noFill/>
          <a:ln w="21431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2727"/>
            <a:ext cx="1137374" cy="216027"/>
          </a:xfrm>
          <a:prstGeom prst="roundRect">
            <a:avLst>
              <a:gd name="adj" fmla="val 4404762"/>
            </a:avLst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42900" y="114300"/>
            <a:ext cx="109165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68" kern="0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★ INOVASI KUNCI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563142" y="114300"/>
            <a:ext cx="595040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spc="-17" kern="0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Integrasi LIHUM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577844" y="139303"/>
            <a:ext cx="1223256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96" dirty="0">
                <a:solidFill>
                  <a:srgbClr val="FFFFFF">
                    <a:alpha val="85000"/>
                  </a:srgbClr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🔗</a:t>
            </a:r>
            <a:pPr algn="l" indent="0" marL="0">
              <a:buNone/>
            </a:pPr>
            <a:r>
              <a:rPr lang="en-US" sz="619" dirty="0">
                <a:solidFill>
                  <a:srgbClr val="FFFFFF">
                    <a:alpha val="8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Pushakin Flows ↔ LIHUM</a:t>
            </a:r>
            <a:endParaRPr lang="en-US" sz="619" dirty="0"/>
          </a:p>
        </p:txBody>
      </p:sp>
      <p:sp>
        <p:nvSpPr>
          <p:cNvPr id="8" name="Text 6"/>
          <p:cNvSpPr/>
          <p:nvPr/>
        </p:nvSpPr>
        <p:spPr>
          <a:xfrm>
            <a:off x="342900" y="614363"/>
            <a:ext cx="2050256" cy="14287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4C2A85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42900" y="628650"/>
            <a:ext cx="2050256" cy="0"/>
          </a:xfrm>
          <a:prstGeom prst="line">
            <a:avLst/>
          </a:prstGeom>
          <a:noFill/>
          <a:ln w="28575">
            <a:solidFill>
              <a:srgbClr val="4C2A8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89584" y="614363"/>
            <a:ext cx="0" cy="142875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900" y="2039541"/>
            <a:ext cx="2050256" cy="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6472" y="614363"/>
            <a:ext cx="0" cy="142875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0056" y="742950"/>
            <a:ext cx="200025" cy="200025"/>
          </a:xfrm>
          <a:prstGeom prst="ellipse">
            <a:avLst/>
          </a:prstGeom>
          <a:solidFill>
            <a:srgbClr val="4C2A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50056" y="742950"/>
            <a:ext cx="2286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07231" y="787264"/>
            <a:ext cx="1578769" cy="131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b="1" dirty="0">
                <a:solidFill>
                  <a:srgbClr val="2D1A52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Petugas Upload Foto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0056" y="1000125"/>
            <a:ext cx="1835944" cy="3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Petugas Tahap 1 upload foto ke folder </a:t>
            </a:r>
            <a:pPr algn="l" indent="0" marL="0">
              <a:lnSpc>
                <a:spcPts val="897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PUBLIC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(boleh dibagi) atau </a:t>
            </a:r>
            <a:pPr algn="l" indent="0" marL="0">
              <a:lnSpc>
                <a:spcPts val="897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PRIVATE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(rahasia).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27196" y="1821513"/>
            <a:ext cx="831644" cy="136017"/>
          </a:xfrm>
          <a:prstGeom prst="roundRect">
            <a:avLst>
              <a:gd name="adj" fmla="val 2801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50056" y="1828800"/>
            <a:ext cx="78592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Tahap 1 · Upload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478881" y="614363"/>
            <a:ext cx="2050256" cy="14287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4C2A85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2478881" y="628650"/>
            <a:ext cx="2050256" cy="0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25566" y="614363"/>
            <a:ext cx="0" cy="142875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478881" y="2039541"/>
            <a:ext cx="2050256" cy="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482453" y="614363"/>
            <a:ext cx="0" cy="142875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86038" y="742950"/>
            <a:ext cx="200025" cy="200025"/>
          </a:xfrm>
          <a:prstGeom prst="ellipse">
            <a:avLst/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586038" y="742950"/>
            <a:ext cx="2286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843213" y="787264"/>
            <a:ext cx="1578769" cy="131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b="1" dirty="0">
                <a:solidFill>
                  <a:srgbClr val="2D1A52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Manager Klik Publikasikan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586038" y="1000125"/>
            <a:ext cx="1835944" cy="3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 klik di Project Detail. Sistem otomatis buat gallery di LIHUM. </a:t>
            </a:r>
            <a:pPr algn="l" indent="0" marL="0">
              <a:lnSpc>
                <a:spcPts val="897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HANYA folder PUBLIC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di-share.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563178" y="1821513"/>
            <a:ext cx="874618" cy="136017"/>
          </a:xfrm>
          <a:prstGeom prst="roundRect">
            <a:avLst>
              <a:gd name="adj" fmla="val 2801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2586038" y="1828800"/>
            <a:ext cx="82889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F3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1-Click · Publish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614863" y="614363"/>
            <a:ext cx="2050256" cy="14287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4C2A85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4614863" y="628650"/>
            <a:ext cx="2050256" cy="0"/>
          </a:xfrm>
          <a:prstGeom prst="line">
            <a:avLst/>
          </a:prstGeom>
          <a:noFill/>
          <a:ln w="28575">
            <a:solidFill>
              <a:srgbClr val="16A34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661547" y="614363"/>
            <a:ext cx="0" cy="142875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14863" y="2039541"/>
            <a:ext cx="2050256" cy="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18434" y="614363"/>
            <a:ext cx="0" cy="142875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22019" y="742950"/>
            <a:ext cx="200025" cy="200025"/>
          </a:xfrm>
          <a:prstGeom prst="ellipse">
            <a:avLst/>
          </a:prstGeom>
          <a:solidFill>
            <a:srgbClr val="16A3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722019" y="742950"/>
            <a:ext cx="2286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979194" y="787264"/>
            <a:ext cx="1578769" cy="131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b="1" dirty="0">
                <a:solidFill>
                  <a:srgbClr val="2D1A52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Gallery Live di LIHUM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722019" y="1000125"/>
            <a:ext cx="1835944" cy="476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Gallery tampil di </a:t>
            </a:r>
            <a:pPr algn="l" indent="0" marL="0">
              <a:lnSpc>
                <a:spcPts val="897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lihum.synclicen.workers.dev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. Pengunjung lihat &amp; download tanpa akun Google. QR Code otomatis.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699159" y="1821513"/>
            <a:ext cx="874618" cy="136017"/>
          </a:xfrm>
          <a:prstGeom prst="roundRect">
            <a:avLst>
              <a:gd name="adj" fmla="val 2801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722019" y="1828800"/>
            <a:ext cx="82889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· No Login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750844" y="614363"/>
            <a:ext cx="2050256" cy="14287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4C2A85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6750844" y="628650"/>
            <a:ext cx="2050256" cy="0"/>
          </a:xfrm>
          <a:prstGeom prst="line">
            <a:avLst/>
          </a:pr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797528" y="614363"/>
            <a:ext cx="0" cy="142875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50844" y="2039541"/>
            <a:ext cx="2050256" cy="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754416" y="614363"/>
            <a:ext cx="0" cy="142875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58000" y="742950"/>
            <a:ext cx="200025" cy="200025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858000" y="742950"/>
            <a:ext cx="2286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7115175" y="787264"/>
            <a:ext cx="1578769" cy="131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b="1" dirty="0">
                <a:solidFill>
                  <a:srgbClr val="2D1A52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Embed di Web Resmi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858000" y="1000125"/>
            <a:ext cx="1835944" cy="3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Manager copy link → embed di </a:t>
            </a:r>
            <a:pPr algn="l" indent="0" marL="0">
              <a:lnSpc>
                <a:spcPts val="897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uin-antasari.ac.id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. Atau bagikan via WA. Download mandiri 24/7.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835140" y="1821513"/>
            <a:ext cx="660194" cy="136017"/>
          </a:xfrm>
          <a:prstGeom prst="roundRect">
            <a:avLst>
              <a:gd name="adj" fmla="val 2801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786594" y="1828800"/>
            <a:ext cx="75728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Embed · 24/7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346472" y="2160984"/>
            <a:ext cx="5067709" cy="1178719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464344" y="2264569"/>
            <a:ext cx="4831966" cy="135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💡</a:t>
            </a:r>
            <a:pPr algn="l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Kenapa Ini Inovatif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64344" y="2436019"/>
            <a:ext cx="4831966" cy="661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D4AF3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Workflow otomatis: upload → filter → publish → embed</a:t>
            </a:r>
            <a:endParaRPr lang="en-US" sz="800" dirty="0"/>
          </a:p>
          <a:p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D4AF3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Transparansi publik: siapa saja bisa akses foto kegiatan</a:t>
            </a:r>
            <a:endParaRPr lang="en-US" sz="800" dirty="0"/>
          </a:p>
          <a:p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D4AF3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Self-service download: tidak perlu request ke admin</a:t>
            </a:r>
            <a:endParaRPr lang="en-US" sz="800" dirty="0"/>
          </a:p>
          <a:p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D4AF3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Filter keamanan: folder PRIVATE tidak pernah bocor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535625" y="2160984"/>
            <a:ext cx="3261903" cy="1178719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6316414" y="2243138"/>
            <a:ext cx="1700213" cy="771525"/>
          </a:xfrm>
          <a:prstGeom prst="roundRect">
            <a:avLst>
              <a:gd name="adj" fmla="val 9877"/>
            </a:avLst>
          </a:prstGeom>
          <a:solidFill>
            <a:srgbClr val="F5F5F4"/>
          </a:solidFill>
          <a:ln w="14288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7" name="Image 0" descr="/tmp/h2p-fit-1791073094005-bemlw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3558" y="2250281"/>
            <a:ext cx="1685925" cy="757238"/>
          </a:xfrm>
          <a:prstGeom prst="rect">
            <a:avLst/>
          </a:prstGeom>
        </p:spPr>
      </p:pic>
      <p:sp>
        <p:nvSpPr>
          <p:cNvPr id="58" name="Text 55"/>
          <p:cNvSpPr/>
          <p:nvPr/>
        </p:nvSpPr>
        <p:spPr>
          <a:xfrm>
            <a:off x="6686187" y="3064669"/>
            <a:ext cx="960779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78716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Evidence — Gallery LIHUM</a:t>
            </a:r>
            <a:endParaRPr lang="en-US" sz="600" dirty="0"/>
          </a:p>
        </p:txBody>
      </p:sp>
      <p:sp>
        <p:nvSpPr>
          <p:cNvPr id="59" name="Text 56"/>
          <p:cNvSpPr/>
          <p:nvPr/>
        </p:nvSpPr>
        <p:spPr>
          <a:xfrm>
            <a:off x="5858991" y="3186113"/>
            <a:ext cx="261505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lihum.synclicen.workers.dev/?gallery=pendampingan-aps-lamgama</a:t>
            </a:r>
            <a:endParaRPr lang="en-US" sz="600" dirty="0"/>
          </a:p>
        </p:txBody>
      </p:sp>
      <p:sp>
        <p:nvSpPr>
          <p:cNvPr id="60" name="Text 57"/>
          <p:cNvSpPr/>
          <p:nvPr/>
        </p:nvSpPr>
        <p:spPr>
          <a:xfrm>
            <a:off x="342900" y="4993481"/>
            <a:ext cx="8143763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8A2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Pushakin Flows · Penghargaan Komunikasi Publik Inovatif</a:t>
            </a:r>
            <a:endParaRPr lang="en-US" sz="800" dirty="0"/>
          </a:p>
        </p:txBody>
      </p:sp>
      <p:sp>
        <p:nvSpPr>
          <p:cNvPr id="61" name="Text 58"/>
          <p:cNvSpPr/>
          <p:nvPr/>
        </p:nvSpPr>
        <p:spPr>
          <a:xfrm>
            <a:off x="8478068" y="4993481"/>
            <a:ext cx="453969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8A29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57213"/>
          </a:xfrm>
          <a:prstGeom prst="rect">
            <a:avLst/>
          </a:prstGeom>
          <a:solidFill>
            <a:srgbClr val="4C2A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46497"/>
            <a:ext cx="9144000" cy="0"/>
          </a:xfrm>
          <a:prstGeom prst="line">
            <a:avLst/>
          </a:prstGeom>
          <a:noFill/>
          <a:ln w="21431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2900" y="125016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91478" y="173593"/>
            <a:ext cx="188595" cy="1885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📦</a:t>
            </a:r>
            <a:endParaRPr lang="en-US" sz="1238" dirty="0"/>
          </a:p>
        </p:txBody>
      </p:sp>
      <p:sp>
        <p:nvSpPr>
          <p:cNvPr id="6" name="Text 4"/>
          <p:cNvSpPr/>
          <p:nvPr/>
        </p:nvSpPr>
        <p:spPr>
          <a:xfrm>
            <a:off x="742950" y="114300"/>
            <a:ext cx="1710097" cy="1797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-17" kern="0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Manajemen Inventaris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2950" y="321469"/>
            <a:ext cx="1758956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FFFFFF">
                    <a:alpha val="85000"/>
                  </a:srgbClr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Dukungan Eksekusi Komunikasi Publik</a:t>
            </a:r>
            <a:endParaRPr lang="en-US" sz="675" dirty="0"/>
          </a:p>
        </p:txBody>
      </p:sp>
      <p:sp>
        <p:nvSpPr>
          <p:cNvPr id="8" name="Text 6"/>
          <p:cNvSpPr/>
          <p:nvPr/>
        </p:nvSpPr>
        <p:spPr>
          <a:xfrm>
            <a:off x="7526387" y="221456"/>
            <a:ext cx="1351196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19" dirty="0">
                <a:solidFill>
                  <a:srgbClr val="FFFFFF">
                    <a:alpha val="85000"/>
                  </a:srgbClr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📦</a:t>
            </a:r>
            <a:pPr algn="l" indent="0" marL="0">
              <a:buNone/>
            </a:pPr>
            <a:r>
              <a:rPr lang="en-US" sz="619" dirty="0">
                <a:solidFill>
                  <a:srgbClr val="FFFFFF">
                    <a:alpha val="8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619" dirty="0">
                <a:solidFill>
                  <a:srgbClr val="FFFFFF">
                    <a:alpha val="8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 Sub-modul Terintegrasi</a:t>
            </a:r>
            <a:endParaRPr lang="en-US" sz="619" dirty="0"/>
          </a:p>
        </p:txBody>
      </p:sp>
      <p:sp>
        <p:nvSpPr>
          <p:cNvPr id="9" name="Text 7"/>
          <p:cNvSpPr/>
          <p:nvPr/>
        </p:nvSpPr>
        <p:spPr>
          <a:xfrm>
            <a:off x="342900" y="728663"/>
            <a:ext cx="1622971" cy="2357438"/>
          </a:xfrm>
          <a:prstGeom prst="roundRect">
            <a:avLst>
              <a:gd name="adj" fmla="val 58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4C2A85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42900" y="739378"/>
            <a:ext cx="1622971" cy="0"/>
          </a:xfrm>
          <a:prstGeom prst="line">
            <a:avLst/>
          </a:prstGeom>
          <a:noFill/>
          <a:ln w="21431">
            <a:solidFill>
              <a:srgbClr val="4C2A8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62299" y="728663"/>
            <a:ext cx="0" cy="2357438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900" y="3082528"/>
            <a:ext cx="1622971" cy="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6472" y="728663"/>
            <a:ext cx="0" cy="2357438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5769" y="850106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4C2A8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▢</a:t>
            </a:r>
            <a:endParaRPr lang="en-US" sz="1406" dirty="0"/>
          </a:p>
        </p:txBody>
      </p:sp>
      <p:sp>
        <p:nvSpPr>
          <p:cNvPr id="15" name="Text 13"/>
          <p:cNvSpPr/>
          <p:nvPr/>
        </p:nvSpPr>
        <p:spPr>
          <a:xfrm>
            <a:off x="750094" y="939403"/>
            <a:ext cx="1122908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spc="23" kern="0" dirty="0">
                <a:solidFill>
                  <a:srgbClr val="4C2A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 · CRUD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35769" y="1164431"/>
            <a:ext cx="1437233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2D1A52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Barang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35769" y="1341574"/>
            <a:ext cx="1523467" cy="3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CRUD barang dengan kode otomatis. 7 kategori. Foto + pop-up preview.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39341" y="2425303"/>
            <a:ext cx="1430089" cy="564356"/>
          </a:xfrm>
          <a:prstGeom prst="roundRect">
            <a:avLst>
              <a:gd name="adj" fmla="val 10127"/>
            </a:avLst>
          </a:prstGeom>
          <a:solidFill>
            <a:srgbClr val="F5F5F4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9" name="Image 0" descr="/tmp/h2p-fit-1791073093912-ji4yl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2913" y="2428875"/>
            <a:ext cx="1422946" cy="557213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2051596" y="728663"/>
            <a:ext cx="1623082" cy="2357438"/>
          </a:xfrm>
          <a:prstGeom prst="roundRect">
            <a:avLst>
              <a:gd name="adj" fmla="val 58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4C2A85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2051596" y="739378"/>
            <a:ext cx="1623082" cy="0"/>
          </a:xfrm>
          <a:prstGeom prst="line">
            <a:avLst/>
          </a:prstGeom>
          <a:noFill/>
          <a:ln w="21431">
            <a:solidFill>
              <a:srgbClr val="2563E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671106" y="728663"/>
            <a:ext cx="0" cy="2357438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051596" y="3082528"/>
            <a:ext cx="1623082" cy="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055168" y="728663"/>
            <a:ext cx="0" cy="2357438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144464" y="850106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2563E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▢</a:t>
            </a:r>
            <a:endParaRPr lang="en-US" sz="1406" dirty="0"/>
          </a:p>
        </p:txBody>
      </p:sp>
      <p:sp>
        <p:nvSpPr>
          <p:cNvPr id="26" name="Text 23"/>
          <p:cNvSpPr/>
          <p:nvPr/>
        </p:nvSpPr>
        <p:spPr>
          <a:xfrm>
            <a:off x="2458789" y="939403"/>
            <a:ext cx="1123020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spc="23" kern="0" dirty="0">
                <a:solidFill>
                  <a:srgbClr val="2563E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· BORROW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2144464" y="1164431"/>
            <a:ext cx="1437345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2D1A52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Peminjaman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2144464" y="1341574"/>
            <a:ext cx="1523586" cy="3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Multi-item + foto peminjam. Form PDF download. Approve / Reject / Return.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2148036" y="2425303"/>
            <a:ext cx="1430201" cy="564356"/>
          </a:xfrm>
          <a:prstGeom prst="roundRect">
            <a:avLst>
              <a:gd name="adj" fmla="val 10127"/>
            </a:avLst>
          </a:prstGeom>
          <a:solidFill>
            <a:srgbClr val="F5F5F4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2730922" y="2582466"/>
            <a:ext cx="264319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2563E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📥</a:t>
            </a:r>
            <a:endParaRPr lang="en-US" sz="1688" dirty="0"/>
          </a:p>
        </p:txBody>
      </p:sp>
      <p:sp>
        <p:nvSpPr>
          <p:cNvPr id="31" name="Text 28"/>
          <p:cNvSpPr/>
          <p:nvPr/>
        </p:nvSpPr>
        <p:spPr>
          <a:xfrm>
            <a:off x="3760403" y="728663"/>
            <a:ext cx="1623082" cy="2357438"/>
          </a:xfrm>
          <a:prstGeom prst="roundRect">
            <a:avLst>
              <a:gd name="adj" fmla="val 58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4C2A85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29"/>
          <p:cNvSpPr/>
          <p:nvPr/>
        </p:nvSpPr>
        <p:spPr>
          <a:xfrm>
            <a:off x="3760403" y="739378"/>
            <a:ext cx="1623082" cy="0"/>
          </a:xfrm>
          <a:prstGeom prst="line">
            <a:avLst/>
          </a:prstGeom>
          <a:noFill/>
          <a:ln w="21431">
            <a:solidFill>
              <a:srgbClr val="A8872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379913" y="728663"/>
            <a:ext cx="0" cy="2357438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3760403" y="3082528"/>
            <a:ext cx="1623082" cy="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763975" y="728663"/>
            <a:ext cx="0" cy="2357438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853272" y="850106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A8872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▢</a:t>
            </a:r>
            <a:endParaRPr lang="en-US" sz="1406" dirty="0"/>
          </a:p>
        </p:txBody>
      </p:sp>
      <p:sp>
        <p:nvSpPr>
          <p:cNvPr id="37" name="Text 34"/>
          <p:cNvSpPr/>
          <p:nvPr/>
        </p:nvSpPr>
        <p:spPr>
          <a:xfrm>
            <a:off x="4167597" y="939403"/>
            <a:ext cx="1123020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spc="23" kern="0" dirty="0">
                <a:solidFill>
                  <a:srgbClr val="A8872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· DISTRIBUTE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3853272" y="1164431"/>
            <a:ext cx="1437345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2D1A52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Pembagian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3853272" y="1341574"/>
            <a:ext cx="1523586" cy="3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Distribusi barang ke penerima. Stok auto-deduct. Keperluan + catatan.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3856844" y="2425303"/>
            <a:ext cx="1430201" cy="564356"/>
          </a:xfrm>
          <a:prstGeom prst="roundRect">
            <a:avLst>
              <a:gd name="adj" fmla="val 10127"/>
            </a:avLst>
          </a:prstGeom>
          <a:solidFill>
            <a:srgbClr val="F5F5F4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4439729" y="2582466"/>
            <a:ext cx="264319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A8872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📤</a:t>
            </a:r>
            <a:endParaRPr lang="en-US" sz="1688" dirty="0"/>
          </a:p>
        </p:txBody>
      </p:sp>
      <p:sp>
        <p:nvSpPr>
          <p:cNvPr id="42" name="Text 39"/>
          <p:cNvSpPr/>
          <p:nvPr/>
        </p:nvSpPr>
        <p:spPr>
          <a:xfrm>
            <a:off x="5469210" y="728663"/>
            <a:ext cx="1623082" cy="2357438"/>
          </a:xfrm>
          <a:prstGeom prst="roundRect">
            <a:avLst>
              <a:gd name="adj" fmla="val 58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4C2A85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Shape 40"/>
          <p:cNvSpPr/>
          <p:nvPr/>
        </p:nvSpPr>
        <p:spPr>
          <a:xfrm>
            <a:off x="5469210" y="739378"/>
            <a:ext cx="1623082" cy="0"/>
          </a:xfrm>
          <a:prstGeom prst="line">
            <a:avLst/>
          </a:prstGeom>
          <a:noFill/>
          <a:ln w="21431">
            <a:solidFill>
              <a:srgbClr val="EA580C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7088721" y="728663"/>
            <a:ext cx="0" cy="2357438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469210" y="3082528"/>
            <a:ext cx="1623082" cy="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5472782" y="728663"/>
            <a:ext cx="0" cy="2357438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562079" y="850106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EA580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▢</a:t>
            </a:r>
            <a:endParaRPr lang="en-US" sz="1406" dirty="0"/>
          </a:p>
        </p:txBody>
      </p:sp>
      <p:sp>
        <p:nvSpPr>
          <p:cNvPr id="48" name="Text 45"/>
          <p:cNvSpPr/>
          <p:nvPr/>
        </p:nvSpPr>
        <p:spPr>
          <a:xfrm>
            <a:off x="5876404" y="939403"/>
            <a:ext cx="1123020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spc="23" kern="0" dirty="0">
                <a:solidFill>
                  <a:srgbClr val="EA580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· TRACK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5562079" y="1164431"/>
            <a:ext cx="1437345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2D1A52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History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5562079" y="1341574"/>
            <a:ext cx="1523586" cy="476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Tracking semua transaksi: masuk, pinjam, kembali, bagi, edit. Filter + hapus.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5565651" y="2425303"/>
            <a:ext cx="1430201" cy="564356"/>
          </a:xfrm>
          <a:prstGeom prst="roundRect">
            <a:avLst>
              <a:gd name="adj" fmla="val 10127"/>
            </a:avLst>
          </a:prstGeom>
          <a:solidFill>
            <a:srgbClr val="F5F5F4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9"/>
          <p:cNvSpPr/>
          <p:nvPr/>
        </p:nvSpPr>
        <p:spPr>
          <a:xfrm>
            <a:off x="6148536" y="2582466"/>
            <a:ext cx="264319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EA580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📜</a:t>
            </a:r>
            <a:endParaRPr lang="en-US" sz="1688" dirty="0"/>
          </a:p>
        </p:txBody>
      </p:sp>
      <p:sp>
        <p:nvSpPr>
          <p:cNvPr id="53" name="Text 50"/>
          <p:cNvSpPr/>
          <p:nvPr/>
        </p:nvSpPr>
        <p:spPr>
          <a:xfrm>
            <a:off x="7178018" y="728663"/>
            <a:ext cx="1622971" cy="2357438"/>
          </a:xfrm>
          <a:prstGeom prst="roundRect">
            <a:avLst>
              <a:gd name="adj" fmla="val 58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4C2A85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Shape 51"/>
          <p:cNvSpPr/>
          <p:nvPr/>
        </p:nvSpPr>
        <p:spPr>
          <a:xfrm>
            <a:off x="7178018" y="739378"/>
            <a:ext cx="1622971" cy="0"/>
          </a:xfrm>
          <a:prstGeom prst="line">
            <a:avLst/>
          </a:prstGeom>
          <a:noFill/>
          <a:ln w="21431">
            <a:solidFill>
              <a:srgbClr val="16A34A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8797417" y="728663"/>
            <a:ext cx="0" cy="2357438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7178018" y="3082528"/>
            <a:ext cx="1622971" cy="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7181590" y="728663"/>
            <a:ext cx="0" cy="2357438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7270886" y="850106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16A34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▢</a:t>
            </a:r>
            <a:endParaRPr lang="en-US" sz="1406" dirty="0"/>
          </a:p>
        </p:txBody>
      </p:sp>
      <p:sp>
        <p:nvSpPr>
          <p:cNvPr id="59" name="Text 56"/>
          <p:cNvSpPr/>
          <p:nvPr/>
        </p:nvSpPr>
        <p:spPr>
          <a:xfrm>
            <a:off x="7585211" y="939403"/>
            <a:ext cx="1122908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spc="23" kern="0" dirty="0">
                <a:solidFill>
                  <a:srgbClr val="16A34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· REPORT</a:t>
            </a:r>
            <a:endParaRPr lang="en-US" sz="800" dirty="0"/>
          </a:p>
        </p:txBody>
      </p:sp>
      <p:sp>
        <p:nvSpPr>
          <p:cNvPr id="60" name="Text 57"/>
          <p:cNvSpPr/>
          <p:nvPr/>
        </p:nvSpPr>
        <p:spPr>
          <a:xfrm>
            <a:off x="7270886" y="1164431"/>
            <a:ext cx="1437233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2D1A52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Rekapitulasi</a:t>
            </a:r>
            <a:endParaRPr lang="en-US" sz="800" dirty="0"/>
          </a:p>
        </p:txBody>
      </p:sp>
      <p:sp>
        <p:nvSpPr>
          <p:cNvPr id="61" name="Text 58"/>
          <p:cNvSpPr/>
          <p:nvPr/>
        </p:nvSpPr>
        <p:spPr>
          <a:xfrm>
            <a:off x="7270886" y="1341574"/>
            <a:ext cx="1523467" cy="3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Filter + sort + search. Export Excel + PDF. Per-kategori breakdown.</a:t>
            </a:r>
            <a:endParaRPr lang="en-US" sz="800" dirty="0"/>
          </a:p>
        </p:txBody>
      </p:sp>
      <p:sp>
        <p:nvSpPr>
          <p:cNvPr id="62" name="Text 59"/>
          <p:cNvSpPr/>
          <p:nvPr/>
        </p:nvSpPr>
        <p:spPr>
          <a:xfrm>
            <a:off x="7274458" y="2425303"/>
            <a:ext cx="1430089" cy="564356"/>
          </a:xfrm>
          <a:prstGeom prst="roundRect">
            <a:avLst>
              <a:gd name="adj" fmla="val 10127"/>
            </a:avLst>
          </a:prstGeom>
          <a:solidFill>
            <a:srgbClr val="F5F5F4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0"/>
          <p:cNvSpPr/>
          <p:nvPr/>
        </p:nvSpPr>
        <p:spPr>
          <a:xfrm>
            <a:off x="7857344" y="2582466"/>
            <a:ext cx="264319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16A34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📊</a:t>
            </a:r>
            <a:endParaRPr lang="en-US" sz="1688" dirty="0"/>
          </a:p>
        </p:txBody>
      </p:sp>
      <p:sp>
        <p:nvSpPr>
          <p:cNvPr id="64" name="Text 61"/>
          <p:cNvSpPr/>
          <p:nvPr/>
        </p:nvSpPr>
        <p:spPr>
          <a:xfrm>
            <a:off x="342900" y="3186113"/>
            <a:ext cx="8458200" cy="446484"/>
          </a:xfrm>
          <a:prstGeom prst="roundRect">
            <a:avLst>
              <a:gd name="adj" fmla="val 21333"/>
            </a:avLst>
          </a:prstGeom>
          <a:solidFill>
            <a:srgbClr val="4C2A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Shape 62"/>
          <p:cNvSpPr/>
          <p:nvPr/>
        </p:nvSpPr>
        <p:spPr>
          <a:xfrm>
            <a:off x="357188" y="3186113"/>
            <a:ext cx="0" cy="446484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500063" y="3271838"/>
            <a:ext cx="8172450" cy="129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0D67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💡</a:t>
            </a:r>
            <a:pPr algn="l" indent="0" marL="0">
              <a:buNone/>
            </a:pPr>
            <a:r>
              <a:rPr lang="en-US" sz="800" b="1" dirty="0">
                <a:solidFill>
                  <a:srgbClr val="F0D67D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Kenapa Inventaris Penting untuk Komunikasi Publik</a:t>
            </a:r>
            <a:endParaRPr lang="en-US" sz="800" dirty="0"/>
          </a:p>
        </p:txBody>
      </p:sp>
      <p:sp>
        <p:nvSpPr>
          <p:cNvPr id="67" name="Text 64"/>
          <p:cNvSpPr/>
          <p:nvPr/>
        </p:nvSpPr>
        <p:spPr>
          <a:xfrm>
            <a:off x="500063" y="3429000"/>
            <a:ext cx="8172450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F0D67D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Track peralatan kehumasan</a:t>
            </a:r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(kamera, mic, tripod) </a:t>
            </a:r>
            <a:pPr algn="l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D4AF3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|</a:t>
            </a:r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</a:t>
            </a:r>
            <a:pPr algn="l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F0D67D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Bukti peminjaman</a:t>
            </a:r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untuk SKP </a:t>
            </a:r>
            <a:pPr algn="l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D4AF3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|</a:t>
            </a:r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</a:t>
            </a:r>
            <a:pPr algn="l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F0D67D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Stok management</a:t>
            </a:r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untuk distribusi merchandise</a:t>
            </a:r>
            <a:endParaRPr lang="en-US" sz="800" dirty="0"/>
          </a:p>
        </p:txBody>
      </p:sp>
      <p:sp>
        <p:nvSpPr>
          <p:cNvPr id="68" name="Text 65"/>
          <p:cNvSpPr/>
          <p:nvPr/>
        </p:nvSpPr>
        <p:spPr>
          <a:xfrm>
            <a:off x="342900" y="4993481"/>
            <a:ext cx="8143763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8A2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Pushakin Flows · Penghargaan Komunikasi Publik Inovatif</a:t>
            </a:r>
            <a:endParaRPr lang="en-US" sz="800" dirty="0"/>
          </a:p>
        </p:txBody>
      </p:sp>
      <p:sp>
        <p:nvSpPr>
          <p:cNvPr id="69" name="Text 66"/>
          <p:cNvSpPr/>
          <p:nvPr/>
        </p:nvSpPr>
        <p:spPr>
          <a:xfrm>
            <a:off x="8478068" y="4993481"/>
            <a:ext cx="453969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8A29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57213"/>
          </a:xfrm>
          <a:prstGeom prst="rect">
            <a:avLst/>
          </a:prstGeom>
          <a:solidFill>
            <a:srgbClr val="4C2A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46497"/>
            <a:ext cx="9144000" cy="0"/>
          </a:xfrm>
          <a:prstGeom prst="line">
            <a:avLst/>
          </a:prstGeom>
          <a:noFill/>
          <a:ln w="21431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2900" y="125016"/>
            <a:ext cx="285750" cy="285750"/>
          </a:xfrm>
          <a:prstGeom prst="ellipse">
            <a:avLst/>
          </a:prstGeom>
          <a:solidFill>
            <a:srgbClr val="D4AF37"/>
          </a:solidFill>
          <a:ln/>
          <a:effectLst>
            <a:outerShdw sx="100000" sy="100000" kx="0" ky="0" algn="bl" rotWithShape="0" blurRad="57150" dist="19050" dir="5400000">
              <a:srgbClr val="D4AF37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91478" y="173593"/>
            <a:ext cx="188595" cy="1885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🏆</a:t>
            </a:r>
            <a:endParaRPr lang="en-US" sz="1238" dirty="0"/>
          </a:p>
        </p:txBody>
      </p:sp>
      <p:sp>
        <p:nvSpPr>
          <p:cNvPr id="6" name="Text 4"/>
          <p:cNvSpPr/>
          <p:nvPr/>
        </p:nvSpPr>
        <p:spPr>
          <a:xfrm>
            <a:off x="742950" y="114300"/>
            <a:ext cx="3302500" cy="1797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-17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Ringkasan Pemenuhan 6 Indikator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2950" y="321469"/>
            <a:ext cx="3002273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FFFFFF">
                    <a:alpha val="85000"/>
                  </a:srgbClr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Penghargaan Pengelolaan Komunikasi Publik Inovatif · Kementerian Agama RI</a:t>
            </a:r>
            <a:endParaRPr lang="en-US" sz="675" dirty="0"/>
          </a:p>
        </p:txBody>
      </p:sp>
      <p:sp>
        <p:nvSpPr>
          <p:cNvPr id="8" name="Text 6"/>
          <p:cNvSpPr/>
          <p:nvPr/>
        </p:nvSpPr>
        <p:spPr>
          <a:xfrm>
            <a:off x="7824884" y="171879"/>
            <a:ext cx="999076" cy="192024"/>
          </a:xfrm>
          <a:prstGeom prst="roundRect">
            <a:avLst>
              <a:gd name="adj" fmla="val 4955357"/>
            </a:avLst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847744" y="182166"/>
            <a:ext cx="95335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56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100% TERPENUHI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46472" y="732234"/>
            <a:ext cx="8451056" cy="1845543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0044" y="735806"/>
          <a:ext cx="8443913" cy="914400"/>
        </p:xfrm>
        <a:graphic>
          <a:graphicData uri="http://schemas.openxmlformats.org/drawingml/2006/table">
            <a:tbl>
              <a:tblPr/>
              <a:tblGrid>
                <a:gridCol w="1857598"/>
                <a:gridCol w="844302"/>
                <a:gridCol w="1519833"/>
                <a:gridCol w="4222179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Indikator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2A8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Bobot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2A8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Status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2A8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Bukti di Sistem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2A8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C191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Objektif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57150" marR="100013" marT="100013" marB="57150" anchor="ctr">
                    <a:lnL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C191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20%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7150" marR="100013" marT="100013" marB="57150" anchor="ctr">
                    <a:lnL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✅ Terpenuhi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100013" marT="100013" marB="57150" anchor="ctr">
                    <a:lnL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Surat, Kegiatan, Project, Surat Tugas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100013" marT="100013" marB="57150" anchor="ctr">
                    <a:lnL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C191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Strategi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57150" marR="100013" marT="100013" marB="57150" anchor="ctr">
                    <a:lnL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C191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20%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7150" marR="100013" marT="100013" marB="57150" anchor="ctr">
                    <a:lnL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✅ Terpenuhi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100013" marT="100013" marB="57150" anchor="ctr">
                    <a:lnL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Pemilihan petugas, Fast Track, Inventaris, WA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100013" marT="100013" marB="57150" anchor="ctr">
                    <a:lnL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C191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Taktik / Saluran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57150" marR="100013" marT="100013" marB="57150" anchor="ctr">
                    <a:lnL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C191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10%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7150" marR="100013" marT="100013" marB="57150" anchor="ctr">
                    <a:lnL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✅ Terpenuhi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100013" marT="100013" marB="57150" anchor="ctr">
                    <a:lnL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14+ platform, role per saluran, LIHUM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100013" marT="100013" marB="57150" anchor="ctr">
                    <a:lnL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C191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Key Messages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57150" marR="100013" marT="100013" marB="57150" anchor="ctr">
                    <a:lnL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C191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15%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7150" marR="100013" marT="100013" marB="57150" anchor="ctr">
                    <a:lnL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✅ Terpenuhi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100013" marT="100013" marB="57150" anchor="ctr">
                    <a:lnL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Description, customActivity, catatan task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100013" marT="100013" marB="57150" anchor="ctr">
                    <a:lnL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C191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Eksekusi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57150" marR="100013" marT="100013" marB="57150" anchor="ctr">
                    <a:lnL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C191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20%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7150" marR="100013" marT="100013" marB="57150" anchor="ctr">
                    <a:lnL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A887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✅✅ Sangat Kuat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100013" marT="100013" marB="57150" anchor="ctr">
                    <a:lnL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5-tahap workflow, 16 role, Drive, LIHUM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100013" marT="100013" marB="57150" anchor="ctr">
                    <a:lnL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C191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Pengukuran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57150" marR="100013" marT="100013" marB="57150" anchor="ctr">
                    <a:lnL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C191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15%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7150" marR="100013" marT="100013" marB="57150" anchor="ctr">
                    <a:lnL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✅ Terpenuhi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100013" marT="100013" marB="57150" anchor="ctr">
                    <a:lnL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Laporan SKP, rekap, public tracker, LIHUM stats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100013" marT="100013" marB="57150" anchor="ctr">
                    <a:lnL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</a:tr>
              <a:tr h="0">
                <a:tc gridSpan="4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C191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TOTAL: 100% Terpenuhi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57150" marR="100013" marT="100013" marB="57150" anchor="ctr">
                    <a:lnL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342900" y="2681362"/>
            <a:ext cx="8458200" cy="613470"/>
          </a:xfrm>
          <a:prstGeom prst="roundRect">
            <a:avLst>
              <a:gd name="adj" fmla="val 15526"/>
            </a:avLst>
          </a:prstGeom>
          <a:solidFill>
            <a:srgbClr val="D4AF37"/>
          </a:solidFill>
          <a:ln/>
          <a:effectLst>
            <a:outerShdw sx="100000" sy="100000" kx="0" ky="0" algn="bl" rotWithShape="0" blurRad="95250" dist="28575" dir="5400000">
              <a:srgbClr val="D4AF37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71488" y="2781374"/>
            <a:ext cx="271463" cy="271463"/>
          </a:xfrm>
          <a:prstGeom prst="ellipse">
            <a:avLst/>
          </a:prstGeom>
          <a:solidFill>
            <a:srgbClr val="4C2A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21494" y="283138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💡</a:t>
            </a:r>
            <a:endParaRPr lang="en-US" sz="1125" dirty="0"/>
          </a:p>
        </p:txBody>
      </p:sp>
      <p:sp>
        <p:nvSpPr>
          <p:cNvPr id="15" name="Text 12"/>
          <p:cNvSpPr/>
          <p:nvPr/>
        </p:nvSpPr>
        <p:spPr>
          <a:xfrm>
            <a:off x="871538" y="2781374"/>
            <a:ext cx="7800975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D1A52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Key Innovation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871538" y="2938537"/>
            <a:ext cx="7800975" cy="271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00" dirty="0">
                <a:solidFill>
                  <a:srgbClr val="4C2A8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2D1A5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Integrasi Pushakin Flows ↔ LIHUM = workflow otomatis end-to-end</a:t>
            </a:r>
            <a:endParaRPr lang="en-US" sz="800" dirty="0"/>
          </a:p>
          <a:p>
            <a:pPr algn="l" indent="0" marL="0">
              <a:lnSpc>
                <a:spcPts val="897"/>
              </a:lnSpc>
              <a:buNone/>
            </a:pPr>
            <a:r>
              <a:rPr lang="en-US" sz="600" dirty="0">
                <a:solidFill>
                  <a:srgbClr val="4C2A8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2D1A5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Folder PUBLIC/PRIVATE = filter keamanan distribusi konten</a:t>
            </a:r>
            <a:endParaRPr lang="en-US" sz="800" dirty="0"/>
          </a:p>
          <a:p>
            <a:pPr algn="l" indent="0" marL="0">
              <a:lnSpc>
                <a:spcPts val="897"/>
              </a:lnSpc>
              <a:buNone/>
            </a:pPr>
            <a:r>
              <a:rPr lang="en-US" sz="600" dirty="0">
                <a:solidFill>
                  <a:srgbClr val="4C2A8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2D1A5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Laporan per petugas = bukti kinerja SKP terstruktur</a:t>
            </a:r>
            <a:endParaRPr lang="en-US" sz="800" dirty="0"/>
          </a:p>
          <a:p>
            <a:pPr algn="l" indent="0" marL="0">
              <a:lnSpc>
                <a:spcPts val="897"/>
              </a:lnSpc>
              <a:buNone/>
            </a:pPr>
            <a:r>
              <a:rPr lang="en-US" sz="600" dirty="0">
                <a:solidFill>
                  <a:srgbClr val="4C2A8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2D1A5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Public Tracker = transparansi publik real-time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342900" y="3398416"/>
            <a:ext cx="8458200" cy="0"/>
          </a:xfrm>
          <a:prstGeom prst="line">
            <a:avLst/>
          </a:prstGeom>
          <a:noFill/>
          <a:ln w="7144">
            <a:solidFill>
              <a:srgbClr val="D4AF37"/>
            </a:solidFill>
            <a:prstDash val="dash"/>
          </a:ln>
        </p:spPr>
      </p:sp>
      <p:sp>
        <p:nvSpPr>
          <p:cNvPr id="18" name="Shape 15"/>
          <p:cNvSpPr/>
          <p:nvPr/>
        </p:nvSpPr>
        <p:spPr>
          <a:xfrm>
            <a:off x="342900" y="3659163"/>
            <a:ext cx="8458200" cy="0"/>
          </a:xfrm>
          <a:prstGeom prst="line">
            <a:avLst/>
          </a:prstGeom>
          <a:noFill/>
          <a:ln w="7144">
            <a:solidFill>
              <a:srgbClr val="D4AF37"/>
            </a:solidFill>
            <a:prstDash val="dash"/>
          </a:ln>
        </p:spPr>
      </p:sp>
      <p:sp>
        <p:nvSpPr>
          <p:cNvPr id="19" name="Text 16"/>
          <p:cNvSpPr/>
          <p:nvPr/>
        </p:nvSpPr>
        <p:spPr>
          <a:xfrm>
            <a:off x="342900" y="3394844"/>
            <a:ext cx="8458200" cy="316523"/>
          </a:xfrm>
          <a:prstGeom prst="rect">
            <a:avLst/>
          </a:prstGeom>
          <a:noFill/>
          <a:ln/>
        </p:spPr>
        <p:txBody>
          <a:bodyPr wrap="square" lIns="171450" tIns="57150" rIns="171450" bIns="57150" rtlCol="0" anchor="t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i="1" dirty="0">
                <a:solidFill>
                  <a:srgbClr val="4C2A8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"Pushakin Flows — ekosistem komunikasi publik inovatif yang terintegrasi end-to-end, dari perencanaan hingga pengukuran hasil."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342900" y="3762747"/>
            <a:ext cx="84582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78716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Pusat Humas dan Keterbukaan Informasi </a:t>
            </a:r>
            <a:pPr algn="ctr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D4AF3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|</a:t>
            </a:r>
            <a:pPr algn="ctr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78716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UIN Antasari Banjarmasin</a:t>
            </a:r>
            <a:endParaRPr lang="en-US" sz="80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800" b="1" dirty="0">
                <a:solidFill>
                  <a:srgbClr val="4C2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app.pushakin-flows.workers.dev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2026-10-04T00:18:14Z</dcterms:created>
  <dcterms:modified xsi:type="dcterms:W3CDTF">2026-10-04T00:18:14Z</dcterms:modified>
</cp:coreProperties>
</file>