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1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57250" y="-857250"/>
            <a:ext cx="2571750" cy="25717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-857250" y="-857250"/>
            <a:ext cx="2571750" cy="2571750"/>
          </a:xfrm>
          <a:prstGeom prst="ellipse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0" y="3143250"/>
            <a:ext cx="3000375" cy="3000375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7143750" y="3143250"/>
            <a:ext cx="3000375" cy="3000375"/>
          </a:xfrm>
          <a:prstGeom prst="ellipse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2"/>
          <p:cNvSpPr/>
          <p:nvPr/>
        </p:nvSpPr>
        <p:spPr>
          <a:xfrm>
            <a:off x="428625" y="285750"/>
            <a:ext cx="100013" cy="100013"/>
          </a:xfrm>
          <a:prstGeom prst="ellipse">
            <a:avLst/>
          </a:prstGeom>
          <a:solidFill>
            <a:srgbClr val="D4AF37"/>
          </a:solidFill>
          <a:ln/>
          <a:effectLst>
            <a:outerShdw sx="100000" sy="100000" kx="0" ky="0" algn="bl" rotWithShape="0" blurRad="152400" dist="50800" dir="16200000">
              <a:srgbClr val="D4AF37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3"/>
          <p:cNvSpPr/>
          <p:nvPr/>
        </p:nvSpPr>
        <p:spPr>
          <a:xfrm>
            <a:off x="714375" y="571500"/>
            <a:ext cx="57150" cy="57150"/>
          </a:xfrm>
          <a:prstGeom prst="ellipse">
            <a:avLst/>
          </a:prstGeom>
          <a:solidFill>
            <a:srgbClr val="D4AF37"/>
          </a:solidFill>
          <a:ln/>
          <a:effectLst>
            <a:outerShdw sx="100000" sy="100000" kx="0" ky="0" algn="bl" rotWithShape="0" blurRad="152400" dist="50800" dir="16200000">
              <a:srgbClr val="D4AF37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4"/>
          <p:cNvSpPr/>
          <p:nvPr/>
        </p:nvSpPr>
        <p:spPr>
          <a:xfrm>
            <a:off x="1000125" y="428625"/>
            <a:ext cx="42863" cy="42863"/>
          </a:xfrm>
          <a:prstGeom prst="ellipse">
            <a:avLst/>
          </a:prstGeom>
          <a:solidFill>
            <a:srgbClr val="D4AF37"/>
          </a:solidFill>
          <a:ln/>
          <a:effectLst>
            <a:outerShdw sx="100000" sy="100000" kx="0" ky="0" algn="bl" rotWithShape="0" blurRad="152400" dist="50800" dir="16200000">
              <a:srgbClr val="D4AF37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5"/>
          <p:cNvSpPr/>
          <p:nvPr/>
        </p:nvSpPr>
        <p:spPr>
          <a:xfrm>
            <a:off x="8615363" y="285750"/>
            <a:ext cx="100013" cy="100013"/>
          </a:xfrm>
          <a:prstGeom prst="ellipse">
            <a:avLst/>
          </a:prstGeom>
          <a:solidFill>
            <a:srgbClr val="D4AF37"/>
          </a:solidFill>
          <a:ln/>
          <a:effectLst>
            <a:outerShdw sx="100000" sy="100000" kx="0" ky="0" algn="bl" rotWithShape="0" blurRad="152400" dist="50800" dir="16200000">
              <a:srgbClr val="D4AF37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6"/>
          <p:cNvSpPr/>
          <p:nvPr/>
        </p:nvSpPr>
        <p:spPr>
          <a:xfrm>
            <a:off x="8372475" y="571500"/>
            <a:ext cx="57150" cy="57150"/>
          </a:xfrm>
          <a:prstGeom prst="ellipse">
            <a:avLst/>
          </a:prstGeom>
          <a:solidFill>
            <a:srgbClr val="D4AF37"/>
          </a:solidFill>
          <a:ln/>
          <a:effectLst>
            <a:outerShdw sx="100000" sy="100000" kx="0" ky="0" algn="bl" rotWithShape="0" blurRad="152400" dist="50800" dir="16200000">
              <a:srgbClr val="D4AF37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7"/>
          <p:cNvSpPr/>
          <p:nvPr/>
        </p:nvSpPr>
        <p:spPr>
          <a:xfrm>
            <a:off x="8101013" y="428625"/>
            <a:ext cx="42863" cy="42863"/>
          </a:xfrm>
          <a:prstGeom prst="ellipse">
            <a:avLst/>
          </a:prstGeom>
          <a:solidFill>
            <a:srgbClr val="D4AF37"/>
          </a:solidFill>
          <a:ln/>
          <a:effectLst>
            <a:outerShdw sx="100000" sy="100000" kx="0" ky="0" algn="bl" rotWithShape="0" blurRad="152400" dist="50800" dir="16200000">
              <a:srgbClr val="D4AF37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8"/>
          <p:cNvSpPr/>
          <p:nvPr/>
        </p:nvSpPr>
        <p:spPr>
          <a:xfrm>
            <a:off x="428625" y="4757738"/>
            <a:ext cx="100013" cy="100013"/>
          </a:xfrm>
          <a:prstGeom prst="ellipse">
            <a:avLst/>
          </a:prstGeom>
          <a:solidFill>
            <a:srgbClr val="D4AF37"/>
          </a:solidFill>
          <a:ln/>
          <a:effectLst>
            <a:outerShdw sx="100000" sy="100000" kx="0" ky="0" algn="bl" rotWithShape="0" blurRad="152400" dist="50800" dir="16200000">
              <a:srgbClr val="D4AF37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9"/>
          <p:cNvSpPr/>
          <p:nvPr/>
        </p:nvSpPr>
        <p:spPr>
          <a:xfrm>
            <a:off x="714375" y="4514850"/>
            <a:ext cx="57150" cy="57150"/>
          </a:xfrm>
          <a:prstGeom prst="ellipse">
            <a:avLst/>
          </a:prstGeom>
          <a:solidFill>
            <a:srgbClr val="D4AF37"/>
          </a:solidFill>
          <a:ln/>
          <a:effectLst>
            <a:outerShdw sx="100000" sy="100000" kx="0" ky="0" algn="bl" rotWithShape="0" blurRad="152400" dist="50800" dir="16200000">
              <a:srgbClr val="D4AF37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0"/>
          <p:cNvSpPr/>
          <p:nvPr/>
        </p:nvSpPr>
        <p:spPr>
          <a:xfrm>
            <a:off x="1000125" y="4672013"/>
            <a:ext cx="42863" cy="42863"/>
          </a:xfrm>
          <a:prstGeom prst="ellipse">
            <a:avLst/>
          </a:prstGeom>
          <a:solidFill>
            <a:srgbClr val="D4AF37"/>
          </a:solidFill>
          <a:ln/>
          <a:effectLst>
            <a:outerShdw sx="100000" sy="100000" kx="0" ky="0" algn="bl" rotWithShape="0" blurRad="152400" dist="50800" dir="16200000">
              <a:srgbClr val="D4AF37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1"/>
          <p:cNvSpPr/>
          <p:nvPr/>
        </p:nvSpPr>
        <p:spPr>
          <a:xfrm>
            <a:off x="8615363" y="4757738"/>
            <a:ext cx="100013" cy="100013"/>
          </a:xfrm>
          <a:prstGeom prst="ellipse">
            <a:avLst/>
          </a:prstGeom>
          <a:solidFill>
            <a:srgbClr val="D4AF37"/>
          </a:solidFill>
          <a:ln/>
          <a:effectLst>
            <a:outerShdw sx="100000" sy="100000" kx="0" ky="0" algn="bl" rotWithShape="0" blurRad="152400" dist="50800" dir="16200000">
              <a:srgbClr val="D4AF37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2"/>
          <p:cNvSpPr/>
          <p:nvPr/>
        </p:nvSpPr>
        <p:spPr>
          <a:xfrm>
            <a:off x="8372475" y="4514850"/>
            <a:ext cx="57150" cy="57150"/>
          </a:xfrm>
          <a:prstGeom prst="ellipse">
            <a:avLst/>
          </a:prstGeom>
          <a:solidFill>
            <a:srgbClr val="D4AF37"/>
          </a:solidFill>
          <a:ln/>
          <a:effectLst>
            <a:outerShdw sx="100000" sy="100000" kx="0" ky="0" algn="bl" rotWithShape="0" blurRad="152400" dist="50800" dir="16200000">
              <a:srgbClr val="D4AF37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3"/>
          <p:cNvSpPr/>
          <p:nvPr/>
        </p:nvSpPr>
        <p:spPr>
          <a:xfrm>
            <a:off x="8101013" y="4672013"/>
            <a:ext cx="42863" cy="42863"/>
          </a:xfrm>
          <a:prstGeom prst="ellipse">
            <a:avLst/>
          </a:prstGeom>
          <a:solidFill>
            <a:srgbClr val="D4AF37"/>
          </a:solidFill>
          <a:ln/>
          <a:effectLst>
            <a:outerShdw sx="100000" sy="100000" kx="0" ky="0" algn="bl" rotWithShape="0" blurRad="152400" dist="50800" dir="16200000">
              <a:srgbClr val="D4AF37">
                <a:alpha val="7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4"/>
          <p:cNvSpPr/>
          <p:nvPr/>
        </p:nvSpPr>
        <p:spPr>
          <a:xfrm>
            <a:off x="4250420" y="1307306"/>
            <a:ext cx="642938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05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🏆</a:t>
            </a:r>
            <a:endParaRPr lang="en-US" sz="4050" dirty="0"/>
          </a:p>
        </p:txBody>
      </p:sp>
      <p:sp>
        <p:nvSpPr>
          <p:cNvPr id="20" name="Text 15"/>
          <p:cNvSpPr/>
          <p:nvPr/>
        </p:nvSpPr>
        <p:spPr>
          <a:xfrm>
            <a:off x="428625" y="1893094"/>
            <a:ext cx="8286750" cy="501491"/>
          </a:xfrm>
          <a:prstGeom prst="rect">
            <a:avLst/>
          </a:prstGeom>
          <a:noFill/>
          <a:ln/>
          <a:effectLst>
            <a:outerShdw sx="100000" sy="100000" kx="0" ky="0" algn="bl" rotWithShape="0" blurRad="171450" dist="381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3150" b="1" spc="28" kern="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Pushakin Flows</a:t>
            </a:r>
            <a:endParaRPr lang="en-US" sz="3150" dirty="0"/>
          </a:p>
        </p:txBody>
      </p:sp>
      <p:sp>
        <p:nvSpPr>
          <p:cNvPr id="21" name="Text 16"/>
          <p:cNvSpPr/>
          <p:nvPr/>
        </p:nvSpPr>
        <p:spPr>
          <a:xfrm>
            <a:off x="2699614" y="2457450"/>
            <a:ext cx="3744548" cy="200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38" b="1" dirty="0">
                <a:solidFill>
                  <a:srgbClr val="F4D77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Sistem Manajemen Komunikasi Publik Inovatif</a:t>
            </a:r>
            <a:endParaRPr lang="en-US" sz="1238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8951" y="2800350"/>
            <a:ext cx="1285875" cy="21431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2928491" y="2978944"/>
            <a:ext cx="3286906" cy="162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13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Penghargaan Pengelolaan Komunikasi Publik Inovatif</a:t>
            </a:r>
            <a:endParaRPr lang="en-US" sz="1013" dirty="0"/>
          </a:p>
        </p:txBody>
      </p:sp>
      <p:sp>
        <p:nvSpPr>
          <p:cNvPr id="24" name="Text 18"/>
          <p:cNvSpPr/>
          <p:nvPr/>
        </p:nvSpPr>
        <p:spPr>
          <a:xfrm>
            <a:off x="3922629" y="3186113"/>
            <a:ext cx="1298519" cy="1311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44" dirty="0">
                <a:solidFill>
                  <a:srgbClr val="FFFFFF">
                    <a:alpha val="70000"/>
                  </a:srgbClr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Kementerian Agama RI</a:t>
            </a:r>
            <a:endParaRPr lang="en-US" sz="844" dirty="0"/>
          </a:p>
        </p:txBody>
      </p:sp>
      <p:sp>
        <p:nvSpPr>
          <p:cNvPr id="25" name="Text 19"/>
          <p:cNvSpPr/>
          <p:nvPr/>
        </p:nvSpPr>
        <p:spPr>
          <a:xfrm>
            <a:off x="2466848" y="3425000"/>
            <a:ext cx="714888" cy="208026"/>
          </a:xfrm>
          <a:prstGeom prst="roundRect">
            <a:avLst>
              <a:gd name="adj" fmla="val 4574176"/>
            </a:avLst>
          </a:prstGeom>
          <a:solidFill>
            <a:srgbClr val="D4AF37">
              <a:alpha val="18000"/>
            </a:srgbClr>
          </a:solidFill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0"/>
          <p:cNvSpPr/>
          <p:nvPr/>
        </p:nvSpPr>
        <p:spPr>
          <a:xfrm>
            <a:off x="2489708" y="3436144"/>
            <a:ext cx="66916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D77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🏗️ 4 Modul</a:t>
            </a:r>
            <a:endParaRPr lang="en-US" sz="800" dirty="0"/>
          </a:p>
        </p:txBody>
      </p:sp>
      <p:sp>
        <p:nvSpPr>
          <p:cNvPr id="27" name="Text 21"/>
          <p:cNvSpPr/>
          <p:nvPr/>
        </p:nvSpPr>
        <p:spPr>
          <a:xfrm>
            <a:off x="3264604" y="3425000"/>
            <a:ext cx="1043613" cy="208026"/>
          </a:xfrm>
          <a:prstGeom prst="roundRect">
            <a:avLst>
              <a:gd name="adj" fmla="val 4574176"/>
            </a:avLst>
          </a:prstGeom>
          <a:solidFill>
            <a:srgbClr val="D4AF37">
              <a:alpha val="18000"/>
            </a:srgbClr>
          </a:solidFill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2"/>
          <p:cNvSpPr/>
          <p:nvPr/>
        </p:nvSpPr>
        <p:spPr>
          <a:xfrm>
            <a:off x="3287464" y="3436144"/>
            <a:ext cx="99789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D77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⭐ Integrasi LIHUM</a:t>
            </a:r>
            <a:endParaRPr lang="en-US" sz="800" dirty="0"/>
          </a:p>
        </p:txBody>
      </p:sp>
      <p:sp>
        <p:nvSpPr>
          <p:cNvPr id="29" name="Text 23"/>
          <p:cNvSpPr/>
          <p:nvPr/>
        </p:nvSpPr>
        <p:spPr>
          <a:xfrm>
            <a:off x="4391085" y="3425000"/>
            <a:ext cx="1116613" cy="208026"/>
          </a:xfrm>
          <a:prstGeom prst="roundRect">
            <a:avLst>
              <a:gd name="adj" fmla="val 4574176"/>
            </a:avLst>
          </a:prstGeom>
          <a:solidFill>
            <a:srgbClr val="D4AF37">
              <a:alpha val="18000"/>
            </a:srgbClr>
          </a:solidFill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4"/>
          <p:cNvSpPr/>
          <p:nvPr/>
        </p:nvSpPr>
        <p:spPr>
          <a:xfrm>
            <a:off x="4413945" y="3436144"/>
            <a:ext cx="107089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D77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⚡ Workflow 5 Tahap</a:t>
            </a:r>
            <a:endParaRPr lang="en-US" sz="800" dirty="0"/>
          </a:p>
        </p:txBody>
      </p:sp>
      <p:sp>
        <p:nvSpPr>
          <p:cNvPr id="31" name="Text 25"/>
          <p:cNvSpPr/>
          <p:nvPr/>
        </p:nvSpPr>
        <p:spPr>
          <a:xfrm>
            <a:off x="5590565" y="3425000"/>
            <a:ext cx="1086475" cy="208026"/>
          </a:xfrm>
          <a:prstGeom prst="roundRect">
            <a:avLst>
              <a:gd name="adj" fmla="val 4574176"/>
            </a:avLst>
          </a:prstGeom>
          <a:solidFill>
            <a:srgbClr val="D4AF37">
              <a:alpha val="18000"/>
            </a:srgbClr>
          </a:solidFill>
          <a:ln w="7144">
            <a:solidFill>
              <a:srgbClr val="D4AF3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6"/>
          <p:cNvSpPr/>
          <p:nvPr/>
        </p:nvSpPr>
        <p:spPr>
          <a:xfrm>
            <a:off x="5613425" y="3436144"/>
            <a:ext cx="1040755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D77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📊</a:t>
            </a:r>
            <a:pPr algn="ctr" indent="0" marL="0">
              <a:buNone/>
            </a:pPr>
            <a:r>
              <a:rPr lang="en-US" sz="800" b="1" dirty="0">
                <a:solidFill>
                  <a:srgbClr val="F4D77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Pengukuran SKP</a:t>
            </a:r>
            <a:endParaRPr lang="en-US" sz="800" dirty="0"/>
          </a:p>
        </p:txBody>
      </p:sp>
      <p:sp>
        <p:nvSpPr>
          <p:cNvPr id="33" name="Text 27"/>
          <p:cNvSpPr/>
          <p:nvPr/>
        </p:nvSpPr>
        <p:spPr>
          <a:xfrm>
            <a:off x="3404332" y="4464844"/>
            <a:ext cx="2522043" cy="138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23" kern="0" dirty="0">
                <a:solidFill>
                  <a:srgbClr val="D4AF3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Pusat Humas dan Keterbukaan Informasi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3827822" y="4636294"/>
            <a:ext cx="1607304" cy="126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31" dirty="0">
                <a:solidFill>
                  <a:srgbClr val="FFFFFF">
                    <a:alpha val="8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UIN Antasari Banjarmasin — 2026</a:t>
            </a:r>
            <a:endParaRPr lang="en-US" sz="73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B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71450"/>
            <a:ext cx="8686800" cy="3571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5763" y="257175"/>
            <a:ext cx="6460071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38" b="1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🏗</a:t>
            </a:r>
            <a:pPr algn="l" indent="0" marL="0">
              <a:buNone/>
            </a:pPr>
            <a:r>
              <a:rPr lang="en-US" sz="1238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️ Pushakin Flows — </a:t>
            </a:r>
            <a:pPr algn="l" indent="0" marL="0">
              <a:buNone/>
            </a:pPr>
            <a:r>
              <a:rPr lang="en-US" sz="1238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pPr algn="l" indent="0" marL="0">
              <a:buNone/>
            </a:pPr>
            <a:r>
              <a:rPr lang="en-US" sz="1238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Modul + </a:t>
            </a:r>
            <a:pPr algn="l" indent="0" marL="0">
              <a:buNone/>
            </a:pPr>
            <a:r>
              <a:rPr lang="en-US" sz="1238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pPr algn="l" indent="0" marL="0">
              <a:buNone/>
            </a:pPr>
            <a:r>
              <a:rPr lang="en-US" sz="1238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Inovasi Integrasi</a:t>
            </a:r>
            <a:endParaRPr lang="en-US" sz="1238" dirty="0"/>
          </a:p>
        </p:txBody>
      </p:sp>
      <p:sp>
        <p:nvSpPr>
          <p:cNvPr id="4" name="Text 1"/>
          <p:cNvSpPr/>
          <p:nvPr/>
        </p:nvSpPr>
        <p:spPr>
          <a:xfrm>
            <a:off x="6881552" y="271463"/>
            <a:ext cx="1876685" cy="157163"/>
          </a:xfrm>
          <a:prstGeom prst="roundRect">
            <a:avLst>
              <a:gd name="adj" fmla="val 6054526"/>
            </a:avLst>
          </a:prstGeom>
          <a:solidFill>
            <a:srgbClr val="FFFFFF">
              <a:alpha val="1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881552" y="271463"/>
            <a:ext cx="1876685" cy="171450"/>
          </a:xfrm>
          <a:prstGeom prst="rect">
            <a:avLst/>
          </a:prstGeom>
          <a:noFill/>
          <a:ln/>
        </p:spPr>
        <p:txBody>
          <a:bodyPr wrap="square" lIns="85725" tIns="28575" rIns="85725" bIns="28575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Ekosistem Komunikasi Publik End-to-End</a:t>
            </a:r>
            <a:endParaRPr lang="en-US" sz="675" dirty="0"/>
          </a:p>
        </p:txBody>
      </p:sp>
      <p:sp>
        <p:nvSpPr>
          <p:cNvPr id="6" name="Text 3"/>
          <p:cNvSpPr/>
          <p:nvPr/>
        </p:nvSpPr>
        <p:spPr>
          <a:xfrm>
            <a:off x="228600" y="614363"/>
            <a:ext cx="2118122" cy="1271588"/>
          </a:xfrm>
          <a:prstGeom prst="roundRect">
            <a:avLst>
              <a:gd name="adj" fmla="val 89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228600" y="632222"/>
            <a:ext cx="2118122" cy="0"/>
          </a:xfrm>
          <a:prstGeom prst="line">
            <a:avLst/>
          </a:prstGeom>
          <a:noFill/>
          <a:ln w="35719">
            <a:solidFill>
              <a:srgbClr val="14B8A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14325" y="721519"/>
            <a:ext cx="1946672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63" dirty="0">
                <a:solidFill>
                  <a:srgbClr val="1C191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📬</a:t>
            </a:r>
            <a:endParaRPr lang="en-US" sz="1463" dirty="0"/>
          </a:p>
        </p:txBody>
      </p:sp>
      <p:sp>
        <p:nvSpPr>
          <p:cNvPr id="9" name="Text 6"/>
          <p:cNvSpPr/>
          <p:nvPr/>
        </p:nvSpPr>
        <p:spPr>
          <a:xfrm>
            <a:off x="314325" y="935831"/>
            <a:ext cx="1946672" cy="1082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Manajemen Surat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314325" y="1071563"/>
            <a:ext cx="19466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03"/>
              </a:lnSpc>
              <a:buNone/>
            </a:pPr>
            <a:r>
              <a:rPr lang="en-US" sz="600" dirty="0">
                <a:solidFill>
                  <a:srgbClr val="6B656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Surat masuk/keluar, kategori, status, rekapitulasi</a:t>
            </a:r>
            <a:endParaRPr lang="en-US" sz="600" dirty="0"/>
          </a:p>
        </p:txBody>
      </p:sp>
      <p:sp>
        <p:nvSpPr>
          <p:cNvPr id="11" name="Text 8"/>
          <p:cNvSpPr/>
          <p:nvPr/>
        </p:nvSpPr>
        <p:spPr>
          <a:xfrm>
            <a:off x="317897" y="1260872"/>
            <a:ext cx="1939528" cy="550069"/>
          </a:xfrm>
          <a:prstGeom prst="roundRect">
            <a:avLst>
              <a:gd name="adj" fmla="val 10390"/>
            </a:avLst>
          </a:prstGeom>
          <a:solidFill>
            <a:srgbClr val="F9F7F2"/>
          </a:solidFill>
          <a:ln w="7144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2" name="Image 1" descr="/tmp/h2p-fit-1791083621307-yrdjx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469" y="1264444"/>
            <a:ext cx="1932384" cy="54292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418159" y="614363"/>
            <a:ext cx="2118122" cy="1271588"/>
          </a:xfrm>
          <a:prstGeom prst="roundRect">
            <a:avLst>
              <a:gd name="adj" fmla="val 89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0"/>
          <p:cNvSpPr/>
          <p:nvPr/>
        </p:nvSpPr>
        <p:spPr>
          <a:xfrm>
            <a:off x="2418159" y="632222"/>
            <a:ext cx="2118122" cy="0"/>
          </a:xfrm>
          <a:prstGeom prst="line">
            <a:avLst/>
          </a:prstGeom>
          <a:noFill/>
          <a:ln w="35719">
            <a:solidFill>
              <a:srgbClr val="F97316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503884" y="721519"/>
            <a:ext cx="1946672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63" dirty="0">
                <a:solidFill>
                  <a:srgbClr val="1C191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📅</a:t>
            </a:r>
            <a:endParaRPr lang="en-US" sz="1463" dirty="0"/>
          </a:p>
        </p:txBody>
      </p:sp>
      <p:sp>
        <p:nvSpPr>
          <p:cNvPr id="16" name="Text 12"/>
          <p:cNvSpPr/>
          <p:nvPr/>
        </p:nvSpPr>
        <p:spPr>
          <a:xfrm>
            <a:off x="2503884" y="935831"/>
            <a:ext cx="1946672" cy="1082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Program Kegiatan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2503884" y="1071563"/>
            <a:ext cx="2056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03"/>
              </a:lnSpc>
              <a:buNone/>
            </a:pPr>
            <a:r>
              <a:rPr lang="en-US" sz="600" dirty="0">
                <a:solidFill>
                  <a:srgbClr val="6B656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Nomor, jenis, perihal, dokumentasi + Drive</a:t>
            </a:r>
            <a:endParaRPr lang="en-US" sz="600" dirty="0"/>
          </a:p>
        </p:txBody>
      </p:sp>
      <p:sp>
        <p:nvSpPr>
          <p:cNvPr id="18" name="Text 14"/>
          <p:cNvSpPr/>
          <p:nvPr/>
        </p:nvSpPr>
        <p:spPr>
          <a:xfrm>
            <a:off x="2507456" y="1260872"/>
            <a:ext cx="1939528" cy="550069"/>
          </a:xfrm>
          <a:prstGeom prst="roundRect">
            <a:avLst>
              <a:gd name="adj" fmla="val 10390"/>
            </a:avLst>
          </a:prstGeom>
          <a:solidFill>
            <a:srgbClr val="F9F7F2"/>
          </a:solidFill>
          <a:ln w="7144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9" name="Image 2" descr="/tmp/h2p-fit-1791083621307-jpokrq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1028" y="1264444"/>
            <a:ext cx="1932384" cy="54292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607719" y="614363"/>
            <a:ext cx="2118122" cy="1271588"/>
          </a:xfrm>
          <a:prstGeom prst="roundRect">
            <a:avLst>
              <a:gd name="adj" fmla="val 89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6"/>
          <p:cNvSpPr/>
          <p:nvPr/>
        </p:nvSpPr>
        <p:spPr>
          <a:xfrm>
            <a:off x="4607719" y="632222"/>
            <a:ext cx="2118122" cy="0"/>
          </a:xfrm>
          <a:prstGeom prst="line">
            <a:avLst/>
          </a:prstGeom>
          <a:noFill/>
          <a:ln w="35719">
            <a:solidFill>
              <a:srgbClr val="EC4899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4693444" y="721519"/>
            <a:ext cx="1946672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63" dirty="0">
                <a:solidFill>
                  <a:srgbClr val="1C191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📢</a:t>
            </a:r>
            <a:endParaRPr lang="en-US" sz="1463" dirty="0"/>
          </a:p>
        </p:txBody>
      </p:sp>
      <p:sp>
        <p:nvSpPr>
          <p:cNvPr id="23" name="Text 18"/>
          <p:cNvSpPr/>
          <p:nvPr/>
        </p:nvSpPr>
        <p:spPr>
          <a:xfrm>
            <a:off x="4693444" y="935831"/>
            <a:ext cx="1946672" cy="1082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Manajemen Konten</a:t>
            </a:r>
            <a:endParaRPr lang="en-US" sz="800" dirty="0"/>
          </a:p>
        </p:txBody>
      </p:sp>
      <p:sp>
        <p:nvSpPr>
          <p:cNvPr id="24" name="Text 19"/>
          <p:cNvSpPr/>
          <p:nvPr/>
        </p:nvSpPr>
        <p:spPr>
          <a:xfrm>
            <a:off x="4693444" y="1071563"/>
            <a:ext cx="2056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03"/>
              </a:lnSpc>
              <a:buNone/>
            </a:pPr>
            <a:r>
              <a:rPr lang="en-US" sz="600" dirty="0">
                <a:solidFill>
                  <a:srgbClr val="6B656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Panduan tim, SOP, info flow, broadcast</a:t>
            </a:r>
            <a:endParaRPr lang="en-US" sz="600" dirty="0"/>
          </a:p>
        </p:txBody>
      </p:sp>
      <p:sp>
        <p:nvSpPr>
          <p:cNvPr id="25" name="Text 20"/>
          <p:cNvSpPr/>
          <p:nvPr/>
        </p:nvSpPr>
        <p:spPr>
          <a:xfrm>
            <a:off x="4697016" y="1260872"/>
            <a:ext cx="1939528" cy="550069"/>
          </a:xfrm>
          <a:prstGeom prst="roundRect">
            <a:avLst>
              <a:gd name="adj" fmla="val 10390"/>
            </a:avLst>
          </a:prstGeom>
          <a:solidFill>
            <a:srgbClr val="F9F7F2"/>
          </a:solidFill>
          <a:ln w="7144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6" name="Image 3" descr="/tmp/h2p-fit-1791083621324-amw4o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0588" y="1264444"/>
            <a:ext cx="1932384" cy="542925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797278" y="614363"/>
            <a:ext cx="2118122" cy="1271588"/>
          </a:xfrm>
          <a:prstGeom prst="roundRect">
            <a:avLst>
              <a:gd name="adj" fmla="val 89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2"/>
          <p:cNvSpPr/>
          <p:nvPr/>
        </p:nvSpPr>
        <p:spPr>
          <a:xfrm>
            <a:off x="6797278" y="632222"/>
            <a:ext cx="2118122" cy="0"/>
          </a:xfrm>
          <a:prstGeom prst="line">
            <a:avLst/>
          </a:prstGeom>
          <a:noFill/>
          <a:ln w="35719">
            <a:solidFill>
              <a:srgbClr val="2563EB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6883003" y="721519"/>
            <a:ext cx="1946672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63" dirty="0">
                <a:solidFill>
                  <a:srgbClr val="1C191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📦</a:t>
            </a:r>
            <a:endParaRPr lang="en-US" sz="1463" dirty="0"/>
          </a:p>
        </p:txBody>
      </p:sp>
      <p:sp>
        <p:nvSpPr>
          <p:cNvPr id="30" name="Text 24"/>
          <p:cNvSpPr/>
          <p:nvPr/>
        </p:nvSpPr>
        <p:spPr>
          <a:xfrm>
            <a:off x="6883003" y="935831"/>
            <a:ext cx="1946672" cy="1082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Manajemen Inventaris</a:t>
            </a:r>
            <a:endParaRPr lang="en-US" sz="800" dirty="0"/>
          </a:p>
        </p:txBody>
      </p:sp>
      <p:sp>
        <p:nvSpPr>
          <p:cNvPr id="31" name="Text 25"/>
          <p:cNvSpPr/>
          <p:nvPr/>
        </p:nvSpPr>
        <p:spPr>
          <a:xfrm>
            <a:off x="6883003" y="1071563"/>
            <a:ext cx="2056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03"/>
              </a:lnSpc>
              <a:buNone/>
            </a:pPr>
            <a:r>
              <a:rPr lang="en-US" sz="600" dirty="0">
                <a:solidFill>
                  <a:srgbClr val="6B656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Barang, peminjaman, pembagian, history, rekap</a:t>
            </a:r>
            <a:endParaRPr lang="en-US" sz="600" dirty="0"/>
          </a:p>
        </p:txBody>
      </p:sp>
      <p:sp>
        <p:nvSpPr>
          <p:cNvPr id="32" name="Text 26"/>
          <p:cNvSpPr/>
          <p:nvPr/>
        </p:nvSpPr>
        <p:spPr>
          <a:xfrm>
            <a:off x="6886575" y="1260872"/>
            <a:ext cx="1939528" cy="550069"/>
          </a:xfrm>
          <a:prstGeom prst="roundRect">
            <a:avLst>
              <a:gd name="adj" fmla="val 10390"/>
            </a:avLst>
          </a:prstGeom>
          <a:solidFill>
            <a:srgbClr val="F9F7F2"/>
          </a:solidFill>
          <a:ln w="7144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3" name="Image 4" descr="/tmp/h2p-fit-1791083621308-p3s21c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0147" y="1264444"/>
            <a:ext cx="1932384" cy="542925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239316" y="1968103"/>
            <a:ext cx="8665369" cy="1550194"/>
          </a:xfrm>
          <a:prstGeom prst="roundRect">
            <a:avLst>
              <a:gd name="adj" fmla="val 9831"/>
            </a:avLst>
          </a:prstGeom>
          <a:solidFill>
            <a:srgbClr val="FFFFFF"/>
          </a:solidFill>
          <a:ln w="21431">
            <a:solidFill>
              <a:srgbClr val="D4AF37"/>
            </a:solidFill>
            <a:prstDash val="solid"/>
          </a:ln>
          <a:effectLst>
            <a:outerShdw sx="100000" sy="100000" kx="0" ky="0" algn="bl" rotWithShape="0" blurRad="108940" dist="50800" dir="16200000">
              <a:srgbClr val="D4AF37">
                <a:alpha val="49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28"/>
          <p:cNvSpPr/>
          <p:nvPr/>
        </p:nvSpPr>
        <p:spPr>
          <a:xfrm>
            <a:off x="355759" y="2069830"/>
            <a:ext cx="926969" cy="168021"/>
          </a:xfrm>
          <a:prstGeom prst="roundRect">
            <a:avLst>
              <a:gd name="adj" fmla="val 5663265"/>
            </a:avLst>
          </a:prstGeom>
          <a:solidFill>
            <a:srgbClr val="D4AF37"/>
          </a:solidFill>
          <a:ln/>
          <a:effectLst>
            <a:outerShdw sx="100000" sy="100000" kx="0" ky="0" algn="bl" rotWithShape="0" blurRad="76200" dist="19050" dir="5400000">
              <a:srgbClr val="D4AF37">
                <a:alpha val="4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29"/>
          <p:cNvSpPr/>
          <p:nvPr/>
        </p:nvSpPr>
        <p:spPr>
          <a:xfrm>
            <a:off x="378619" y="2078831"/>
            <a:ext cx="88124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⭐ INOVASI KUNCI</a:t>
            </a:r>
            <a:endParaRPr lang="en-US" sz="800" dirty="0"/>
          </a:p>
        </p:txBody>
      </p:sp>
      <p:sp>
        <p:nvSpPr>
          <p:cNvPr id="37" name="Text 30"/>
          <p:cNvSpPr/>
          <p:nvPr/>
        </p:nvSpPr>
        <p:spPr>
          <a:xfrm>
            <a:off x="378619" y="2286000"/>
            <a:ext cx="5434550" cy="1508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56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Integrasi LIHUM — Lihat, Unduh Mandiri!</a:t>
            </a:r>
            <a:endParaRPr lang="en-US" sz="956" dirty="0"/>
          </a:p>
        </p:txBody>
      </p:sp>
      <p:sp>
        <p:nvSpPr>
          <p:cNvPr id="38" name="Text 31"/>
          <p:cNvSpPr/>
          <p:nvPr/>
        </p:nvSpPr>
        <p:spPr>
          <a:xfrm>
            <a:off x="382191" y="2514935"/>
            <a:ext cx="992981" cy="421481"/>
          </a:xfrm>
          <a:prstGeom prst="roundRect">
            <a:avLst>
              <a:gd name="adj" fmla="val 22599"/>
            </a:avLst>
          </a:prstGeom>
          <a:solidFill>
            <a:srgbClr val="F9F5FF"/>
          </a:solidFill>
          <a:ln w="7144">
            <a:solidFill>
              <a:srgbClr val="C9B6E8"/>
            </a:solidFill>
            <a:prstDash val="dash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2"/>
          <p:cNvSpPr/>
          <p:nvPr/>
        </p:nvSpPr>
        <p:spPr>
          <a:xfrm>
            <a:off x="800100" y="2561369"/>
            <a:ext cx="157163" cy="157163"/>
          </a:xfrm>
          <a:prstGeom prst="ellipse">
            <a:avLst/>
          </a:prstGeom>
          <a:solidFill>
            <a:srgbClr val="4C2A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3"/>
          <p:cNvSpPr/>
          <p:nvPr/>
        </p:nvSpPr>
        <p:spPr>
          <a:xfrm>
            <a:off x="800100" y="2561369"/>
            <a:ext cx="157163" cy="15116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41" name="Text 34"/>
          <p:cNvSpPr/>
          <p:nvPr/>
        </p:nvSpPr>
        <p:spPr>
          <a:xfrm>
            <a:off x="428625" y="2739963"/>
            <a:ext cx="900113" cy="126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47"/>
              </a:lnSpc>
              <a:buNone/>
            </a:pPr>
            <a:r>
              <a:rPr lang="en-US" sz="600" b="1" dirty="0">
                <a:solidFill>
                  <a:srgbClr val="1C191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📸</a:t>
            </a:r>
            <a:pPr algn="ctr" indent="0" marL="0">
              <a:lnSpc>
                <a:spcPts val="647"/>
              </a:lnSpc>
              <a:buNone/>
            </a:pPr>
            <a:r>
              <a:rPr lang="en-US" sz="600" b="1" dirty="0">
                <a:solidFill>
                  <a:srgbClr val="1C191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Upload foto ke PUBLIC</a:t>
            </a:r>
            <a:endParaRPr lang="en-US" sz="600" dirty="0"/>
          </a:p>
        </p:txBody>
      </p:sp>
      <p:sp>
        <p:nvSpPr>
          <p:cNvPr id="42" name="Text 35"/>
          <p:cNvSpPr/>
          <p:nvPr/>
        </p:nvSpPr>
        <p:spPr>
          <a:xfrm>
            <a:off x="1475073" y="2650666"/>
            <a:ext cx="196342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013" dirty="0"/>
          </a:p>
        </p:txBody>
      </p:sp>
      <p:sp>
        <p:nvSpPr>
          <p:cNvPr id="43" name="Text 36"/>
          <p:cNvSpPr/>
          <p:nvPr/>
        </p:nvSpPr>
        <p:spPr>
          <a:xfrm>
            <a:off x="1703561" y="2514935"/>
            <a:ext cx="992981" cy="421481"/>
          </a:xfrm>
          <a:prstGeom prst="roundRect">
            <a:avLst>
              <a:gd name="adj" fmla="val 22599"/>
            </a:avLst>
          </a:prstGeom>
          <a:solidFill>
            <a:srgbClr val="F9F5FF"/>
          </a:solidFill>
          <a:ln w="7144">
            <a:solidFill>
              <a:srgbClr val="C9B6E8"/>
            </a:solidFill>
            <a:prstDash val="dash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37"/>
          <p:cNvSpPr/>
          <p:nvPr/>
        </p:nvSpPr>
        <p:spPr>
          <a:xfrm>
            <a:off x="2121471" y="2561369"/>
            <a:ext cx="157163" cy="157163"/>
          </a:xfrm>
          <a:prstGeom prst="ellipse">
            <a:avLst/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38"/>
          <p:cNvSpPr/>
          <p:nvPr/>
        </p:nvSpPr>
        <p:spPr>
          <a:xfrm>
            <a:off x="2121471" y="2561369"/>
            <a:ext cx="157163" cy="15116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46" name="Text 39"/>
          <p:cNvSpPr/>
          <p:nvPr/>
        </p:nvSpPr>
        <p:spPr>
          <a:xfrm>
            <a:off x="1793735" y="2739963"/>
            <a:ext cx="812523" cy="126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47"/>
              </a:lnSpc>
              <a:buNone/>
            </a:pPr>
            <a:r>
              <a:rPr lang="en-US" sz="600" b="1" dirty="0">
                <a:solidFill>
                  <a:srgbClr val="1C191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⚡ Klik Publikasikan</a:t>
            </a:r>
            <a:endParaRPr lang="en-US" sz="600" dirty="0"/>
          </a:p>
        </p:txBody>
      </p:sp>
      <p:sp>
        <p:nvSpPr>
          <p:cNvPr id="47" name="Text 40"/>
          <p:cNvSpPr/>
          <p:nvPr/>
        </p:nvSpPr>
        <p:spPr>
          <a:xfrm>
            <a:off x="2796443" y="2650666"/>
            <a:ext cx="196342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013" dirty="0"/>
          </a:p>
        </p:txBody>
      </p:sp>
      <p:sp>
        <p:nvSpPr>
          <p:cNvPr id="48" name="Text 41"/>
          <p:cNvSpPr/>
          <p:nvPr/>
        </p:nvSpPr>
        <p:spPr>
          <a:xfrm>
            <a:off x="3024932" y="2514935"/>
            <a:ext cx="992981" cy="421481"/>
          </a:xfrm>
          <a:prstGeom prst="roundRect">
            <a:avLst>
              <a:gd name="adj" fmla="val 22599"/>
            </a:avLst>
          </a:prstGeom>
          <a:solidFill>
            <a:srgbClr val="F9F5FF"/>
          </a:solidFill>
          <a:ln w="7144">
            <a:solidFill>
              <a:srgbClr val="C9B6E8"/>
            </a:solidFill>
            <a:prstDash val="dash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2"/>
          <p:cNvSpPr/>
          <p:nvPr/>
        </p:nvSpPr>
        <p:spPr>
          <a:xfrm>
            <a:off x="3442841" y="2561369"/>
            <a:ext cx="157163" cy="157163"/>
          </a:xfrm>
          <a:prstGeom prst="ellipse">
            <a:avLst/>
          </a:prstGeom>
          <a:solidFill>
            <a:srgbClr val="14B8A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3"/>
          <p:cNvSpPr/>
          <p:nvPr/>
        </p:nvSpPr>
        <p:spPr>
          <a:xfrm>
            <a:off x="3442841" y="2561369"/>
            <a:ext cx="157163" cy="15116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51" name="Text 44"/>
          <p:cNvSpPr/>
          <p:nvPr/>
        </p:nvSpPr>
        <p:spPr>
          <a:xfrm>
            <a:off x="3236104" y="2739963"/>
            <a:ext cx="570636" cy="126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47"/>
              </a:lnSpc>
              <a:buNone/>
            </a:pPr>
            <a:r>
              <a:rPr lang="en-US" sz="600" b="1" dirty="0">
                <a:solidFill>
                  <a:srgbClr val="1C191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🌐</a:t>
            </a:r>
            <a:pPr algn="ctr" indent="0" marL="0">
              <a:lnSpc>
                <a:spcPts val="647"/>
              </a:lnSpc>
              <a:buNone/>
            </a:pPr>
            <a:r>
              <a:rPr lang="en-US" sz="600" b="1" dirty="0">
                <a:solidFill>
                  <a:srgbClr val="1C191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Gallery live</a:t>
            </a:r>
            <a:endParaRPr lang="en-US" sz="600" dirty="0"/>
          </a:p>
        </p:txBody>
      </p:sp>
      <p:sp>
        <p:nvSpPr>
          <p:cNvPr id="52" name="Text 45"/>
          <p:cNvSpPr/>
          <p:nvPr/>
        </p:nvSpPr>
        <p:spPr>
          <a:xfrm>
            <a:off x="4117814" y="2650666"/>
            <a:ext cx="196342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013" dirty="0"/>
          </a:p>
        </p:txBody>
      </p:sp>
      <p:sp>
        <p:nvSpPr>
          <p:cNvPr id="53" name="Text 46"/>
          <p:cNvSpPr/>
          <p:nvPr/>
        </p:nvSpPr>
        <p:spPr>
          <a:xfrm>
            <a:off x="4346302" y="2514935"/>
            <a:ext cx="992981" cy="421481"/>
          </a:xfrm>
          <a:prstGeom prst="roundRect">
            <a:avLst>
              <a:gd name="adj" fmla="val 22599"/>
            </a:avLst>
          </a:prstGeom>
          <a:solidFill>
            <a:srgbClr val="F9F5FF"/>
          </a:solidFill>
          <a:ln w="7144">
            <a:solidFill>
              <a:srgbClr val="C9B6E8"/>
            </a:solidFill>
            <a:prstDash val="dash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47"/>
          <p:cNvSpPr/>
          <p:nvPr/>
        </p:nvSpPr>
        <p:spPr>
          <a:xfrm>
            <a:off x="4764212" y="2561369"/>
            <a:ext cx="157163" cy="157163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48"/>
          <p:cNvSpPr/>
          <p:nvPr/>
        </p:nvSpPr>
        <p:spPr>
          <a:xfrm>
            <a:off x="4764212" y="2561369"/>
            <a:ext cx="157163" cy="15116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800" dirty="0"/>
          </a:p>
        </p:txBody>
      </p:sp>
      <p:sp>
        <p:nvSpPr>
          <p:cNvPr id="56" name="Text 49"/>
          <p:cNvSpPr/>
          <p:nvPr/>
        </p:nvSpPr>
        <p:spPr>
          <a:xfrm>
            <a:off x="4424954" y="2739963"/>
            <a:ext cx="835678" cy="126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47"/>
              </a:lnSpc>
              <a:buNone/>
            </a:pPr>
            <a:r>
              <a:rPr lang="en-US" sz="600" b="1" dirty="0">
                <a:solidFill>
                  <a:srgbClr val="1C191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🔗</a:t>
            </a:r>
            <a:pPr algn="ctr" indent="0" marL="0">
              <a:lnSpc>
                <a:spcPts val="647"/>
              </a:lnSpc>
              <a:buNone/>
            </a:pPr>
            <a:r>
              <a:rPr lang="en-US" sz="600" b="1" dirty="0">
                <a:solidFill>
                  <a:srgbClr val="1C191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Embed web resmi</a:t>
            </a:r>
            <a:endParaRPr lang="en-US" sz="600" dirty="0"/>
          </a:p>
        </p:txBody>
      </p:sp>
      <p:sp>
        <p:nvSpPr>
          <p:cNvPr id="57" name="Text 50"/>
          <p:cNvSpPr/>
          <p:nvPr/>
        </p:nvSpPr>
        <p:spPr>
          <a:xfrm>
            <a:off x="378619" y="3025713"/>
            <a:ext cx="5031991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600" i="1" dirty="0">
                <a:solidFill>
                  <a:srgbClr val="6B656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Workflow otomatis: folder PUBLIC di Pushakin → gallery publik di LIHUM. Folder PRIVATE tidak pernah di-share.</a:t>
            </a:r>
            <a:endParaRPr lang="en-US" sz="600" dirty="0"/>
          </a:p>
        </p:txBody>
      </p:sp>
      <p:sp>
        <p:nvSpPr>
          <p:cNvPr id="58" name="Text 51"/>
          <p:cNvSpPr/>
          <p:nvPr/>
        </p:nvSpPr>
        <p:spPr>
          <a:xfrm>
            <a:off x="5514194" y="2157413"/>
            <a:ext cx="3347517" cy="1064419"/>
          </a:xfrm>
          <a:prstGeom prst="roundRect">
            <a:avLst>
              <a:gd name="adj" fmla="val 8949"/>
            </a:avLst>
          </a:prstGeom>
          <a:solidFill>
            <a:srgbClr val="FAF6E8"/>
          </a:solidFill>
          <a:ln w="7144">
            <a:solidFill>
              <a:srgbClr val="D4AF37"/>
            </a:solidFill>
            <a:prstDash val="solid"/>
          </a:ln>
          <a:effectLst>
            <a:outerShdw sx="100000" sy="100000" kx="0" ky="0" algn="bl" rotWithShape="0" blurRad="9525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9" name="Image 5" descr="/tmp/h2p-fit-1791083621308-1x8wn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17766" y="2160984"/>
            <a:ext cx="3340373" cy="1057275"/>
          </a:xfrm>
          <a:prstGeom prst="rect">
            <a:avLst/>
          </a:prstGeom>
        </p:spPr>
      </p:pic>
      <p:sp>
        <p:nvSpPr>
          <p:cNvPr id="60" name="Text 52"/>
          <p:cNvSpPr/>
          <p:nvPr/>
        </p:nvSpPr>
        <p:spPr>
          <a:xfrm>
            <a:off x="6605576" y="3253978"/>
            <a:ext cx="1164641" cy="120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563E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🔗</a:t>
            </a:r>
            <a:pPr algn="ctr" indent="0" marL="0">
              <a:buNone/>
            </a:pPr>
            <a:r>
              <a:rPr lang="en-US" sz="600" b="1" dirty="0">
                <a:solidFill>
                  <a:srgbClr val="2563E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lihum.synclicen.workers.dev</a:t>
            </a:r>
            <a:endParaRPr lang="en-US" sz="600" dirty="0"/>
          </a:p>
        </p:txBody>
      </p:sp>
      <p:pic>
        <p:nvPicPr>
          <p:cNvPr id="6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600" y="3586163"/>
            <a:ext cx="8686800" cy="221456"/>
          </a:xfrm>
          <a:prstGeom prst="rect">
            <a:avLst/>
          </a:prstGeom>
        </p:spPr>
      </p:pic>
      <p:sp>
        <p:nvSpPr>
          <p:cNvPr id="62" name="Text 53"/>
          <p:cNvSpPr/>
          <p:nvPr/>
        </p:nvSpPr>
        <p:spPr>
          <a:xfrm>
            <a:off x="228600" y="3586163"/>
            <a:ext cx="8636000" cy="261659"/>
          </a:xfrm>
          <a:prstGeom prst="rect">
            <a:avLst/>
          </a:prstGeom>
          <a:noFill/>
          <a:ln/>
        </p:spPr>
        <p:txBody>
          <a:bodyPr wrap="square" lIns="114300" tIns="57150" rIns="114300" bIns="5715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🎯</a:t>
            </a:r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Workflow end-to-end: Perencanaan → Produksi → Publikasi → Pengukuran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B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71450"/>
            <a:ext cx="8686800" cy="3571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5763" y="257175"/>
            <a:ext cx="634554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38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⚡ Workflow 5 Tahap + Integrasi LIHUM</a:t>
            </a:r>
            <a:endParaRPr lang="en-US" sz="1238" dirty="0"/>
          </a:p>
        </p:txBody>
      </p:sp>
      <p:sp>
        <p:nvSpPr>
          <p:cNvPr id="4" name="Text 1"/>
          <p:cNvSpPr/>
          <p:nvPr/>
        </p:nvSpPr>
        <p:spPr>
          <a:xfrm>
            <a:off x="6767029" y="271463"/>
            <a:ext cx="1991209" cy="157163"/>
          </a:xfrm>
          <a:prstGeom prst="roundRect">
            <a:avLst>
              <a:gd name="adj" fmla="val 6054526"/>
            </a:avLst>
          </a:prstGeom>
          <a:solidFill>
            <a:srgbClr val="FFFFFF">
              <a:alpha val="1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767029" y="271463"/>
            <a:ext cx="1991209" cy="171450"/>
          </a:xfrm>
          <a:prstGeom prst="rect">
            <a:avLst/>
          </a:prstGeom>
          <a:noFill/>
          <a:ln/>
        </p:spPr>
        <p:txBody>
          <a:bodyPr wrap="square" lIns="85725" tIns="28575" rIns="85725" bIns="28575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16 Role · 4 Folder Otomatis · 1-Klik Publikasi</a:t>
            </a:r>
            <a:endParaRPr lang="en-US" sz="675" dirty="0"/>
          </a:p>
        </p:txBody>
      </p:sp>
      <p:sp>
        <p:nvSpPr>
          <p:cNvPr id="6" name="Text 3"/>
          <p:cNvSpPr/>
          <p:nvPr/>
        </p:nvSpPr>
        <p:spPr>
          <a:xfrm>
            <a:off x="228600" y="614363"/>
            <a:ext cx="1703003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228600" y="628650"/>
            <a:ext cx="1703003" cy="0"/>
          </a:xfrm>
          <a:prstGeom prst="line">
            <a:avLst/>
          </a:prstGeom>
          <a:noFill/>
          <a:ln w="28575">
            <a:solidFill>
              <a:srgbClr val="2563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745866" y="685800"/>
            <a:ext cx="128588" cy="128588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1745866" y="685800"/>
            <a:ext cx="1143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300038" y="714375"/>
            <a:ext cx="1560128" cy="997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76"/>
              </a:lnSpc>
              <a:buNone/>
            </a:pPr>
            <a:r>
              <a:rPr lang="en-US" sz="800" b="1" dirty="0">
                <a:solidFill>
                  <a:srgbClr val="4C2A8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🔵</a:t>
            </a:r>
            <a:pPr algn="l" indent="0" marL="0">
              <a:lnSpc>
                <a:spcPts val="776"/>
              </a:lnSpc>
              <a:buNone/>
            </a:pPr>
            <a:r>
              <a:rPr lang="en-US" sz="800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PRODUKSI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300038" y="841511"/>
            <a:ext cx="156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03"/>
              </a:lnSpc>
              <a:buNone/>
            </a:pPr>
            <a:r>
              <a:rPr lang="en-US" sz="800" dirty="0">
                <a:solidFill>
                  <a:srgbClr val="6B656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Upload mentah. Reporter, Photographer, Creator, Designer.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303609" y="1475184"/>
            <a:ext cx="1552984" cy="492919"/>
          </a:xfrm>
          <a:prstGeom prst="roundRect">
            <a:avLst>
              <a:gd name="adj" fmla="val 11594"/>
            </a:avLst>
          </a:prstGeom>
          <a:solidFill>
            <a:srgbClr val="F9F7F2"/>
          </a:solidFill>
          <a:ln w="7144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3" name="Image 1" descr="/tmp/h2p-fit-1791083621410-ul21d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181" y="1478756"/>
            <a:ext cx="1545841" cy="48577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974466" y="614363"/>
            <a:ext cx="1703115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1"/>
          <p:cNvSpPr/>
          <p:nvPr/>
        </p:nvSpPr>
        <p:spPr>
          <a:xfrm>
            <a:off x="1974466" y="628650"/>
            <a:ext cx="1703115" cy="0"/>
          </a:xfrm>
          <a:prstGeom prst="line">
            <a:avLst/>
          </a:prstGeom>
          <a:noFill/>
          <a:ln w="28575">
            <a:solidFill>
              <a:srgbClr val="F97316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491843" y="685800"/>
            <a:ext cx="128588" cy="128588"/>
          </a:xfrm>
          <a:prstGeom prst="ellipse">
            <a:avLst/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3491843" y="685800"/>
            <a:ext cx="1143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2045903" y="714375"/>
            <a:ext cx="1560240" cy="997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76"/>
              </a:lnSpc>
              <a:buNone/>
            </a:pPr>
            <a:r>
              <a:rPr lang="en-US" sz="800" b="1" dirty="0">
                <a:solidFill>
                  <a:srgbClr val="4C2A8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🟠</a:t>
            </a:r>
            <a:pPr algn="l" indent="0" marL="0">
              <a:lnSpc>
                <a:spcPts val="776"/>
              </a:lnSpc>
              <a:buNone/>
            </a:pPr>
            <a:r>
              <a:rPr lang="en-US" sz="800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PASCA PRODUKSI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2045903" y="841511"/>
            <a:ext cx="156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03"/>
              </a:lnSpc>
              <a:buNone/>
            </a:pPr>
            <a:r>
              <a:rPr lang="en-US" sz="800" dirty="0">
                <a:solidFill>
                  <a:srgbClr val="6B656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Editor edit. 6 role: Video, Web, Foto, Template, Streaming, Podcast.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2049475" y="1475184"/>
            <a:ext cx="1553096" cy="492919"/>
          </a:xfrm>
          <a:prstGeom prst="roundRect">
            <a:avLst>
              <a:gd name="adj" fmla="val 11594"/>
            </a:avLst>
          </a:prstGeom>
          <a:solidFill>
            <a:srgbClr val="F9F7F2"/>
          </a:solidFill>
          <a:ln w="7144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1" name="Image 2" descr="/tmp/h2p-fit-1791083621411-91ghw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3047" y="1478756"/>
            <a:ext cx="1545952" cy="485775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3720443" y="614363"/>
            <a:ext cx="1703003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18"/>
          <p:cNvSpPr/>
          <p:nvPr/>
        </p:nvSpPr>
        <p:spPr>
          <a:xfrm>
            <a:off x="3720443" y="628650"/>
            <a:ext cx="1703003" cy="0"/>
          </a:xfrm>
          <a:prstGeom prst="line">
            <a:avLst/>
          </a:prstGeom>
          <a:noFill/>
          <a:ln w="28575">
            <a:solidFill>
              <a:srgbClr val="16A34A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5237708" y="685800"/>
            <a:ext cx="128588" cy="128588"/>
          </a:xfrm>
          <a:prstGeom prst="ellipse">
            <a:avLst/>
          </a:prstGeom>
          <a:solidFill>
            <a:srgbClr val="16A3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0"/>
          <p:cNvSpPr/>
          <p:nvPr/>
        </p:nvSpPr>
        <p:spPr>
          <a:xfrm>
            <a:off x="5237708" y="685800"/>
            <a:ext cx="1143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26" name="Text 21"/>
          <p:cNvSpPr/>
          <p:nvPr/>
        </p:nvSpPr>
        <p:spPr>
          <a:xfrm>
            <a:off x="3791880" y="714375"/>
            <a:ext cx="1560128" cy="997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76"/>
              </a:lnSpc>
              <a:buNone/>
            </a:pPr>
            <a:r>
              <a:rPr lang="en-US" sz="800" b="1" dirty="0">
                <a:solidFill>
                  <a:srgbClr val="4C2A8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🟢</a:t>
            </a:r>
            <a:pPr algn="l" indent="0" marL="0">
              <a:lnSpc>
                <a:spcPts val="776"/>
              </a:lnSpc>
              <a:buNone/>
            </a:pPr>
            <a:r>
              <a:rPr lang="en-US" sz="800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REVIEW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3791880" y="841511"/>
            <a:ext cx="16537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03"/>
              </a:lnSpc>
              <a:buNone/>
            </a:pPr>
            <a:r>
              <a:rPr lang="en-US" sz="600" dirty="0">
                <a:solidFill>
                  <a:srgbClr val="6B656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Reviewer cek kualitas. Approve/revisi.</a:t>
            </a:r>
            <a:endParaRPr lang="en-US" sz="600" dirty="0"/>
          </a:p>
        </p:txBody>
      </p:sp>
      <p:sp>
        <p:nvSpPr>
          <p:cNvPr id="28" name="Text 23"/>
          <p:cNvSpPr/>
          <p:nvPr/>
        </p:nvSpPr>
        <p:spPr>
          <a:xfrm>
            <a:off x="3795452" y="1475184"/>
            <a:ext cx="1552984" cy="492919"/>
          </a:xfrm>
          <a:prstGeom prst="roundRect">
            <a:avLst>
              <a:gd name="adj" fmla="val 11594"/>
            </a:avLst>
          </a:prstGeom>
          <a:solidFill>
            <a:srgbClr val="F9F7F2"/>
          </a:solidFill>
          <a:ln w="7144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9" name="Image 3" descr="/tmp/h2p-fit-1791083621411-jekiq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9024" y="1478756"/>
            <a:ext cx="1545841" cy="485775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466308" y="614363"/>
            <a:ext cx="1703115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5"/>
          <p:cNvSpPr/>
          <p:nvPr/>
        </p:nvSpPr>
        <p:spPr>
          <a:xfrm>
            <a:off x="5466308" y="628650"/>
            <a:ext cx="1703115" cy="0"/>
          </a:xfrm>
          <a:prstGeom prst="line">
            <a:avLst/>
          </a:prstGeom>
          <a:noFill/>
          <a:ln w="28575">
            <a:solidFill>
              <a:srgbClr val="4C2A85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6983685" y="685800"/>
            <a:ext cx="128588" cy="128588"/>
          </a:xfrm>
          <a:prstGeom prst="ellipse">
            <a:avLst/>
          </a:prstGeom>
          <a:solidFill>
            <a:srgbClr val="4C2A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27"/>
          <p:cNvSpPr/>
          <p:nvPr/>
        </p:nvSpPr>
        <p:spPr>
          <a:xfrm>
            <a:off x="6983685" y="685800"/>
            <a:ext cx="1143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800" dirty="0"/>
          </a:p>
        </p:txBody>
      </p:sp>
      <p:sp>
        <p:nvSpPr>
          <p:cNvPr id="34" name="Text 28"/>
          <p:cNvSpPr/>
          <p:nvPr/>
        </p:nvSpPr>
        <p:spPr>
          <a:xfrm>
            <a:off x="5537746" y="714375"/>
            <a:ext cx="1560240" cy="997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76"/>
              </a:lnSpc>
              <a:buNone/>
            </a:pPr>
            <a:r>
              <a:rPr lang="en-US" sz="800" b="1" dirty="0">
                <a:solidFill>
                  <a:srgbClr val="4C2A8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🟣</a:t>
            </a:r>
            <a:pPr algn="l" indent="0" marL="0">
              <a:lnSpc>
                <a:spcPts val="776"/>
              </a:lnSpc>
              <a:buNone/>
            </a:pPr>
            <a:r>
              <a:rPr lang="en-US" sz="800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PUBLIKASI</a:t>
            </a:r>
            <a:endParaRPr lang="en-US" sz="800" dirty="0"/>
          </a:p>
        </p:txBody>
      </p:sp>
      <p:sp>
        <p:nvSpPr>
          <p:cNvPr id="35" name="Text 29"/>
          <p:cNvSpPr/>
          <p:nvPr/>
        </p:nvSpPr>
        <p:spPr>
          <a:xfrm>
            <a:off x="5537746" y="841511"/>
            <a:ext cx="165385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03"/>
              </a:lnSpc>
              <a:buNone/>
            </a:pPr>
            <a:r>
              <a:rPr lang="en-US" sz="600" dirty="0">
                <a:solidFill>
                  <a:srgbClr val="6B656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Publisher ke 14+ saluran. Link per platform.</a:t>
            </a:r>
            <a:endParaRPr lang="en-US" sz="600" dirty="0"/>
          </a:p>
        </p:txBody>
      </p:sp>
      <p:sp>
        <p:nvSpPr>
          <p:cNvPr id="36" name="Text 30"/>
          <p:cNvSpPr/>
          <p:nvPr/>
        </p:nvSpPr>
        <p:spPr>
          <a:xfrm>
            <a:off x="5541318" y="1475184"/>
            <a:ext cx="1553096" cy="492919"/>
          </a:xfrm>
          <a:prstGeom prst="roundRect">
            <a:avLst>
              <a:gd name="adj" fmla="val 11594"/>
            </a:avLst>
          </a:prstGeom>
          <a:solidFill>
            <a:srgbClr val="F9F7F2"/>
          </a:solidFill>
          <a:ln w="7144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7" name="Image 4" descr="/tmp/h2p-fit-1791083621411-figf8q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44889" y="1478756"/>
            <a:ext cx="1545952" cy="485775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7212285" y="614363"/>
            <a:ext cx="1703003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33350" dist="50800" dir="16200000">
              <a:srgbClr val="D4AF37">
                <a:alpha val="4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Shape 32"/>
          <p:cNvSpPr/>
          <p:nvPr/>
        </p:nvSpPr>
        <p:spPr>
          <a:xfrm>
            <a:off x="7212285" y="628650"/>
            <a:ext cx="1703003" cy="0"/>
          </a:xfrm>
          <a:prstGeom prst="line">
            <a:avLst/>
          </a:prstGeom>
          <a:noFill/>
          <a:ln w="28575">
            <a:solidFill>
              <a:srgbClr val="D4AF37"/>
            </a:solidFill>
            <a:prstDash val="solid"/>
          </a:ln>
        </p:spPr>
      </p:sp>
      <p:sp>
        <p:nvSpPr>
          <p:cNvPr id="40" name="Text 33"/>
          <p:cNvSpPr/>
          <p:nvPr/>
        </p:nvSpPr>
        <p:spPr>
          <a:xfrm>
            <a:off x="8729551" y="685800"/>
            <a:ext cx="128588" cy="128588"/>
          </a:xfrm>
          <a:prstGeom prst="ellipse">
            <a:avLst/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4"/>
          <p:cNvSpPr/>
          <p:nvPr/>
        </p:nvSpPr>
        <p:spPr>
          <a:xfrm>
            <a:off x="8729551" y="685800"/>
            <a:ext cx="1143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800" dirty="0"/>
          </a:p>
        </p:txBody>
      </p:sp>
      <p:sp>
        <p:nvSpPr>
          <p:cNvPr id="42" name="Text 35"/>
          <p:cNvSpPr/>
          <p:nvPr/>
        </p:nvSpPr>
        <p:spPr>
          <a:xfrm>
            <a:off x="7283723" y="714375"/>
            <a:ext cx="1560128" cy="997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776"/>
              </a:lnSpc>
              <a:buNone/>
            </a:pPr>
            <a:r>
              <a:rPr lang="en-US" sz="800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✅ SELESAI</a:t>
            </a:r>
            <a:endParaRPr lang="en-US" sz="800" dirty="0"/>
          </a:p>
        </p:txBody>
      </p:sp>
      <p:sp>
        <p:nvSpPr>
          <p:cNvPr id="43" name="Text 36"/>
          <p:cNvSpPr/>
          <p:nvPr/>
        </p:nvSpPr>
        <p:spPr>
          <a:xfrm>
            <a:off x="7283723" y="841511"/>
            <a:ext cx="16537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03"/>
              </a:lnSpc>
              <a:buNone/>
            </a:pPr>
            <a:r>
              <a:rPr lang="en-US" sz="800" dirty="0">
                <a:solidFill>
                  <a:srgbClr val="6B656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Arsip + LIHUM gallery live.</a:t>
            </a:r>
            <a:endParaRPr lang="en-US" sz="800" dirty="0"/>
          </a:p>
        </p:txBody>
      </p:sp>
      <p:sp>
        <p:nvSpPr>
          <p:cNvPr id="44" name="Text 37"/>
          <p:cNvSpPr/>
          <p:nvPr/>
        </p:nvSpPr>
        <p:spPr>
          <a:xfrm>
            <a:off x="7287295" y="1475184"/>
            <a:ext cx="1552984" cy="492919"/>
          </a:xfrm>
          <a:prstGeom prst="roundRect">
            <a:avLst>
              <a:gd name="adj" fmla="val 11594"/>
            </a:avLst>
          </a:prstGeom>
          <a:solidFill>
            <a:srgbClr val="F9F7F2"/>
          </a:solidFill>
          <a:ln w="7144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5" name="Image 5" descr="/tmp/h2p-fit-1791083621411-fylo11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90867" y="1478756"/>
            <a:ext cx="1545841" cy="485775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239316" y="2110978"/>
            <a:ext cx="4756286" cy="1550194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21431">
            <a:solidFill>
              <a:srgbClr val="D4AF37"/>
            </a:solidFill>
            <a:prstDash val="solid"/>
          </a:ln>
          <a:effectLst>
            <a:outerShdw sx="100000" sy="100000" kx="0" ky="0" algn="bl" rotWithShape="0" blurRad="228006" dist="50800" dir="16200000">
              <a:srgbClr val="D4AF37">
                <a:alpha val="8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39"/>
          <p:cNvSpPr/>
          <p:nvPr/>
        </p:nvSpPr>
        <p:spPr>
          <a:xfrm>
            <a:off x="327184" y="2198418"/>
            <a:ext cx="1009010" cy="168021"/>
          </a:xfrm>
          <a:prstGeom prst="roundRect">
            <a:avLst>
              <a:gd name="adj" fmla="val 5663265"/>
            </a:avLst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0"/>
          <p:cNvSpPr/>
          <p:nvPr/>
        </p:nvSpPr>
        <p:spPr>
          <a:xfrm>
            <a:off x="350044" y="2207419"/>
            <a:ext cx="96329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⭐ INTEGRASI KUNCI</a:t>
            </a:r>
            <a:endParaRPr lang="en-US" sz="800" dirty="0"/>
          </a:p>
        </p:txBody>
      </p:sp>
      <p:sp>
        <p:nvSpPr>
          <p:cNvPr id="49" name="Text 41"/>
          <p:cNvSpPr/>
          <p:nvPr/>
        </p:nvSpPr>
        <p:spPr>
          <a:xfrm>
            <a:off x="350044" y="2400300"/>
            <a:ext cx="4644558" cy="125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Publikasi Otomatis ke LIHUM</a:t>
            </a:r>
            <a:endParaRPr lang="en-US" sz="800" dirty="0"/>
          </a:p>
        </p:txBody>
      </p:sp>
      <p:sp>
        <p:nvSpPr>
          <p:cNvPr id="50" name="Text 42"/>
          <p:cNvSpPr/>
          <p:nvPr/>
        </p:nvSpPr>
        <p:spPr>
          <a:xfrm>
            <a:off x="350044" y="2557463"/>
            <a:ext cx="4534830" cy="126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600" dirty="0">
                <a:solidFill>
                  <a:srgbClr val="1C191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Manager klik tombol → gallery otomatis dibuat dari folder </a:t>
            </a:r>
            <a:pPr algn="l" indent="0" marL="0">
              <a:lnSpc>
                <a:spcPts val="759"/>
              </a:lnSpc>
              <a:buNone/>
            </a:pPr>
            <a:r>
              <a:rPr lang="en-US" sz="600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PUBLIC</a:t>
            </a:r>
            <a:pPr algn="l" indent="0" marL="0">
              <a:lnSpc>
                <a:spcPts val="759"/>
              </a:lnSpc>
              <a:buNone/>
            </a:pPr>
            <a:r>
              <a:rPr lang="en-US" sz="600" dirty="0">
                <a:solidFill>
                  <a:srgbClr val="1C191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→ link siap embed di web resmi → publik unduh mandiri 24/7</a:t>
            </a:r>
            <a:endParaRPr lang="en-US" sz="600" dirty="0"/>
          </a:p>
        </p:txBody>
      </p:sp>
      <p:sp>
        <p:nvSpPr>
          <p:cNvPr id="51" name="Text 43"/>
          <p:cNvSpPr/>
          <p:nvPr/>
        </p:nvSpPr>
        <p:spPr>
          <a:xfrm>
            <a:off x="350044" y="2711053"/>
            <a:ext cx="914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800" dirty="0"/>
          </a:p>
        </p:txBody>
      </p:sp>
      <p:sp>
        <p:nvSpPr>
          <p:cNvPr id="52" name="Text 44"/>
          <p:cNvSpPr/>
          <p:nvPr/>
        </p:nvSpPr>
        <p:spPr>
          <a:xfrm>
            <a:off x="442913" y="2711053"/>
            <a:ext cx="444196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HANYA folder PUBLIC di-share (PRIVATE aman)</a:t>
            </a:r>
            <a:endParaRPr lang="en-US" sz="800" dirty="0"/>
          </a:p>
        </p:txBody>
      </p:sp>
      <p:sp>
        <p:nvSpPr>
          <p:cNvPr id="53" name="Text 45"/>
          <p:cNvSpPr/>
          <p:nvPr/>
        </p:nvSpPr>
        <p:spPr>
          <a:xfrm>
            <a:off x="350044" y="2818209"/>
            <a:ext cx="914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800" dirty="0"/>
          </a:p>
        </p:txBody>
      </p:sp>
      <p:sp>
        <p:nvSpPr>
          <p:cNvPr id="54" name="Text 46"/>
          <p:cNvSpPr/>
          <p:nvPr/>
        </p:nvSpPr>
        <p:spPr>
          <a:xfrm>
            <a:off x="442913" y="2818209"/>
            <a:ext cx="444196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QR Code + share link otomatis</a:t>
            </a:r>
            <a:endParaRPr lang="en-US" sz="800" dirty="0"/>
          </a:p>
        </p:txBody>
      </p:sp>
      <p:sp>
        <p:nvSpPr>
          <p:cNvPr id="55" name="Text 47"/>
          <p:cNvSpPr/>
          <p:nvPr/>
        </p:nvSpPr>
        <p:spPr>
          <a:xfrm>
            <a:off x="350044" y="2925366"/>
            <a:ext cx="914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800" dirty="0"/>
          </a:p>
        </p:txBody>
      </p:sp>
      <p:sp>
        <p:nvSpPr>
          <p:cNvPr id="56" name="Text 48"/>
          <p:cNvSpPr/>
          <p:nvPr/>
        </p:nvSpPr>
        <p:spPr>
          <a:xfrm>
            <a:off x="442913" y="2925366"/>
            <a:ext cx="444196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Download tanpa akun Google</a:t>
            </a:r>
            <a:endParaRPr lang="en-US" sz="800" dirty="0"/>
          </a:p>
        </p:txBody>
      </p:sp>
      <p:sp>
        <p:nvSpPr>
          <p:cNvPr id="57" name="Text 49"/>
          <p:cNvSpPr/>
          <p:nvPr/>
        </p:nvSpPr>
        <p:spPr>
          <a:xfrm>
            <a:off x="350044" y="3032522"/>
            <a:ext cx="914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6A34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800" dirty="0"/>
          </a:p>
        </p:txBody>
      </p:sp>
      <p:sp>
        <p:nvSpPr>
          <p:cNvPr id="58" name="Text 50"/>
          <p:cNvSpPr/>
          <p:nvPr/>
        </p:nvSpPr>
        <p:spPr>
          <a:xfrm>
            <a:off x="442913" y="3032522"/>
            <a:ext cx="444196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1C191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Transparansi publik real-time</a:t>
            </a:r>
            <a:endParaRPr lang="en-US" sz="800" dirty="0"/>
          </a:p>
        </p:txBody>
      </p:sp>
      <p:sp>
        <p:nvSpPr>
          <p:cNvPr id="59" name="Text 51"/>
          <p:cNvSpPr/>
          <p:nvPr/>
        </p:nvSpPr>
        <p:spPr>
          <a:xfrm>
            <a:off x="5095615" y="2103834"/>
            <a:ext cx="3901827" cy="1064419"/>
          </a:xfrm>
          <a:prstGeom prst="roundRect">
            <a:avLst>
              <a:gd name="adj" fmla="val 8949"/>
            </a:avLst>
          </a:prstGeom>
          <a:solidFill>
            <a:srgbClr val="FAF6E8"/>
          </a:solidFill>
          <a:ln w="7144">
            <a:solidFill>
              <a:srgbClr val="D4AF37"/>
            </a:solidFill>
            <a:prstDash val="solid"/>
          </a:ln>
          <a:effectLst>
            <a:outerShdw sx="100000" sy="100000" kx="0" ky="0" algn="bl" rotWithShape="0" blurRad="9525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0" name="Image 6" descr="/tmp/h2p-fit-1791083621411-mfyawo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99186" y="2107406"/>
            <a:ext cx="3894683" cy="1057275"/>
          </a:xfrm>
          <a:prstGeom prst="rect">
            <a:avLst/>
          </a:prstGeom>
        </p:spPr>
      </p:pic>
      <p:sp>
        <p:nvSpPr>
          <p:cNvPr id="61" name="Text 52"/>
          <p:cNvSpPr/>
          <p:nvPr/>
        </p:nvSpPr>
        <p:spPr>
          <a:xfrm>
            <a:off x="5092043" y="3214688"/>
            <a:ext cx="3908971" cy="120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lihum.synclicen.workers.dev/?gallery=pendampingan-aps-lamgama</a:t>
            </a:r>
            <a:endParaRPr lang="en-US" sz="800" dirty="0"/>
          </a:p>
        </p:txBody>
      </p:sp>
      <p:pic>
        <p:nvPicPr>
          <p:cNvPr id="6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8600" y="3714750"/>
            <a:ext cx="8686800" cy="214313"/>
          </a:xfrm>
          <a:prstGeom prst="rect">
            <a:avLst/>
          </a:prstGeom>
        </p:spPr>
      </p:pic>
      <p:sp>
        <p:nvSpPr>
          <p:cNvPr id="63" name="Text 53"/>
          <p:cNvSpPr/>
          <p:nvPr/>
        </p:nvSpPr>
        <p:spPr>
          <a:xfrm>
            <a:off x="228600" y="3714750"/>
            <a:ext cx="8636000" cy="274320"/>
          </a:xfrm>
          <a:prstGeom prst="rect">
            <a:avLst/>
          </a:prstGeom>
          <a:noFill/>
          <a:ln/>
        </p:spPr>
        <p:txBody>
          <a:bodyPr wrap="square" lIns="114300" tIns="57150" rIns="114300" bIns="5715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16 Role | 4 Folder otomatis (PRODUKSI, PASCA, PUBLIC, PRIVATE) | 1-klik publikasi LIHUM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B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71450"/>
            <a:ext cx="8686800" cy="3571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5763" y="257175"/>
            <a:ext cx="7012484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38" b="1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📊</a:t>
            </a:r>
            <a:pPr algn="l" indent="0" marL="0">
              <a:buNone/>
            </a:pPr>
            <a:r>
              <a:rPr lang="en-US" sz="1238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Pengukuran Hasil + Laporan SKP per Petugas</a:t>
            </a:r>
            <a:endParaRPr lang="en-US" sz="1238" dirty="0"/>
          </a:p>
        </p:txBody>
      </p:sp>
      <p:sp>
        <p:nvSpPr>
          <p:cNvPr id="4" name="Text 1"/>
          <p:cNvSpPr/>
          <p:nvPr/>
        </p:nvSpPr>
        <p:spPr>
          <a:xfrm>
            <a:off x="7433965" y="271463"/>
            <a:ext cx="1324273" cy="157163"/>
          </a:xfrm>
          <a:prstGeom prst="roundRect">
            <a:avLst>
              <a:gd name="adj" fmla="val 6054526"/>
            </a:avLst>
          </a:prstGeom>
          <a:solidFill>
            <a:srgbClr val="FFFFFF">
              <a:alpha val="1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7433965" y="271463"/>
            <a:ext cx="1324273" cy="171450"/>
          </a:xfrm>
          <a:prstGeom prst="rect">
            <a:avLst/>
          </a:prstGeom>
          <a:noFill/>
          <a:ln/>
        </p:spPr>
        <p:txBody>
          <a:bodyPr wrap="square" lIns="85725" tIns="28575" rIns="85725" bIns="28575" rtlCol="0" anchor="t"/>
          <a:lstStyle/>
          <a:p>
            <a:pPr algn="l" indent="0" marL="0">
              <a:buNone/>
            </a:pPr>
            <a:r>
              <a:rPr lang="en-US" sz="675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Metrik · Bukti · Transparansi</a:t>
            </a:r>
            <a:endParaRPr lang="en-US" sz="675" dirty="0"/>
          </a:p>
        </p:txBody>
      </p:sp>
      <p:sp>
        <p:nvSpPr>
          <p:cNvPr id="6" name="Text 3"/>
          <p:cNvSpPr/>
          <p:nvPr/>
        </p:nvSpPr>
        <p:spPr>
          <a:xfrm>
            <a:off x="228600" y="614363"/>
            <a:ext cx="2118122" cy="2928938"/>
          </a:xfrm>
          <a:prstGeom prst="roundRect">
            <a:avLst>
              <a:gd name="adj" fmla="val 53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246459" y="614363"/>
            <a:ext cx="0" cy="2928938"/>
          </a:xfrm>
          <a:prstGeom prst="line">
            <a:avLst/>
          </a:prstGeom>
          <a:noFill/>
          <a:ln w="35719">
            <a:solidFill>
              <a:srgbClr val="14B8A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50044" y="700088"/>
            <a:ext cx="191095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38" dirty="0">
                <a:solidFill>
                  <a:srgbClr val="1C191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📈</a:t>
            </a:r>
            <a:endParaRPr lang="en-US" sz="1238" dirty="0"/>
          </a:p>
        </p:txBody>
      </p:sp>
      <p:sp>
        <p:nvSpPr>
          <p:cNvPr id="9" name="Text 6"/>
          <p:cNvSpPr/>
          <p:nvPr/>
        </p:nvSpPr>
        <p:spPr>
          <a:xfrm>
            <a:off x="350044" y="892969"/>
            <a:ext cx="1910953" cy="1149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1"/>
              </a:lnSpc>
              <a:buNone/>
            </a:pPr>
            <a:r>
              <a:rPr lang="en-US" sz="800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Statistik Real-time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350044" y="1035397"/>
            <a:ext cx="2020681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dirty="0">
                <a:solidFill>
                  <a:srgbClr val="6B656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Total, aktif, selesai. Filter waktu.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353616" y="1196132"/>
            <a:ext cx="1903809" cy="1635919"/>
          </a:xfrm>
          <a:prstGeom prst="roundRect">
            <a:avLst>
              <a:gd name="adj" fmla="val 4658"/>
            </a:avLst>
          </a:prstGeom>
          <a:solidFill>
            <a:srgbClr val="F9F7F2"/>
          </a:solidFill>
          <a:ln w="7144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2" name="Image 1" descr="/tmp/h2p-fit-1791083620845-lpp7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88" y="1199704"/>
            <a:ext cx="1896666" cy="162877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0044" y="3378994"/>
            <a:ext cx="1910953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🔗</a:t>
            </a:r>
            <a:pPr algn="l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Statistik &amp; Progress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2418159" y="614363"/>
            <a:ext cx="2118122" cy="2928938"/>
          </a:xfrm>
          <a:prstGeom prst="roundRect">
            <a:avLst>
              <a:gd name="adj" fmla="val 53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1"/>
          <p:cNvSpPr/>
          <p:nvPr/>
        </p:nvSpPr>
        <p:spPr>
          <a:xfrm>
            <a:off x="2436019" y="614363"/>
            <a:ext cx="0" cy="2928938"/>
          </a:xfrm>
          <a:prstGeom prst="line">
            <a:avLst/>
          </a:prstGeom>
          <a:noFill/>
          <a:ln w="35719">
            <a:solidFill>
              <a:srgbClr val="F97316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2539603" y="700088"/>
            <a:ext cx="191095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38" dirty="0">
                <a:solidFill>
                  <a:srgbClr val="1C191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📄</a:t>
            </a:r>
            <a:endParaRPr lang="en-US" sz="1238" dirty="0"/>
          </a:p>
        </p:txBody>
      </p:sp>
      <p:sp>
        <p:nvSpPr>
          <p:cNvPr id="17" name="Text 13"/>
          <p:cNvSpPr/>
          <p:nvPr/>
        </p:nvSpPr>
        <p:spPr>
          <a:xfrm>
            <a:off x="2539603" y="892969"/>
            <a:ext cx="1910953" cy="1149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1"/>
              </a:lnSpc>
              <a:buNone/>
            </a:pPr>
            <a:r>
              <a:rPr lang="en-US" sz="800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Laporan SKP per Petugas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2539603" y="1035397"/>
            <a:ext cx="2020681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600" dirty="0">
                <a:solidFill>
                  <a:srgbClr val="6B656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Download PDF bukti kinerja triwulan.</a:t>
            </a:r>
            <a:endParaRPr lang="en-US" sz="600" dirty="0"/>
          </a:p>
        </p:txBody>
      </p:sp>
      <p:sp>
        <p:nvSpPr>
          <p:cNvPr id="19" name="Text 15"/>
          <p:cNvSpPr/>
          <p:nvPr/>
        </p:nvSpPr>
        <p:spPr>
          <a:xfrm>
            <a:off x="2543175" y="1196132"/>
            <a:ext cx="1903809" cy="1635919"/>
          </a:xfrm>
          <a:prstGeom prst="roundRect">
            <a:avLst>
              <a:gd name="adj" fmla="val 4658"/>
            </a:avLst>
          </a:prstGeom>
          <a:solidFill>
            <a:srgbClr val="F9F7F2"/>
          </a:solidFill>
          <a:ln w="7144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0" name="Image 2" descr="/tmp/h2p-fit-1791083620846-28x9j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6747" y="1199704"/>
            <a:ext cx="1896666" cy="1628775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2539603" y="3378994"/>
            <a:ext cx="1910953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🔗</a:t>
            </a:r>
            <a:pPr algn="l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Laporan Kegiatan</a:t>
            </a:r>
            <a:endParaRPr lang="en-US" sz="800" dirty="0"/>
          </a:p>
        </p:txBody>
      </p:sp>
      <p:sp>
        <p:nvSpPr>
          <p:cNvPr id="22" name="Text 17"/>
          <p:cNvSpPr/>
          <p:nvPr/>
        </p:nvSpPr>
        <p:spPr>
          <a:xfrm>
            <a:off x="4607719" y="614363"/>
            <a:ext cx="2118122" cy="2928938"/>
          </a:xfrm>
          <a:prstGeom prst="roundRect">
            <a:avLst>
              <a:gd name="adj" fmla="val 53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18"/>
          <p:cNvSpPr/>
          <p:nvPr/>
        </p:nvSpPr>
        <p:spPr>
          <a:xfrm>
            <a:off x="4625578" y="614363"/>
            <a:ext cx="0" cy="2928938"/>
          </a:xfrm>
          <a:prstGeom prst="line">
            <a:avLst/>
          </a:prstGeom>
          <a:noFill/>
          <a:ln w="35719">
            <a:solidFill>
              <a:srgbClr val="2563EB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4729163" y="700088"/>
            <a:ext cx="191095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38" dirty="0">
                <a:solidFill>
                  <a:srgbClr val="1C191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🔍</a:t>
            </a:r>
            <a:endParaRPr lang="en-US" sz="1238" dirty="0"/>
          </a:p>
        </p:txBody>
      </p:sp>
      <p:sp>
        <p:nvSpPr>
          <p:cNvPr id="25" name="Text 20"/>
          <p:cNvSpPr/>
          <p:nvPr/>
        </p:nvSpPr>
        <p:spPr>
          <a:xfrm>
            <a:off x="4729163" y="892969"/>
            <a:ext cx="1910953" cy="1149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1"/>
              </a:lnSpc>
              <a:buNone/>
            </a:pPr>
            <a:r>
              <a:rPr lang="en-US" sz="800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Public Tracker</a:t>
            </a:r>
            <a:endParaRPr lang="en-US" sz="800" dirty="0"/>
          </a:p>
        </p:txBody>
      </p:sp>
      <p:sp>
        <p:nvSpPr>
          <p:cNvPr id="26" name="Text 21"/>
          <p:cNvSpPr/>
          <p:nvPr/>
        </p:nvSpPr>
        <p:spPr>
          <a:xfrm>
            <a:off x="4729163" y="1035397"/>
            <a:ext cx="2020681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dirty="0">
                <a:solidFill>
                  <a:srgbClr val="6B656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Transparansi publik via link.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4732734" y="1196132"/>
            <a:ext cx="1903809" cy="1635919"/>
          </a:xfrm>
          <a:prstGeom prst="roundRect">
            <a:avLst>
              <a:gd name="adj" fmla="val 4658"/>
            </a:avLst>
          </a:prstGeom>
          <a:solidFill>
            <a:srgbClr val="F9F7F2"/>
          </a:solidFill>
          <a:ln w="7144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8" name="Image 3" descr="/tmp/h2p-fit-1791083620847-imvs27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6306" y="1199704"/>
            <a:ext cx="1896666" cy="1628775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4729163" y="3378994"/>
            <a:ext cx="1910953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🔗</a:t>
            </a:r>
            <a:pPr algn="l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?public=tracker</a:t>
            </a:r>
            <a:endParaRPr lang="en-US" sz="800" dirty="0"/>
          </a:p>
        </p:txBody>
      </p:sp>
      <p:sp>
        <p:nvSpPr>
          <p:cNvPr id="30" name="Text 24"/>
          <p:cNvSpPr/>
          <p:nvPr/>
        </p:nvSpPr>
        <p:spPr>
          <a:xfrm>
            <a:off x="6797278" y="614363"/>
            <a:ext cx="2118122" cy="2928938"/>
          </a:xfrm>
          <a:prstGeom prst="roundRect">
            <a:avLst>
              <a:gd name="adj" fmla="val 53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9525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5"/>
          <p:cNvSpPr/>
          <p:nvPr/>
        </p:nvSpPr>
        <p:spPr>
          <a:xfrm>
            <a:off x="6815138" y="614363"/>
            <a:ext cx="0" cy="2928938"/>
          </a:xfrm>
          <a:prstGeom prst="line">
            <a:avLst/>
          </a:prstGeom>
          <a:noFill/>
          <a:ln w="35719">
            <a:solidFill>
              <a:srgbClr val="4C2A85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6918722" y="700088"/>
            <a:ext cx="191095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38" dirty="0">
                <a:solidFill>
                  <a:srgbClr val="1C191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📑</a:t>
            </a:r>
            <a:endParaRPr lang="en-US" sz="1238" dirty="0"/>
          </a:p>
        </p:txBody>
      </p:sp>
      <p:sp>
        <p:nvSpPr>
          <p:cNvPr id="33" name="Text 27"/>
          <p:cNvSpPr/>
          <p:nvPr/>
        </p:nvSpPr>
        <p:spPr>
          <a:xfrm>
            <a:off x="6918722" y="892969"/>
            <a:ext cx="2020681" cy="114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1"/>
              </a:lnSpc>
              <a:buNone/>
            </a:pPr>
            <a:r>
              <a:rPr lang="en-US" sz="800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Rekapitulasi Multi-modul</a:t>
            </a:r>
            <a:endParaRPr lang="en-US" sz="800" dirty="0"/>
          </a:p>
        </p:txBody>
      </p:sp>
      <p:sp>
        <p:nvSpPr>
          <p:cNvPr id="34" name="Text 28"/>
          <p:cNvSpPr/>
          <p:nvPr/>
        </p:nvSpPr>
        <p:spPr>
          <a:xfrm>
            <a:off x="6918722" y="1035397"/>
            <a:ext cx="2020681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600" dirty="0">
                <a:solidFill>
                  <a:srgbClr val="6B656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Surat, kegiatan, inventaris — export.</a:t>
            </a:r>
            <a:endParaRPr lang="en-US" sz="600" dirty="0"/>
          </a:p>
        </p:txBody>
      </p:sp>
      <p:sp>
        <p:nvSpPr>
          <p:cNvPr id="35" name="Text 29"/>
          <p:cNvSpPr/>
          <p:nvPr/>
        </p:nvSpPr>
        <p:spPr>
          <a:xfrm>
            <a:off x="6922294" y="1196132"/>
            <a:ext cx="1903809" cy="1635919"/>
          </a:xfrm>
          <a:prstGeom prst="roundRect">
            <a:avLst>
              <a:gd name="adj" fmla="val 4658"/>
            </a:avLst>
          </a:prstGeom>
          <a:solidFill>
            <a:srgbClr val="F9F7F2"/>
          </a:solidFill>
          <a:ln w="7144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6" name="Image 4" descr="/tmp/h2p-fit-1791083620847-a6vnfh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5866" y="1199704"/>
            <a:ext cx="1896666" cy="1628775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6918722" y="3378994"/>
            <a:ext cx="1910953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🔗</a:t>
            </a:r>
            <a:pPr algn="l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Rekapitulasi</a:t>
            </a:r>
            <a:endParaRPr lang="en-US" sz="800" dirty="0"/>
          </a:p>
        </p:txBody>
      </p:sp>
      <p:sp>
        <p:nvSpPr>
          <p:cNvPr id="38" name="Text 31"/>
          <p:cNvSpPr/>
          <p:nvPr/>
        </p:nvSpPr>
        <p:spPr>
          <a:xfrm>
            <a:off x="239316" y="3611166"/>
            <a:ext cx="8665369" cy="921544"/>
          </a:xfrm>
          <a:prstGeom prst="roundRect">
            <a:avLst>
              <a:gd name="adj" fmla="val 14470"/>
            </a:avLst>
          </a:prstGeom>
          <a:solidFill>
            <a:srgbClr val="FFFFFF"/>
          </a:solidFill>
          <a:ln w="21431">
            <a:solidFill>
              <a:srgbClr val="D4AF37"/>
            </a:solidFill>
            <a:prstDash val="solid"/>
          </a:ln>
          <a:effectLst>
            <a:outerShdw sx="100000" sy="100000" kx="0" ky="0" algn="bl" rotWithShape="0" blurRad="210014" dist="50800" dir="16200000">
              <a:srgbClr val="D4AF37">
                <a:alpha val="7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2"/>
          <p:cNvSpPr/>
          <p:nvPr/>
        </p:nvSpPr>
        <p:spPr>
          <a:xfrm>
            <a:off x="341471" y="3699462"/>
            <a:ext cx="1148760" cy="152019"/>
          </a:xfrm>
          <a:prstGeom prst="roundRect">
            <a:avLst>
              <a:gd name="adj" fmla="val 6259398"/>
            </a:avLst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3"/>
          <p:cNvSpPr/>
          <p:nvPr/>
        </p:nvSpPr>
        <p:spPr>
          <a:xfrm>
            <a:off x="364331" y="3707606"/>
            <a:ext cx="110304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⭐ LIHUM GALLERY LIVE</a:t>
            </a:r>
            <a:endParaRPr lang="en-US" sz="800" dirty="0"/>
          </a:p>
        </p:txBody>
      </p:sp>
      <p:sp>
        <p:nvSpPr>
          <p:cNvPr id="41" name="Text 34"/>
          <p:cNvSpPr/>
          <p:nvPr/>
        </p:nvSpPr>
        <p:spPr>
          <a:xfrm>
            <a:off x="364331" y="3886200"/>
            <a:ext cx="5453115" cy="125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Pengukuran Engagement via LIHUM</a:t>
            </a:r>
            <a:endParaRPr lang="en-US" sz="800" dirty="0"/>
          </a:p>
        </p:txBody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4331" y="4057650"/>
            <a:ext cx="1644960" cy="485775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367903" y="4061222"/>
            <a:ext cx="1637816" cy="478631"/>
          </a:xfrm>
          <a:prstGeom prst="roundRect">
            <a:avLst>
              <a:gd name="adj" fmla="val 19901"/>
            </a:avLst>
          </a:prstGeom>
          <a:noFill/>
          <a:ln w="7144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36"/>
          <p:cNvSpPr/>
          <p:nvPr/>
        </p:nvSpPr>
        <p:spPr>
          <a:xfrm>
            <a:off x="428625" y="4107656"/>
            <a:ext cx="1516373" cy="1154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C191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📸</a:t>
            </a:r>
            <a:endParaRPr lang="en-US" sz="900" dirty="0"/>
          </a:p>
        </p:txBody>
      </p:sp>
      <p:sp>
        <p:nvSpPr>
          <p:cNvPr id="45" name="Text 37"/>
          <p:cNvSpPr/>
          <p:nvPr/>
        </p:nvSpPr>
        <p:spPr>
          <a:xfrm>
            <a:off x="428625" y="4250531"/>
            <a:ext cx="1516373" cy="129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1125" b="1" dirty="0">
                <a:solidFill>
                  <a:srgbClr val="4C2A8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1,918</a:t>
            </a:r>
            <a:endParaRPr lang="en-US" sz="1125" dirty="0"/>
          </a:p>
        </p:txBody>
      </p:sp>
      <p:sp>
        <p:nvSpPr>
          <p:cNvPr id="46" name="Text 38"/>
          <p:cNvSpPr/>
          <p:nvPr/>
        </p:nvSpPr>
        <p:spPr>
          <a:xfrm>
            <a:off x="428625" y="4407694"/>
            <a:ext cx="1516373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656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Foto</a:t>
            </a:r>
            <a:endParaRPr lang="en-US" sz="800" dirty="0"/>
          </a:p>
        </p:txBody>
      </p:sp>
      <p:pic>
        <p:nvPicPr>
          <p:cNvPr id="4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66441" y="4057650"/>
            <a:ext cx="1644960" cy="485775"/>
          </a:xfrm>
          <a:prstGeom prst="rect">
            <a:avLst/>
          </a:prstGeom>
        </p:spPr>
      </p:pic>
      <p:sp>
        <p:nvSpPr>
          <p:cNvPr id="48" name="Text 39"/>
          <p:cNvSpPr/>
          <p:nvPr/>
        </p:nvSpPr>
        <p:spPr>
          <a:xfrm>
            <a:off x="2070013" y="4061222"/>
            <a:ext cx="1637816" cy="478631"/>
          </a:xfrm>
          <a:prstGeom prst="roundRect">
            <a:avLst>
              <a:gd name="adj" fmla="val 19901"/>
            </a:avLst>
          </a:prstGeom>
          <a:noFill/>
          <a:ln w="7144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0"/>
          <p:cNvSpPr/>
          <p:nvPr/>
        </p:nvSpPr>
        <p:spPr>
          <a:xfrm>
            <a:off x="2130735" y="4107656"/>
            <a:ext cx="1516373" cy="1154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C191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🌐</a:t>
            </a:r>
            <a:endParaRPr lang="en-US" sz="900" dirty="0"/>
          </a:p>
        </p:txBody>
      </p:sp>
      <p:sp>
        <p:nvSpPr>
          <p:cNvPr id="50" name="Text 41"/>
          <p:cNvSpPr/>
          <p:nvPr/>
        </p:nvSpPr>
        <p:spPr>
          <a:xfrm>
            <a:off x="2130735" y="4250531"/>
            <a:ext cx="1516373" cy="129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1125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LIVE</a:t>
            </a:r>
            <a:endParaRPr lang="en-US" sz="1125" dirty="0"/>
          </a:p>
        </p:txBody>
      </p:sp>
      <p:sp>
        <p:nvSpPr>
          <p:cNvPr id="51" name="Text 42"/>
          <p:cNvSpPr/>
          <p:nvPr/>
        </p:nvSpPr>
        <p:spPr>
          <a:xfrm>
            <a:off x="2130735" y="4407694"/>
            <a:ext cx="1516373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656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Publik</a:t>
            </a:r>
            <a:endParaRPr lang="en-US" sz="800" dirty="0"/>
          </a:p>
        </p:txBody>
      </p:sp>
      <p:pic>
        <p:nvPicPr>
          <p:cNvPr id="5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68551" y="4057650"/>
            <a:ext cx="1644960" cy="485775"/>
          </a:xfrm>
          <a:prstGeom prst="rect">
            <a:avLst/>
          </a:prstGeom>
        </p:spPr>
      </p:pic>
      <p:sp>
        <p:nvSpPr>
          <p:cNvPr id="53" name="Text 43"/>
          <p:cNvSpPr/>
          <p:nvPr/>
        </p:nvSpPr>
        <p:spPr>
          <a:xfrm>
            <a:off x="3772123" y="4061222"/>
            <a:ext cx="1637816" cy="478631"/>
          </a:xfrm>
          <a:prstGeom prst="roundRect">
            <a:avLst>
              <a:gd name="adj" fmla="val 19901"/>
            </a:avLst>
          </a:prstGeom>
          <a:noFill/>
          <a:ln w="7144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44"/>
          <p:cNvSpPr/>
          <p:nvPr/>
        </p:nvSpPr>
        <p:spPr>
          <a:xfrm>
            <a:off x="3832845" y="4107656"/>
            <a:ext cx="1516373" cy="1154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C191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👥</a:t>
            </a:r>
            <a:endParaRPr lang="en-US" sz="900" dirty="0"/>
          </a:p>
        </p:txBody>
      </p:sp>
      <p:sp>
        <p:nvSpPr>
          <p:cNvPr id="55" name="Text 45"/>
          <p:cNvSpPr/>
          <p:nvPr/>
        </p:nvSpPr>
        <p:spPr>
          <a:xfrm>
            <a:off x="3832845" y="4250531"/>
            <a:ext cx="1516373" cy="129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1125" b="1" dirty="0">
                <a:solidFill>
                  <a:srgbClr val="4C2A8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24/7</a:t>
            </a:r>
            <a:endParaRPr lang="en-US" sz="1125" dirty="0"/>
          </a:p>
        </p:txBody>
      </p:sp>
      <p:sp>
        <p:nvSpPr>
          <p:cNvPr id="56" name="Text 46"/>
          <p:cNvSpPr/>
          <p:nvPr/>
        </p:nvSpPr>
        <p:spPr>
          <a:xfrm>
            <a:off x="3832845" y="4407694"/>
            <a:ext cx="1516373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656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Unduh Mandiri</a:t>
            </a:r>
            <a:endParaRPr lang="en-US" sz="800" dirty="0"/>
          </a:p>
        </p:txBody>
      </p:sp>
      <p:sp>
        <p:nvSpPr>
          <p:cNvPr id="57" name="Text 47"/>
          <p:cNvSpPr/>
          <p:nvPr/>
        </p:nvSpPr>
        <p:spPr>
          <a:xfrm>
            <a:off x="364331" y="4586288"/>
            <a:ext cx="50491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i="1" dirty="0">
                <a:solidFill>
                  <a:srgbClr val="6B656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Setiap gallery LIHUM track jumlah foto + download count = metrik engagement otomatis</a:t>
            </a:r>
            <a:endParaRPr lang="en-US" sz="800" dirty="0"/>
          </a:p>
        </p:txBody>
      </p:sp>
      <p:sp>
        <p:nvSpPr>
          <p:cNvPr id="58" name="Text 48"/>
          <p:cNvSpPr/>
          <p:nvPr/>
        </p:nvSpPr>
        <p:spPr>
          <a:xfrm>
            <a:off x="5517096" y="3829050"/>
            <a:ext cx="3358902" cy="621506"/>
          </a:xfrm>
          <a:prstGeom prst="roundRect">
            <a:avLst>
              <a:gd name="adj" fmla="val 12261"/>
            </a:avLst>
          </a:prstGeom>
          <a:solidFill>
            <a:srgbClr val="FAF6E8"/>
          </a:solidFill>
          <a:ln w="7144">
            <a:solidFill>
              <a:srgbClr val="D4AF37"/>
            </a:solidFill>
            <a:prstDash val="solid"/>
          </a:ln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9" name="Image 8" descr="/tmp/h2p-fit-1791083620847-g3489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20668" y="3832622"/>
            <a:ext cx="3351758" cy="614363"/>
          </a:xfrm>
          <a:prstGeom prst="rect">
            <a:avLst/>
          </a:prstGeom>
        </p:spPr>
      </p:pic>
      <p:sp>
        <p:nvSpPr>
          <p:cNvPr id="60" name="Text 49"/>
          <p:cNvSpPr/>
          <p:nvPr/>
        </p:nvSpPr>
        <p:spPr>
          <a:xfrm>
            <a:off x="6614170" y="4482703"/>
            <a:ext cx="1164641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563E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🔗</a:t>
            </a:r>
            <a:pPr algn="ctr" indent="0" marL="0">
              <a:buNone/>
            </a:pPr>
            <a:r>
              <a:rPr lang="en-US" sz="600" b="1" dirty="0">
                <a:solidFill>
                  <a:srgbClr val="2563E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lihum.synclicen.workers.dev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B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214312" y="-214312"/>
            <a:ext cx="642938" cy="642938"/>
          </a:xfrm>
          <a:prstGeom prst="ellipse">
            <a:avLst/>
          </a:prstGeom>
          <a:solidFill>
            <a:srgbClr val="D4AF37">
              <a:alpha val="2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572500" y="4572000"/>
            <a:ext cx="857250" cy="857250"/>
          </a:xfrm>
          <a:prstGeom prst="ellipse">
            <a:avLst/>
          </a:prstGeom>
          <a:solidFill>
            <a:srgbClr val="D4AF37">
              <a:alpha val="2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501063" y="142875"/>
            <a:ext cx="357188" cy="357188"/>
          </a:xfrm>
          <a:prstGeom prst="ellipse">
            <a:avLst/>
          </a:prstGeom>
          <a:solidFill>
            <a:srgbClr val="D4AF37">
              <a:alpha val="1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228600"/>
            <a:ext cx="8686800" cy="35997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71475" y="314325"/>
            <a:ext cx="8401050" cy="18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🛡</a:t>
            </a:r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️ Inovasi: Folder PUBLIC vs PRIVATE — Filter Distribusi Konten</a:t>
            </a:r>
            <a:endParaRPr lang="en-US" sz="1238" dirty="0"/>
          </a:p>
        </p:txBody>
      </p:sp>
      <p:sp>
        <p:nvSpPr>
          <p:cNvPr id="7" name="Text 4"/>
          <p:cNvSpPr/>
          <p:nvPr/>
        </p:nvSpPr>
        <p:spPr>
          <a:xfrm>
            <a:off x="228600" y="645728"/>
            <a:ext cx="8636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656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Petugas Tahap 1 filter foto sejak awal — mana yang aman dibagi publik, mana yang rahasia.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239316" y="813606"/>
            <a:ext cx="4264819" cy="1978819"/>
          </a:xfrm>
          <a:prstGeom prst="roundRect">
            <a:avLst>
              <a:gd name="adj" fmla="val 7702"/>
            </a:avLst>
          </a:prstGeom>
          <a:solidFill>
            <a:srgbClr val="FFFFFF"/>
          </a:solidFill>
          <a:ln w="21431">
            <a:solidFill>
              <a:srgbClr val="16A34A"/>
            </a:solidFill>
            <a:prstDash val="solid"/>
          </a:ln>
          <a:effectLst>
            <a:outerShdw sx="100000" sy="100000" kx="0" ky="0" algn="bl" rotWithShape="0" blurRad="133350" dist="381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364331" y="938622"/>
            <a:ext cx="4014788" cy="1182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00" b="1" dirty="0">
                <a:solidFill>
                  <a:srgbClr val="16A34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🟢 Folder 3: PUBLIC/UMUM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64331" y="1084287"/>
            <a:ext cx="4014788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B656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Untuk Dibagi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364331" y="1241450"/>
            <a:ext cx="4014788" cy="7177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spcAft>
                <a:spcPts val="169"/>
              </a:spcAft>
              <a:buNone/>
            </a:pPr>
            <a:r>
              <a:rPr lang="en-US" sz="600" dirty="0">
                <a:solidFill>
                  <a:srgbClr val="16A34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169"/>
              </a:spcAft>
              <a:buNone/>
            </a:pPr>
            <a:r>
              <a:rPr lang="en-US" sz="800" dirty="0">
                <a:solidFill>
                  <a:srgbClr val="1C191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Foto yang BOLEH dibagikan ke publik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169"/>
              </a:spcAft>
              <a:buNone/>
            </a:pPr>
            <a:r>
              <a:rPr lang="en-US" sz="600" dirty="0">
                <a:solidFill>
                  <a:srgbClr val="16A34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169"/>
              </a:spcAft>
              <a:buNone/>
            </a:pPr>
            <a:r>
              <a:rPr lang="en-US" sz="800" dirty="0">
                <a:solidFill>
                  <a:srgbClr val="1C191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Otomatis di-share ke LIHUM gallery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169"/>
              </a:spcAft>
              <a:buNone/>
            </a:pPr>
            <a:r>
              <a:rPr lang="en-US" sz="600" dirty="0">
                <a:solidFill>
                  <a:srgbClr val="16A34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169"/>
              </a:spcAft>
              <a:buNone/>
            </a:pPr>
            <a:r>
              <a:rPr lang="en-US" sz="800" dirty="0">
                <a:solidFill>
                  <a:srgbClr val="1C191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Pengunjung lihat &amp; unduh tanpa akun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169"/>
              </a:spcAft>
              <a:buNone/>
            </a:pPr>
            <a:r>
              <a:rPr lang="en-US" sz="600" dirty="0">
                <a:solidFill>
                  <a:srgbClr val="16A34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169"/>
              </a:spcAft>
              <a:buNone/>
            </a:pPr>
            <a:r>
              <a:rPr lang="en-US" sz="800" dirty="0">
                <a:solidFill>
                  <a:srgbClr val="1C191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Embed di web resmi uin-antasari.ac.id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169"/>
              </a:spcAft>
              <a:buNone/>
            </a:pPr>
            <a:r>
              <a:rPr lang="en-US" sz="600" dirty="0">
                <a:solidFill>
                  <a:srgbClr val="16A34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169"/>
              </a:spcAft>
              <a:buNone/>
            </a:pPr>
            <a:r>
              <a:rPr lang="en-US" sz="800" dirty="0">
                <a:solidFill>
                  <a:srgbClr val="1C191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QR Code + share link otomatis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371475" y="1962634"/>
            <a:ext cx="4000500" cy="557213"/>
          </a:xfrm>
          <a:prstGeom prst="roundRect">
            <a:avLst>
              <a:gd name="adj" fmla="val 13675"/>
            </a:avLst>
          </a:prstGeom>
          <a:solidFill>
            <a:srgbClr val="F9F7F0"/>
          </a:solidFill>
          <a:ln w="14288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3" name="Image 1" descr="/tmp/h2p-fit-1791083621535-p3av9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619" y="1969777"/>
            <a:ext cx="3986213" cy="54292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1471" y="2575996"/>
            <a:ext cx="962576" cy="152019"/>
          </a:xfrm>
          <a:prstGeom prst="roundRect">
            <a:avLst>
              <a:gd name="adj" fmla="val 6259398"/>
            </a:avLst>
          </a:prstGeom>
          <a:solidFill>
            <a:srgbClr val="16A3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364331" y="2584140"/>
            <a:ext cx="916856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28" kern="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✓ DIPUBLIKASIKAN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4639866" y="813606"/>
            <a:ext cx="4264819" cy="1978819"/>
          </a:xfrm>
          <a:prstGeom prst="roundRect">
            <a:avLst>
              <a:gd name="adj" fmla="val 7702"/>
            </a:avLst>
          </a:prstGeom>
          <a:solidFill>
            <a:srgbClr val="FFFFFF"/>
          </a:solidFill>
          <a:ln w="21431">
            <a:solidFill>
              <a:srgbClr val="DC2626"/>
            </a:solidFill>
            <a:prstDash val="solid"/>
          </a:ln>
          <a:effectLst>
            <a:outerShdw sx="100000" sy="100000" kx="0" ky="0" algn="bl" rotWithShape="0" blurRad="133350" dist="381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4764881" y="938622"/>
            <a:ext cx="4124515" cy="1182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00" b="1" dirty="0">
                <a:solidFill>
                  <a:srgbClr val="DC262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🔴 Folder 4: PRIVATE/RAHASIA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4764881" y="1084287"/>
            <a:ext cx="4014788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B656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Tidak untuk Dibagi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4764881" y="1241450"/>
            <a:ext cx="4014788" cy="7177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spcAft>
                <a:spcPts val="169"/>
              </a:spcAft>
              <a:buNone/>
            </a:pPr>
            <a:r>
              <a:rPr lang="en-US" sz="600" dirty="0">
                <a:solidFill>
                  <a:srgbClr val="DC2626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169"/>
              </a:spcAft>
              <a:buNone/>
            </a:pPr>
            <a:r>
              <a:rPr lang="en-US" sz="800" dirty="0">
                <a:solidFill>
                  <a:srgbClr val="1C191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Foto yang TIDAK boleh dibagikan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169"/>
              </a:spcAft>
              <a:buNone/>
            </a:pPr>
            <a:r>
              <a:rPr lang="en-US" sz="600" dirty="0">
                <a:solidFill>
                  <a:srgbClr val="DC2626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169"/>
              </a:spcAft>
              <a:buNone/>
            </a:pPr>
            <a:r>
              <a:rPr lang="en-US" sz="800" dirty="0">
                <a:solidFill>
                  <a:srgbClr val="1C191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TIDAK PERNAH di-share ke LIHUM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169"/>
              </a:spcAft>
              <a:buNone/>
            </a:pPr>
            <a:r>
              <a:rPr lang="en-US" sz="600" dirty="0">
                <a:solidFill>
                  <a:srgbClr val="DC2626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169"/>
              </a:spcAft>
              <a:buNone/>
            </a:pPr>
            <a:r>
              <a:rPr lang="en-US" sz="800" dirty="0">
                <a:solidFill>
                  <a:srgbClr val="1C191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Tetap aman di Google Drive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169"/>
              </a:spcAft>
              <a:buNone/>
            </a:pPr>
            <a:r>
              <a:rPr lang="en-US" sz="600" dirty="0">
                <a:solidFill>
                  <a:srgbClr val="DC2626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169"/>
              </a:spcAft>
              <a:buNone/>
            </a:pPr>
            <a:r>
              <a:rPr lang="en-US" sz="800" dirty="0">
                <a:solidFill>
                  <a:srgbClr val="1C191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Hanya akses internal tim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169"/>
              </a:spcAft>
              <a:buNone/>
            </a:pPr>
            <a:r>
              <a:rPr lang="en-US" sz="600" dirty="0">
                <a:solidFill>
                  <a:srgbClr val="DC2626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169"/>
              </a:spcAft>
              <a:buNone/>
            </a:pPr>
            <a:r>
              <a:rPr lang="en-US" sz="800" dirty="0">
                <a:solidFill>
                  <a:srgbClr val="1C191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Tidak ada di galeri publik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4772025" y="1962634"/>
            <a:ext cx="4000500" cy="557213"/>
          </a:xfrm>
          <a:prstGeom prst="roundRect">
            <a:avLst>
              <a:gd name="adj" fmla="val 13675"/>
            </a:avLst>
          </a:prstGeom>
          <a:solidFill>
            <a:srgbClr val="F9F7F0"/>
          </a:solidFill>
          <a:ln w="14288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1" name="Image 2" descr="/tmp/h2p-fit-1791083621536-qtjjh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9169" y="1969777"/>
            <a:ext cx="3986213" cy="542925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742021" y="2575996"/>
            <a:ext cx="680398" cy="152019"/>
          </a:xfrm>
          <a:prstGeom prst="roundRect">
            <a:avLst>
              <a:gd name="adj" fmla="val 6259398"/>
            </a:avLst>
          </a:prstGeom>
          <a:solidFill>
            <a:srgbClr val="DC26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8"/>
          <p:cNvSpPr/>
          <p:nvPr/>
        </p:nvSpPr>
        <p:spPr>
          <a:xfrm>
            <a:off x="4760524" y="2584140"/>
            <a:ext cx="643392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28" kern="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🔒</a:t>
            </a:r>
            <a:pPr algn="ctr" indent="0" marL="0">
              <a:buNone/>
            </a:pPr>
            <a:r>
              <a:rPr lang="en-US" sz="800" b="1" spc="28" kern="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RAHASIA</a:t>
            </a:r>
            <a:endParaRPr lang="en-US" sz="800" dirty="0"/>
          </a:p>
        </p:txBody>
      </p:sp>
      <p:sp>
        <p:nvSpPr>
          <p:cNvPr id="24" name="Text 19"/>
          <p:cNvSpPr/>
          <p:nvPr/>
        </p:nvSpPr>
        <p:spPr>
          <a:xfrm>
            <a:off x="239316" y="2871006"/>
            <a:ext cx="8665369" cy="1407319"/>
          </a:xfrm>
          <a:prstGeom prst="roundRect">
            <a:avLst>
              <a:gd name="adj" fmla="val 10829"/>
            </a:avLst>
          </a:prstGeom>
          <a:solidFill>
            <a:srgbClr val="FFFFFF"/>
          </a:solidFill>
          <a:ln w="21431">
            <a:solidFill>
              <a:srgbClr val="D4AF37"/>
            </a:solidFill>
            <a:prstDash val="solid"/>
          </a:ln>
          <a:effectLst>
            <a:outerShdw sx="100000" sy="100000" kx="0" ky="0" algn="bl" rotWithShape="0" blurRad="285137" dist="50800" dir="16200000">
              <a:srgbClr val="D4AF37">
                <a:alpha val="8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0"/>
          <p:cNvSpPr/>
          <p:nvPr/>
        </p:nvSpPr>
        <p:spPr>
          <a:xfrm>
            <a:off x="364331" y="2981734"/>
            <a:ext cx="8525066" cy="1254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⭐ Cara Kerja Integrasi PUBLIC → LIHUM</a:t>
            </a:r>
            <a:endParaRPr lang="en-US" sz="8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331" y="3167472"/>
            <a:ext cx="1488691" cy="878681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371475" y="3174616"/>
            <a:ext cx="1474403" cy="864394"/>
          </a:xfrm>
          <a:prstGeom prst="roundRect">
            <a:avLst>
              <a:gd name="adj" fmla="val 11019"/>
            </a:avLst>
          </a:prstGeom>
          <a:noFill/>
          <a:ln w="14288">
            <a:solidFill>
              <a:srgbClr val="E7DE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2"/>
          <p:cNvSpPr/>
          <p:nvPr/>
        </p:nvSpPr>
        <p:spPr>
          <a:xfrm>
            <a:off x="1022896" y="3390714"/>
            <a:ext cx="171450" cy="171450"/>
          </a:xfrm>
          <a:prstGeom prst="ellipse">
            <a:avLst/>
          </a:prstGeom>
          <a:solidFill>
            <a:srgbClr val="4C2A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3"/>
          <p:cNvSpPr/>
          <p:nvPr/>
        </p:nvSpPr>
        <p:spPr>
          <a:xfrm>
            <a:off x="1022896" y="3390714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30" name="Text 24"/>
          <p:cNvSpPr/>
          <p:nvPr/>
        </p:nvSpPr>
        <p:spPr>
          <a:xfrm>
            <a:off x="1030039" y="3590739"/>
            <a:ext cx="157163" cy="11544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13" dirty="0">
                <a:solidFill>
                  <a:srgbClr val="1C191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📸</a:t>
            </a:r>
            <a:endParaRPr lang="en-US" sz="1013" dirty="0"/>
          </a:p>
        </p:txBody>
      </p:sp>
      <p:sp>
        <p:nvSpPr>
          <p:cNvPr id="31" name="Text 25"/>
          <p:cNvSpPr/>
          <p:nvPr/>
        </p:nvSpPr>
        <p:spPr>
          <a:xfrm>
            <a:off x="604345" y="3733614"/>
            <a:ext cx="1008664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703"/>
              </a:lnSpc>
              <a:buNone/>
            </a:pPr>
            <a:r>
              <a:rPr lang="en-US" sz="600" b="1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Petugas upload ke PUBLIC</a:t>
            </a:r>
            <a:endParaRPr lang="en-US" sz="600" dirty="0"/>
          </a:p>
        </p:txBody>
      </p:sp>
      <p:sp>
        <p:nvSpPr>
          <p:cNvPr id="32" name="Text 26"/>
          <p:cNvSpPr/>
          <p:nvPr/>
        </p:nvSpPr>
        <p:spPr>
          <a:xfrm>
            <a:off x="1895884" y="3513944"/>
            <a:ext cx="15716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38" b="1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238" dirty="0"/>
          </a:p>
        </p:txBody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5909" y="3167472"/>
            <a:ext cx="1488802" cy="878681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2103053" y="3174616"/>
            <a:ext cx="1474515" cy="864394"/>
          </a:xfrm>
          <a:prstGeom prst="roundRect">
            <a:avLst>
              <a:gd name="adj" fmla="val 11019"/>
            </a:avLst>
          </a:prstGeom>
          <a:noFill/>
          <a:ln w="14288">
            <a:solidFill>
              <a:srgbClr val="E7DE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28"/>
          <p:cNvSpPr/>
          <p:nvPr/>
        </p:nvSpPr>
        <p:spPr>
          <a:xfrm>
            <a:off x="2754585" y="3390714"/>
            <a:ext cx="171450" cy="171450"/>
          </a:xfrm>
          <a:prstGeom prst="ellipse">
            <a:avLst/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29"/>
          <p:cNvSpPr/>
          <p:nvPr/>
        </p:nvSpPr>
        <p:spPr>
          <a:xfrm>
            <a:off x="2754585" y="3390714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37" name="Text 30"/>
          <p:cNvSpPr/>
          <p:nvPr/>
        </p:nvSpPr>
        <p:spPr>
          <a:xfrm>
            <a:off x="2761729" y="3590739"/>
            <a:ext cx="157163" cy="11544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13" dirty="0">
                <a:solidFill>
                  <a:srgbClr val="1C191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🔒</a:t>
            </a:r>
            <a:endParaRPr lang="en-US" sz="1013" dirty="0"/>
          </a:p>
        </p:txBody>
      </p:sp>
      <p:sp>
        <p:nvSpPr>
          <p:cNvPr id="38" name="Text 31"/>
          <p:cNvSpPr/>
          <p:nvPr/>
        </p:nvSpPr>
        <p:spPr>
          <a:xfrm>
            <a:off x="2351597" y="3733614"/>
            <a:ext cx="97742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03"/>
              </a:lnSpc>
              <a:buNone/>
            </a:pPr>
            <a:r>
              <a:rPr lang="en-US" sz="600" b="1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Sistem pilih folder PUBLIC</a:t>
            </a:r>
            <a:endParaRPr lang="en-US" sz="600" dirty="0"/>
          </a:p>
        </p:txBody>
      </p:sp>
      <p:sp>
        <p:nvSpPr>
          <p:cNvPr id="39" name="Text 32"/>
          <p:cNvSpPr/>
          <p:nvPr/>
        </p:nvSpPr>
        <p:spPr>
          <a:xfrm>
            <a:off x="3627574" y="3513944"/>
            <a:ext cx="15716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38" b="1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238" dirty="0"/>
          </a:p>
        </p:txBody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27599" y="3167472"/>
            <a:ext cx="1488691" cy="878681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3834743" y="3174616"/>
            <a:ext cx="1474403" cy="864394"/>
          </a:xfrm>
          <a:prstGeom prst="roundRect">
            <a:avLst>
              <a:gd name="adj" fmla="val 11019"/>
            </a:avLst>
          </a:prstGeom>
          <a:noFill/>
          <a:ln w="14288">
            <a:solidFill>
              <a:srgbClr val="E7DE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4"/>
          <p:cNvSpPr/>
          <p:nvPr/>
        </p:nvSpPr>
        <p:spPr>
          <a:xfrm>
            <a:off x="4486163" y="3390714"/>
            <a:ext cx="171450" cy="171450"/>
          </a:xfrm>
          <a:prstGeom prst="ellipse">
            <a:avLst/>
          </a:prstGeom>
          <a:solidFill>
            <a:srgbClr val="14B8A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35"/>
          <p:cNvSpPr/>
          <p:nvPr/>
        </p:nvSpPr>
        <p:spPr>
          <a:xfrm>
            <a:off x="4486163" y="3390714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44" name="Text 36"/>
          <p:cNvSpPr/>
          <p:nvPr/>
        </p:nvSpPr>
        <p:spPr>
          <a:xfrm>
            <a:off x="4493307" y="3590739"/>
            <a:ext cx="157163" cy="11544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13" dirty="0">
                <a:solidFill>
                  <a:srgbClr val="1C191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013" dirty="0"/>
          </a:p>
        </p:txBody>
      </p:sp>
      <p:sp>
        <p:nvSpPr>
          <p:cNvPr id="45" name="Text 37"/>
          <p:cNvSpPr/>
          <p:nvPr/>
        </p:nvSpPr>
        <p:spPr>
          <a:xfrm>
            <a:off x="4091614" y="3733614"/>
            <a:ext cx="960549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03"/>
              </a:lnSpc>
              <a:buNone/>
            </a:pPr>
            <a:r>
              <a:rPr lang="en-US" sz="600" b="1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Manager klik Publikasikan</a:t>
            </a:r>
            <a:endParaRPr lang="en-US" sz="600" dirty="0"/>
          </a:p>
        </p:txBody>
      </p:sp>
      <p:sp>
        <p:nvSpPr>
          <p:cNvPr id="46" name="Text 38"/>
          <p:cNvSpPr/>
          <p:nvPr/>
        </p:nvSpPr>
        <p:spPr>
          <a:xfrm>
            <a:off x="5359152" y="3513944"/>
            <a:ext cx="15716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38" b="1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238" dirty="0"/>
          </a:p>
        </p:txBody>
      </p:sp>
      <p:pic>
        <p:nvPicPr>
          <p:cNvPr id="4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59177" y="3167472"/>
            <a:ext cx="1488802" cy="878681"/>
          </a:xfrm>
          <a:prstGeom prst="rect">
            <a:avLst/>
          </a:prstGeom>
        </p:spPr>
      </p:pic>
      <p:sp>
        <p:nvSpPr>
          <p:cNvPr id="48" name="Text 39"/>
          <p:cNvSpPr/>
          <p:nvPr/>
        </p:nvSpPr>
        <p:spPr>
          <a:xfrm>
            <a:off x="5566321" y="3174616"/>
            <a:ext cx="1474515" cy="864394"/>
          </a:xfrm>
          <a:prstGeom prst="roundRect">
            <a:avLst>
              <a:gd name="adj" fmla="val 11019"/>
            </a:avLst>
          </a:prstGeom>
          <a:noFill/>
          <a:ln w="14288">
            <a:solidFill>
              <a:srgbClr val="E7DE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0"/>
          <p:cNvSpPr/>
          <p:nvPr/>
        </p:nvSpPr>
        <p:spPr>
          <a:xfrm>
            <a:off x="6217853" y="3390714"/>
            <a:ext cx="171450" cy="17145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1"/>
          <p:cNvSpPr/>
          <p:nvPr/>
        </p:nvSpPr>
        <p:spPr>
          <a:xfrm>
            <a:off x="6217853" y="3390714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800" dirty="0"/>
          </a:p>
        </p:txBody>
      </p:sp>
      <p:sp>
        <p:nvSpPr>
          <p:cNvPr id="51" name="Text 42"/>
          <p:cNvSpPr/>
          <p:nvPr/>
        </p:nvSpPr>
        <p:spPr>
          <a:xfrm>
            <a:off x="6224997" y="3590739"/>
            <a:ext cx="157163" cy="11544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13" dirty="0">
                <a:solidFill>
                  <a:srgbClr val="1C191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🌐</a:t>
            </a:r>
            <a:endParaRPr lang="en-US" sz="1013" dirty="0"/>
          </a:p>
        </p:txBody>
      </p:sp>
      <p:sp>
        <p:nvSpPr>
          <p:cNvPr id="52" name="Text 43"/>
          <p:cNvSpPr/>
          <p:nvPr/>
        </p:nvSpPr>
        <p:spPr>
          <a:xfrm>
            <a:off x="5942917" y="3733614"/>
            <a:ext cx="72121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03"/>
              </a:lnSpc>
              <a:buNone/>
            </a:pPr>
            <a:r>
              <a:rPr lang="en-US" sz="600" b="1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LIHUM gallery live</a:t>
            </a:r>
            <a:endParaRPr lang="en-US" sz="600" dirty="0"/>
          </a:p>
        </p:txBody>
      </p:sp>
      <p:sp>
        <p:nvSpPr>
          <p:cNvPr id="53" name="Text 44"/>
          <p:cNvSpPr/>
          <p:nvPr/>
        </p:nvSpPr>
        <p:spPr>
          <a:xfrm>
            <a:off x="7090842" y="3513944"/>
            <a:ext cx="15716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38" b="1" dirty="0">
                <a:solidFill>
                  <a:srgbClr val="D4AF3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238" dirty="0"/>
          </a:p>
        </p:txBody>
      </p:sp>
      <p:pic>
        <p:nvPicPr>
          <p:cNvPr id="5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90867" y="3167472"/>
            <a:ext cx="1488802" cy="878681"/>
          </a:xfrm>
          <a:prstGeom prst="rect">
            <a:avLst/>
          </a:prstGeom>
        </p:spPr>
      </p:pic>
      <p:sp>
        <p:nvSpPr>
          <p:cNvPr id="55" name="Text 45"/>
          <p:cNvSpPr/>
          <p:nvPr/>
        </p:nvSpPr>
        <p:spPr>
          <a:xfrm>
            <a:off x="7298010" y="3174616"/>
            <a:ext cx="1474515" cy="864394"/>
          </a:xfrm>
          <a:prstGeom prst="roundRect">
            <a:avLst>
              <a:gd name="adj" fmla="val 11019"/>
            </a:avLst>
          </a:prstGeom>
          <a:noFill/>
          <a:ln w="14288">
            <a:solidFill>
              <a:srgbClr val="E7DE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46"/>
          <p:cNvSpPr/>
          <p:nvPr/>
        </p:nvSpPr>
        <p:spPr>
          <a:xfrm>
            <a:off x="7949543" y="3390714"/>
            <a:ext cx="171450" cy="171450"/>
          </a:xfrm>
          <a:prstGeom prst="ellipse">
            <a:avLst/>
          </a:prstGeom>
          <a:solidFill>
            <a:srgbClr val="16A3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47"/>
          <p:cNvSpPr/>
          <p:nvPr/>
        </p:nvSpPr>
        <p:spPr>
          <a:xfrm>
            <a:off x="7949543" y="3390714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800" dirty="0"/>
          </a:p>
        </p:txBody>
      </p:sp>
      <p:sp>
        <p:nvSpPr>
          <p:cNvPr id="58" name="Text 48"/>
          <p:cNvSpPr/>
          <p:nvPr/>
        </p:nvSpPr>
        <p:spPr>
          <a:xfrm>
            <a:off x="7956686" y="3590739"/>
            <a:ext cx="157163" cy="11544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13" dirty="0">
                <a:solidFill>
                  <a:srgbClr val="1C191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🔗</a:t>
            </a:r>
            <a:endParaRPr lang="en-US" sz="1013" dirty="0"/>
          </a:p>
        </p:txBody>
      </p:sp>
      <p:sp>
        <p:nvSpPr>
          <p:cNvPr id="59" name="Text 49"/>
          <p:cNvSpPr/>
          <p:nvPr/>
        </p:nvSpPr>
        <p:spPr>
          <a:xfrm>
            <a:off x="7679307" y="3733614"/>
            <a:ext cx="711922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703"/>
              </a:lnSpc>
              <a:buNone/>
            </a:pPr>
            <a:r>
              <a:rPr lang="en-US" sz="600" b="1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Embed web resmi</a:t>
            </a:r>
            <a:endParaRPr lang="en-US" sz="600" dirty="0"/>
          </a:p>
        </p:txBody>
      </p:sp>
      <p:sp>
        <p:nvSpPr>
          <p:cNvPr id="60" name="Text 50"/>
          <p:cNvSpPr/>
          <p:nvPr/>
        </p:nvSpPr>
        <p:spPr>
          <a:xfrm>
            <a:off x="364331" y="4089016"/>
            <a:ext cx="841533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656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Folder PRIVATE tidak pernah masuk flow ini. Sistem otomatis hanya ambil folder PUBLIC.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B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178594" y="-178594"/>
            <a:ext cx="571500" cy="571500"/>
          </a:xfrm>
          <a:prstGeom prst="ellipse">
            <a:avLst/>
          </a:prstGeom>
          <a:solidFill>
            <a:srgbClr val="D4AF37">
              <a:alpha val="2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608219" y="4607719"/>
            <a:ext cx="785813" cy="785813"/>
          </a:xfrm>
          <a:prstGeom prst="ellipse">
            <a:avLst/>
          </a:prstGeom>
          <a:solidFill>
            <a:srgbClr val="D4AF37">
              <a:alpha val="2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332684" y="945766"/>
            <a:ext cx="0" cy="691493"/>
          </a:xfrm>
          <a:prstGeom prst="line">
            <a:avLst/>
          </a:prstGeom>
          <a:noFill/>
          <a:ln w="35719">
            <a:solidFill>
              <a:srgbClr val="4C2A8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32684" y="1708696"/>
            <a:ext cx="0" cy="691604"/>
          </a:xfrm>
          <a:prstGeom prst="line">
            <a:avLst/>
          </a:prstGeom>
          <a:noFill/>
          <a:ln w="35719">
            <a:solidFill>
              <a:srgbClr val="D4AF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32684" y="2471738"/>
            <a:ext cx="0" cy="691493"/>
          </a:xfrm>
          <a:prstGeom prst="line">
            <a:avLst/>
          </a:prstGeom>
          <a:noFill/>
          <a:ln w="35719">
            <a:solidFill>
              <a:srgbClr val="14B8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32684" y="3234668"/>
            <a:ext cx="0" cy="691493"/>
          </a:xfrm>
          <a:prstGeom prst="line">
            <a:avLst/>
          </a:prstGeom>
          <a:noFill/>
          <a:ln w="35719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32684" y="3997598"/>
            <a:ext cx="0" cy="691493"/>
          </a:xfrm>
          <a:prstGeom prst="line">
            <a:avLst/>
          </a:prstGeom>
          <a:noFill/>
          <a:ln w="35719">
            <a:solidFill>
              <a:srgbClr val="16A34A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228600"/>
            <a:ext cx="8686800" cy="35997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71475" y="314325"/>
            <a:ext cx="8510778" cy="18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238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⭐ Bukti Integrasi: Pushakin Flows ↔ LIHUM</a:t>
            </a:r>
            <a:endParaRPr lang="en-US" sz="1238" dirty="0"/>
          </a:p>
        </p:txBody>
      </p:sp>
      <p:sp>
        <p:nvSpPr>
          <p:cNvPr id="11" name="Text 8"/>
          <p:cNvSpPr/>
          <p:nvPr/>
        </p:nvSpPr>
        <p:spPr>
          <a:xfrm>
            <a:off x="228600" y="660016"/>
            <a:ext cx="4050506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Gallery yang Sudah Live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235744" y="838609"/>
            <a:ext cx="3843338" cy="2555677"/>
          </a:xfrm>
          <a:prstGeom prst="roundRect">
            <a:avLst>
              <a:gd name="adj" fmla="val 4472"/>
            </a:avLst>
          </a:prstGeom>
          <a:solidFill>
            <a:srgbClr val="FFFFFF"/>
          </a:solidFill>
          <a:ln w="14288">
            <a:solidFill>
              <a:srgbClr val="D4AF37"/>
            </a:solidFill>
            <a:prstDash val="solid"/>
          </a:ln>
          <a:effectLst>
            <a:outerShdw sx="100000" sy="100000" kx="0" ky="0" algn="bl" rotWithShape="0" blurRad="133350" dist="38100" dir="5400000">
              <a:srgbClr val="D4AF37">
                <a:alpha val="1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328613" y="936501"/>
            <a:ext cx="3242928" cy="131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b="1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Pendampingan APS (LAMGAMA)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3584671" y="924191"/>
            <a:ext cx="416985" cy="136017"/>
          </a:xfrm>
          <a:prstGeom prst="roundRect">
            <a:avLst>
              <a:gd name="adj" fmla="val 6995798"/>
            </a:avLst>
          </a:prstGeom>
          <a:solidFill>
            <a:srgbClr val="16A3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3582964" y="931478"/>
            <a:ext cx="42040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28" kern="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● LIVE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335756" y="1102928"/>
            <a:ext cx="3643313" cy="2055614"/>
          </a:xfrm>
          <a:prstGeom prst="roundRect">
            <a:avLst>
              <a:gd name="adj" fmla="val 4634"/>
            </a:avLst>
          </a:prstGeom>
          <a:solidFill>
            <a:srgbClr val="F9F7F0"/>
          </a:solidFill>
          <a:ln w="14288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7" name="Image 1" descr="/tmp/h2p-fit-1791083621656-i7zs9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1110072"/>
            <a:ext cx="3629025" cy="2041327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28613" y="3208548"/>
            <a:ext cx="3657600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dirty="0">
                <a:solidFill>
                  <a:srgbClr val="2563E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lihum.synclicen.workers.dev/?gallery=pendampingan-aps-lamgama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235744" y="3480011"/>
            <a:ext cx="3843338" cy="2555677"/>
          </a:xfrm>
          <a:prstGeom prst="roundRect">
            <a:avLst>
              <a:gd name="adj" fmla="val 4472"/>
            </a:avLst>
          </a:prstGeom>
          <a:solidFill>
            <a:srgbClr val="FFFFFF"/>
          </a:solidFill>
          <a:ln w="14288">
            <a:solidFill>
              <a:srgbClr val="D4AF37"/>
            </a:solidFill>
            <a:prstDash val="solid"/>
          </a:ln>
          <a:effectLst>
            <a:outerShdw sx="100000" sy="100000" kx="0" ky="0" algn="bl" rotWithShape="0" blurRad="133350" dist="38100" dir="5400000">
              <a:srgbClr val="D4AF37">
                <a:alpha val="1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328613" y="3577903"/>
            <a:ext cx="3242928" cy="131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b="1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Upacara Hari Kesaktian Pancasila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3584671" y="3565593"/>
            <a:ext cx="416985" cy="136017"/>
          </a:xfrm>
          <a:prstGeom prst="roundRect">
            <a:avLst>
              <a:gd name="adj" fmla="val 6995798"/>
            </a:avLst>
          </a:prstGeom>
          <a:solidFill>
            <a:srgbClr val="16A3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3582964" y="3572880"/>
            <a:ext cx="42040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28" kern="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● LIVE</a:t>
            </a:r>
            <a:endParaRPr lang="en-US" sz="800" dirty="0"/>
          </a:p>
        </p:txBody>
      </p:sp>
      <p:sp>
        <p:nvSpPr>
          <p:cNvPr id="23" name="Text 19"/>
          <p:cNvSpPr/>
          <p:nvPr/>
        </p:nvSpPr>
        <p:spPr>
          <a:xfrm>
            <a:off x="335756" y="3744330"/>
            <a:ext cx="3643313" cy="2055614"/>
          </a:xfrm>
          <a:prstGeom prst="roundRect">
            <a:avLst>
              <a:gd name="adj" fmla="val 4634"/>
            </a:avLst>
          </a:prstGeom>
          <a:solidFill>
            <a:srgbClr val="F9F7F0"/>
          </a:solidFill>
          <a:ln w="14288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4" name="Image 2" descr="/tmp/h2p-fit-1791083621639-rttkqx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" y="3751473"/>
            <a:ext cx="3629025" cy="2041327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328613" y="5849950"/>
            <a:ext cx="3657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600" dirty="0">
                <a:solidFill>
                  <a:srgbClr val="2563E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lihum.synclicen.workers.dev/?gallery=upacara-peringatan-hari-kesaktian-pancasila-tahun-2026</a:t>
            </a:r>
            <a:endParaRPr lang="en-US" sz="600" dirty="0"/>
          </a:p>
        </p:txBody>
      </p:sp>
      <p:sp>
        <p:nvSpPr>
          <p:cNvPr id="26" name="Text 21"/>
          <p:cNvSpPr/>
          <p:nvPr/>
        </p:nvSpPr>
        <p:spPr>
          <a:xfrm>
            <a:off x="4200525" y="660016"/>
            <a:ext cx="4943475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Cara Integrasi Bekerja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4207669" y="838609"/>
            <a:ext cx="4700588" cy="3957638"/>
          </a:xfrm>
          <a:prstGeom prst="roundRect">
            <a:avLst>
              <a:gd name="adj" fmla="val 2888"/>
            </a:avLst>
          </a:prstGeom>
          <a:solidFill>
            <a:srgbClr val="FFFFFF"/>
          </a:solidFill>
          <a:ln w="14288">
            <a:solidFill>
              <a:srgbClr val="E7E5E4"/>
            </a:solidFill>
            <a:prstDash val="solid"/>
          </a:ln>
          <a:effectLst>
            <a:outerShdw sx="100000" sy="100000" kx="0" ky="0" algn="bl" rotWithShape="0" blurRad="133350" dist="38100" dir="540000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3"/>
          <p:cNvSpPr/>
          <p:nvPr/>
        </p:nvSpPr>
        <p:spPr>
          <a:xfrm>
            <a:off x="4314825" y="945766"/>
            <a:ext cx="4486275" cy="691493"/>
          </a:xfrm>
          <a:prstGeom prst="roundRect">
            <a:avLst>
              <a:gd name="adj" fmla="val 13775"/>
            </a:avLst>
          </a:prstGeom>
          <a:solidFill>
            <a:srgbClr val="F4EE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4"/>
          <p:cNvSpPr/>
          <p:nvPr/>
        </p:nvSpPr>
        <p:spPr>
          <a:xfrm>
            <a:off x="4421981" y="1191444"/>
            <a:ext cx="200025" cy="200025"/>
          </a:xfrm>
          <a:prstGeom prst="ellipse">
            <a:avLst/>
          </a:prstGeom>
          <a:solidFill>
            <a:srgbClr val="4C2A8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5"/>
          <p:cNvSpPr/>
          <p:nvPr/>
        </p:nvSpPr>
        <p:spPr>
          <a:xfrm>
            <a:off x="4421981" y="1191444"/>
            <a:ext cx="23574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31" name="Text 26"/>
          <p:cNvSpPr/>
          <p:nvPr/>
        </p:nvSpPr>
        <p:spPr>
          <a:xfrm>
            <a:off x="4693444" y="1188318"/>
            <a:ext cx="3278981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b="1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Manager buka Project Detail di Pushakin Flows</a:t>
            </a:r>
            <a:endParaRPr lang="en-US" sz="800" dirty="0"/>
          </a:p>
        </p:txBody>
      </p:sp>
      <p:sp>
        <p:nvSpPr>
          <p:cNvPr id="32" name="Text 27"/>
          <p:cNvSpPr/>
          <p:nvPr/>
        </p:nvSpPr>
        <p:spPr>
          <a:xfrm>
            <a:off x="4693444" y="1305409"/>
            <a:ext cx="327898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03"/>
              </a:lnSpc>
              <a:buNone/>
            </a:pPr>
            <a:r>
              <a:rPr lang="en-US" sz="800" dirty="0">
                <a:solidFill>
                  <a:srgbClr val="6B656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Sistem cari folder PUBLIC project</a:t>
            </a:r>
            <a:endParaRPr lang="en-US" sz="800" dirty="0"/>
          </a:p>
        </p:txBody>
      </p:sp>
      <p:sp>
        <p:nvSpPr>
          <p:cNvPr id="33" name="Text 28"/>
          <p:cNvSpPr/>
          <p:nvPr/>
        </p:nvSpPr>
        <p:spPr>
          <a:xfrm>
            <a:off x="7808119" y="1098575"/>
            <a:ext cx="914400" cy="385763"/>
          </a:xfrm>
          <a:prstGeom prst="roundRect">
            <a:avLst>
              <a:gd name="adj" fmla="val 14815"/>
            </a:avLst>
          </a:prstGeom>
          <a:solidFill>
            <a:srgbClr val="F9F7F0"/>
          </a:solidFill>
          <a:ln w="14288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4" name="Image 3" descr="/tmp/h2p-fit-1791083621648-mf5jl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5263" y="1105719"/>
            <a:ext cx="900113" cy="371475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4314825" y="1708696"/>
            <a:ext cx="4486275" cy="691604"/>
          </a:xfrm>
          <a:prstGeom prst="roundRect">
            <a:avLst>
              <a:gd name="adj" fmla="val 13772"/>
            </a:avLst>
          </a:prstGeom>
          <a:solidFill>
            <a:srgbClr val="FFF8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0"/>
          <p:cNvSpPr/>
          <p:nvPr/>
        </p:nvSpPr>
        <p:spPr>
          <a:xfrm>
            <a:off x="4421981" y="1954485"/>
            <a:ext cx="200025" cy="200025"/>
          </a:xfrm>
          <a:prstGeom prst="ellipse">
            <a:avLst/>
          </a:prstGeom>
          <a:solidFill>
            <a:srgbClr val="D4AF3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1"/>
          <p:cNvSpPr/>
          <p:nvPr/>
        </p:nvSpPr>
        <p:spPr>
          <a:xfrm>
            <a:off x="4421981" y="1954485"/>
            <a:ext cx="23574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38" name="Text 32"/>
          <p:cNvSpPr/>
          <p:nvPr/>
        </p:nvSpPr>
        <p:spPr>
          <a:xfrm>
            <a:off x="4693444" y="1951248"/>
            <a:ext cx="3278981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b="1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Manager klik tombol Publikasikan ke LIHUM</a:t>
            </a:r>
            <a:endParaRPr lang="en-US" sz="800" dirty="0"/>
          </a:p>
        </p:txBody>
      </p:sp>
      <p:sp>
        <p:nvSpPr>
          <p:cNvPr id="39" name="Text 33"/>
          <p:cNvSpPr/>
          <p:nvPr/>
        </p:nvSpPr>
        <p:spPr>
          <a:xfrm>
            <a:off x="4693444" y="2068339"/>
            <a:ext cx="327898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03"/>
              </a:lnSpc>
              <a:buNone/>
            </a:pPr>
            <a:r>
              <a:rPr lang="en-US" sz="800" dirty="0">
                <a:solidFill>
                  <a:srgbClr val="6B656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 klik → POST ke LIHUM API dengan x-user-email auth</a:t>
            </a:r>
            <a:endParaRPr lang="en-US" sz="800" dirty="0"/>
          </a:p>
        </p:txBody>
      </p:sp>
      <p:sp>
        <p:nvSpPr>
          <p:cNvPr id="40" name="Text 34"/>
          <p:cNvSpPr/>
          <p:nvPr/>
        </p:nvSpPr>
        <p:spPr>
          <a:xfrm>
            <a:off x="7808119" y="1861617"/>
            <a:ext cx="914400" cy="385763"/>
          </a:xfrm>
          <a:prstGeom prst="roundRect">
            <a:avLst>
              <a:gd name="adj" fmla="val 14815"/>
            </a:avLst>
          </a:prstGeom>
          <a:solidFill>
            <a:srgbClr val="F9F7F0"/>
          </a:solidFill>
          <a:ln w="14288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1" name="Image 4" descr="/tmp/h2p-fit-1791083621644-p6o49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5263" y="1868760"/>
            <a:ext cx="900113" cy="371475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4314825" y="2471738"/>
            <a:ext cx="4486275" cy="691493"/>
          </a:xfrm>
          <a:prstGeom prst="roundRect">
            <a:avLst>
              <a:gd name="adj" fmla="val 13775"/>
            </a:avLst>
          </a:prstGeom>
          <a:solidFill>
            <a:srgbClr val="E8FB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36"/>
          <p:cNvSpPr/>
          <p:nvPr/>
        </p:nvSpPr>
        <p:spPr>
          <a:xfrm>
            <a:off x="4421981" y="2717416"/>
            <a:ext cx="200025" cy="200025"/>
          </a:xfrm>
          <a:prstGeom prst="ellipse">
            <a:avLst/>
          </a:prstGeom>
          <a:solidFill>
            <a:srgbClr val="14B8A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37"/>
          <p:cNvSpPr/>
          <p:nvPr/>
        </p:nvSpPr>
        <p:spPr>
          <a:xfrm>
            <a:off x="4421981" y="2717416"/>
            <a:ext cx="23574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45" name="Text 38"/>
          <p:cNvSpPr/>
          <p:nvPr/>
        </p:nvSpPr>
        <p:spPr>
          <a:xfrm>
            <a:off x="4693444" y="2714290"/>
            <a:ext cx="3278981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b="1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Gallery otomatis dibuat di LIHUM</a:t>
            </a:r>
            <a:endParaRPr lang="en-US" sz="800" dirty="0"/>
          </a:p>
        </p:txBody>
      </p:sp>
      <p:sp>
        <p:nvSpPr>
          <p:cNvPr id="46" name="Text 39"/>
          <p:cNvSpPr/>
          <p:nvPr/>
        </p:nvSpPr>
        <p:spPr>
          <a:xfrm>
            <a:off x="4693444" y="2831381"/>
            <a:ext cx="327898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03"/>
              </a:lnSpc>
              <a:buNone/>
            </a:pPr>
            <a:r>
              <a:rPr lang="en-US" sz="800" dirty="0">
                <a:solidFill>
                  <a:srgbClr val="6B656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Foto dari folder PUBLIC langsung tampil</a:t>
            </a:r>
            <a:endParaRPr lang="en-US" sz="800" dirty="0"/>
          </a:p>
        </p:txBody>
      </p:sp>
      <p:sp>
        <p:nvSpPr>
          <p:cNvPr id="47" name="Text 40"/>
          <p:cNvSpPr/>
          <p:nvPr/>
        </p:nvSpPr>
        <p:spPr>
          <a:xfrm>
            <a:off x="7808119" y="2624547"/>
            <a:ext cx="914400" cy="385763"/>
          </a:xfrm>
          <a:prstGeom prst="roundRect">
            <a:avLst>
              <a:gd name="adj" fmla="val 14815"/>
            </a:avLst>
          </a:prstGeom>
          <a:solidFill>
            <a:srgbClr val="F9F7F0"/>
          </a:solidFill>
          <a:ln w="14288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8" name="Image 5" descr="/tmp/h2p-fit-1791083621645-zt2ik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5263" y="2631691"/>
            <a:ext cx="900113" cy="371475"/>
          </a:xfrm>
          <a:prstGeom prst="rect">
            <a:avLst/>
          </a:prstGeom>
        </p:spPr>
      </p:pic>
      <p:sp>
        <p:nvSpPr>
          <p:cNvPr id="49" name="Text 41"/>
          <p:cNvSpPr/>
          <p:nvPr/>
        </p:nvSpPr>
        <p:spPr>
          <a:xfrm>
            <a:off x="4314825" y="3234668"/>
            <a:ext cx="4486275" cy="691493"/>
          </a:xfrm>
          <a:prstGeom prst="roundRect">
            <a:avLst>
              <a:gd name="adj" fmla="val 13775"/>
            </a:avLst>
          </a:prstGeom>
          <a:solidFill>
            <a:srgbClr val="EBF2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2"/>
          <p:cNvSpPr/>
          <p:nvPr/>
        </p:nvSpPr>
        <p:spPr>
          <a:xfrm>
            <a:off x="4421981" y="3480346"/>
            <a:ext cx="200025" cy="200025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3"/>
          <p:cNvSpPr/>
          <p:nvPr/>
        </p:nvSpPr>
        <p:spPr>
          <a:xfrm>
            <a:off x="4421981" y="3480346"/>
            <a:ext cx="23574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800" dirty="0"/>
          </a:p>
        </p:txBody>
      </p:sp>
      <p:sp>
        <p:nvSpPr>
          <p:cNvPr id="52" name="Text 44"/>
          <p:cNvSpPr/>
          <p:nvPr/>
        </p:nvSpPr>
        <p:spPr>
          <a:xfrm>
            <a:off x="4693444" y="3477220"/>
            <a:ext cx="3278981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b="1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Gallery live — publik bisa akses 24/7</a:t>
            </a:r>
            <a:endParaRPr lang="en-US" sz="800" dirty="0"/>
          </a:p>
        </p:txBody>
      </p:sp>
      <p:sp>
        <p:nvSpPr>
          <p:cNvPr id="53" name="Text 45"/>
          <p:cNvSpPr/>
          <p:nvPr/>
        </p:nvSpPr>
        <p:spPr>
          <a:xfrm>
            <a:off x="4693444" y="3594311"/>
            <a:ext cx="303609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03"/>
              </a:lnSpc>
              <a:buNone/>
            </a:pPr>
            <a:r>
              <a:rPr lang="en-US" sz="800" dirty="0">
                <a:solidFill>
                  <a:srgbClr val="6B656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Unduh mandiri tanpa akun Google. QR Code tersedia.</a:t>
            </a:r>
            <a:endParaRPr lang="en-US" sz="800" dirty="0"/>
          </a:p>
        </p:txBody>
      </p:sp>
      <p:sp>
        <p:nvSpPr>
          <p:cNvPr id="54" name="Text 46"/>
          <p:cNvSpPr/>
          <p:nvPr/>
        </p:nvSpPr>
        <p:spPr>
          <a:xfrm>
            <a:off x="7808119" y="3387477"/>
            <a:ext cx="914400" cy="385763"/>
          </a:xfrm>
          <a:prstGeom prst="roundRect">
            <a:avLst>
              <a:gd name="adj" fmla="val 14815"/>
            </a:avLst>
          </a:prstGeom>
          <a:solidFill>
            <a:srgbClr val="F9F7F0"/>
          </a:solidFill>
          <a:ln w="14288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5" name="Image 6" descr="/tmp/h2p-fit-1791083621656-jianoj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5263" y="3394621"/>
            <a:ext cx="900113" cy="371475"/>
          </a:xfrm>
          <a:prstGeom prst="rect">
            <a:avLst/>
          </a:prstGeom>
        </p:spPr>
      </p:pic>
      <p:sp>
        <p:nvSpPr>
          <p:cNvPr id="56" name="Text 47"/>
          <p:cNvSpPr/>
          <p:nvPr/>
        </p:nvSpPr>
        <p:spPr>
          <a:xfrm>
            <a:off x="4314825" y="3997598"/>
            <a:ext cx="4486275" cy="691493"/>
          </a:xfrm>
          <a:prstGeom prst="roundRect">
            <a:avLst>
              <a:gd name="adj" fmla="val 13775"/>
            </a:avLst>
          </a:prstGeom>
          <a:solidFill>
            <a:srgbClr val="ECFB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48"/>
          <p:cNvSpPr/>
          <p:nvPr/>
        </p:nvSpPr>
        <p:spPr>
          <a:xfrm>
            <a:off x="4421981" y="4243276"/>
            <a:ext cx="200025" cy="200025"/>
          </a:xfrm>
          <a:prstGeom prst="ellipse">
            <a:avLst/>
          </a:prstGeom>
          <a:solidFill>
            <a:srgbClr val="16A34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49"/>
          <p:cNvSpPr/>
          <p:nvPr/>
        </p:nvSpPr>
        <p:spPr>
          <a:xfrm>
            <a:off x="4421981" y="4243276"/>
            <a:ext cx="23574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800" dirty="0"/>
          </a:p>
        </p:txBody>
      </p:sp>
      <p:sp>
        <p:nvSpPr>
          <p:cNvPr id="59" name="Text 50"/>
          <p:cNvSpPr/>
          <p:nvPr/>
        </p:nvSpPr>
        <p:spPr>
          <a:xfrm>
            <a:off x="4693444" y="4245508"/>
            <a:ext cx="4036219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b="1" dirty="0">
                <a:solidFill>
                  <a:srgbClr val="2D1A5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Manager embed di web resmi</a:t>
            </a:r>
            <a:endParaRPr lang="en-US" sz="800" dirty="0"/>
          </a:p>
        </p:txBody>
      </p:sp>
      <p:sp>
        <p:nvSpPr>
          <p:cNvPr id="60" name="Text 51"/>
          <p:cNvSpPr/>
          <p:nvPr/>
        </p:nvSpPr>
        <p:spPr>
          <a:xfrm>
            <a:off x="4693444" y="4362599"/>
            <a:ext cx="4036219" cy="120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lihum.synclicen.workers.dev → paste di uin-antasari.ac.id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-250031" y="-250031"/>
            <a:ext cx="785813" cy="785813"/>
          </a:xfrm>
          <a:prstGeom prst="ellipse">
            <a:avLst/>
          </a:prstGeom>
          <a:solidFill>
            <a:srgbClr val="D4AF37">
              <a:alpha val="1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1"/>
          <p:cNvSpPr/>
          <p:nvPr/>
        </p:nvSpPr>
        <p:spPr>
          <a:xfrm>
            <a:off x="8751094" y="-178594"/>
            <a:ext cx="571500" cy="571500"/>
          </a:xfrm>
          <a:prstGeom prst="ellipse">
            <a:avLst/>
          </a:prstGeom>
          <a:solidFill>
            <a:srgbClr val="D4AF37">
              <a:alpha val="1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-214312" y="4714875"/>
            <a:ext cx="642938" cy="642938"/>
          </a:xfrm>
          <a:prstGeom prst="ellipse">
            <a:avLst/>
          </a:prstGeom>
          <a:solidFill>
            <a:srgbClr val="D4AF37">
              <a:alpha val="1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8536781" y="4536281"/>
            <a:ext cx="928688" cy="928688"/>
          </a:xfrm>
          <a:prstGeom prst="ellipse">
            <a:avLst/>
          </a:prstGeom>
          <a:solidFill>
            <a:srgbClr val="D4AF37">
              <a:alpha val="1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3223952" y="257175"/>
            <a:ext cx="2695984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5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🏆</a:t>
            </a:r>
            <a:endParaRPr lang="en-US" sz="2250" dirty="0"/>
          </a:p>
        </p:txBody>
      </p:sp>
      <p:sp>
        <p:nvSpPr>
          <p:cNvPr id="9" name="Text 5"/>
          <p:cNvSpPr/>
          <p:nvPr/>
        </p:nvSpPr>
        <p:spPr>
          <a:xfrm>
            <a:off x="274320" y="585788"/>
            <a:ext cx="8595248" cy="2239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755"/>
              </a:lnSpc>
              <a:buNone/>
            </a:pPr>
            <a:r>
              <a:rPr lang="en-US" sz="1463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Ringkasan Inovasi &amp; Integrasi</a:t>
            </a:r>
            <a:endParaRPr lang="en-US" sz="1463" dirty="0"/>
          </a:p>
        </p:txBody>
      </p:sp>
      <p:sp>
        <p:nvSpPr>
          <p:cNvPr id="10" name="Text 6"/>
          <p:cNvSpPr/>
          <p:nvPr/>
        </p:nvSpPr>
        <p:spPr>
          <a:xfrm>
            <a:off x="3223952" y="837158"/>
            <a:ext cx="2695984" cy="142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24"/>
              </a:lnSpc>
              <a:buNone/>
            </a:pPr>
            <a:r>
              <a:rPr lang="en-US" sz="788" dirty="0">
                <a:solidFill>
                  <a:srgbClr val="D4AF3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Pushakin Flows — Ekosistem Komunikasi Publik End-to-End</a:t>
            </a:r>
            <a:endParaRPr lang="en-US" sz="788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8951" y="1024235"/>
            <a:ext cx="1285875" cy="21431"/>
          </a:xfrm>
          <a:prstGeom prst="rect">
            <a:avLst/>
          </a:prstGeom>
        </p:spPr>
      </p:pic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57313" y="1145679"/>
          <a:ext cx="6429375" cy="914400"/>
        </p:xfrm>
        <a:graphic>
          <a:graphicData uri="http://schemas.openxmlformats.org/drawingml/2006/table">
            <a:tbl>
              <a:tblPr/>
              <a:tblGrid>
                <a:gridCol w="2700338"/>
                <a:gridCol w="372903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 Rounded MT Bold" pitchFamily="34" charset="0"/>
                          <a:ea typeface="Arial Rounded MT Bold" pitchFamily="34" charset="-122"/>
                          <a:cs typeface="Arial Rounded MT Bold" pitchFamily="34" charset="-120"/>
                        </a:rPr>
                        <a:t>Inovasi</a:t>
                      </a:r>
                      <a:endParaRPr lang="en-US" sz="800" dirty="0">
                        <a:latin typeface="Arial Rounded MT Bold" charset="0"/>
                        <a:ea typeface="Arial Rounded MT Bold" charset="0"/>
                        <a:cs typeface="Arial Rounded MT Bold" charset="0"/>
                      </a:endParaRPr>
                    </a:p>
                  </a:txBody>
                  <a:tcPr marL="71438" marR="128588" marT="128588" marB="71438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 Rounded MT Bold" pitchFamily="34" charset="0"/>
                          <a:ea typeface="Arial Rounded MT Bold" pitchFamily="34" charset="-122"/>
                          <a:cs typeface="Arial Rounded MT Bold" pitchFamily="34" charset="-120"/>
                        </a:rPr>
                        <a:t>Bukti di Sistem</a:t>
                      </a:r>
                      <a:endParaRPr lang="en-US" sz="800" dirty="0">
                        <a:latin typeface="Arial Rounded MT Bold" charset="0"/>
                        <a:ea typeface="Arial Rounded MT Bold" charset="0"/>
                        <a:cs typeface="Arial Rounded MT Bold" charset="0"/>
                      </a:endParaRPr>
                    </a:p>
                  </a:txBody>
                  <a:tcPr marL="71438" marR="128588" marT="128588" marB="71438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4C2A85"/>
                          </a:solidFill>
                          <a:latin typeface="Arial Rounded MT Bold" pitchFamily="34" charset="0"/>
                          <a:ea typeface="Arial Rounded MT Bold" pitchFamily="34" charset="-122"/>
                          <a:cs typeface="Arial Rounded MT Bold" pitchFamily="34" charset="-120"/>
                        </a:rPr>
                        <a:t>🏗️ 4 Modul Terintegrasi</a:t>
                      </a:r>
                      <a:endParaRPr lang="en-US" sz="800" dirty="0">
                        <a:latin typeface="Arial Rounded MT Bold" charset="0"/>
                        <a:ea typeface="Arial Rounded MT Bold" charset="0"/>
                        <a:cs typeface="Arial Rounded MT Bold" charset="0"/>
                      </a:endParaRPr>
                    </a:p>
                  </a:txBody>
                  <a:tcPr marL="57150" marR="128588" marT="128588" marB="5715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C1917"/>
                          </a:solidFill>
                          <a:latin typeface="Arial Rounded MT Bold" pitchFamily="34" charset="0"/>
                          <a:ea typeface="Arial Rounded MT Bold" pitchFamily="34" charset="-122"/>
                          <a:cs typeface="Arial Rounded MT Bold" pitchFamily="34" charset="-120"/>
                        </a:rPr>
                        <a:t>Surat + Kegiatan + Konten + Inventaris</a:t>
                      </a:r>
                      <a:endParaRPr lang="en-US" sz="800" dirty="0">
                        <a:latin typeface="Arial Rounded MT Bold" charset="0"/>
                        <a:ea typeface="Arial Rounded MT Bold" charset="0"/>
                        <a:cs typeface="Arial Rounded MT Bold" charset="0"/>
                      </a:endParaRPr>
                    </a:p>
                  </a:txBody>
                  <a:tcPr marL="57150" marR="128588" marT="128588" marB="5715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4C2A85"/>
                          </a:solidFill>
                          <a:latin typeface="Arial Rounded MT Bold" pitchFamily="34" charset="0"/>
                          <a:ea typeface="Arial Rounded MT Bold" pitchFamily="34" charset="-122"/>
                          <a:cs typeface="Arial Rounded MT Bold" pitchFamily="34" charset="-120"/>
                        </a:rPr>
                        <a:t>⭐ Integrasi LIHUM</a:t>
                      </a:r>
                      <a:endParaRPr lang="en-US" sz="800" dirty="0">
                        <a:latin typeface="Arial Rounded MT Bold" charset="0"/>
                        <a:ea typeface="Arial Rounded MT Bold" charset="0"/>
                        <a:cs typeface="Arial Rounded MT Bold" charset="0"/>
                      </a:endParaRPr>
                    </a:p>
                  </a:txBody>
                  <a:tcPr marL="57150" marR="128588" marT="128588" marB="5715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C1917"/>
                          </a:solidFill>
                          <a:latin typeface="Arial Rounded MT Bold" pitchFamily="34" charset="0"/>
                          <a:ea typeface="Arial Rounded MT Bold" pitchFamily="34" charset="-122"/>
                          <a:cs typeface="Arial Rounded MT Bold" pitchFamily="34" charset="-120"/>
                        </a:rPr>
                        <a:t>1-klik publikasi gallery publik</a:t>
                      </a:r>
                      <a:endParaRPr lang="en-US" sz="800" dirty="0">
                        <a:latin typeface="Arial Rounded MT Bold" charset="0"/>
                        <a:ea typeface="Arial Rounded MT Bold" charset="0"/>
                        <a:cs typeface="Arial Rounded MT Bold" charset="0"/>
                      </a:endParaRPr>
                    </a:p>
                  </a:txBody>
                  <a:tcPr marL="57150" marR="128588" marT="128588" marB="5715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4C2A85"/>
                          </a:solidFill>
                          <a:latin typeface="Arial Rounded MT Bold" pitchFamily="34" charset="0"/>
                          <a:ea typeface="Arial Rounded MT Bold" pitchFamily="34" charset="-122"/>
                          <a:cs typeface="Arial Rounded MT Bold" pitchFamily="34" charset="-120"/>
                        </a:rPr>
                        <a:t>🛡️ Folder PUBLIC/PRIVATE</a:t>
                      </a:r>
                      <a:endParaRPr lang="en-US" sz="800" dirty="0">
                        <a:latin typeface="Arial Rounded MT Bold" charset="0"/>
                        <a:ea typeface="Arial Rounded MT Bold" charset="0"/>
                        <a:cs typeface="Arial Rounded MT Bold" charset="0"/>
                      </a:endParaRPr>
                    </a:p>
                  </a:txBody>
                  <a:tcPr marL="57150" marR="128588" marT="128588" marB="5715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C1917"/>
                          </a:solidFill>
                          <a:latin typeface="Arial Rounded MT Bold" pitchFamily="34" charset="0"/>
                          <a:ea typeface="Arial Rounded MT Bold" pitchFamily="34" charset="-122"/>
                          <a:cs typeface="Arial Rounded MT Bold" pitchFamily="34" charset="-120"/>
                        </a:rPr>
                        <a:t>Filter keamanan distribusi konten</a:t>
                      </a:r>
                      <a:endParaRPr lang="en-US" sz="800" dirty="0">
                        <a:latin typeface="Arial Rounded MT Bold" charset="0"/>
                        <a:ea typeface="Arial Rounded MT Bold" charset="0"/>
                        <a:cs typeface="Arial Rounded MT Bold" charset="0"/>
                      </a:endParaRPr>
                    </a:p>
                  </a:txBody>
                  <a:tcPr marL="57150" marR="128588" marT="128588" marB="5715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4C2A85"/>
                          </a:solidFill>
                          <a:latin typeface="Arial Rounded MT Bold" pitchFamily="34" charset="0"/>
                          <a:ea typeface="Arial Rounded MT Bold" pitchFamily="34" charset="-122"/>
                          <a:cs typeface="Arial Rounded MT Bold" pitchFamily="34" charset="-120"/>
                        </a:rPr>
                        <a:t>⚡ Workflow 5 Tahap</a:t>
                      </a:r>
                      <a:endParaRPr lang="en-US" sz="800" dirty="0">
                        <a:latin typeface="Arial Rounded MT Bold" charset="0"/>
                        <a:ea typeface="Arial Rounded MT Bold" charset="0"/>
                        <a:cs typeface="Arial Rounded MT Bold" charset="0"/>
                      </a:endParaRPr>
                    </a:p>
                  </a:txBody>
                  <a:tcPr marL="57150" marR="128588" marT="128588" marB="5715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C1917"/>
                          </a:solidFill>
                          <a:latin typeface="Arial Rounded MT Bold" pitchFamily="34" charset="0"/>
                          <a:ea typeface="Arial Rounded MT Bold" pitchFamily="34" charset="-122"/>
                          <a:cs typeface="Arial Rounded MT Bold" pitchFamily="34" charset="-120"/>
                        </a:rPr>
                        <a:t>16 role, tracking real-time, Drive otomatis</a:t>
                      </a:r>
                      <a:endParaRPr lang="en-US" sz="800" dirty="0">
                        <a:latin typeface="Arial Rounded MT Bold" charset="0"/>
                        <a:ea typeface="Arial Rounded MT Bold" charset="0"/>
                        <a:cs typeface="Arial Rounded MT Bold" charset="0"/>
                      </a:endParaRPr>
                    </a:p>
                  </a:txBody>
                  <a:tcPr marL="57150" marR="128588" marT="128588" marB="5715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4C2A85"/>
                          </a:solidFill>
                          <a:latin typeface="Arial Rounded MT Bold" pitchFamily="34" charset="0"/>
                          <a:ea typeface="Arial Rounded MT Bold" pitchFamily="34" charset="-122"/>
                          <a:cs typeface="Arial Rounded MT Bold" pitchFamily="34" charset="-120"/>
                        </a:rPr>
                        <a:t>📊 Pengukuran</a:t>
                      </a:r>
                      <a:endParaRPr lang="en-US" sz="800" dirty="0">
                        <a:latin typeface="Arial Rounded MT Bold" charset="0"/>
                        <a:ea typeface="Arial Rounded MT Bold" charset="0"/>
                        <a:cs typeface="Arial Rounded MT Bold" charset="0"/>
                      </a:endParaRPr>
                    </a:p>
                  </a:txBody>
                  <a:tcPr marL="57150" marR="128588" marT="128588" marB="5715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C1917"/>
                          </a:solidFill>
                          <a:latin typeface="Arial Rounded MT Bold" pitchFamily="34" charset="0"/>
                          <a:ea typeface="Arial Rounded MT Bold" pitchFamily="34" charset="-122"/>
                          <a:cs typeface="Arial Rounded MT Bold" pitchFamily="34" charset="-120"/>
                        </a:rPr>
                        <a:t>Laporan SKP, public tracker, LIHUM stats</a:t>
                      </a:r>
                      <a:endParaRPr lang="en-US" sz="800" dirty="0">
                        <a:latin typeface="Arial Rounded MT Bold" charset="0"/>
                        <a:ea typeface="Arial Rounded MT Bold" charset="0"/>
                        <a:cs typeface="Arial Rounded MT Bold" charset="0"/>
                      </a:endParaRPr>
                    </a:p>
                  </a:txBody>
                  <a:tcPr marL="57150" marR="128588" marT="128588" marB="5715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4C2A85"/>
                          </a:solidFill>
                          <a:latin typeface="Arial Rounded MT Bold" pitchFamily="34" charset="0"/>
                          <a:ea typeface="Arial Rounded MT Bold" pitchFamily="34" charset="-122"/>
                          <a:cs typeface="Arial Rounded MT Bold" pitchFamily="34" charset="-120"/>
                        </a:rPr>
                        <a:t>💬 Koordinasi</a:t>
                      </a:r>
                      <a:endParaRPr lang="en-US" sz="800" dirty="0">
                        <a:latin typeface="Arial Rounded MT Bold" charset="0"/>
                        <a:ea typeface="Arial Rounded MT Bold" charset="0"/>
                        <a:cs typeface="Arial Rounded MT Bold" charset="0"/>
                      </a:endParaRPr>
                    </a:p>
                  </a:txBody>
                  <a:tcPr marL="57150" marR="128588" marT="128588" marB="5715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C1917"/>
                          </a:solidFill>
                          <a:latin typeface="Arial Rounded MT Bold" pitchFamily="34" charset="0"/>
                          <a:ea typeface="Arial Rounded MT Bold" pitchFamily="34" charset="-122"/>
                          <a:cs typeface="Arial Rounded MT Bold" pitchFamily="34" charset="-120"/>
                        </a:rPr>
                        <a:t>Reminder WA progress per petugas</a:t>
                      </a:r>
                      <a:endParaRPr lang="en-US" sz="800" dirty="0">
                        <a:latin typeface="Arial Rounded MT Bold" charset="0"/>
                        <a:ea typeface="Arial Rounded MT Bold" charset="0"/>
                        <a:cs typeface="Arial Rounded MT Bold" charset="0"/>
                      </a:endParaRPr>
                    </a:p>
                  </a:txBody>
                  <a:tcPr marL="57150" marR="128588" marT="128588" marB="5715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7"/>
          <p:cNvSpPr/>
          <p:nvPr/>
        </p:nvSpPr>
        <p:spPr>
          <a:xfrm>
            <a:off x="1368028" y="2849910"/>
            <a:ext cx="6407944" cy="670620"/>
          </a:xfrm>
          <a:prstGeom prst="roundRect">
            <a:avLst>
              <a:gd name="adj" fmla="val 22725"/>
            </a:avLst>
          </a:prstGeom>
          <a:solidFill>
            <a:srgbClr val="FFFFFF"/>
          </a:solidFill>
          <a:ln w="21431">
            <a:solidFill>
              <a:srgbClr val="D4AF37"/>
            </a:solidFill>
            <a:prstDash val="solid"/>
          </a:ln>
          <a:effectLst>
            <a:outerShdw sx="100000" sy="100000" kx="0" ky="0" algn="bl" rotWithShape="0" blurRad="209550" dist="50800" dir="16200000">
              <a:srgbClr val="D4AF37">
                <a:alpha val="5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8"/>
          <p:cNvSpPr/>
          <p:nvPr/>
        </p:nvSpPr>
        <p:spPr>
          <a:xfrm>
            <a:off x="1507331" y="2960638"/>
            <a:ext cx="6129338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C2A8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⭐ Key Innovation</a:t>
            </a:r>
            <a:endParaRPr lang="en-US" sz="800" dirty="0"/>
          </a:p>
        </p:txBody>
      </p:sp>
      <p:sp>
        <p:nvSpPr>
          <p:cNvPr id="15" name="Text 9"/>
          <p:cNvSpPr/>
          <p:nvPr/>
        </p:nvSpPr>
        <p:spPr>
          <a:xfrm>
            <a:off x="1507331" y="3124944"/>
            <a:ext cx="2978944" cy="300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spcAft>
                <a:spcPts val="225"/>
              </a:spcAft>
              <a:buNone/>
            </a:pPr>
            <a:r>
              <a:rPr lang="en-US" sz="600" dirty="0">
                <a:solidFill>
                  <a:srgbClr val="D4AF3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●  </a:t>
            </a:r>
            <a:pPr algn="l" indent="0" marL="0">
              <a:lnSpc>
                <a:spcPts val="897"/>
              </a:lnSpc>
              <a:spcAft>
                <a:spcPts val="225"/>
              </a:spcAft>
              <a:buNone/>
            </a:pPr>
            <a:r>
              <a:rPr lang="en-US" sz="800" dirty="0">
                <a:solidFill>
                  <a:srgbClr val="1C191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Integrasi Pushakin ↔ LIHUM = workflow end-to-end otomatis</a:t>
            </a:r>
            <a:endParaRPr lang="en-US" sz="800" dirty="0"/>
          </a:p>
          <a:p>
            <a:pPr algn="l" indent="0" marL="0">
              <a:lnSpc>
                <a:spcPts val="897"/>
              </a:lnSpc>
              <a:spcAft>
                <a:spcPts val="225"/>
              </a:spcAft>
              <a:buNone/>
            </a:pPr>
            <a:r>
              <a:rPr lang="en-US" sz="600" dirty="0">
                <a:solidFill>
                  <a:srgbClr val="D4AF3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●  </a:t>
            </a:r>
            <a:pPr algn="l" indent="0" marL="0">
              <a:lnSpc>
                <a:spcPts val="897"/>
              </a:lnSpc>
              <a:spcAft>
                <a:spcPts val="225"/>
              </a:spcAft>
              <a:buNone/>
            </a:pPr>
            <a:r>
              <a:rPr lang="en-US" sz="800" dirty="0">
                <a:solidFill>
                  <a:srgbClr val="1C191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Folder PUBLIC/PRIVATE = filter keamanan distribusi</a:t>
            </a:r>
            <a:endParaRPr lang="en-US" sz="800" dirty="0"/>
          </a:p>
        </p:txBody>
      </p:sp>
      <p:sp>
        <p:nvSpPr>
          <p:cNvPr id="16" name="Text 10"/>
          <p:cNvSpPr/>
          <p:nvPr/>
        </p:nvSpPr>
        <p:spPr>
          <a:xfrm>
            <a:off x="4657725" y="3124944"/>
            <a:ext cx="2978944" cy="300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spcAft>
                <a:spcPts val="225"/>
              </a:spcAft>
              <a:buNone/>
            </a:pPr>
            <a:r>
              <a:rPr lang="en-US" sz="600" dirty="0">
                <a:solidFill>
                  <a:srgbClr val="D4AF3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●  </a:t>
            </a:r>
            <a:pPr algn="l" indent="0" marL="0">
              <a:lnSpc>
                <a:spcPts val="897"/>
              </a:lnSpc>
              <a:spcAft>
                <a:spcPts val="225"/>
              </a:spcAft>
              <a:buNone/>
            </a:pPr>
            <a:r>
              <a:rPr lang="en-US" sz="800" dirty="0">
                <a:solidFill>
                  <a:srgbClr val="1C191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Laporan SKP per petugas = bukti kinerja terstruktur</a:t>
            </a:r>
            <a:endParaRPr lang="en-US" sz="800" dirty="0"/>
          </a:p>
          <a:p>
            <a:pPr algn="l" indent="0" marL="0">
              <a:lnSpc>
                <a:spcPts val="897"/>
              </a:lnSpc>
              <a:spcAft>
                <a:spcPts val="225"/>
              </a:spcAft>
              <a:buNone/>
            </a:pPr>
            <a:r>
              <a:rPr lang="en-US" sz="600" dirty="0">
                <a:solidFill>
                  <a:srgbClr val="D4AF3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●  </a:t>
            </a:r>
            <a:pPr algn="l" indent="0" marL="0">
              <a:lnSpc>
                <a:spcPts val="897"/>
              </a:lnSpc>
              <a:spcAft>
                <a:spcPts val="225"/>
              </a:spcAft>
              <a:buNone/>
            </a:pPr>
            <a:r>
              <a:rPr lang="en-US" sz="800" dirty="0">
                <a:solidFill>
                  <a:srgbClr val="1C191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Public Tracker = transparansi publik real-time</a:t>
            </a:r>
            <a:endParaRPr lang="en-US" sz="800" dirty="0"/>
          </a:p>
        </p:txBody>
      </p:sp>
      <p:sp>
        <p:nvSpPr>
          <p:cNvPr id="17" name="Text 11"/>
          <p:cNvSpPr/>
          <p:nvPr/>
        </p:nvSpPr>
        <p:spPr>
          <a:xfrm>
            <a:off x="2785951" y="3616970"/>
            <a:ext cx="3572098" cy="142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51"/>
              </a:lnSpc>
              <a:buNone/>
            </a:pPr>
            <a:r>
              <a:rPr lang="en-US" sz="731" i="1" dirty="0">
                <a:solidFill>
                  <a:srgbClr val="D4AF37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Pushakin Flows — inovasi komunikasi publik yang terintegrasi, transparan, dan terukur</a:t>
            </a:r>
            <a:endParaRPr lang="en-US" sz="731" dirty="0"/>
          </a:p>
        </p:txBody>
      </p:sp>
      <p:sp>
        <p:nvSpPr>
          <p:cNvPr id="18" name="Text 12"/>
          <p:cNvSpPr/>
          <p:nvPr/>
        </p:nvSpPr>
        <p:spPr>
          <a:xfrm>
            <a:off x="3423642" y="3794782"/>
            <a:ext cx="2296604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600" dirty="0">
                <a:solidFill>
                  <a:srgbClr val="FFFFFF">
                    <a:alpha val="75000"/>
                  </a:srgbClr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Pusat Humas dan Keterbukaan Informasi | UIN Antasari Banjarmasin</a:t>
            </a:r>
            <a:endParaRPr lang="en-US" sz="600" dirty="0"/>
          </a:p>
        </p:txBody>
      </p:sp>
      <p:sp>
        <p:nvSpPr>
          <p:cNvPr id="19" name="Text 13"/>
          <p:cNvSpPr/>
          <p:nvPr/>
        </p:nvSpPr>
        <p:spPr>
          <a:xfrm>
            <a:off x="3423642" y="3916226"/>
            <a:ext cx="22966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600" b="1" spc="17" kern="0" dirty="0">
                <a:solidFill>
                  <a:srgbClr val="F4D77A">
                    <a:alpha val="75000"/>
                  </a:srgbClr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app.pushakin-flows.workers.dev</a:t>
            </a:r>
            <a:pPr algn="ctr" indent="0" marL="0">
              <a:lnSpc>
                <a:spcPts val="844"/>
              </a:lnSpc>
              <a:buNone/>
            </a:pPr>
            <a:r>
              <a:rPr lang="en-US" sz="600" dirty="0">
                <a:solidFill>
                  <a:srgbClr val="FFFFFF">
                    <a:alpha val="75000"/>
                  </a:srgbClr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| </a:t>
            </a:r>
            <a:pPr algn="ctr" indent="0" marL="0">
              <a:lnSpc>
                <a:spcPts val="844"/>
              </a:lnSpc>
              <a:buNone/>
            </a:pPr>
            <a:r>
              <a:rPr lang="en-US" sz="600" b="1" spc="17" kern="0" dirty="0">
                <a:solidFill>
                  <a:srgbClr val="F4D77A">
                    <a:alpha val="75000"/>
                  </a:srgbClr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lihum.synclicen.workers.dev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2026-10-04T03:13:41Z</dcterms:created>
  <dcterms:modified xsi:type="dcterms:W3CDTF">2026-10-04T03:13:41Z</dcterms:modified>
</cp:coreProperties>
</file>