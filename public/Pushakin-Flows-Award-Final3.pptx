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7250" y="-857250"/>
            <a:ext cx="2714625" cy="27146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857250" y="-857250"/>
            <a:ext cx="2714625" cy="27146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3286125"/>
            <a:ext cx="2714625" cy="27146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286625" y="3286125"/>
            <a:ext cx="2714625" cy="27146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4357688" y="214313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700" dirty="0"/>
          </a:p>
        </p:txBody>
      </p:sp>
      <p:sp>
        <p:nvSpPr>
          <p:cNvPr id="9" name="Text 3"/>
          <p:cNvSpPr/>
          <p:nvPr/>
        </p:nvSpPr>
        <p:spPr>
          <a:xfrm>
            <a:off x="3654140" y="600075"/>
            <a:ext cx="1927389" cy="294037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1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1913" dirty="0"/>
          </a:p>
        </p:txBody>
      </p:sp>
      <p:sp>
        <p:nvSpPr>
          <p:cNvPr id="10" name="Text 4"/>
          <p:cNvSpPr/>
          <p:nvPr/>
        </p:nvSpPr>
        <p:spPr>
          <a:xfrm>
            <a:off x="3468514" y="921544"/>
            <a:ext cx="238353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956" dirty="0"/>
          </a:p>
        </p:txBody>
      </p:sp>
      <p:sp>
        <p:nvSpPr>
          <p:cNvPr id="11" name="Text 5"/>
          <p:cNvSpPr/>
          <p:nvPr/>
        </p:nvSpPr>
        <p:spPr>
          <a:xfrm>
            <a:off x="4071938" y="1150144"/>
            <a:ext cx="1000125" cy="21431"/>
          </a:xfrm>
          <a:prstGeom prst="roundRect">
            <a:avLst>
              <a:gd name="adj" fmla="val 8889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3467063" y="1257300"/>
            <a:ext cx="2209763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731" dirty="0"/>
          </a:p>
        </p:txBody>
      </p:sp>
      <p:sp>
        <p:nvSpPr>
          <p:cNvPr id="13" name="Text 7"/>
          <p:cNvSpPr/>
          <p:nvPr/>
        </p:nvSpPr>
        <p:spPr>
          <a:xfrm>
            <a:off x="3556471" y="1407319"/>
            <a:ext cx="2031057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619" dirty="0"/>
          </a:p>
        </p:txBody>
      </p:sp>
      <p:sp>
        <p:nvSpPr>
          <p:cNvPr id="14" name="Text 8"/>
          <p:cNvSpPr/>
          <p:nvPr/>
        </p:nvSpPr>
        <p:spPr>
          <a:xfrm>
            <a:off x="721519" y="2550319"/>
            <a:ext cx="7700963" cy="127158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9"/>
          <p:cNvSpPr/>
          <p:nvPr/>
        </p:nvSpPr>
        <p:spPr>
          <a:xfrm>
            <a:off x="871538" y="2821781"/>
            <a:ext cx="7400925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dash"/>
          </a:ln>
        </p:spPr>
      </p:sp>
      <p:sp>
        <p:nvSpPr>
          <p:cNvPr id="16" name="Text 10"/>
          <p:cNvSpPr/>
          <p:nvPr/>
        </p:nvSpPr>
        <p:spPr>
          <a:xfrm>
            <a:off x="871538" y="2671763"/>
            <a:ext cx="7400925" cy="172430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Daftar Isi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3958196" y="2886075"/>
            <a:ext cx="1325697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 Sistem</a:t>
            </a:r>
            <a:endParaRPr lang="en-US" sz="675" dirty="0"/>
          </a:p>
        </p:txBody>
      </p:sp>
      <p:sp>
        <p:nvSpPr>
          <p:cNvPr id="18" name="Text 12"/>
          <p:cNvSpPr/>
          <p:nvPr/>
        </p:nvSpPr>
        <p:spPr>
          <a:xfrm>
            <a:off x="3894683" y="3028950"/>
            <a:ext cx="1462884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Alur Surat → Proyek &amp; Strategi</a:t>
            </a:r>
            <a:endParaRPr lang="en-US" sz="675" dirty="0"/>
          </a:p>
        </p:txBody>
      </p:sp>
      <p:sp>
        <p:nvSpPr>
          <p:cNvPr id="19" name="Text 13"/>
          <p:cNvSpPr/>
          <p:nvPr/>
        </p:nvSpPr>
        <p:spPr>
          <a:xfrm>
            <a:off x="3912096" y="3171825"/>
            <a:ext cx="1425272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675" dirty="0"/>
          </a:p>
        </p:txBody>
      </p:sp>
      <p:sp>
        <p:nvSpPr>
          <p:cNvPr id="20" name="Text 14"/>
          <p:cNvSpPr/>
          <p:nvPr/>
        </p:nvSpPr>
        <p:spPr>
          <a:xfrm>
            <a:off x="3719215" y="3314700"/>
            <a:ext cx="1842016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4. 16 Role, Pesan Petugas &amp; Laporan SKP</a:t>
            </a:r>
            <a:endParaRPr lang="en-US" sz="675" dirty="0"/>
          </a:p>
        </p:txBody>
      </p:sp>
      <p:sp>
        <p:nvSpPr>
          <p:cNvPr id="21" name="Text 15"/>
          <p:cNvSpPr/>
          <p:nvPr/>
        </p:nvSpPr>
        <p:spPr>
          <a:xfrm>
            <a:off x="4024164" y="3457575"/>
            <a:ext cx="1183326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Inovasi Integrasi: LIHUM</a:t>
            </a:r>
            <a:endParaRPr lang="en-US" sz="675" dirty="0"/>
          </a:p>
        </p:txBody>
      </p:sp>
      <p:sp>
        <p:nvSpPr>
          <p:cNvPr id="22" name="Text 16"/>
          <p:cNvSpPr/>
          <p:nvPr/>
        </p:nvSpPr>
        <p:spPr>
          <a:xfrm>
            <a:off x="3840659" y="3600450"/>
            <a:ext cx="157957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675" dirty="0"/>
          </a:p>
        </p:txBody>
      </p:sp>
      <p:sp>
        <p:nvSpPr>
          <p:cNvPr id="23" name="Text 17"/>
          <p:cNvSpPr/>
          <p:nvPr/>
        </p:nvSpPr>
        <p:spPr>
          <a:xfrm>
            <a:off x="714375" y="3900488"/>
            <a:ext cx="771525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Hubungan Masyarakat dan Keterbukaan Informasi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200025"/>
            <a:ext cx="8743950" cy="3643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597" y="203597"/>
            <a:ext cx="873680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0044" y="300038"/>
            <a:ext cx="76361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977582" y="282178"/>
            <a:ext cx="839234" cy="200025"/>
          </a:xfrm>
          <a:prstGeom prst="roundRect">
            <a:avLst>
              <a:gd name="adj" fmla="val 4761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0442" y="292894"/>
            <a:ext cx="793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🎯 Objektif 20%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664369"/>
            <a:ext cx="344890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0025" y="828675"/>
            <a:ext cx="3284674" cy="30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produksi kehumasan terintegrasi end-to-end. Mewadahi proses produksi bagi setiap user sesuai peran, dan menyediakan manajemen terintegrasi untuk Humas.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0025" y="1157957"/>
            <a:ext cx="384963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Tujuan Sistem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4325" y="1322263"/>
            <a:ext cx="342400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Dokumentasi tujuan komunikasi per kegiatan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4325" y="1469380"/>
            <a:ext cx="342400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Mewadahi proses produksi bagi user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4325" y="1616497"/>
            <a:ext cx="317037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Manajemen: Surat, Kegiatan, Konten, Inventaris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4325" y="1763613"/>
            <a:ext cx="342400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Bukti kinerja SKP per petugas (PDF/Excel)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14325" y="1910730"/>
            <a:ext cx="3424004" cy="17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Transparansi publik via Public Tracker + LIHUM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0025" y="2122140"/>
            <a:ext cx="344890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Objektif Tercatat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0025" y="2286446"/>
            <a:ext cx="3284674" cy="209959"/>
          </a:xfrm>
          <a:prstGeom prst="roundRect">
            <a:avLst>
              <a:gd name="adj" fmla="val 27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14313" y="2286446"/>
            <a:ext cx="0" cy="209959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0025" y="2286446"/>
            <a:ext cx="3284674" cy="239677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— perihal, pengirim, kategori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00025" y="2553556"/>
            <a:ext cx="3284674" cy="209959"/>
          </a:xfrm>
          <a:prstGeom prst="roundRect">
            <a:avLst>
              <a:gd name="adj" fmla="val 27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214313" y="2553556"/>
            <a:ext cx="0" cy="20995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025" y="2553556"/>
            <a:ext cx="3284674" cy="239677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Kegiatan — nomor, jenis, deskripsi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0025" y="2820665"/>
            <a:ext cx="3284674" cy="209959"/>
          </a:xfrm>
          <a:prstGeom prst="roundRect">
            <a:avLst>
              <a:gd name="adj" fmla="val 27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214313" y="2820665"/>
            <a:ext cx="0" cy="209959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0025" y="2820665"/>
            <a:ext cx="3284674" cy="293180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③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Proyek + Surat Tugas resmi</a:t>
            </a:r>
            <a:endParaRPr lang="en-US" sz="800" dirty="0"/>
          </a:p>
        </p:txBody>
      </p:sp>
      <p:pic>
        <p:nvPicPr>
          <p:cNvPr id="25" name="Image 1" descr="/tmp/h2p-fit-1791113056346-iyn95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23" y="1340346"/>
            <a:ext cx="5358929" cy="2431442"/>
          </a:xfrm>
          <a:prstGeom prst="rect">
            <a:avLst/>
          </a:prstGeom>
          <a:effectLst>
            <a:outerShdw sx="100000" sy="100000" kx="0" ky="0" algn="bl" rotWithShape="0" blurRad="171450" dist="57150" dir="5400000">
              <a:srgbClr val="4C2A85">
                <a:alpha val="18000"/>
              </a:srgbClr>
            </a:outerShdw>
          </a:effectLst>
        </p:spPr>
      </p:pic>
      <p:sp>
        <p:nvSpPr>
          <p:cNvPr id="26" name="Text 22"/>
          <p:cNvSpPr/>
          <p:nvPr/>
        </p:nvSpPr>
        <p:spPr>
          <a:xfrm>
            <a:off x="5608732" y="3814651"/>
            <a:ext cx="131111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</a:t>
            </a:r>
            <a:endParaRPr lang="en-US" sz="619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676366"/>
            <a:ext cx="8743950" cy="26710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03597" y="4679938"/>
            <a:ext cx="8736806" cy="259966"/>
          </a:xfrm>
          <a:prstGeom prst="roundRect">
            <a:avLst>
              <a:gd name="adj" fmla="val 3663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200025" y="4676366"/>
            <a:ext cx="8636000" cy="372982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Tujuan komunikasi terdokumentasi </a:t>
            </a:r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lapisan: Surat → Kegiatan → Proyek. Objektif jelas, terukur, tertulis.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71450"/>
            <a:ext cx="8743950" cy="3643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597" y="175022"/>
            <a:ext cx="873680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0044" y="271463"/>
            <a:ext cx="76359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Alur Surat → Proyek &amp; Strategi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977470" y="253603"/>
            <a:ext cx="839346" cy="200025"/>
          </a:xfrm>
          <a:prstGeom prst="roundRect">
            <a:avLst>
              <a:gd name="adj" fmla="val 4761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0330" y="264319"/>
            <a:ext cx="79362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♟️ Strategi 20%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607219"/>
            <a:ext cx="863600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A. Alur Surat Masuk ke Proyek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75" y="807244"/>
            <a:ext cx="958714" cy="335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61711" y="878681"/>
            <a:ext cx="80404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84387" y="992981"/>
            <a:ext cx="7586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Permohonan/Undangan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2785951" y="875109"/>
            <a:ext cx="171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263" y="807244"/>
            <a:ext cx="785813" cy="335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73184" y="878681"/>
            <a:ext cx="63997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Diteruskan</a:t>
            </a:r>
            <a:endParaRPr lang="en-US" sz="675" dirty="0"/>
          </a:p>
        </p:txBody>
      </p:sp>
      <p:sp>
        <p:nvSpPr>
          <p:cNvPr id="14" name="Text 9"/>
          <p:cNvSpPr/>
          <p:nvPr/>
        </p:nvSpPr>
        <p:spPr>
          <a:xfrm>
            <a:off x="3100276" y="992981"/>
            <a:ext cx="5857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 Manager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828938" y="875109"/>
            <a:ext cx="171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251" y="807244"/>
            <a:ext cx="998004" cy="3357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43263" y="878681"/>
            <a:ext cx="7979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Manager Inisiasi</a:t>
            </a:r>
            <a:endParaRPr lang="en-US" sz="675" dirty="0"/>
          </a:p>
        </p:txBody>
      </p:sp>
      <p:sp>
        <p:nvSpPr>
          <p:cNvPr id="18" name="Text 12"/>
          <p:cNvSpPr/>
          <p:nvPr/>
        </p:nvSpPr>
        <p:spPr>
          <a:xfrm>
            <a:off x="4143263" y="992981"/>
            <a:ext cx="7979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Buat Proyek Baru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5084118" y="875109"/>
            <a:ext cx="171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430" y="807244"/>
            <a:ext cx="863166" cy="3357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0808" y="878681"/>
            <a:ext cx="67841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📨</a:t>
            </a:r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Tugas</a:t>
            </a:r>
            <a:endParaRPr lang="en-US" sz="675" dirty="0"/>
          </a:p>
        </p:txBody>
      </p:sp>
      <p:sp>
        <p:nvSpPr>
          <p:cNvPr id="22" name="Text 15"/>
          <p:cNvSpPr/>
          <p:nvPr/>
        </p:nvSpPr>
        <p:spPr>
          <a:xfrm>
            <a:off x="5398443" y="992981"/>
            <a:ext cx="6631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Otomatis ke Petugas</a:t>
            </a:r>
            <a:endParaRPr lang="en-US" sz="600" dirty="0"/>
          </a:p>
        </p:txBody>
      </p:sp>
      <p:sp>
        <p:nvSpPr>
          <p:cNvPr id="23" name="Text 16"/>
          <p:cNvSpPr/>
          <p:nvPr/>
        </p:nvSpPr>
        <p:spPr>
          <a:xfrm>
            <a:off x="6204458" y="875109"/>
            <a:ext cx="171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771" y="807244"/>
            <a:ext cx="940743" cy="3357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18783" y="878681"/>
            <a:ext cx="7407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▶️ Mulai Produksi</a:t>
            </a:r>
            <a:endParaRPr lang="en-US" sz="675" dirty="0"/>
          </a:p>
        </p:txBody>
      </p:sp>
      <p:sp>
        <p:nvSpPr>
          <p:cNvPr id="26" name="Text 18"/>
          <p:cNvSpPr/>
          <p:nvPr/>
        </p:nvSpPr>
        <p:spPr>
          <a:xfrm>
            <a:off x="6518783" y="992981"/>
            <a:ext cx="7407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Tim kerja per tahap</a:t>
            </a:r>
            <a:endParaRPr lang="en-US" sz="600" dirty="0"/>
          </a:p>
        </p:txBody>
      </p:sp>
      <p:sp>
        <p:nvSpPr>
          <p:cNvPr id="27" name="Text 19"/>
          <p:cNvSpPr/>
          <p:nvPr/>
        </p:nvSpPr>
        <p:spPr>
          <a:xfrm>
            <a:off x="200025" y="1228725"/>
            <a:ext cx="8636000" cy="1645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Jika surat berbentuk permohonan, sistem meneruskannya ke Manager untuk menginisiasi proyek. Surat Tugas otomatis dikirim ke setiap petugas.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200025" y="1432322"/>
            <a:ext cx="863600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 Strategi yang Diterapkan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200025" y="1632347"/>
            <a:ext cx="8636000" cy="1645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menjawab kendala koordinasi dengan 5 strategi: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200025" y="1835944"/>
            <a:ext cx="1703003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217884" y="1835944"/>
            <a:ext cx="0" cy="1000125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321469" y="1921669"/>
            <a:ext cx="149583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Pemilihan Petugas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21469" y="2064544"/>
            <a:ext cx="161550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 spesifik per tahap produksi.</a:t>
            </a:r>
            <a:endParaRPr lang="en-US" sz="619" dirty="0"/>
          </a:p>
        </p:txBody>
      </p:sp>
      <p:sp>
        <p:nvSpPr>
          <p:cNvPr id="34" name="Text 26"/>
          <p:cNvSpPr/>
          <p:nvPr/>
        </p:nvSpPr>
        <p:spPr>
          <a:xfrm>
            <a:off x="1960178" y="1835944"/>
            <a:ext cx="170311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27"/>
          <p:cNvSpPr/>
          <p:nvPr/>
        </p:nvSpPr>
        <p:spPr>
          <a:xfrm>
            <a:off x="1978037" y="1835944"/>
            <a:ext cx="0" cy="1000125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081622" y="1921669"/>
            <a:ext cx="149594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Fast Track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2081622" y="2064544"/>
            <a:ext cx="161562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Respons cepat untuk kegiatan mendesak.</a:t>
            </a:r>
            <a:endParaRPr lang="en-US" sz="619" dirty="0"/>
          </a:p>
        </p:txBody>
      </p:sp>
      <p:sp>
        <p:nvSpPr>
          <p:cNvPr id="38" name="Text 30"/>
          <p:cNvSpPr/>
          <p:nvPr/>
        </p:nvSpPr>
        <p:spPr>
          <a:xfrm>
            <a:off x="3720443" y="1835944"/>
            <a:ext cx="1703003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1"/>
          <p:cNvSpPr/>
          <p:nvPr/>
        </p:nvSpPr>
        <p:spPr>
          <a:xfrm>
            <a:off x="3738302" y="1835944"/>
            <a:ext cx="0" cy="1000125"/>
          </a:xfrm>
          <a:prstGeom prst="line">
            <a:avLst/>
          </a:prstGeom>
          <a:noFill/>
          <a:ln w="35719">
            <a:solidFill>
              <a:srgbClr val="2A9D8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841886" y="1921669"/>
            <a:ext cx="149583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Cek Konflik Jadwal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3841886" y="2064544"/>
            <a:ext cx="1585584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Deteksi bentrok jadwal ±3 jam.</a:t>
            </a:r>
            <a:endParaRPr lang="en-US" sz="619" dirty="0"/>
          </a:p>
        </p:txBody>
      </p:sp>
      <p:sp>
        <p:nvSpPr>
          <p:cNvPr id="42" name="Text 34"/>
          <p:cNvSpPr/>
          <p:nvPr/>
        </p:nvSpPr>
        <p:spPr>
          <a:xfrm>
            <a:off x="5480596" y="1835944"/>
            <a:ext cx="170311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35"/>
          <p:cNvSpPr/>
          <p:nvPr/>
        </p:nvSpPr>
        <p:spPr>
          <a:xfrm>
            <a:off x="5498455" y="1835944"/>
            <a:ext cx="0" cy="1000125"/>
          </a:xfrm>
          <a:prstGeom prst="line">
            <a:avLst/>
          </a:prstGeom>
          <a:noFill/>
          <a:ln w="35719">
            <a:solidFill>
              <a:srgbClr val="F4A261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602039" y="1921669"/>
            <a:ext cx="149594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Inventaris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5602039" y="2064544"/>
            <a:ext cx="158570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 &amp; pembagian barang.</a:t>
            </a:r>
            <a:endParaRPr lang="en-US" sz="619" dirty="0"/>
          </a:p>
        </p:txBody>
      </p:sp>
      <p:sp>
        <p:nvSpPr>
          <p:cNvPr id="46" name="Text 38"/>
          <p:cNvSpPr/>
          <p:nvPr/>
        </p:nvSpPr>
        <p:spPr>
          <a:xfrm>
            <a:off x="7240860" y="1835944"/>
            <a:ext cx="170311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39"/>
          <p:cNvSpPr/>
          <p:nvPr/>
        </p:nvSpPr>
        <p:spPr>
          <a:xfrm>
            <a:off x="7258720" y="1835944"/>
            <a:ext cx="0" cy="1000125"/>
          </a:xfrm>
          <a:prstGeom prst="line">
            <a:avLst/>
          </a:prstGeom>
          <a:noFill/>
          <a:ln w="35719">
            <a:solidFill>
              <a:srgbClr val="E76F8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7362304" y="1921669"/>
            <a:ext cx="149594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Reminder WA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7362304" y="2064544"/>
            <a:ext cx="158570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Progress pengingat per petugas.</a:t>
            </a:r>
            <a:endParaRPr lang="en-US" sz="619" dirty="0"/>
          </a:p>
        </p:txBody>
      </p:sp>
      <p:pic>
        <p:nvPicPr>
          <p:cNvPr id="50" name="Image 6" descr="/tmp/h2p-fit-1791113056401-8yjix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" y="2939653"/>
            <a:ext cx="4336256" cy="678656"/>
          </a:xfrm>
          <a:prstGeom prst="rect">
            <a:avLst/>
          </a:prstGeom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</p:pic>
      <p:pic>
        <p:nvPicPr>
          <p:cNvPr id="51" name="Image 7" descr="/tmp/h2p-fit-1791113056400-fftzh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7719" y="2939653"/>
            <a:ext cx="4336256" cy="678656"/>
          </a:xfrm>
          <a:prstGeom prst="rect">
            <a:avLst/>
          </a:prstGeom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</p:pic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25" y="4733516"/>
            <a:ext cx="8743950" cy="23853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203597" y="4737088"/>
            <a:ext cx="8736806" cy="231391"/>
          </a:xfrm>
          <a:prstGeom prst="roundRect">
            <a:avLst>
              <a:gd name="adj" fmla="val 4116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200025" y="4733516"/>
            <a:ext cx="8636000" cy="333081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masuk → Manager inisiasi proyek → Surat Tugas otomatis. </a:t>
            </a:r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strategi mendukung eksekusi terkoordinasi.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71450"/>
            <a:ext cx="874395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597" y="175022"/>
            <a:ext cx="8736806" cy="350044"/>
          </a:xfrm>
          <a:prstGeom prst="roundRect">
            <a:avLst>
              <a:gd name="adj" fmla="val 38095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0044" y="267891"/>
            <a:ext cx="72866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628096" y="254032"/>
            <a:ext cx="1188720" cy="192024"/>
          </a:xfrm>
          <a:prstGeom prst="roundRect">
            <a:avLst>
              <a:gd name="adj" fmla="val 4960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50956" y="264319"/>
            <a:ext cx="1143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Modul Pendukung Utama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10741" y="610791"/>
            <a:ext cx="4300538" cy="4011997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21431">
            <a:solidFill>
              <a:srgbClr val="2A9D8F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1469" y="721519"/>
            <a:ext cx="40790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Surat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1469" y="892969"/>
            <a:ext cx="4079081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objektif setiap kegiatan komunikasi. Surat masuk/keluar dengan kategori, status, dokumen pendukung, dan rekapitulasi export PDF/Excel.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21481" y="1164431"/>
            <a:ext cx="3979069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Surat Masuk: Permohonan, Undangan, Pemberitahuan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1481" y="1303734"/>
            <a:ext cx="4088797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Surat Keluar: Surat Tugas, Undangan, Laporan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1481" y="1443038"/>
            <a:ext cx="3979069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Status: Diterima → Diproses → Diteruskan → Selesai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21481" y="1582341"/>
            <a:ext cx="4088797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Rekapitulasi: filter + export PDF/Excel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1481" y="1721644"/>
            <a:ext cx="4088797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Dokumen pendukung tersimpan di Google Drive</a:t>
            </a:r>
            <a:endParaRPr lang="en-US" sz="800" dirty="0"/>
          </a:p>
        </p:txBody>
      </p:sp>
      <p:pic>
        <p:nvPicPr>
          <p:cNvPr id="15" name="Image 1" descr="/tmp/h2p-fit-1791113056640-ots5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918097"/>
            <a:ext cx="4079081" cy="1571625"/>
          </a:xfrm>
          <a:prstGeom prst="rect">
            <a:avLst/>
          </a:prstGeom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</p:pic>
      <p:sp>
        <p:nvSpPr>
          <p:cNvPr id="16" name="Text 12"/>
          <p:cNvSpPr/>
          <p:nvPr/>
        </p:nvSpPr>
        <p:spPr>
          <a:xfrm>
            <a:off x="321469" y="3546872"/>
            <a:ext cx="407908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Menu Manajemen Surat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32722" y="610791"/>
            <a:ext cx="4300538" cy="4011997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21431">
            <a:solidFill>
              <a:srgbClr val="F4A261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43450" y="721519"/>
            <a:ext cx="40790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8E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800" b="1" dirty="0">
                <a:solidFill>
                  <a:srgbClr val="E08E4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Inventaris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743450" y="892969"/>
            <a:ext cx="4079081" cy="13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Dukungan eksekusi kegiatan dengan tracking stok real-time. Peminjaman dan pembagian barang dengan bukti tertulis.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4843463" y="1057275"/>
            <a:ext cx="4088797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Barang: CRUD + kode otomatis + foto + 7 kategori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843463" y="1196578"/>
            <a:ext cx="3979069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Peminjaman: multi-item + foto peminjam + form PDF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843463" y="1335881"/>
            <a:ext cx="4088797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Pembagian: distribusi + stok auto-deduct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843463" y="1475184"/>
            <a:ext cx="4088797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History: tracking semua transaksi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843463" y="1614488"/>
            <a:ext cx="4088797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Rekapitulasi: export Excel/PDF per kategori</a:t>
            </a:r>
            <a:endParaRPr lang="en-US" sz="800" dirty="0"/>
          </a:p>
        </p:txBody>
      </p:sp>
      <p:pic>
        <p:nvPicPr>
          <p:cNvPr id="25" name="Image 2" descr="/tmp/h2p-fit-1791113056640-2wums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810941"/>
            <a:ext cx="4079081" cy="1571625"/>
          </a:xfrm>
          <a:prstGeom prst="rect">
            <a:avLst/>
          </a:prstGeom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</p:pic>
      <p:sp>
        <p:nvSpPr>
          <p:cNvPr id="26" name="Text 21"/>
          <p:cNvSpPr/>
          <p:nvPr/>
        </p:nvSpPr>
        <p:spPr>
          <a:xfrm>
            <a:off x="4743450" y="3439716"/>
            <a:ext cx="418880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Menu Manajemen Inventaris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4704941"/>
            <a:ext cx="8743950" cy="26710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3597" y="4708513"/>
            <a:ext cx="8736806" cy="259966"/>
          </a:xfrm>
          <a:prstGeom prst="roundRect">
            <a:avLst>
              <a:gd name="adj" fmla="val 3663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200025" y="4704941"/>
            <a:ext cx="8636000" cy="372982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= dokumentasi objektif. Inventaris = dukungan eksekusi dengan bukti tertulis. Keduanya menghasilkan laporan SKP.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71450"/>
            <a:ext cx="8801100" cy="321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022" y="175022"/>
            <a:ext cx="8793956" cy="314325"/>
          </a:xfrm>
          <a:prstGeom prst="roundRect">
            <a:avLst>
              <a:gd name="adj" fmla="val 4242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1469" y="257175"/>
            <a:ext cx="74726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4. 16 Role, Pesan Petugas &amp; Laporan SKP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7785594" y="240173"/>
            <a:ext cx="1059798" cy="184023"/>
          </a:xfrm>
          <a:prstGeom prst="roundRect">
            <a:avLst>
              <a:gd name="adj" fmla="val 10352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808454" y="250031"/>
            <a:ext cx="10140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💬 Key Messages 15%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71450" y="550069"/>
            <a:ext cx="863600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 &amp; Tugas per Tahap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1450" y="714375"/>
            <a:ext cx="1714500" cy="1128713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71450" y="732234"/>
            <a:ext cx="1714500" cy="0"/>
          </a:xfrm>
          <a:prstGeom prst="line">
            <a:avLst/>
          </a:prstGeom>
          <a:noFill/>
          <a:ln w="35719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888" y="821531"/>
            <a:ext cx="1571625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🔵 Tahap 1: PRODUKSI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2888" y="952240"/>
            <a:ext cx="1571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role: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42888" y="1059396"/>
            <a:ext cx="1571625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Reporter, Content Creator, Photographer, Graphic Designer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42888" y="1671638"/>
            <a:ext cx="166592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Upload konten mentah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43100" y="714375"/>
            <a:ext cx="1714500" cy="1128713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1943100" y="732234"/>
            <a:ext cx="1714500" cy="0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4538" y="821531"/>
            <a:ext cx="1571625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🟠 Tahap 2: PASCA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14538" y="952240"/>
            <a:ext cx="1571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role: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014538" y="1059396"/>
            <a:ext cx="1571625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Video, Web, Foto, Template Sosmed, Streaming Op, Podcast Op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014538" y="1671638"/>
            <a:ext cx="157162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Edit &amp; upload hasil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14750" y="714375"/>
            <a:ext cx="1714500" cy="1128713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714750" y="732234"/>
            <a:ext cx="1714500" cy="0"/>
          </a:xfrm>
          <a:prstGeom prst="line">
            <a:avLst/>
          </a:prstGeom>
          <a:noFill/>
          <a:ln w="35719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86188" y="821531"/>
            <a:ext cx="1571625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🟢 Tahap 3: REVIEW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786188" y="952240"/>
            <a:ext cx="1571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role: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86188" y="1059396"/>
            <a:ext cx="1571625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Reviewer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786188" y="1671638"/>
            <a:ext cx="166592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Cek kualitas, approve/revisi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486400" y="714375"/>
            <a:ext cx="1714500" cy="1128713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486400" y="732234"/>
            <a:ext cx="1714500" cy="0"/>
          </a:xfrm>
          <a:prstGeom prst="line">
            <a:avLst/>
          </a:prstGeom>
          <a:noFill/>
          <a:ln w="35719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57838" y="821531"/>
            <a:ext cx="1571625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🟣 Tahap 4: PUBLIKASI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557838" y="952240"/>
            <a:ext cx="1571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role: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57838" y="1059396"/>
            <a:ext cx="1665923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Web, Publisher Sosmed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557838" y="1671638"/>
            <a:ext cx="166592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Publish ke saluran + embed LIHUM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258050" y="714375"/>
            <a:ext cx="1714500" cy="1128713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7258050" y="732234"/>
            <a:ext cx="1714500" cy="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29488" y="821531"/>
            <a:ext cx="1571625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👑</a:t>
            </a:r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329488" y="952240"/>
            <a:ext cx="1571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role: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29488" y="1059396"/>
            <a:ext cx="1665923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Admin, Administrator, Manager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329488" y="1671638"/>
            <a:ext cx="166592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Kelola sistem &amp; inisiasi proyek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71450" y="1900238"/>
            <a:ext cx="8636000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Komunikasi untuk Petugas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71450" y="2064544"/>
            <a:ext cx="2895563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189309" y="2064544"/>
            <a:ext cx="0" cy="657225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92894" y="2135981"/>
            <a:ext cx="2688394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Project Description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92894" y="2266690"/>
            <a:ext cx="27981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tulis narasi kegiatan = pesan utama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124163" y="2064544"/>
            <a:ext cx="2895674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3142022" y="2064544"/>
            <a:ext cx="0" cy="657225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45607" y="2135981"/>
            <a:ext cx="2688506" cy="103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 Custom Activity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45607" y="2266690"/>
            <a:ext cx="2688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Konteks + jenis kegiatan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076987" y="2064544"/>
            <a:ext cx="2895563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6094847" y="2064544"/>
            <a:ext cx="0" cy="657225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98431" y="2135981"/>
            <a:ext cx="2798122" cy="103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③ Catatan Task + Surat Tugas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198431" y="2266690"/>
            <a:ext cx="27981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Instruksi per petugas + surat resmi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71450" y="2778919"/>
            <a:ext cx="863600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</a:t>
            </a:r>
            <a:endParaRPr lang="en-US" sz="800" dirty="0"/>
          </a:p>
        </p:txBody>
      </p:sp>
      <p:pic>
        <p:nvPicPr>
          <p:cNvPr id="52" name="Image 1" descr="/tmp/h2p-fit-1791113056350-2dkqo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943225"/>
            <a:ext cx="4300538" cy="1694520"/>
          </a:xfrm>
          <a:prstGeom prst="rect">
            <a:avLst/>
          </a:prstGeom>
          <a:effectLst>
            <a:outerShdw sx="100000" sy="100000" kx="0" ky="0" algn="bl" rotWithShape="0" blurRad="57150" dist="19050" dir="5400000">
              <a:srgbClr val="4C2A85">
                <a:alpha val="8000"/>
              </a:srgbClr>
            </a:outerShdw>
          </a:effectLst>
        </p:spPr>
      </p:pic>
      <p:sp>
        <p:nvSpPr>
          <p:cNvPr id="53" name="Text 49"/>
          <p:cNvSpPr/>
          <p:nvPr/>
        </p:nvSpPr>
        <p:spPr>
          <a:xfrm>
            <a:off x="4557713" y="2943225"/>
            <a:ext cx="4414838" cy="1694520"/>
          </a:xfrm>
          <a:prstGeom prst="roundRect">
            <a:avLst>
              <a:gd name="adj" fmla="val 5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0"/>
          <p:cNvSpPr/>
          <p:nvPr/>
        </p:nvSpPr>
        <p:spPr>
          <a:xfrm>
            <a:off x="4572000" y="2943225"/>
            <a:ext cx="0" cy="169452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557713" y="2943225"/>
            <a:ext cx="4414838" cy="2168985"/>
          </a:xfrm>
          <a:prstGeom prst="rect">
            <a:avLst/>
          </a:prstGeom>
          <a:noFill/>
          <a:ln/>
        </p:spPr>
        <p:txBody>
          <a:bodyPr wrap="square" lIns="100013" tIns="100013" rIns="100013" bIns="100013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Setiap user download laporan kegiatannya sendiri (PDF/Excel). Berisi: daftar tugas, status, tanggal, link hasil produksi. Bukti pemenuhan SKP triwulan.</a:t>
            </a:r>
            <a:endParaRPr lang="en-US" sz="8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4694895"/>
            <a:ext cx="8801100" cy="277155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175022" y="4698467"/>
            <a:ext cx="8793956" cy="270011"/>
          </a:xfrm>
          <a:prstGeom prst="roundRect">
            <a:avLst>
              <a:gd name="adj" fmla="val 35276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171450" y="4694895"/>
            <a:ext cx="8636000" cy="354759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 jelas tugasnya. Pesan dari manager via description + catatan + Surat Tugas. Laporan SKP download mandiri per petugas.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200025"/>
            <a:ext cx="8743950" cy="3786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169" y="207169"/>
            <a:ext cx="8729663" cy="364331"/>
          </a:xfrm>
          <a:prstGeom prst="roundRect">
            <a:avLst>
              <a:gd name="adj" fmla="val 36601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0800" dir="16200000">
              <a:srgbClr val="D4AF37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7188" y="307181"/>
            <a:ext cx="75055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 Inovasi Integrasi: Pushakin Flows ↔ LIHUM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854129" y="289322"/>
            <a:ext cx="955544" cy="200025"/>
          </a:xfrm>
          <a:prstGeom prst="roundRect">
            <a:avLst>
              <a:gd name="adj" fmla="val 95238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876989" y="300038"/>
            <a:ext cx="9098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650081"/>
            <a:ext cx="3588435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Bagaimana Integrasi Bekerja?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0025" y="835819"/>
            <a:ext cx="3322625" cy="29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 gallery LIHUM di web resmi UIN Antasari. Publik dapat melihat dan mengunduh foto kegiatan secara mandiri 24/7.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0025" y="1158627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17884" y="1158627"/>
            <a:ext cx="0" cy="500063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1469" y="1300386"/>
            <a:ext cx="3225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Petugas upload foto ke PUBLIC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1469" y="1416807"/>
            <a:ext cx="3115456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yang boleh dibagi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00025" y="1715839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17884" y="1715839"/>
            <a:ext cx="0" cy="500063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469" y="1857598"/>
            <a:ext cx="3225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 Manager klik Publikasikan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1469" y="1974019"/>
            <a:ext cx="3115456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otomatis dibuat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0025" y="2273052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217884" y="2273052"/>
            <a:ext cx="0" cy="500063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1469" y="2414811"/>
            <a:ext cx="31154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③ Gallery live di LIHUM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1469" y="2531232"/>
            <a:ext cx="3115456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 lihat &amp; download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00025" y="2830264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217884" y="2830264"/>
            <a:ext cx="0" cy="500063"/>
          </a:xfrm>
          <a:prstGeom prst="line">
            <a:avLst/>
          </a:prstGeom>
          <a:noFill/>
          <a:ln w="35719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1469" y="2972023"/>
            <a:ext cx="31154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④ Publisher Web embed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1469" y="3088444"/>
            <a:ext cx="322518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Embed di uin-antasari.ac.id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07169" y="3408908"/>
            <a:ext cx="3308338" cy="264319"/>
          </a:xfrm>
          <a:prstGeom prst="roundRect">
            <a:avLst>
              <a:gd name="adj" fmla="val 36036"/>
            </a:avLst>
          </a:prstGeom>
          <a:solidFill>
            <a:srgbClr val="FFFFFF"/>
          </a:solidFill>
          <a:ln w="14288">
            <a:solidFill>
              <a:srgbClr val="DC2626"/>
            </a:solidFill>
            <a:prstDash val="solid"/>
          </a:ln>
          <a:effectLst>
            <a:outerShdw sx="100000" sy="100000" kx="0" ky="0" algn="bl" rotWithShape="0" blurRad="57150" dist="19050" dir="5400000">
              <a:srgbClr val="DC2626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00038" y="3487489"/>
            <a:ext cx="312260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Folder PRIVATE tidak pernah di-share. Hanya folder PUBLIC.</a:t>
            </a:r>
            <a:endParaRPr lang="en-US" sz="600" dirty="0"/>
          </a:p>
        </p:txBody>
      </p:sp>
      <p:pic>
        <p:nvPicPr>
          <p:cNvPr id="27" name="Image 1" descr="/tmp/h2p-fit-1791113056256-dl42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950" y="998116"/>
            <a:ext cx="5421213" cy="3105634"/>
          </a:xfrm>
          <a:prstGeom prst="rect">
            <a:avLst/>
          </a:prstGeom>
          <a:effectLst>
            <a:outerShdw sx="100000" sy="100000" kx="0" ky="0" algn="bl" rotWithShape="0" blurRad="266700" dist="50800" dir="16200000">
              <a:srgbClr val="D4AF37">
                <a:alpha val="55000"/>
              </a:srgbClr>
            </a:outerShdw>
          </a:effectLst>
        </p:spPr>
      </p:pic>
      <p:sp>
        <p:nvSpPr>
          <p:cNvPr id="28" name="Text 24"/>
          <p:cNvSpPr/>
          <p:nvPr/>
        </p:nvSpPr>
        <p:spPr>
          <a:xfrm>
            <a:off x="5477185" y="4394076"/>
            <a:ext cx="174063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 — Gallery live</a:t>
            </a:r>
            <a:endParaRPr lang="en-US" sz="619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666320"/>
            <a:ext cx="8743950" cy="27715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03597" y="4669892"/>
            <a:ext cx="8736806" cy="270011"/>
          </a:xfrm>
          <a:prstGeom prst="roundRect">
            <a:avLst>
              <a:gd name="adj" fmla="val 35276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00025" y="4666320"/>
            <a:ext cx="8636000" cy="354759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Publisher Web embed LIHUM di uin-antasari.ac.id. Workflow otomatis: upload → filter → publish → embed. Transparansi publik.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71450"/>
            <a:ext cx="8801100" cy="321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022" y="175022"/>
            <a:ext cx="8793956" cy="314325"/>
          </a:xfrm>
          <a:prstGeom prst="roundRect">
            <a:avLst>
              <a:gd name="adj" fmla="val 4242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1469" y="250031"/>
            <a:ext cx="682897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7164735" y="250031"/>
            <a:ext cx="1657796" cy="164306"/>
          </a:xfrm>
          <a:prstGeom prst="roundRect">
            <a:avLst>
              <a:gd name="adj" fmla="val 115942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164735" y="250031"/>
            <a:ext cx="1657796" cy="164306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Eksekusi 20% + 📊 Pengukuran 15%</a:t>
            </a:r>
            <a:endParaRPr lang="en-US" sz="619" dirty="0"/>
          </a:p>
        </p:txBody>
      </p:sp>
      <p:sp>
        <p:nvSpPr>
          <p:cNvPr id="7" name="Text 4"/>
          <p:cNvSpPr/>
          <p:nvPr/>
        </p:nvSpPr>
        <p:spPr>
          <a:xfrm>
            <a:off x="171450" y="550069"/>
            <a:ext cx="351161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Eksekusi — 5 Tahap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1450" y="714375"/>
            <a:ext cx="3344391" cy="13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mewadahi proses produksi dengan tracking real-time.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71450" y="878681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85738" y="878681"/>
            <a:ext cx="0" cy="195672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1450" y="878681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 — upload mentah (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71450" y="1110072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85738" y="1110072"/>
            <a:ext cx="0" cy="195672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1450" y="1110072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② 🟠 PASCA — editor edit (6 role)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71450" y="1341462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85738" y="1341462"/>
            <a:ext cx="0" cy="195672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1450" y="1341462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③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 — reviewer cek kualitas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1450" y="1572853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85738" y="1572853"/>
            <a:ext cx="0" cy="195672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1450" y="1572853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④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 — publisher ke saluran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71450" y="1804243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185738" y="1804243"/>
            <a:ext cx="0" cy="19567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1450" y="1804243"/>
            <a:ext cx="3344391" cy="273229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⑤ ✅ SELESAI — arsip + LIHUM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1450" y="2085640"/>
            <a:ext cx="351161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Pengukuran — 4 Level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71450" y="2249946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185738" y="2249946"/>
            <a:ext cx="0" cy="19567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1450" y="2249946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real-time (total, aktif, selesai)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71450" y="2481337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185738" y="2481337"/>
            <a:ext cx="0" cy="19567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71450" y="2481337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SKP per petugas (PDF/Excel)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71450" y="2712727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185738" y="2712727"/>
            <a:ext cx="0" cy="19567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71450" y="2712727"/>
            <a:ext cx="3344391" cy="20395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Tracker (transparansi publik)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71450" y="2944118"/>
            <a:ext cx="3344391" cy="195672"/>
          </a:xfrm>
          <a:prstGeom prst="roundRect">
            <a:avLst>
              <a:gd name="adj" fmla="val 38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4C2A85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185738" y="2944118"/>
            <a:ext cx="0" cy="19567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71450" y="2944118"/>
            <a:ext cx="3344391" cy="27322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LIHUM stats (foto + download count)</a:t>
            </a:r>
            <a:endParaRPr lang="en-US" sz="800" dirty="0"/>
          </a:p>
        </p:txBody>
      </p:sp>
      <p:pic>
        <p:nvPicPr>
          <p:cNvPr id="37" name="Image 1" descr="/tmp/h2p-fit-1791113056932-ucra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965" y="950454"/>
            <a:ext cx="5456374" cy="252241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4C2A85">
                <a:alpha val="18000"/>
              </a:srgbClr>
            </a:outerShdw>
          </a:effectLst>
        </p:spPr>
      </p:pic>
      <p:sp>
        <p:nvSpPr>
          <p:cNvPr id="38" name="Text 34"/>
          <p:cNvSpPr/>
          <p:nvPr/>
        </p:nvSpPr>
        <p:spPr>
          <a:xfrm>
            <a:off x="5215607" y="3515730"/>
            <a:ext cx="225697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— app.pushakin-flows.workers.dev/?public=tracker</a:t>
            </a:r>
            <a:endParaRPr lang="en-US" sz="6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4051957"/>
            <a:ext cx="8801100" cy="61436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75022" y="4055529"/>
            <a:ext cx="8793956" cy="607219"/>
          </a:xfrm>
          <a:prstGeom prst="roundRect">
            <a:avLst>
              <a:gd name="adj" fmla="val 21961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238699" y="4130539"/>
            <a:ext cx="78112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Kesimpulan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42938" y="4266270"/>
            <a:ext cx="7858125" cy="21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sistem yang mewadahi proses produksi bagi user DAN manajemen bagi Humas. Dari surat masuk → inisiasi proyek → produksi 16 role → publikasi → pengukuran SKP. Inovasi integrasi LIHUM: Publisher Web embed gallery di web resmi UIN Antasari.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2826358" y="4509157"/>
            <a:ext cx="34911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 | app.pushakin-flows.workers.dev</a:t>
            </a:r>
            <a:endParaRPr lang="en-US" sz="6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4723470"/>
            <a:ext cx="8801100" cy="2485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75022" y="4727042"/>
            <a:ext cx="8793956" cy="241436"/>
          </a:xfrm>
          <a:prstGeom prst="roundRect">
            <a:avLst>
              <a:gd name="adj" fmla="val 39451"/>
            </a:avLst>
          </a:prstGeom>
          <a:noFill/>
          <a:ln w="7144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171450" y="4723470"/>
            <a:ext cx="8636000" cy="318183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Eksekusi 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tahap terlacak, pengukuran 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level terbuka. Pushakin Flows = produksi user + manajemen Humas dalam satu sistem.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2026-10-04T11:24:17Z</dcterms:created>
  <dcterms:modified xsi:type="dcterms:W3CDTF">2026-10-04T11:24:17Z</dcterms:modified>
</cp:coreProperties>
</file>