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438" y="357188"/>
            <a:ext cx="4429125" cy="44291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57438" y="357188"/>
            <a:ext cx="4429125" cy="4429125"/>
          </a:xfrm>
          <a:prstGeom prst="ellipse">
            <a:avLst/>
          </a:prstGeom>
          <a:solidFill>
            <a:srgbClr val="D4AF37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200025" y="200025"/>
            <a:ext cx="1428750" cy="14287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00025" y="200025"/>
            <a:ext cx="1428750" cy="14287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7515225" y="200025"/>
            <a:ext cx="1428750" cy="142875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7515225" y="200025"/>
            <a:ext cx="1428750" cy="14287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200025" y="3514725"/>
            <a:ext cx="1428750" cy="142875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200025" y="3514725"/>
            <a:ext cx="1428750" cy="14287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>
            <a:alphaModFix amt="35000"/>
          </a:blip>
          <a:stretch>
            <a:fillRect/>
          </a:stretch>
        </p:blipFill>
        <p:spPr>
          <a:xfrm>
            <a:off x="7515225" y="3514725"/>
            <a:ext cx="1428750" cy="142875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7515225" y="3514725"/>
            <a:ext cx="1428750" cy="142875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5"/>
          <p:cNvSpPr/>
          <p:nvPr/>
        </p:nvSpPr>
        <p:spPr>
          <a:xfrm>
            <a:off x="1428750" y="785813"/>
            <a:ext cx="10715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D4AF37">
                    <a:alpha val="55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013" dirty="0"/>
          </a:p>
        </p:txBody>
      </p:sp>
      <p:sp>
        <p:nvSpPr>
          <p:cNvPr id="14" name="Text 6"/>
          <p:cNvSpPr/>
          <p:nvPr/>
        </p:nvSpPr>
        <p:spPr>
          <a:xfrm>
            <a:off x="7465219" y="1285875"/>
            <a:ext cx="10715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D4AF37">
                    <a:alpha val="55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013" dirty="0"/>
          </a:p>
        </p:txBody>
      </p:sp>
      <p:sp>
        <p:nvSpPr>
          <p:cNvPr id="15" name="Text 7"/>
          <p:cNvSpPr/>
          <p:nvPr/>
        </p:nvSpPr>
        <p:spPr>
          <a:xfrm>
            <a:off x="1714500" y="3557588"/>
            <a:ext cx="10715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D4AF37">
                    <a:alpha val="55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013" dirty="0"/>
          </a:p>
        </p:txBody>
      </p:sp>
      <p:sp>
        <p:nvSpPr>
          <p:cNvPr id="16" name="Text 8"/>
          <p:cNvSpPr/>
          <p:nvPr/>
        </p:nvSpPr>
        <p:spPr>
          <a:xfrm>
            <a:off x="7750969" y="4057650"/>
            <a:ext cx="10715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D4AF37">
                    <a:alpha val="55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013" dirty="0"/>
          </a:p>
        </p:txBody>
      </p:sp>
      <p:sp>
        <p:nvSpPr>
          <p:cNvPr id="17" name="Text 9"/>
          <p:cNvSpPr/>
          <p:nvPr/>
        </p:nvSpPr>
        <p:spPr>
          <a:xfrm>
            <a:off x="2794434" y="1617390"/>
            <a:ext cx="3555132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</a:t>
            </a:r>
            <a:endParaRPr lang="en-US" sz="4050" dirty="0"/>
          </a:p>
        </p:txBody>
      </p:sp>
      <p:sp>
        <p:nvSpPr>
          <p:cNvPr id="18" name="Text 10"/>
          <p:cNvSpPr/>
          <p:nvPr/>
        </p:nvSpPr>
        <p:spPr>
          <a:xfrm>
            <a:off x="274320" y="2231752"/>
            <a:ext cx="8595360" cy="518368"/>
          </a:xfrm>
          <a:prstGeom prst="rect">
            <a:avLst/>
          </a:prstGeom>
          <a:noFill/>
          <a:ln/>
          <a:effectLst>
            <a:outerShdw sx="100000" sy="100000" kx="0" ky="0" algn="bl" rotWithShape="0" blurRad="133350" dist="381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3600" b="1" spc="56" kern="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</a:t>
            </a:r>
            <a:endParaRPr lang="en-US" sz="3600" dirty="0"/>
          </a:p>
        </p:txBody>
      </p:sp>
      <p:sp>
        <p:nvSpPr>
          <p:cNvPr id="19" name="Text 11"/>
          <p:cNvSpPr/>
          <p:nvPr/>
        </p:nvSpPr>
        <p:spPr>
          <a:xfrm>
            <a:off x="2652229" y="2797448"/>
            <a:ext cx="3839542" cy="17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Sistem Manajemen Komunikasi Publik Inovatif</a:t>
            </a:r>
            <a:endParaRPr lang="en-US" sz="1125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9063" y="3090342"/>
            <a:ext cx="1285875" cy="21431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2794434" y="3240360"/>
            <a:ext cx="3555132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2000"/>
                  </a:srgbClr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Penghargaan Pengelolaan Komunikasi Publik Inovatif</a:t>
            </a:r>
            <a:endParaRPr lang="en-US" sz="900" dirty="0"/>
          </a:p>
        </p:txBody>
      </p:sp>
      <p:sp>
        <p:nvSpPr>
          <p:cNvPr id="22" name="Text 13"/>
          <p:cNvSpPr/>
          <p:nvPr/>
        </p:nvSpPr>
        <p:spPr>
          <a:xfrm>
            <a:off x="2652229" y="3411810"/>
            <a:ext cx="3839542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75000"/>
                  </a:srgbClr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Kementerian Agama Republik Indonesia</a:t>
            </a:r>
            <a:endParaRPr lang="en-US" sz="800" dirty="0"/>
          </a:p>
        </p:txBody>
      </p:sp>
      <p:sp>
        <p:nvSpPr>
          <p:cNvPr id="23" name="Text 14"/>
          <p:cNvSpPr/>
          <p:nvPr/>
        </p:nvSpPr>
        <p:spPr>
          <a:xfrm>
            <a:off x="3001714" y="4461272"/>
            <a:ext cx="3140459" cy="214313"/>
          </a:xfrm>
          <a:prstGeom prst="roundRect">
            <a:avLst>
              <a:gd name="adj" fmla="val 4439990"/>
            </a:avLst>
          </a:prstGeom>
          <a:solidFill>
            <a:srgbClr val="D4AF37">
              <a:alpha val="12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5"/>
          <p:cNvSpPr/>
          <p:nvPr/>
        </p:nvSpPr>
        <p:spPr>
          <a:xfrm>
            <a:off x="3133874" y="4507706"/>
            <a:ext cx="287614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Pusat Hubungan Masyarakat dan Keterbukaan Informasi</a:t>
            </a:r>
            <a:endParaRPr lang="en-US" sz="844" dirty="0"/>
          </a:p>
        </p:txBody>
      </p:sp>
      <p:sp>
        <p:nvSpPr>
          <p:cNvPr id="25" name="Text 16"/>
          <p:cNvSpPr/>
          <p:nvPr/>
        </p:nvSpPr>
        <p:spPr>
          <a:xfrm>
            <a:off x="0" y="4722019"/>
            <a:ext cx="8636000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UIN Antasari Banjarmasin —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B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228600"/>
            <a:ext cx="8572500" cy="5564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8613"/>
            <a:ext cx="8339328" cy="214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2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🏗</a:t>
            </a:r>
            <a:pPr algn="l" indent="0" marL="0">
              <a:lnSpc>
                <a:spcPts val="1682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️ Pushakin Flows — Ekosistem Terintegrasi</a:t>
            </a:r>
            <a:endParaRPr lang="en-US" sz="1463" dirty="0"/>
          </a:p>
        </p:txBody>
      </p:sp>
      <p:sp>
        <p:nvSpPr>
          <p:cNvPr id="5" name="Text 2"/>
          <p:cNvSpPr/>
          <p:nvPr/>
        </p:nvSpPr>
        <p:spPr>
          <a:xfrm>
            <a:off x="457200" y="570719"/>
            <a:ext cx="822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Modul + 1 Inovasi Integrasi = Komunikasi Publik End-to-End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85750" y="885044"/>
            <a:ext cx="486810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Modul Terintegrasi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85750" y="1070781"/>
            <a:ext cx="2282428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03609" y="1070781"/>
            <a:ext cx="0" cy="857250"/>
          </a:xfrm>
          <a:prstGeom prst="line">
            <a:avLst/>
          </a:prstGeom>
          <a:noFill/>
          <a:ln w="35719">
            <a:solidFill>
              <a:srgbClr val="14B8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7194" y="1149362"/>
            <a:ext cx="207525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8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📬</a:t>
            </a:r>
            <a:endParaRPr lang="en-US" sz="1238" dirty="0"/>
          </a:p>
        </p:txBody>
      </p:sp>
      <p:sp>
        <p:nvSpPr>
          <p:cNvPr id="10" name="Text 7"/>
          <p:cNvSpPr/>
          <p:nvPr/>
        </p:nvSpPr>
        <p:spPr>
          <a:xfrm>
            <a:off x="407194" y="1320812"/>
            <a:ext cx="2075259" cy="1078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Manajemen Surat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07194" y="1456097"/>
            <a:ext cx="2075259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Surat masuk/keluar, kategori, status, rekapitulasi + export PDF/Excel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639616" y="1070781"/>
            <a:ext cx="2282428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2657475" y="1070781"/>
            <a:ext cx="0" cy="857250"/>
          </a:xfrm>
          <a:prstGeom prst="line">
            <a:avLst/>
          </a:prstGeom>
          <a:noFill/>
          <a:ln w="35719">
            <a:solidFill>
              <a:srgbClr val="F9731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61059" y="1149362"/>
            <a:ext cx="207525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8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📅</a:t>
            </a:r>
            <a:endParaRPr lang="en-US" sz="1238" dirty="0"/>
          </a:p>
        </p:txBody>
      </p:sp>
      <p:sp>
        <p:nvSpPr>
          <p:cNvPr id="15" name="Text 12"/>
          <p:cNvSpPr/>
          <p:nvPr/>
        </p:nvSpPr>
        <p:spPr>
          <a:xfrm>
            <a:off x="2761059" y="1320812"/>
            <a:ext cx="2075259" cy="1078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Program Kegiatan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761059" y="1456097"/>
            <a:ext cx="2075259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Nomor kegiatan, jenis, perihal, dokumentasi + Drive folder</a:t>
            </a:r>
            <a:endParaRPr lang="en-US" sz="619" dirty="0"/>
          </a:p>
        </p:txBody>
      </p:sp>
      <p:sp>
        <p:nvSpPr>
          <p:cNvPr id="17" name="Text 14"/>
          <p:cNvSpPr/>
          <p:nvPr/>
        </p:nvSpPr>
        <p:spPr>
          <a:xfrm>
            <a:off x="285750" y="1999469"/>
            <a:ext cx="2282428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303609" y="1999469"/>
            <a:ext cx="0" cy="857250"/>
          </a:xfrm>
          <a:prstGeom prst="line">
            <a:avLst/>
          </a:prstGeom>
          <a:noFill/>
          <a:ln w="35719">
            <a:solidFill>
              <a:srgbClr val="EC489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7194" y="2078050"/>
            <a:ext cx="207525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8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📢</a:t>
            </a:r>
            <a:endParaRPr lang="en-US" sz="1238" dirty="0"/>
          </a:p>
        </p:txBody>
      </p:sp>
      <p:sp>
        <p:nvSpPr>
          <p:cNvPr id="20" name="Text 17"/>
          <p:cNvSpPr/>
          <p:nvPr/>
        </p:nvSpPr>
        <p:spPr>
          <a:xfrm>
            <a:off x="407194" y="2249500"/>
            <a:ext cx="2075259" cy="1078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Manajemen Konten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07194" y="2384785"/>
            <a:ext cx="2075259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Panduan tim, SOP, info flow produksi, broadcast pengumuman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639616" y="1999469"/>
            <a:ext cx="2282428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2657475" y="1999469"/>
            <a:ext cx="0" cy="857250"/>
          </a:xfrm>
          <a:prstGeom prst="line">
            <a:avLst/>
          </a:prstGeom>
          <a:noFill/>
          <a:ln w="35719">
            <a:solidFill>
              <a:srgbClr val="2563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61059" y="2078050"/>
            <a:ext cx="207525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8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📦</a:t>
            </a:r>
            <a:endParaRPr lang="en-US" sz="1238" dirty="0"/>
          </a:p>
        </p:txBody>
      </p:sp>
      <p:sp>
        <p:nvSpPr>
          <p:cNvPr id="25" name="Text 22"/>
          <p:cNvSpPr/>
          <p:nvPr/>
        </p:nvSpPr>
        <p:spPr>
          <a:xfrm>
            <a:off x="2761059" y="2249500"/>
            <a:ext cx="2075259" cy="1078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Manajemen Inventaris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761059" y="2384785"/>
            <a:ext cx="2075259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Barang, peminjaman, pembagian, history, rekap + export</a:t>
            </a:r>
            <a:endParaRPr lang="en-US" sz="619" dirty="0"/>
          </a:p>
        </p:txBody>
      </p:sp>
      <p:sp>
        <p:nvSpPr>
          <p:cNvPr id="27" name="Text 24"/>
          <p:cNvSpPr/>
          <p:nvPr/>
        </p:nvSpPr>
        <p:spPr>
          <a:xfrm>
            <a:off x="5075634" y="895759"/>
            <a:ext cx="3771900" cy="3672669"/>
          </a:xfrm>
          <a:prstGeom prst="roundRect">
            <a:avLst>
              <a:gd name="adj" fmla="val 4150"/>
            </a:avLst>
          </a:prstGeom>
          <a:solidFill>
            <a:srgbClr val="FFFFFF"/>
          </a:solidFill>
          <a:ln w="21431">
            <a:solidFill>
              <a:srgbClr val="D4AF37"/>
            </a:solidFill>
            <a:prstDash val="solid"/>
          </a:ln>
          <a:effectLst>
            <a:outerShdw sx="100000" sy="100000" kx="0" ky="0" algn="bl" rotWithShape="0" blurRad="227949" dist="50800" dir="16200000">
              <a:srgbClr val="D4AF37">
                <a:alpha val="8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163503" y="998344"/>
            <a:ext cx="898394" cy="152019"/>
          </a:xfrm>
          <a:prstGeom prst="roundRect">
            <a:avLst>
              <a:gd name="adj" fmla="val 6259398"/>
            </a:avLst>
          </a:prstGeom>
          <a:solidFill>
            <a:srgbClr val="D4AF37"/>
          </a:solidFill>
          <a:ln/>
          <a:effectLst>
            <a:outerShdw sx="100000" sy="100000" kx="0" ky="0" algn="bl" rotWithShape="0" blurRad="57150" dist="19050" dir="5400000">
              <a:srgbClr val="D4AF37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186363" y="1006487"/>
            <a:ext cx="8526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INOVASI KUNCI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186363" y="1185081"/>
            <a:ext cx="3550444" cy="1203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956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Integrasi LIHUM</a:t>
            </a:r>
            <a:endParaRPr lang="en-US" sz="956" dirty="0"/>
          </a:p>
        </p:txBody>
      </p:sp>
      <p:sp>
        <p:nvSpPr>
          <p:cNvPr id="31" name="Text 28"/>
          <p:cNvSpPr/>
          <p:nvPr/>
        </p:nvSpPr>
        <p:spPr>
          <a:xfrm>
            <a:off x="5186363" y="1332867"/>
            <a:ext cx="3550444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Lihat, Unduh Mandiri!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186363" y="1490030"/>
            <a:ext cx="3550444" cy="183952"/>
          </a:xfrm>
          <a:prstGeom prst="roundRect">
            <a:avLst>
              <a:gd name="adj" fmla="val 41424"/>
            </a:avLst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186363" y="1490030"/>
            <a:ext cx="3550444" cy="177951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>
            <a:normAutofit/>
          </a:bodyPr>
          <a:lstStyle/>
          <a:p>
            <a:pPr algn="l" indent="0" marL="0">
              <a:lnSpc>
                <a:spcPts val="77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📸</a:t>
            </a:r>
            <a:pPr algn="l" indent="0" marL="0">
              <a:lnSpc>
                <a:spcPts val="77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Petugas upload foto ke folder PUBLIC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186363" y="1695413"/>
            <a:ext cx="3550444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186363" y="1816857"/>
            <a:ext cx="3550444" cy="183952"/>
          </a:xfrm>
          <a:prstGeom prst="roundRect">
            <a:avLst>
              <a:gd name="adj" fmla="val 41424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186363" y="1816857"/>
            <a:ext cx="3550444" cy="177951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>
            <a:normAutofit/>
          </a:bodyPr>
          <a:lstStyle/>
          <a:p>
            <a:pPr algn="l" indent="0" marL="0">
              <a:lnSpc>
                <a:spcPts val="77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⚡ Manager klik Publikasikan ke LIHUM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186363" y="2022239"/>
            <a:ext cx="3550444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186363" y="2143683"/>
            <a:ext cx="3550444" cy="183952"/>
          </a:xfrm>
          <a:prstGeom prst="roundRect">
            <a:avLst>
              <a:gd name="adj" fmla="val 41424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5186363" y="2143683"/>
            <a:ext cx="3550444" cy="177951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>
            <a:normAutofit/>
          </a:bodyPr>
          <a:lstStyle/>
          <a:p>
            <a:pPr algn="l" indent="0" marL="0">
              <a:lnSpc>
                <a:spcPts val="77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🌐</a:t>
            </a:r>
            <a:pPr algn="l" indent="0" marL="0">
              <a:lnSpc>
                <a:spcPts val="77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Gallery live — publik bisa lihat &amp; unduh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186363" y="2349066"/>
            <a:ext cx="3550444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186363" y="2470510"/>
            <a:ext cx="3550444" cy="183952"/>
          </a:xfrm>
          <a:prstGeom prst="roundRect">
            <a:avLst>
              <a:gd name="adj" fmla="val 41424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5186363" y="2470510"/>
            <a:ext cx="3550444" cy="256863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/>
          <a:lstStyle/>
          <a:p>
            <a:pPr algn="l" indent="0" marL="0">
              <a:lnSpc>
                <a:spcPts val="77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pPr algn="l" indent="0" marL="0">
              <a:lnSpc>
                <a:spcPts val="77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Embed di web resmi uin-antasari.ac.id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189934" y="3811191"/>
            <a:ext cx="3543300" cy="535781"/>
          </a:xfrm>
          <a:prstGeom prst="roundRect">
            <a:avLst>
              <a:gd name="adj" fmla="val 14222"/>
            </a:avLst>
          </a:prstGeom>
          <a:solidFill>
            <a:srgbClr val="FAFAFA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4" name="Image 1" descr="/tmp/h2p-fit-1791074621520-bs2b2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506" y="3814763"/>
            <a:ext cx="3536156" cy="528638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5186363" y="4379119"/>
            <a:ext cx="36601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lihum.synclicen.workers.dev</a:t>
            </a:r>
            <a:endParaRPr lang="en-US" sz="800" dirty="0"/>
          </a:p>
        </p:txBody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4664869"/>
            <a:ext cx="8572500" cy="250031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285750" y="4664869"/>
            <a:ext cx="8572500" cy="250031"/>
          </a:xfrm>
          <a:prstGeom prst="rect">
            <a:avLst/>
          </a:prstGeom>
          <a:noFill/>
          <a:ln/>
        </p:spPr>
        <p:txBody>
          <a:bodyPr wrap="square" lIns="71438" tIns="71438" rIns="71438" bIns="71438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🎯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Workflow end-to-end: Perencanaan → Produksi → Publikasi → Pengukuran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B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228600"/>
            <a:ext cx="8572500" cy="4057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8613"/>
            <a:ext cx="8339328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🎯</a:t>
            </a:r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Objektif + ♟️ Strategi — </a:t>
            </a:r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40%</a:t>
            </a:r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Bobot Penilaian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92894" y="755786"/>
            <a:ext cx="4200525" cy="4151970"/>
          </a:xfrm>
          <a:prstGeom prst="roundRect">
            <a:avLst>
              <a:gd name="adj" fmla="val 3671"/>
            </a:avLst>
          </a:prstGeom>
          <a:solidFill>
            <a:srgbClr val="FFFFFF"/>
          </a:solidFill>
          <a:ln w="14288">
            <a:solidFill>
              <a:srgbClr val="D4AF37"/>
            </a:solidFill>
            <a:prstDash val="solid"/>
          </a:ln>
          <a:effectLst>
            <a:outerShdw sx="100000" sy="100000" kx="0" ky="0" algn="bl" rotWithShape="0" blurRad="114300" dist="2857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14338" y="877230"/>
            <a:ext cx="314325" cy="314325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76200" dist="19050" dir="5400000">
              <a:srgbClr val="D4AF37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14338" y="877230"/>
            <a:ext cx="35718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844" dirty="0"/>
          </a:p>
        </p:txBody>
      </p:sp>
      <p:sp>
        <p:nvSpPr>
          <p:cNvPr id="8" name="Text 5"/>
          <p:cNvSpPr/>
          <p:nvPr/>
        </p:nvSpPr>
        <p:spPr>
          <a:xfrm>
            <a:off x="814388" y="962955"/>
            <a:ext cx="355758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6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Objektif</a:t>
            </a:r>
            <a:endParaRPr lang="en-US" sz="956" dirty="0"/>
          </a:p>
        </p:txBody>
      </p:sp>
      <p:sp>
        <p:nvSpPr>
          <p:cNvPr id="9" name="Text 6"/>
          <p:cNvSpPr/>
          <p:nvPr/>
        </p:nvSpPr>
        <p:spPr>
          <a:xfrm>
            <a:off x="414338" y="1262993"/>
            <a:ext cx="3957638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i="1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Setiap kegiatan komunikasi terdokumentasi dalam 3 lapisan objektif yang terukur.</a:t>
            </a:r>
            <a:endParaRPr lang="en-US" sz="619" dirty="0"/>
          </a:p>
        </p:txBody>
      </p:sp>
      <p:sp>
        <p:nvSpPr>
          <p:cNvPr id="10" name="Text 7"/>
          <p:cNvSpPr/>
          <p:nvPr/>
        </p:nvSpPr>
        <p:spPr>
          <a:xfrm>
            <a:off x="414338" y="1458664"/>
            <a:ext cx="228600" cy="228600"/>
          </a:xfrm>
          <a:prstGeom prst="roundRect">
            <a:avLst>
              <a:gd name="adj" fmla="val 37500"/>
            </a:avLst>
          </a:prstGeom>
          <a:solidFill>
            <a:srgbClr val="4C2A85"/>
          </a:solidFill>
          <a:ln/>
          <a:effectLst>
            <a:outerShdw sx="100000" sy="100000" kx="0" ky="0" algn="bl" rotWithShape="0" blurRad="38100" dist="952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14338" y="1458664"/>
            <a:ext cx="228600" cy="228600"/>
          </a:xfrm>
          <a:prstGeom prst="rect">
            <a:avLst/>
          </a:prstGeom>
          <a:noFill/>
          <a:ln/>
        </p:spPr>
        <p:txBody>
          <a:bodyPr wrap="square" lIns="85725" tIns="57150" rIns="85725" bIns="57150" rtlCol="0" anchor="ctr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📬</a:t>
            </a:r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Surat Masuk — perihal, pengirim, kategori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14338" y="1737271"/>
            <a:ext cx="228600" cy="228600"/>
          </a:xfrm>
          <a:prstGeom prst="roundRect">
            <a:avLst>
              <a:gd name="adj" fmla="val 37500"/>
            </a:avLst>
          </a:prstGeom>
          <a:solidFill>
            <a:srgbClr val="D4AF37"/>
          </a:solidFill>
          <a:ln/>
          <a:effectLst>
            <a:outerShdw sx="100000" sy="100000" kx="0" ky="0" algn="bl" rotWithShape="0" blurRad="38100" dist="952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14338" y="1737271"/>
            <a:ext cx="228600" cy="228600"/>
          </a:xfrm>
          <a:prstGeom prst="rect">
            <a:avLst/>
          </a:prstGeom>
          <a:noFill/>
          <a:ln/>
        </p:spPr>
        <p:txBody>
          <a:bodyPr wrap="square" lIns="85725" tIns="57150" rIns="85725" bIns="57150" rtlCol="0" anchor="ctr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📅</a:t>
            </a:r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Program Kegiatan — nomor, jenis, deskripsi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14338" y="2015877"/>
            <a:ext cx="228600" cy="228600"/>
          </a:xfrm>
          <a:prstGeom prst="roundRect">
            <a:avLst>
              <a:gd name="adj" fmla="val 37500"/>
            </a:avLst>
          </a:prstGeom>
          <a:solidFill>
            <a:srgbClr val="14B8A6"/>
          </a:solidFill>
          <a:ln/>
          <a:effectLst>
            <a:outerShdw sx="100000" sy="100000" kx="0" ky="0" algn="bl" rotWithShape="0" blurRad="38100" dist="952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14338" y="2015877"/>
            <a:ext cx="228600" cy="228600"/>
          </a:xfrm>
          <a:prstGeom prst="rect">
            <a:avLst/>
          </a:prstGeom>
          <a:noFill/>
          <a:ln/>
        </p:spPr>
        <p:txBody>
          <a:bodyPr wrap="square" lIns="85725" tIns="57150" rIns="85725" bIns="57150" rtlCol="0" anchor="ctr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🏗</a:t>
            </a:r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️ Proyek + Surat Tugas — activityTypes, outputNeeds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17909" y="4118372"/>
            <a:ext cx="3950494" cy="550069"/>
          </a:xfrm>
          <a:prstGeom prst="roundRect">
            <a:avLst>
              <a:gd name="adj" fmla="val 13853"/>
            </a:avLst>
          </a:prstGeom>
          <a:solidFill>
            <a:srgbClr val="FAFAFA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1" descr="/tmp/h2p-fit-1791074621947-2h5y4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81" y="4121944"/>
            <a:ext cx="3943350" cy="54292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14338" y="4707731"/>
            <a:ext cx="395763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Menu Manajemen Surat → Program Kegiatan → Buat Proyek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650581" y="755786"/>
            <a:ext cx="4200525" cy="4151970"/>
          </a:xfrm>
          <a:prstGeom prst="roundRect">
            <a:avLst>
              <a:gd name="adj" fmla="val 3671"/>
            </a:avLst>
          </a:prstGeom>
          <a:solidFill>
            <a:srgbClr val="FFFFFF"/>
          </a:solidFill>
          <a:ln w="14288">
            <a:solidFill>
              <a:srgbClr val="4C2A85"/>
            </a:solidFill>
            <a:prstDash val="solid"/>
          </a:ln>
          <a:effectLst>
            <a:outerShdw sx="100000" sy="100000" kx="0" ky="0" algn="bl" rotWithShape="0" blurRad="114300" dist="2857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772025" y="877230"/>
            <a:ext cx="314325" cy="314325"/>
          </a:xfrm>
          <a:prstGeom prst="ellipse">
            <a:avLst/>
          </a:prstGeom>
          <a:solidFill>
            <a:srgbClr val="4C2A85"/>
          </a:solidFill>
          <a:ln/>
          <a:effectLst>
            <a:outerShdw sx="100000" sy="100000" kx="0" ky="0" algn="bl" rotWithShape="0" blurRad="76200" dist="19050" dir="5400000">
              <a:srgbClr val="4C2A85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772025" y="877230"/>
            <a:ext cx="35718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844" dirty="0"/>
          </a:p>
        </p:txBody>
      </p:sp>
      <p:sp>
        <p:nvSpPr>
          <p:cNvPr id="22" name="Text 18"/>
          <p:cNvSpPr/>
          <p:nvPr/>
        </p:nvSpPr>
        <p:spPr>
          <a:xfrm>
            <a:off x="5172075" y="962955"/>
            <a:ext cx="355758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6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Strategi</a:t>
            </a:r>
            <a:endParaRPr lang="en-US" sz="956" dirty="0"/>
          </a:p>
        </p:txBody>
      </p:sp>
      <p:sp>
        <p:nvSpPr>
          <p:cNvPr id="23" name="Text 19"/>
          <p:cNvSpPr/>
          <p:nvPr/>
        </p:nvSpPr>
        <p:spPr>
          <a:xfrm>
            <a:off x="4772025" y="1262993"/>
            <a:ext cx="3957638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i="1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Sistem mendukung 5 strategi untuk eksekusi komunikasi publik yang efektif.</a:t>
            </a:r>
            <a:endParaRPr lang="en-US" sz="619" dirty="0"/>
          </a:p>
        </p:txBody>
      </p:sp>
      <p:sp>
        <p:nvSpPr>
          <p:cNvPr id="24" name="Text 20"/>
          <p:cNvSpPr/>
          <p:nvPr/>
        </p:nvSpPr>
        <p:spPr>
          <a:xfrm>
            <a:off x="4772025" y="1458664"/>
            <a:ext cx="1950244" cy="202146"/>
          </a:xfrm>
          <a:prstGeom prst="roundRect">
            <a:avLst>
              <a:gd name="adj" fmla="val 28272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1"/>
          <p:cNvSpPr/>
          <p:nvPr/>
        </p:nvSpPr>
        <p:spPr>
          <a:xfrm>
            <a:off x="4782741" y="1458664"/>
            <a:ext cx="0" cy="202146"/>
          </a:xfrm>
          <a:prstGeom prst="line">
            <a:avLst/>
          </a:prstGeom>
          <a:noFill/>
          <a:ln w="21431">
            <a:solidFill>
              <a:srgbClr val="4C2A8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772025" y="1458664"/>
            <a:ext cx="1950244" cy="282269"/>
          </a:xfrm>
          <a:prstGeom prst="rect">
            <a:avLst/>
          </a:prstGeom>
          <a:noFill/>
          <a:ln/>
        </p:spPr>
        <p:txBody>
          <a:bodyPr wrap="square" lIns="64294" tIns="50006" rIns="64294" bIns="50006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👥</a:t>
            </a:r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Pemilihan petugas per role (</a:t>
            </a:r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</a:t>
            </a:r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role)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6779419" y="1458664"/>
            <a:ext cx="1950244" cy="202146"/>
          </a:xfrm>
          <a:prstGeom prst="roundRect">
            <a:avLst>
              <a:gd name="adj" fmla="val 28272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4"/>
          <p:cNvSpPr/>
          <p:nvPr/>
        </p:nvSpPr>
        <p:spPr>
          <a:xfrm>
            <a:off x="6790134" y="1458664"/>
            <a:ext cx="0" cy="202146"/>
          </a:xfrm>
          <a:prstGeom prst="line">
            <a:avLst/>
          </a:prstGeom>
          <a:noFill/>
          <a:ln w="21431">
            <a:solidFill>
              <a:srgbClr val="F9731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779419" y="1458664"/>
            <a:ext cx="1950244" cy="282269"/>
          </a:xfrm>
          <a:prstGeom prst="rect">
            <a:avLst/>
          </a:prstGeom>
          <a:noFill/>
          <a:ln/>
        </p:spPr>
        <p:txBody>
          <a:bodyPr wrap="square" lIns="64294" tIns="50006" rIns="64294" bIns="50006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⚡ Fast Track untuk kegiatan mendesak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772025" y="1717960"/>
            <a:ext cx="1950244" cy="202146"/>
          </a:xfrm>
          <a:prstGeom prst="roundRect">
            <a:avLst>
              <a:gd name="adj" fmla="val 28272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7"/>
          <p:cNvSpPr/>
          <p:nvPr/>
        </p:nvSpPr>
        <p:spPr>
          <a:xfrm>
            <a:off x="4782741" y="1717960"/>
            <a:ext cx="0" cy="202146"/>
          </a:xfrm>
          <a:prstGeom prst="line">
            <a:avLst/>
          </a:prstGeom>
          <a:noFill/>
          <a:ln w="21431">
            <a:solidFill>
              <a:srgbClr val="14B8A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772025" y="1717960"/>
            <a:ext cx="1950244" cy="282269"/>
          </a:xfrm>
          <a:prstGeom prst="rect">
            <a:avLst/>
          </a:prstGeom>
          <a:noFill/>
          <a:ln/>
        </p:spPr>
        <p:txBody>
          <a:bodyPr wrap="square" lIns="64294" tIns="50006" rIns="64294" bIns="50006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📅 Deteksi konflik jadwal (±3 jam)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6779419" y="1717960"/>
            <a:ext cx="1950244" cy="202146"/>
          </a:xfrm>
          <a:prstGeom prst="roundRect">
            <a:avLst>
              <a:gd name="adj" fmla="val 28272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0"/>
          <p:cNvSpPr/>
          <p:nvPr/>
        </p:nvSpPr>
        <p:spPr>
          <a:xfrm>
            <a:off x="6790134" y="1717960"/>
            <a:ext cx="0" cy="202146"/>
          </a:xfrm>
          <a:prstGeom prst="line">
            <a:avLst/>
          </a:prstGeom>
          <a:noFill/>
          <a:ln w="21431">
            <a:solidFill>
              <a:srgbClr val="2563EB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779419" y="1717960"/>
            <a:ext cx="1950244" cy="282269"/>
          </a:xfrm>
          <a:prstGeom prst="rect">
            <a:avLst/>
          </a:prstGeom>
          <a:noFill/>
          <a:ln/>
        </p:spPr>
        <p:txBody>
          <a:bodyPr wrap="square" lIns="64294" tIns="50006" rIns="64294" bIns="50006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📦</a:t>
            </a:r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Manajemen inventaris pendukung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4772025" y="1977256"/>
            <a:ext cx="3957638" cy="202146"/>
          </a:xfrm>
          <a:prstGeom prst="roundRect">
            <a:avLst>
              <a:gd name="adj" fmla="val 28272"/>
            </a:avLst>
          </a:prstGeom>
          <a:solidFill>
            <a:srgbClr val="FDF2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3"/>
          <p:cNvSpPr/>
          <p:nvPr/>
        </p:nvSpPr>
        <p:spPr>
          <a:xfrm>
            <a:off x="4782741" y="1977256"/>
            <a:ext cx="0" cy="202146"/>
          </a:xfrm>
          <a:prstGeom prst="line">
            <a:avLst/>
          </a:prstGeom>
          <a:noFill/>
          <a:ln w="21431">
            <a:solidFill>
              <a:srgbClr val="EC4899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772025" y="1977256"/>
            <a:ext cx="3957638" cy="282269"/>
          </a:xfrm>
          <a:prstGeom prst="rect">
            <a:avLst/>
          </a:prstGeom>
          <a:noFill/>
          <a:ln/>
        </p:spPr>
        <p:txBody>
          <a:bodyPr wrap="square" lIns="64294" tIns="50006" rIns="64294" bIns="50006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💬</a:t>
            </a:r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Reminder WA progress per petugas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775597" y="4118372"/>
            <a:ext cx="3950494" cy="550069"/>
          </a:xfrm>
          <a:prstGeom prst="roundRect">
            <a:avLst>
              <a:gd name="adj" fmla="val 13853"/>
            </a:avLst>
          </a:prstGeom>
          <a:solidFill>
            <a:srgbClr val="FAFAFA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0" name="Image 2" descr="/tmp/h2p-fit-1791074621946-pi7mnz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169" y="4121944"/>
            <a:ext cx="3943350" cy="542925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4772025" y="4707731"/>
            <a:ext cx="406736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Statistik &amp; Progress → Salin Reminder WA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B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228600"/>
            <a:ext cx="8572500" cy="4057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8613"/>
            <a:ext cx="8339328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📡</a:t>
            </a:r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Taktik/Saluran + </a:t>
            </a:r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💬</a:t>
            </a:r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Key Messages — </a:t>
            </a:r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25%</a:t>
            </a:r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Bobot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92894" y="755786"/>
            <a:ext cx="3779044" cy="4151970"/>
          </a:xfrm>
          <a:prstGeom prst="roundRect">
            <a:avLst>
              <a:gd name="adj" fmla="val 4033"/>
            </a:avLst>
          </a:prstGeom>
          <a:solidFill>
            <a:srgbClr val="FFFFFF"/>
          </a:solidFill>
          <a:ln w="14288">
            <a:solidFill>
              <a:srgbClr val="14B8A6"/>
            </a:solidFill>
            <a:prstDash val="solid"/>
          </a:ln>
          <a:effectLst>
            <a:outerShdw sx="100000" sy="100000" kx="0" ky="0" algn="bl" rotWithShape="0" blurRad="114300" dist="2857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14338" y="862943"/>
            <a:ext cx="314325" cy="314325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19050" dir="5400000">
              <a:srgbClr val="14B8A6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14338" y="862943"/>
            <a:ext cx="35718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10%</a:t>
            </a:r>
            <a:endParaRPr lang="en-US" sz="844" dirty="0"/>
          </a:p>
        </p:txBody>
      </p:sp>
      <p:sp>
        <p:nvSpPr>
          <p:cNvPr id="8" name="Text 5"/>
          <p:cNvSpPr/>
          <p:nvPr/>
        </p:nvSpPr>
        <p:spPr>
          <a:xfrm>
            <a:off x="814388" y="948668"/>
            <a:ext cx="3136106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6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Taktik &amp; Saluran</a:t>
            </a:r>
            <a:endParaRPr lang="en-US" sz="956" dirty="0"/>
          </a:p>
        </p:txBody>
      </p:sp>
      <p:sp>
        <p:nvSpPr>
          <p:cNvPr id="9" name="Text 6"/>
          <p:cNvSpPr/>
          <p:nvPr/>
        </p:nvSpPr>
        <p:spPr>
          <a:xfrm>
            <a:off x="414338" y="1248705"/>
            <a:ext cx="3536156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i="1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14+ saluran publikasi terintegrasi dengan role khusus per saluran.</a:t>
            </a:r>
            <a:endParaRPr lang="en-US" sz="619" dirty="0"/>
          </a:p>
        </p:txBody>
      </p:sp>
      <p:sp>
        <p:nvSpPr>
          <p:cNvPr id="10" name="Text 7"/>
          <p:cNvSpPr/>
          <p:nvPr/>
        </p:nvSpPr>
        <p:spPr>
          <a:xfrm>
            <a:off x="414338" y="1458664"/>
            <a:ext cx="3536156" cy="301181"/>
          </a:xfrm>
          <a:prstGeom prst="rect">
            <a:avLst/>
          </a:prstGeom>
          <a:noFill/>
          <a:ln/>
          <a:effectLst>
            <a:outerShdw sx="100000" sy="100000" kx="0" ky="0" algn="bl" rotWithShape="0" blurRad="57150" dist="19050" dir="5400000">
              <a:srgbClr val="D4AF37">
                <a:alpha val="30000"/>
              </a:srgbClr>
            </a:outerShdw>
          </a:effectLst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475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14+</a:t>
            </a:r>
            <a:endParaRPr lang="en-US" sz="2475" dirty="0"/>
          </a:p>
        </p:txBody>
      </p:sp>
      <p:sp>
        <p:nvSpPr>
          <p:cNvPr id="11" name="Text 8"/>
          <p:cNvSpPr/>
          <p:nvPr/>
        </p:nvSpPr>
        <p:spPr>
          <a:xfrm>
            <a:off x="414338" y="1787277"/>
            <a:ext cx="3536156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b="1" spc="56" kern="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SALURAN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14338" y="1963330"/>
            <a:ext cx="1750219" cy="180773"/>
          </a:xfrm>
          <a:prstGeom prst="roundRect">
            <a:avLst>
              <a:gd name="adj" fmla="val 31614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14338" y="1973014"/>
            <a:ext cx="1750219" cy="1614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🌐</a:t>
            </a:r>
            <a:pPr algn="ctr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Website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200275" y="1963330"/>
            <a:ext cx="1750219" cy="180773"/>
          </a:xfrm>
          <a:prstGeom prst="roundRect">
            <a:avLst>
              <a:gd name="adj" fmla="val 31614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200275" y="1973014"/>
            <a:ext cx="1750219" cy="1614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📱</a:t>
            </a:r>
            <a:pPr algn="ctr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Instagram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14338" y="2160453"/>
            <a:ext cx="1750219" cy="180773"/>
          </a:xfrm>
          <a:prstGeom prst="roundRect">
            <a:avLst>
              <a:gd name="adj" fmla="val 31614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14338" y="2170137"/>
            <a:ext cx="1750219" cy="1614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📘</a:t>
            </a:r>
            <a:pPr algn="ctr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Facebook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200275" y="2160453"/>
            <a:ext cx="1750219" cy="180773"/>
          </a:xfrm>
          <a:prstGeom prst="roundRect">
            <a:avLst>
              <a:gd name="adj" fmla="val 31614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200275" y="2170137"/>
            <a:ext cx="1750219" cy="1614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🐦</a:t>
            </a:r>
            <a:pPr algn="ctr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Twitter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14338" y="2357576"/>
            <a:ext cx="1750219" cy="180773"/>
          </a:xfrm>
          <a:prstGeom prst="roundRect">
            <a:avLst>
              <a:gd name="adj" fmla="val 31614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14338" y="2367260"/>
            <a:ext cx="1750219" cy="1614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▶️ YouTube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200275" y="2357576"/>
            <a:ext cx="1750219" cy="180773"/>
          </a:xfrm>
          <a:prstGeom prst="roundRect">
            <a:avLst>
              <a:gd name="adj" fmla="val 31614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2200275" y="2367260"/>
            <a:ext cx="1750219" cy="1614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🎵</a:t>
            </a:r>
            <a:pPr algn="ctr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TikTok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14338" y="2554699"/>
            <a:ext cx="1750219" cy="180773"/>
          </a:xfrm>
          <a:prstGeom prst="roundRect">
            <a:avLst>
              <a:gd name="adj" fmla="val 31614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14338" y="2564383"/>
            <a:ext cx="1750219" cy="1614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💼</a:t>
            </a:r>
            <a:pPr algn="ctr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LinkedIn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200275" y="2554699"/>
            <a:ext cx="1750219" cy="180773"/>
          </a:xfrm>
          <a:prstGeom prst="roundRect">
            <a:avLst>
              <a:gd name="adj" fmla="val 31614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2200275" y="2564383"/>
            <a:ext cx="1750219" cy="1614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📧</a:t>
            </a:r>
            <a:pPr algn="ctr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Newsletter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14338" y="2751822"/>
            <a:ext cx="1750219" cy="180773"/>
          </a:xfrm>
          <a:prstGeom prst="roundRect">
            <a:avLst>
              <a:gd name="adj" fmla="val 31614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14338" y="2761506"/>
            <a:ext cx="1750219" cy="1614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📰</a:t>
            </a:r>
            <a:pPr algn="ctr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Portal Berita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2200275" y="2751822"/>
            <a:ext cx="1750219" cy="180773"/>
          </a:xfrm>
          <a:prstGeom prst="roundRect">
            <a:avLst>
              <a:gd name="adj" fmla="val 31614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2200275" y="2761506"/>
            <a:ext cx="1750219" cy="1614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🎧</a:t>
            </a:r>
            <a:pPr algn="ctr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Podcast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14338" y="2948944"/>
            <a:ext cx="1750219" cy="180773"/>
          </a:xfrm>
          <a:prstGeom prst="roundRect">
            <a:avLst>
              <a:gd name="adj" fmla="val 31614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14338" y="2958629"/>
            <a:ext cx="1750219" cy="1614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📺</a:t>
            </a:r>
            <a:pPr algn="ctr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Streaming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2200275" y="2948944"/>
            <a:ext cx="1750219" cy="180773"/>
          </a:xfrm>
          <a:prstGeom prst="roundRect">
            <a:avLst>
              <a:gd name="adj" fmla="val 31614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2200275" y="2958629"/>
            <a:ext cx="1750219" cy="1614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📁</a:t>
            </a:r>
            <a:pPr algn="ctr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PUBLIC/PRIVATE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14338" y="3145210"/>
            <a:ext cx="1750219" cy="196775"/>
          </a:xfrm>
          <a:prstGeom prst="roundRect">
            <a:avLst>
              <a:gd name="adj" fmla="val 29043"/>
            </a:avLst>
          </a:prstGeom>
          <a:solidFill>
            <a:srgbClr val="FFF7ED"/>
          </a:solidFill>
          <a:ln w="7144">
            <a:solidFill>
              <a:srgbClr val="F97316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14338" y="3155752"/>
            <a:ext cx="1750219" cy="1756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09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📸</a:t>
            </a:r>
            <a:pPr algn="ctr" indent="0" marL="0">
              <a:lnSpc>
                <a:spcPts val="709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LIHUM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2200275" y="3145210"/>
            <a:ext cx="1750219" cy="196775"/>
          </a:xfrm>
          <a:prstGeom prst="roundRect">
            <a:avLst>
              <a:gd name="adj" fmla="val 29043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2200275" y="3155752"/>
            <a:ext cx="1750219" cy="1756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pPr algn="ctr" indent="0" marL="0">
              <a:lnSpc>
                <a:spcPts val="70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Lainnya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17909" y="4232672"/>
            <a:ext cx="3529013" cy="450056"/>
          </a:xfrm>
          <a:prstGeom prst="roundRect">
            <a:avLst>
              <a:gd name="adj" fmla="val 16931"/>
            </a:avLst>
          </a:prstGeom>
          <a:solidFill>
            <a:srgbClr val="FAFAFA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1" name="Image 1" descr="/tmp/h2p-fit-1791074622219-qj1g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81" y="4236244"/>
            <a:ext cx="3521869" cy="442913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414338" y="4722019"/>
            <a:ext cx="36458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lihum.synclicen.workers.dev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4229100" y="755786"/>
            <a:ext cx="4622006" cy="4151970"/>
          </a:xfrm>
          <a:prstGeom prst="roundRect">
            <a:avLst>
              <a:gd name="adj" fmla="val 3671"/>
            </a:avLst>
          </a:prstGeom>
          <a:solidFill>
            <a:srgbClr val="FFFFFF"/>
          </a:solidFill>
          <a:ln w="14288">
            <a:solidFill>
              <a:srgbClr val="EC4899"/>
            </a:solidFill>
            <a:prstDash val="solid"/>
          </a:ln>
          <a:effectLst>
            <a:outerShdw sx="100000" sy="100000" kx="0" ky="0" algn="bl" rotWithShape="0" blurRad="114300" dist="2857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4350544" y="862943"/>
            <a:ext cx="314325" cy="314325"/>
          </a:xfrm>
          <a:prstGeom prst="ellipse">
            <a:avLst/>
          </a:prstGeom>
          <a:solidFill>
            <a:srgbClr val="EC4899"/>
          </a:solidFill>
          <a:ln/>
          <a:effectLst>
            <a:outerShdw sx="100000" sy="100000" kx="0" ky="0" algn="bl" rotWithShape="0" blurRad="76200" dist="19050" dir="5400000">
              <a:srgbClr val="EC4899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4350544" y="862943"/>
            <a:ext cx="35718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</a:t>
            </a:r>
            <a:endParaRPr lang="en-US" sz="844" dirty="0"/>
          </a:p>
        </p:txBody>
      </p:sp>
      <p:sp>
        <p:nvSpPr>
          <p:cNvPr id="46" name="Text 42"/>
          <p:cNvSpPr/>
          <p:nvPr/>
        </p:nvSpPr>
        <p:spPr>
          <a:xfrm>
            <a:off x="4750594" y="948668"/>
            <a:ext cx="39790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6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Key Messages</a:t>
            </a:r>
            <a:endParaRPr lang="en-US" sz="956" dirty="0"/>
          </a:p>
        </p:txBody>
      </p:sp>
      <p:sp>
        <p:nvSpPr>
          <p:cNvPr id="47" name="Text 43"/>
          <p:cNvSpPr/>
          <p:nvPr/>
        </p:nvSpPr>
        <p:spPr>
          <a:xfrm>
            <a:off x="4350544" y="1248705"/>
            <a:ext cx="4379119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i="1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Pesan kunci dikomunikasikan ke tim melalui 3 level dokumentasi.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4350544" y="1430089"/>
            <a:ext cx="4379119" cy="221010"/>
          </a:xfrm>
          <a:prstGeom prst="roundRect">
            <a:avLst>
              <a:gd name="adj" fmla="val 38788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5"/>
          <p:cNvSpPr/>
          <p:nvPr/>
        </p:nvSpPr>
        <p:spPr>
          <a:xfrm>
            <a:off x="4368403" y="1430089"/>
            <a:ext cx="0" cy="221010"/>
          </a:xfrm>
          <a:prstGeom prst="line">
            <a:avLst/>
          </a:prstGeom>
          <a:noFill/>
          <a:ln w="35719">
            <a:solidFill>
              <a:srgbClr val="4C2A85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350544" y="1430089"/>
            <a:ext cx="4379119" cy="243584"/>
          </a:xfrm>
          <a:prstGeom prst="rect">
            <a:avLst/>
          </a:prstGeom>
          <a:noFill/>
          <a:ln/>
        </p:spPr>
        <p:txBody>
          <a:bodyPr wrap="square" lIns="85725" tIns="57150" rIns="85725" bIns="57150" rtlCol="0" anchor="t">
            <a:normAutofit/>
          </a:bodyPr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📝</a:t>
            </a:r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Description proyek — pesan utama kegiatan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4350544" y="1701105"/>
            <a:ext cx="4379119" cy="221010"/>
          </a:xfrm>
          <a:prstGeom prst="roundRect">
            <a:avLst>
              <a:gd name="adj" fmla="val 38788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48"/>
          <p:cNvSpPr/>
          <p:nvPr/>
        </p:nvSpPr>
        <p:spPr>
          <a:xfrm>
            <a:off x="4368403" y="1701105"/>
            <a:ext cx="0" cy="221010"/>
          </a:xfrm>
          <a:prstGeom prst="line">
            <a:avLst/>
          </a:prstGeom>
          <a:noFill/>
          <a:ln w="35719">
            <a:solidFill>
              <a:srgbClr val="D4AF37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350544" y="1701105"/>
            <a:ext cx="4379119" cy="243584"/>
          </a:xfrm>
          <a:prstGeom prst="rect">
            <a:avLst/>
          </a:prstGeom>
          <a:noFill/>
          <a:ln/>
        </p:spPr>
        <p:txBody>
          <a:bodyPr wrap="square" lIns="85725" tIns="57150" rIns="85725" bIns="57150" rtlCol="0" anchor="t">
            <a:normAutofit/>
          </a:bodyPr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🏷</a:t>
            </a:r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️ Custom activity — konteks &amp; jenis kegiatan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4350544" y="1972121"/>
            <a:ext cx="4379119" cy="221010"/>
          </a:xfrm>
          <a:prstGeom prst="roundRect">
            <a:avLst>
              <a:gd name="adj" fmla="val 38788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1"/>
          <p:cNvSpPr/>
          <p:nvPr/>
        </p:nvSpPr>
        <p:spPr>
          <a:xfrm>
            <a:off x="4368403" y="1972121"/>
            <a:ext cx="0" cy="221010"/>
          </a:xfrm>
          <a:prstGeom prst="line">
            <a:avLst/>
          </a:prstGeom>
          <a:noFill/>
          <a:ln w="35719">
            <a:solidFill>
              <a:srgbClr val="14B8A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4350544" y="1972121"/>
            <a:ext cx="4379119" cy="295192"/>
          </a:xfrm>
          <a:prstGeom prst="rect">
            <a:avLst/>
          </a:prstGeom>
          <a:noFill/>
          <a:ln/>
        </p:spPr>
        <p:txBody>
          <a:bodyPr wrap="square" lIns="85725" tIns="57150" rIns="85725" bIns="5715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📋</a:t>
            </a:r>
            <a:pPr algn="l" indent="0" marL="0">
              <a:lnSpc>
                <a:spcPts val="841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Catatan per task + Surat Tugas — instruksi ke petugas</a:t>
            </a:r>
            <a:endParaRPr lang="en-US" sz="800" dirty="0"/>
          </a:p>
        </p:txBody>
      </p:sp>
      <p:sp>
        <p:nvSpPr>
          <p:cNvPr id="57" name="Text 53"/>
          <p:cNvSpPr/>
          <p:nvPr/>
        </p:nvSpPr>
        <p:spPr>
          <a:xfrm>
            <a:off x="4354116" y="2303859"/>
            <a:ext cx="4371975" cy="226368"/>
          </a:xfrm>
          <a:prstGeom prst="roundRect">
            <a:avLst>
              <a:gd name="adj" fmla="val 33662"/>
            </a:avLst>
          </a:prstGeom>
          <a:solidFill>
            <a:srgbClr val="FDF2F8"/>
          </a:solidFill>
          <a:ln w="7144">
            <a:solidFill>
              <a:srgbClr val="EC4899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4"/>
          <p:cNvSpPr/>
          <p:nvPr/>
        </p:nvSpPr>
        <p:spPr>
          <a:xfrm>
            <a:off x="4350544" y="2300288"/>
            <a:ext cx="4379119" cy="341594"/>
          </a:xfrm>
          <a:prstGeom prst="rect">
            <a:avLst/>
          </a:prstGeom>
          <a:noFill/>
          <a:ln/>
        </p:spPr>
        <p:txBody>
          <a:bodyPr wrap="square" lIns="71438" tIns="57150" rIns="71438" bIns="57150" rtlCol="0" anchor="t"/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b="1" i="1" dirty="0">
                <a:solidFill>
                  <a:srgbClr val="EC489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Contoh:</a:t>
            </a:r>
            <a:pPr algn="l" indent="0" marL="0">
              <a:lnSpc>
                <a:spcPts val="827"/>
              </a:lnSpc>
              <a:buNone/>
            </a:pPr>
            <a:r>
              <a:rPr lang="en-US" sz="800" i="1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"Dokumentasi kegiatan Pendampingan APS LAMGAMA untuk publikasi internal dan eksternal"</a:t>
            </a:r>
            <a:endParaRPr lang="en-US" sz="800" dirty="0"/>
          </a:p>
        </p:txBody>
      </p:sp>
      <p:sp>
        <p:nvSpPr>
          <p:cNvPr id="59" name="Text 55"/>
          <p:cNvSpPr/>
          <p:nvPr/>
        </p:nvSpPr>
        <p:spPr>
          <a:xfrm>
            <a:off x="4354116" y="4232672"/>
            <a:ext cx="4371975" cy="450056"/>
          </a:xfrm>
          <a:prstGeom prst="roundRect">
            <a:avLst>
              <a:gd name="adj" fmla="val 16931"/>
            </a:avLst>
          </a:prstGeom>
          <a:solidFill>
            <a:srgbClr val="FAFAFA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0" name="Image 2" descr="/tmp/h2p-fit-1791074622221-2v2j7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688" y="4236244"/>
            <a:ext cx="4364831" cy="442913"/>
          </a:xfrm>
          <a:prstGeom prst="rect">
            <a:avLst/>
          </a:prstGeom>
        </p:spPr>
      </p:pic>
      <p:sp>
        <p:nvSpPr>
          <p:cNvPr id="61" name="Text 56"/>
          <p:cNvSpPr/>
          <p:nvPr/>
        </p:nvSpPr>
        <p:spPr>
          <a:xfrm>
            <a:off x="4350544" y="4722019"/>
            <a:ext cx="4488847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Form Buat Proyek → description field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B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228600"/>
            <a:ext cx="8572500" cy="5572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8613"/>
            <a:ext cx="357188" cy="357188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95250" dist="19050" dir="5400000">
              <a:srgbClr val="D4AF37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" y="328613"/>
            <a:ext cx="407194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14400" y="407194"/>
            <a:ext cx="7203753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⚡ Eksekusi — Kekuatan Utama Sistem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684554" y="399193"/>
            <a:ext cx="1002246" cy="216027"/>
          </a:xfrm>
          <a:prstGeom prst="roundRect">
            <a:avLst>
              <a:gd name="adj" fmla="val 4404762"/>
            </a:avLst>
          </a:prstGeom>
          <a:solidFill>
            <a:srgbClr val="D4AF37"/>
          </a:solidFill>
          <a:ln/>
          <a:effectLst>
            <a:outerShdw sx="100000" sy="100000" kx="0" ky="0" algn="bl" rotWithShape="0" blurRad="76200" dist="19050" dir="5400000">
              <a:srgbClr val="D4AF37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684554" y="410766"/>
            <a:ext cx="100224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SANGAT KUAT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85750" y="857250"/>
            <a:ext cx="85725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Workflow 5 tahap dengan 16 role, tracking real-time, folder Drive otomatis, dan 1-klik publikasi ke LIHUM.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85750" y="1057275"/>
            <a:ext cx="1668735" cy="1914525"/>
          </a:xfrm>
          <a:prstGeom prst="roundRect">
            <a:avLst>
              <a:gd name="adj" fmla="val 79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8575" dir="54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285750" y="1075134"/>
            <a:ext cx="1668735" cy="0"/>
          </a:xfrm>
          <a:prstGeom prst="line">
            <a:avLst/>
          </a:prstGeom>
          <a:noFill/>
          <a:ln w="35719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1475" y="1178719"/>
            <a:ext cx="214313" cy="214313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71475" y="1178719"/>
            <a:ext cx="2428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42938" y="1232520"/>
            <a:ext cx="1225823" cy="126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🔵</a:t>
            </a:r>
            <a:pPr algn="l" indent="0" marL="0">
              <a:lnSpc>
                <a:spcPts val="841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PRODUKSI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71475" y="1464469"/>
            <a:ext cx="149728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75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📷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371475" y="1757363"/>
            <a:ext cx="1587122" cy="289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Petugas upload mentah ke folder Drive per petugas.</a:t>
            </a:r>
            <a:endParaRPr lang="en-US" sz="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2024360"/>
            <a:ext cx="1497285" cy="71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1475" y="2074366"/>
            <a:ext cx="1497285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i="1" dirty="0">
                <a:solidFill>
                  <a:srgbClr val="6B65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role:</a:t>
            </a:r>
            <a:endParaRPr lang="en-US" sz="800" dirty="0"/>
          </a:p>
          <a:p>
            <a:pPr algn="l" indent="0" marL="0">
              <a:lnSpc>
                <a:spcPts val="759"/>
              </a:lnSpc>
              <a:buNone/>
            </a:pPr>
            <a:r>
              <a:rPr lang="en-US" sz="800" i="1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Reporter, Photographer, Content Creator, Graphic Designer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011635" y="1057275"/>
            <a:ext cx="1668735" cy="1914525"/>
          </a:xfrm>
          <a:prstGeom prst="roundRect">
            <a:avLst>
              <a:gd name="adj" fmla="val 79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8575" dir="54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6"/>
          <p:cNvSpPr/>
          <p:nvPr/>
        </p:nvSpPr>
        <p:spPr>
          <a:xfrm>
            <a:off x="2011635" y="1075134"/>
            <a:ext cx="1668735" cy="0"/>
          </a:xfrm>
          <a:prstGeom prst="line">
            <a:avLst/>
          </a:prstGeom>
          <a:noFill/>
          <a:ln w="35719">
            <a:solidFill>
              <a:srgbClr val="F9731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097360" y="1178719"/>
            <a:ext cx="214313" cy="214313"/>
          </a:xfrm>
          <a:prstGeom prst="ellipse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2097360" y="1178719"/>
            <a:ext cx="2428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2368823" y="1232520"/>
            <a:ext cx="1225823" cy="126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🟠</a:t>
            </a:r>
            <a:pPr algn="l" indent="0" marL="0">
              <a:lnSpc>
                <a:spcPts val="841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PASCA PRODUKSI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2097360" y="1464469"/>
            <a:ext cx="149728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75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🎬</a:t>
            </a:r>
            <a:endParaRPr lang="en-US" sz="1575" dirty="0"/>
          </a:p>
        </p:txBody>
      </p:sp>
      <p:sp>
        <p:nvSpPr>
          <p:cNvPr id="25" name="Text 21"/>
          <p:cNvSpPr/>
          <p:nvPr/>
        </p:nvSpPr>
        <p:spPr>
          <a:xfrm>
            <a:off x="2097360" y="1757363"/>
            <a:ext cx="1587122" cy="289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Editor edit hasil kerja mentah menjadi siap publish.</a:t>
            </a:r>
            <a:endParaRPr lang="en-US" sz="8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360" y="2024360"/>
            <a:ext cx="1497285" cy="71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2097360" y="2074366"/>
            <a:ext cx="1497285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i="1" dirty="0">
                <a:solidFill>
                  <a:srgbClr val="6B65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role:</a:t>
            </a:r>
            <a:endParaRPr lang="en-US" sz="800" dirty="0"/>
          </a:p>
          <a:p>
            <a:pPr algn="l" indent="0" marL="0">
              <a:lnSpc>
                <a:spcPts val="759"/>
              </a:lnSpc>
              <a:buNone/>
            </a:pPr>
            <a:r>
              <a:rPr lang="en-US" sz="800" i="1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Editor Video/Web/Foto/Template, Streaming, Podcast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3737521" y="1057275"/>
            <a:ext cx="1668847" cy="1914525"/>
          </a:xfrm>
          <a:prstGeom prst="roundRect">
            <a:avLst>
              <a:gd name="adj" fmla="val 79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8575" dir="54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4"/>
          <p:cNvSpPr/>
          <p:nvPr/>
        </p:nvSpPr>
        <p:spPr>
          <a:xfrm>
            <a:off x="3737521" y="1075134"/>
            <a:ext cx="1668847" cy="0"/>
          </a:xfrm>
          <a:prstGeom prst="line">
            <a:avLst/>
          </a:prstGeom>
          <a:noFill/>
          <a:ln w="35719">
            <a:solidFill>
              <a:srgbClr val="16A34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823246" y="1178719"/>
            <a:ext cx="214313" cy="214313"/>
          </a:xfrm>
          <a:prstGeom prst="ellipse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3823246" y="1178719"/>
            <a:ext cx="2428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4094708" y="1232520"/>
            <a:ext cx="1225934" cy="126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🟢</a:t>
            </a:r>
            <a:pPr algn="l" indent="0" marL="0">
              <a:lnSpc>
                <a:spcPts val="841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REVIEW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3823246" y="1464469"/>
            <a:ext cx="149739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75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✅</a:t>
            </a:r>
            <a:endParaRPr lang="en-US" sz="1575" dirty="0"/>
          </a:p>
        </p:txBody>
      </p:sp>
      <p:sp>
        <p:nvSpPr>
          <p:cNvPr id="34" name="Text 29"/>
          <p:cNvSpPr/>
          <p:nvPr/>
        </p:nvSpPr>
        <p:spPr>
          <a:xfrm>
            <a:off x="3823246" y="1757363"/>
            <a:ext cx="1587241" cy="289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Reviewer cek kualitas. Approve atau revisi dengan tracking real-time.</a:t>
            </a:r>
            <a:endParaRPr lang="en-US" sz="80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3246" y="2024360"/>
            <a:ext cx="1497397" cy="714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3823246" y="2074366"/>
            <a:ext cx="1617189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b="1" i="1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Role:</a:t>
            </a:r>
            <a:pPr algn="l" indent="0" marL="0">
              <a:lnSpc>
                <a:spcPts val="759"/>
              </a:lnSpc>
              <a:buNone/>
            </a:pPr>
            <a:r>
              <a:rPr lang="en-US" sz="600" i="1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Reviewer —&gt; feedback &amp; revisi tercatat</a:t>
            </a:r>
            <a:endParaRPr lang="en-US" sz="600" dirty="0"/>
          </a:p>
        </p:txBody>
      </p:sp>
      <p:sp>
        <p:nvSpPr>
          <p:cNvPr id="37" name="Text 31"/>
          <p:cNvSpPr/>
          <p:nvPr/>
        </p:nvSpPr>
        <p:spPr>
          <a:xfrm>
            <a:off x="5463518" y="1057275"/>
            <a:ext cx="1668735" cy="1914525"/>
          </a:xfrm>
          <a:prstGeom prst="roundRect">
            <a:avLst>
              <a:gd name="adj" fmla="val 79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8575" dir="54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2"/>
          <p:cNvSpPr/>
          <p:nvPr/>
        </p:nvSpPr>
        <p:spPr>
          <a:xfrm>
            <a:off x="5463518" y="1075134"/>
            <a:ext cx="1668735" cy="0"/>
          </a:xfrm>
          <a:prstGeom prst="line">
            <a:avLst/>
          </a:prstGeom>
          <a:noFill/>
          <a:ln w="35719">
            <a:solidFill>
              <a:srgbClr val="8B5CF6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549243" y="1178719"/>
            <a:ext cx="214313" cy="214313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5549243" y="1178719"/>
            <a:ext cx="2428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5820705" y="1232520"/>
            <a:ext cx="1225823" cy="126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🟣</a:t>
            </a:r>
            <a:pPr algn="l" indent="0" marL="0">
              <a:lnSpc>
                <a:spcPts val="841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PUBLIKASI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5549243" y="1464469"/>
            <a:ext cx="149728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75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📡</a:t>
            </a:r>
            <a:endParaRPr lang="en-US" sz="1575" dirty="0"/>
          </a:p>
        </p:txBody>
      </p:sp>
      <p:sp>
        <p:nvSpPr>
          <p:cNvPr id="43" name="Text 37"/>
          <p:cNvSpPr/>
          <p:nvPr/>
        </p:nvSpPr>
        <p:spPr>
          <a:xfrm>
            <a:off x="5549243" y="1757363"/>
            <a:ext cx="1587122" cy="289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Publisher publish ke 14+ saluran. Input link per platform.</a:t>
            </a:r>
            <a:endParaRPr lang="en-US" sz="800" dirty="0"/>
          </a:p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9243" y="2024360"/>
            <a:ext cx="1497285" cy="7144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549243" y="2074366"/>
            <a:ext cx="1617068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b="1" i="1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Role:</a:t>
            </a:r>
            <a:pPr algn="l" indent="0" marL="0">
              <a:lnSpc>
                <a:spcPts val="759"/>
              </a:lnSpc>
              <a:buNone/>
            </a:pPr>
            <a:r>
              <a:rPr lang="en-US" sz="600" i="1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Publisher —&gt; distribusi multi-saluran</a:t>
            </a:r>
            <a:endParaRPr lang="en-US" sz="600" dirty="0"/>
          </a:p>
        </p:txBody>
      </p:sp>
      <p:sp>
        <p:nvSpPr>
          <p:cNvPr id="46" name="Text 39"/>
          <p:cNvSpPr/>
          <p:nvPr/>
        </p:nvSpPr>
        <p:spPr>
          <a:xfrm>
            <a:off x="7189403" y="1057275"/>
            <a:ext cx="1668847" cy="1914525"/>
          </a:xfrm>
          <a:prstGeom prst="roundRect">
            <a:avLst>
              <a:gd name="adj" fmla="val 79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8575" dir="540000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0"/>
          <p:cNvSpPr/>
          <p:nvPr/>
        </p:nvSpPr>
        <p:spPr>
          <a:xfrm>
            <a:off x="7189403" y="1075134"/>
            <a:ext cx="1668847" cy="0"/>
          </a:xfrm>
          <a:prstGeom prst="line">
            <a:avLst/>
          </a:prstGeom>
          <a:noFill/>
          <a:ln w="35719">
            <a:solidFill>
              <a:srgbClr val="D4AF37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7275128" y="1178719"/>
            <a:ext cx="214313" cy="214313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7275128" y="1178719"/>
            <a:ext cx="2428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50" name="Text 43"/>
          <p:cNvSpPr/>
          <p:nvPr/>
        </p:nvSpPr>
        <p:spPr>
          <a:xfrm>
            <a:off x="7546591" y="1232520"/>
            <a:ext cx="1225934" cy="126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SELESAI</a:t>
            </a:r>
            <a:endParaRPr lang="en-US" sz="800" dirty="0"/>
          </a:p>
        </p:txBody>
      </p:sp>
      <p:sp>
        <p:nvSpPr>
          <p:cNvPr id="51" name="Text 44"/>
          <p:cNvSpPr/>
          <p:nvPr/>
        </p:nvSpPr>
        <p:spPr>
          <a:xfrm>
            <a:off x="7275128" y="1464469"/>
            <a:ext cx="149739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75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</a:t>
            </a:r>
            <a:endParaRPr lang="en-US" sz="1575" dirty="0"/>
          </a:p>
        </p:txBody>
      </p:sp>
      <p:sp>
        <p:nvSpPr>
          <p:cNvPr id="52" name="Text 45"/>
          <p:cNvSpPr/>
          <p:nvPr/>
        </p:nvSpPr>
        <p:spPr>
          <a:xfrm>
            <a:off x="7275128" y="1757363"/>
            <a:ext cx="1587241" cy="289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2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Project complete. Arsip dokumentasi + LIHUM gallery live.</a:t>
            </a:r>
            <a:endParaRPr lang="en-US" sz="800" dirty="0"/>
          </a:p>
        </p:txBody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5128" y="2024360"/>
            <a:ext cx="1497397" cy="7144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7275128" y="2074366"/>
            <a:ext cx="1617189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b="1" i="1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Auto:</a:t>
            </a:r>
            <a:pPr algn="l" indent="0" marL="0">
              <a:lnSpc>
                <a:spcPts val="759"/>
              </a:lnSpc>
              <a:buNone/>
            </a:pPr>
            <a:r>
              <a:rPr lang="en-US" sz="600" i="1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folder Drive + LIHUM gallery aktif</a:t>
            </a:r>
            <a:endParaRPr lang="en-US" sz="600" dirty="0"/>
          </a:p>
        </p:txBody>
      </p:sp>
      <p:sp>
        <p:nvSpPr>
          <p:cNvPr id="55" name="Text 47"/>
          <p:cNvSpPr/>
          <p:nvPr/>
        </p:nvSpPr>
        <p:spPr>
          <a:xfrm>
            <a:off x="292894" y="3078956"/>
            <a:ext cx="5129213" cy="1135856"/>
          </a:xfrm>
          <a:prstGeom prst="roundRect">
            <a:avLst>
              <a:gd name="adj" fmla="val 10063"/>
            </a:avLst>
          </a:prstGeom>
          <a:solidFill>
            <a:srgbClr val="FFFFFF"/>
          </a:solidFill>
          <a:ln w="14288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48"/>
          <p:cNvSpPr/>
          <p:nvPr/>
        </p:nvSpPr>
        <p:spPr>
          <a:xfrm>
            <a:off x="400050" y="3171825"/>
            <a:ext cx="5024628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🛠</a:t>
            </a:r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️ Fitur Pendukung Eksekusi</a:t>
            </a:r>
            <a:endParaRPr lang="en-US" sz="800" dirty="0"/>
          </a:p>
        </p:txBody>
      </p:sp>
      <p:sp>
        <p:nvSpPr>
          <p:cNvPr id="57" name="Text 49"/>
          <p:cNvSpPr/>
          <p:nvPr/>
        </p:nvSpPr>
        <p:spPr>
          <a:xfrm>
            <a:off x="400050" y="3336131"/>
            <a:ext cx="914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58" name="Text 50"/>
          <p:cNvSpPr/>
          <p:nvPr/>
        </p:nvSpPr>
        <p:spPr>
          <a:xfrm>
            <a:off x="507206" y="3336131"/>
            <a:ext cx="2300288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Folder Drive otomatis per proyek</a:t>
            </a:r>
            <a:endParaRPr lang="en-US" sz="800" dirty="0"/>
          </a:p>
        </p:txBody>
      </p:sp>
      <p:sp>
        <p:nvSpPr>
          <p:cNvPr id="59" name="Text 51"/>
          <p:cNvSpPr/>
          <p:nvPr/>
        </p:nvSpPr>
        <p:spPr>
          <a:xfrm>
            <a:off x="2907506" y="3336131"/>
            <a:ext cx="914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60" name="Text 52"/>
          <p:cNvSpPr/>
          <p:nvPr/>
        </p:nvSpPr>
        <p:spPr>
          <a:xfrm>
            <a:off x="3014663" y="3336131"/>
            <a:ext cx="2300288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Subfolder per petugas + output</a:t>
            </a:r>
            <a:endParaRPr lang="en-US" sz="800" dirty="0"/>
          </a:p>
        </p:txBody>
      </p:sp>
      <p:sp>
        <p:nvSpPr>
          <p:cNvPr id="61" name="Text 53"/>
          <p:cNvSpPr/>
          <p:nvPr/>
        </p:nvSpPr>
        <p:spPr>
          <a:xfrm>
            <a:off x="400050" y="3488941"/>
            <a:ext cx="914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507206" y="3488941"/>
            <a:ext cx="2300288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Dependency tracking (ETSM nunggu EFoto)</a:t>
            </a:r>
            <a:endParaRPr lang="en-US" sz="800" dirty="0"/>
          </a:p>
        </p:txBody>
      </p:sp>
      <p:sp>
        <p:nvSpPr>
          <p:cNvPr id="63" name="Text 55"/>
          <p:cNvSpPr/>
          <p:nvPr/>
        </p:nvSpPr>
        <p:spPr>
          <a:xfrm>
            <a:off x="2907506" y="3488941"/>
            <a:ext cx="914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64" name="Text 56"/>
          <p:cNvSpPr/>
          <p:nvPr/>
        </p:nvSpPr>
        <p:spPr>
          <a:xfrm>
            <a:off x="3014663" y="3488941"/>
            <a:ext cx="2300288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Auto-repair stuck projects</a:t>
            </a:r>
            <a:endParaRPr lang="en-US" sz="800" dirty="0"/>
          </a:p>
        </p:txBody>
      </p:sp>
      <p:sp>
        <p:nvSpPr>
          <p:cNvPr id="65" name="Text 57"/>
          <p:cNvSpPr/>
          <p:nvPr/>
        </p:nvSpPr>
        <p:spPr>
          <a:xfrm>
            <a:off x="400050" y="3641750"/>
            <a:ext cx="914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66" name="Text 58"/>
          <p:cNvSpPr/>
          <p:nvPr/>
        </p:nvSpPr>
        <p:spPr>
          <a:xfrm>
            <a:off x="507206" y="3641750"/>
            <a:ext cx="2300288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Upload chunked langsung ke Drive</a:t>
            </a:r>
            <a:endParaRPr lang="en-US" sz="800" dirty="0"/>
          </a:p>
        </p:txBody>
      </p:sp>
      <p:sp>
        <p:nvSpPr>
          <p:cNvPr id="67" name="Text 59"/>
          <p:cNvSpPr/>
          <p:nvPr/>
        </p:nvSpPr>
        <p:spPr>
          <a:xfrm>
            <a:off x="2907506" y="3641750"/>
            <a:ext cx="914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68" name="Text 60"/>
          <p:cNvSpPr/>
          <p:nvPr/>
        </p:nvSpPr>
        <p:spPr>
          <a:xfrm>
            <a:off x="3014663" y="3641750"/>
            <a:ext cx="2300288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1-klik publikasi ke LIHUM gallery</a:t>
            </a:r>
            <a:endParaRPr lang="en-US" sz="800" dirty="0"/>
          </a:p>
        </p:txBody>
      </p:sp>
      <p:sp>
        <p:nvSpPr>
          <p:cNvPr id="69" name="Text 61"/>
          <p:cNvSpPr/>
          <p:nvPr/>
        </p:nvSpPr>
        <p:spPr>
          <a:xfrm>
            <a:off x="5522119" y="3078956"/>
            <a:ext cx="3414713" cy="1135856"/>
          </a:xfrm>
          <a:prstGeom prst="roundRect">
            <a:avLst>
              <a:gd name="adj" fmla="val 10063"/>
            </a:avLst>
          </a:prstGeom>
          <a:solidFill>
            <a:srgbClr val="FFFFFF"/>
          </a:solidFill>
          <a:ln w="14288">
            <a:solidFill>
              <a:srgbClr val="D4AF37"/>
            </a:solidFill>
            <a:prstDash val="solid"/>
          </a:ln>
          <a:effectLst>
            <a:outerShdw sx="100000" sy="100000" kx="0" ky="0" algn="bl" rotWithShape="0" blurRad="114300" dist="50800" dir="16200000">
              <a:srgbClr val="D4AF37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0" name="Image 6" descr="/tmp/h2p-fit-1791074621231-h4na9v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0700" y="3157538"/>
            <a:ext cx="3257550" cy="857250"/>
          </a:xfrm>
          <a:prstGeom prst="rect">
            <a:avLst/>
          </a:prstGeom>
        </p:spPr>
      </p:pic>
      <p:sp>
        <p:nvSpPr>
          <p:cNvPr id="71" name="Text 62"/>
          <p:cNvSpPr/>
          <p:nvPr/>
        </p:nvSpPr>
        <p:spPr>
          <a:xfrm>
            <a:off x="5600700" y="4057650"/>
            <a:ext cx="325755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app.pushakin-flows.workers.dev/?public=tracker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B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228600"/>
            <a:ext cx="8572500" cy="5572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28613"/>
            <a:ext cx="357188" cy="357188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95250" dist="19050" dir="5400000">
              <a:srgbClr val="D4AF37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" y="328613"/>
            <a:ext cx="407194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14400" y="407194"/>
            <a:ext cx="788212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Pengukuran +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Bukti Integrasi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85750" y="857250"/>
            <a:ext cx="85725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Pengukuran hasil di 4 level: output, dokumentasi, transparansi, rekapitulasi + bukti integrasi LIHUM.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85750" y="1042988"/>
            <a:ext cx="5092065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📈 4 Level Pengukuran Hasil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85750" y="1214438"/>
            <a:ext cx="2321719" cy="115728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00038" y="1214438"/>
            <a:ext cx="0" cy="1157288"/>
          </a:xfrm>
          <a:prstGeom prst="line">
            <a:avLst/>
          </a:prstGeom>
          <a:noFill/>
          <a:ln w="28575">
            <a:solidFill>
              <a:srgbClr val="14B8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0050" y="1285875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📈</a:t>
            </a:r>
            <a:endParaRPr lang="en-US" sz="1013" dirty="0"/>
          </a:p>
        </p:txBody>
      </p:sp>
      <p:sp>
        <p:nvSpPr>
          <p:cNvPr id="12" name="Text 9"/>
          <p:cNvSpPr/>
          <p:nvPr/>
        </p:nvSpPr>
        <p:spPr>
          <a:xfrm>
            <a:off x="600075" y="1312999"/>
            <a:ext cx="1921669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Output — Statistik Real-time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00050" y="1471613"/>
            <a:ext cx="2121694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Total proyek, sedang berjalan, selesai. Filter waktu.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403622" y="1614488"/>
            <a:ext cx="2114550" cy="582216"/>
          </a:xfrm>
          <a:prstGeom prst="roundRect">
            <a:avLst>
              <a:gd name="adj" fmla="val 9816"/>
            </a:avLst>
          </a:prstGeom>
          <a:solidFill>
            <a:srgbClr val="FFFBF0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tmp/h2p-fit-1791074622248-0ggms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94" y="1618059"/>
            <a:ext cx="2107406" cy="5750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0050" y="2228850"/>
            <a:ext cx="212169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› Statistik &amp; Progress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678906" y="1214438"/>
            <a:ext cx="2321719" cy="115728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2693194" y="1214438"/>
            <a:ext cx="0" cy="1157288"/>
          </a:xfrm>
          <a:prstGeom prst="line">
            <a:avLst/>
          </a:prstGeom>
          <a:noFill/>
          <a:ln w="28575">
            <a:solidFill>
              <a:srgbClr val="F9731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793206" y="1285875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📄</a:t>
            </a:r>
            <a:endParaRPr lang="en-US" sz="1013" dirty="0"/>
          </a:p>
        </p:txBody>
      </p:sp>
      <p:sp>
        <p:nvSpPr>
          <p:cNvPr id="20" name="Text 16"/>
          <p:cNvSpPr/>
          <p:nvPr/>
        </p:nvSpPr>
        <p:spPr>
          <a:xfrm>
            <a:off x="2993231" y="1312999"/>
            <a:ext cx="1921669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Laporan SKP per Petugas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2793206" y="1471613"/>
            <a:ext cx="223142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Download PDF/Excel bukti kinerja triwulan.</a:t>
            </a:r>
            <a:endParaRPr lang="en-US" sz="600" dirty="0"/>
          </a:p>
        </p:txBody>
      </p:sp>
      <p:sp>
        <p:nvSpPr>
          <p:cNvPr id="22" name="Text 18"/>
          <p:cNvSpPr/>
          <p:nvPr/>
        </p:nvSpPr>
        <p:spPr>
          <a:xfrm>
            <a:off x="2796778" y="1614488"/>
            <a:ext cx="2114550" cy="582216"/>
          </a:xfrm>
          <a:prstGeom prst="roundRect">
            <a:avLst>
              <a:gd name="adj" fmla="val 9816"/>
            </a:avLst>
          </a:prstGeom>
          <a:solidFill>
            <a:srgbClr val="FFFBF0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2" descr="/tmp/h2p-fit-1791074622251-n2rch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350" y="1618059"/>
            <a:ext cx="2107406" cy="5750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793206" y="2228850"/>
            <a:ext cx="212169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› Laporan Kegiatan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285750" y="2443163"/>
            <a:ext cx="2321719" cy="115728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1"/>
          <p:cNvSpPr/>
          <p:nvPr/>
        </p:nvSpPr>
        <p:spPr>
          <a:xfrm>
            <a:off x="300038" y="2443163"/>
            <a:ext cx="0" cy="1157288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00050" y="251460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🔍</a:t>
            </a:r>
            <a:endParaRPr lang="en-US" sz="1013" dirty="0"/>
          </a:p>
        </p:txBody>
      </p:sp>
      <p:sp>
        <p:nvSpPr>
          <p:cNvPr id="28" name="Text 23"/>
          <p:cNvSpPr/>
          <p:nvPr/>
        </p:nvSpPr>
        <p:spPr>
          <a:xfrm>
            <a:off x="600075" y="2541724"/>
            <a:ext cx="1921669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Public Tracker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400050" y="2700338"/>
            <a:ext cx="223142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Transparansi publik real-time via link.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403622" y="2843213"/>
            <a:ext cx="2114550" cy="582216"/>
          </a:xfrm>
          <a:prstGeom prst="roundRect">
            <a:avLst>
              <a:gd name="adj" fmla="val 9816"/>
            </a:avLst>
          </a:prstGeom>
          <a:solidFill>
            <a:srgbClr val="FFFBF0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3" descr="/tmp/h2p-fit-1791074622253-wxqxi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194" y="2846784"/>
            <a:ext cx="2107406" cy="57507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00050" y="3457575"/>
            <a:ext cx="212169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› ?public=tracker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2678906" y="2443163"/>
            <a:ext cx="2321719" cy="115728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28"/>
          <p:cNvSpPr/>
          <p:nvPr/>
        </p:nvSpPr>
        <p:spPr>
          <a:xfrm>
            <a:off x="2693194" y="2443163"/>
            <a:ext cx="0" cy="1157288"/>
          </a:xfrm>
          <a:prstGeom prst="line">
            <a:avLst/>
          </a:prstGeom>
          <a:noFill/>
          <a:ln w="28575">
            <a:solidFill>
              <a:srgbClr val="4C2A85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2793206" y="251460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📑</a:t>
            </a:r>
            <a:endParaRPr lang="en-US" sz="1013" dirty="0"/>
          </a:p>
        </p:txBody>
      </p:sp>
      <p:sp>
        <p:nvSpPr>
          <p:cNvPr id="36" name="Text 30"/>
          <p:cNvSpPr/>
          <p:nvPr/>
        </p:nvSpPr>
        <p:spPr>
          <a:xfrm>
            <a:off x="2993231" y="2541724"/>
            <a:ext cx="1921669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Rekapitulasi Multi-modul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2793206" y="2700338"/>
            <a:ext cx="2231422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Surat, kegiatan, inventaris — export PDF/Excel.</a:t>
            </a:r>
            <a:endParaRPr lang="en-US" sz="600" dirty="0"/>
          </a:p>
        </p:txBody>
      </p:sp>
      <p:sp>
        <p:nvSpPr>
          <p:cNvPr id="38" name="Text 32"/>
          <p:cNvSpPr/>
          <p:nvPr/>
        </p:nvSpPr>
        <p:spPr>
          <a:xfrm>
            <a:off x="2796778" y="2843213"/>
            <a:ext cx="2114550" cy="582216"/>
          </a:xfrm>
          <a:prstGeom prst="roundRect">
            <a:avLst>
              <a:gd name="adj" fmla="val 9816"/>
            </a:avLst>
          </a:prstGeom>
          <a:solidFill>
            <a:srgbClr val="FFFBF0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4" descr="/tmp/h2p-fit-1791074622256-nhg6l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0350" y="2846784"/>
            <a:ext cx="2107406" cy="57507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2793206" y="3457575"/>
            <a:ext cx="212169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› Rekapitulasi</a:t>
            </a:r>
            <a:endParaRPr lang="en-US" sz="800" dirty="0"/>
          </a:p>
        </p:txBody>
      </p:sp>
      <p:sp>
        <p:nvSpPr>
          <p:cNvPr id="41" name="Text 34"/>
          <p:cNvSpPr/>
          <p:nvPr/>
        </p:nvSpPr>
        <p:spPr>
          <a:xfrm>
            <a:off x="5154216" y="1053703"/>
            <a:ext cx="3836194" cy="2427424"/>
          </a:xfrm>
          <a:prstGeom prst="roundRect">
            <a:avLst>
              <a:gd name="adj" fmla="val 6278"/>
            </a:avLst>
          </a:prstGeom>
          <a:solidFill>
            <a:srgbClr val="FFFFFF"/>
          </a:solidFill>
          <a:ln w="21431">
            <a:solidFill>
              <a:srgbClr val="D4AF37"/>
            </a:solidFill>
            <a:prstDash val="solid"/>
          </a:ln>
          <a:effectLst>
            <a:outerShdw sx="100000" sy="100000" kx="0" ky="0" algn="bl" rotWithShape="0" blurRad="244447" dist="50800" dir="16200000">
              <a:srgbClr val="D4AF37">
                <a:alpha val="7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5242084" y="1155430"/>
            <a:ext cx="1252456" cy="168021"/>
          </a:xfrm>
          <a:prstGeom prst="roundRect">
            <a:avLst>
              <a:gd name="adj" fmla="val 5663265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6"/>
          <p:cNvSpPr/>
          <p:nvPr/>
        </p:nvSpPr>
        <p:spPr>
          <a:xfrm>
            <a:off x="5264944" y="1164431"/>
            <a:ext cx="120673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INTEGRASI LIHUM — LIVE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5264944" y="1357313"/>
            <a:ext cx="3724465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Gallery Pendampingan APS LAMGAMA</a:t>
            </a:r>
            <a:endParaRPr lang="en-US" sz="800" dirty="0"/>
          </a:p>
        </p:txBody>
      </p:sp>
      <p:sp>
        <p:nvSpPr>
          <p:cNvPr id="45" name="Text 38"/>
          <p:cNvSpPr/>
          <p:nvPr/>
        </p:nvSpPr>
        <p:spPr>
          <a:xfrm>
            <a:off x="5268516" y="1538027"/>
            <a:ext cx="3607594" cy="1335881"/>
          </a:xfrm>
          <a:prstGeom prst="roundRect">
            <a:avLst>
              <a:gd name="adj" fmla="val 7130"/>
            </a:avLst>
          </a:prstGeom>
          <a:solidFill>
            <a:srgbClr val="FFFBF0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6" name="Image 5" descr="/tmp/h2p-fit-1791074622261-pe4lsv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2088" y="1541599"/>
            <a:ext cx="3600450" cy="1328738"/>
          </a:xfrm>
          <a:prstGeom prst="rect">
            <a:avLst/>
          </a:prstGeom>
        </p:spPr>
      </p:pic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4944" y="2934630"/>
            <a:ext cx="1176263" cy="192881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5264944" y="2923057"/>
            <a:ext cx="1176263" cy="216027"/>
          </a:xfrm>
          <a:prstGeom prst="roundRect">
            <a:avLst>
              <a:gd name="adj" fmla="val 35273"/>
            </a:avLst>
          </a:prstGeom>
          <a:noFill/>
          <a:ln w="7144">
            <a:solidFill>
              <a:srgbClr val="F4D77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0"/>
          <p:cNvSpPr/>
          <p:nvPr/>
        </p:nvSpPr>
        <p:spPr>
          <a:xfrm>
            <a:off x="5264944" y="2934630"/>
            <a:ext cx="11762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📸 1918 Foto</a:t>
            </a:r>
            <a:endParaRPr lang="en-US" sz="800" dirty="0"/>
          </a:p>
        </p:txBody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4069" y="2934630"/>
            <a:ext cx="1176375" cy="192881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6484069" y="2923057"/>
            <a:ext cx="1176375" cy="216027"/>
          </a:xfrm>
          <a:prstGeom prst="roundRect">
            <a:avLst>
              <a:gd name="adj" fmla="val 35273"/>
            </a:avLst>
          </a:prstGeom>
          <a:noFill/>
          <a:ln w="7144">
            <a:solidFill>
              <a:srgbClr val="F4D77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2"/>
          <p:cNvSpPr/>
          <p:nvPr/>
        </p:nvSpPr>
        <p:spPr>
          <a:xfrm>
            <a:off x="6484069" y="2934630"/>
            <a:ext cx="11763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🌐</a:t>
            </a:r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Live</a:t>
            </a:r>
            <a:endParaRPr lang="en-US" sz="800" dirty="0"/>
          </a:p>
        </p:txBody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03307" y="2934630"/>
            <a:ext cx="1176375" cy="192881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7703307" y="2923057"/>
            <a:ext cx="1176375" cy="216027"/>
          </a:xfrm>
          <a:prstGeom prst="roundRect">
            <a:avLst>
              <a:gd name="adj" fmla="val 35273"/>
            </a:avLst>
          </a:prstGeom>
          <a:noFill/>
          <a:ln w="7144">
            <a:solidFill>
              <a:srgbClr val="F4D77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4"/>
          <p:cNvSpPr/>
          <p:nvPr/>
        </p:nvSpPr>
        <p:spPr>
          <a:xfrm>
            <a:off x="7703307" y="2934630"/>
            <a:ext cx="11763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👥</a:t>
            </a:r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Publik</a:t>
            </a:r>
            <a:endParaRPr lang="en-US" sz="800" dirty="0"/>
          </a:p>
        </p:txBody>
      </p:sp>
      <p:sp>
        <p:nvSpPr>
          <p:cNvPr id="56" name="Text 45"/>
          <p:cNvSpPr/>
          <p:nvPr/>
        </p:nvSpPr>
        <p:spPr>
          <a:xfrm>
            <a:off x="5264944" y="3170374"/>
            <a:ext cx="3614738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lihum.synclicen.workers.dev/?gallery=pendampingan-aps-lamgama</a:t>
            </a:r>
            <a:endParaRPr lang="en-US" sz="800" dirty="0"/>
          </a:p>
        </p:txBody>
      </p:sp>
      <p:sp>
        <p:nvSpPr>
          <p:cNvPr id="57" name="Text 46"/>
          <p:cNvSpPr/>
          <p:nvPr/>
        </p:nvSpPr>
        <p:spPr>
          <a:xfrm>
            <a:off x="5264944" y="3291818"/>
            <a:ext cx="361473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Upload → Filter PUBLIC → Klik Publish → Gallery Live → Embed Web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1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85725"/>
            <a:ext cx="642938" cy="64293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5725" y="85725"/>
            <a:ext cx="642938" cy="64293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5338" y="85725"/>
            <a:ext cx="642938" cy="64293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415338" y="85725"/>
            <a:ext cx="642938" cy="64293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" y="4414838"/>
            <a:ext cx="642938" cy="642938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85725" y="4414838"/>
            <a:ext cx="642938" cy="64293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5338" y="4414838"/>
            <a:ext cx="642938" cy="642938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8415338" y="4414838"/>
            <a:ext cx="642938" cy="64293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4"/>
          <p:cNvSpPr/>
          <p:nvPr/>
        </p:nvSpPr>
        <p:spPr>
          <a:xfrm>
            <a:off x="342900" y="228600"/>
            <a:ext cx="845820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7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</a:t>
            </a:r>
            <a:endParaRPr lang="en-US" sz="2475" dirty="0"/>
          </a:p>
        </p:txBody>
      </p:sp>
      <p:sp>
        <p:nvSpPr>
          <p:cNvPr id="12" name="Text 5"/>
          <p:cNvSpPr/>
          <p:nvPr/>
        </p:nvSpPr>
        <p:spPr>
          <a:xfrm>
            <a:off x="342900" y="571500"/>
            <a:ext cx="8567928" cy="229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Ringkasan Pemenuhan 6 Indikator</a:t>
            </a:r>
            <a:endParaRPr lang="en-US" sz="1575" dirty="0"/>
          </a:p>
        </p:txBody>
      </p:sp>
      <p:sp>
        <p:nvSpPr>
          <p:cNvPr id="13" name="Text 6"/>
          <p:cNvSpPr/>
          <p:nvPr/>
        </p:nvSpPr>
        <p:spPr>
          <a:xfrm>
            <a:off x="342900" y="828675"/>
            <a:ext cx="8567928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 — 100% Indikator Terpenuhi</a:t>
            </a:r>
            <a:endParaRPr lang="en-US" sz="8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7625" y="1014413"/>
            <a:ext cx="1428750" cy="1428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357313" y="1128713"/>
            <a:ext cx="6429375" cy="1564481"/>
          </a:xfrm>
          <a:prstGeom prst="roundRect">
            <a:avLst>
              <a:gd name="adj" fmla="val 97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57313" y="1128713"/>
          <a:ext cx="6429375" cy="914400"/>
        </p:xfrm>
        <a:graphic>
          <a:graphicData uri="http://schemas.openxmlformats.org/drawingml/2006/table">
            <a:tbl>
              <a:tblPr/>
              <a:tblGrid>
                <a:gridCol w="2300064"/>
                <a:gridCol w="1202159"/>
                <a:gridCol w="29271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Indikator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14300" marT="114300" marB="571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Bobot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14300" marT="114300" marB="571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Status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14300" marT="114300" marB="571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🎯 Objektif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C2A85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20%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✅ Terpenuhi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♟️ Strategi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C2A85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20%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✅ Terpenuhi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📡 Taktik/Saluran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C2A85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10%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✅ Terpenuhi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💬 Key Messages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C2A85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15%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✅ Terpenuhi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⚡ Eksekusi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C2A85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20%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✅ ⭐ Sangat Kuat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📊 Pengukuran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C2A85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15%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✅ Terpenuhi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42863" marR="114300" marT="114300" marB="42863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TOTAL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14300" marT="114300" marB="571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100%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14300" marT="114300" marB="571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✅ Semua Terpenuhi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14300" marT="114300" marB="571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8"/>
          <p:cNvSpPr/>
          <p:nvPr/>
        </p:nvSpPr>
        <p:spPr>
          <a:xfrm>
            <a:off x="1368028" y="2789634"/>
            <a:ext cx="6407944" cy="591369"/>
          </a:xfrm>
          <a:prstGeom prst="roundRect">
            <a:avLst>
              <a:gd name="adj" fmla="val 25771"/>
            </a:avLst>
          </a:prstGeom>
          <a:solidFill>
            <a:srgbClr val="FFFFFF"/>
          </a:solidFill>
          <a:ln w="21431">
            <a:solidFill>
              <a:srgbClr val="D4AF37"/>
            </a:solidFill>
            <a:prstDash val="solid"/>
          </a:ln>
          <a:effectLst>
            <a:outerShdw sx="100000" sy="100000" kx="0" ky="0" algn="bl" rotWithShape="0" blurRad="133350" dist="50800" dir="16200000">
              <a:srgbClr val="D4AF37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9"/>
          <p:cNvSpPr/>
          <p:nvPr/>
        </p:nvSpPr>
        <p:spPr>
          <a:xfrm>
            <a:off x="1493044" y="2886075"/>
            <a:ext cx="615791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Key Innovation</a:t>
            </a:r>
            <a:endParaRPr lang="en-US" sz="800" dirty="0"/>
          </a:p>
        </p:txBody>
      </p:sp>
      <p:sp>
        <p:nvSpPr>
          <p:cNvPr id="19" name="Text 10"/>
          <p:cNvSpPr/>
          <p:nvPr/>
        </p:nvSpPr>
        <p:spPr>
          <a:xfrm>
            <a:off x="1493044" y="3036094"/>
            <a:ext cx="914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20" name="Text 11"/>
          <p:cNvSpPr/>
          <p:nvPr/>
        </p:nvSpPr>
        <p:spPr>
          <a:xfrm>
            <a:off x="1600200" y="3036094"/>
            <a:ext cx="2907506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Integrasi Pushakin ↔ LIHUM = workflow end-to-end otomatis</a:t>
            </a:r>
            <a:endParaRPr lang="en-US" sz="619" dirty="0"/>
          </a:p>
        </p:txBody>
      </p:sp>
      <p:sp>
        <p:nvSpPr>
          <p:cNvPr id="21" name="Text 12"/>
          <p:cNvSpPr/>
          <p:nvPr/>
        </p:nvSpPr>
        <p:spPr>
          <a:xfrm>
            <a:off x="4636294" y="3036094"/>
            <a:ext cx="91440" cy="153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22" name="Text 13"/>
          <p:cNvSpPr/>
          <p:nvPr/>
        </p:nvSpPr>
        <p:spPr>
          <a:xfrm>
            <a:off x="4743450" y="3036094"/>
            <a:ext cx="2907506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Folder PUBLIC/PRIVATE = filter keamanan distribusi konten</a:t>
            </a:r>
            <a:endParaRPr lang="en-US" sz="619" dirty="0"/>
          </a:p>
        </p:txBody>
      </p:sp>
      <p:sp>
        <p:nvSpPr>
          <p:cNvPr id="23" name="Text 14"/>
          <p:cNvSpPr/>
          <p:nvPr/>
        </p:nvSpPr>
        <p:spPr>
          <a:xfrm>
            <a:off x="1493044" y="3174616"/>
            <a:ext cx="91440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24" name="Text 15"/>
          <p:cNvSpPr/>
          <p:nvPr/>
        </p:nvSpPr>
        <p:spPr>
          <a:xfrm>
            <a:off x="1600200" y="3174616"/>
            <a:ext cx="2907506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Laporan SKP per petugas = bukti kinerja terstruktur</a:t>
            </a:r>
            <a:endParaRPr lang="en-US" sz="800" dirty="0"/>
          </a:p>
        </p:txBody>
      </p:sp>
      <p:sp>
        <p:nvSpPr>
          <p:cNvPr id="25" name="Text 16"/>
          <p:cNvSpPr/>
          <p:nvPr/>
        </p:nvSpPr>
        <p:spPr>
          <a:xfrm>
            <a:off x="4636294" y="3174616"/>
            <a:ext cx="91440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26" name="Text 17"/>
          <p:cNvSpPr/>
          <p:nvPr/>
        </p:nvSpPr>
        <p:spPr>
          <a:xfrm>
            <a:off x="4743450" y="3174616"/>
            <a:ext cx="2907506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Public Tracker = transparansi publik real-time</a:t>
            </a:r>
            <a:endParaRPr lang="en-US" sz="800" dirty="0"/>
          </a:p>
        </p:txBody>
      </p:sp>
      <p:sp>
        <p:nvSpPr>
          <p:cNvPr id="27" name="Text 18"/>
          <p:cNvSpPr/>
          <p:nvPr/>
        </p:nvSpPr>
        <p:spPr>
          <a:xfrm>
            <a:off x="342900" y="3463156"/>
            <a:ext cx="8458200" cy="122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 — ekosistem komunikasi publik inovatif yang terintegrasi end-to-end</a:t>
            </a:r>
            <a:endParaRPr lang="en-US" sz="800" dirty="0"/>
          </a:p>
        </p:txBody>
      </p:sp>
      <p:sp>
        <p:nvSpPr>
          <p:cNvPr id="28" name="Text 19"/>
          <p:cNvSpPr/>
          <p:nvPr/>
        </p:nvSpPr>
        <p:spPr>
          <a:xfrm>
            <a:off x="342900" y="3613175"/>
            <a:ext cx="84582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Pusat Humas dan Keterbukaan Informasi | UIN Antasari Banjarmasin</a:t>
            </a:r>
            <a:endParaRPr lang="en-US" sz="800" dirty="0"/>
          </a:p>
          <a:p>
            <a:pPr algn="ctr" indent="0" marL="0">
              <a:lnSpc>
                <a:spcPts val="788"/>
              </a:lnSpc>
              <a:buNone/>
            </a:pPr>
            <a:r>
              <a:rPr lang="en-US" sz="800" b="1" dirty="0">
                <a:solidFill>
                  <a:srgbClr val="F4D77A">
                    <a:alpha val="70000"/>
                  </a:srgbClr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app.pushakin-flows.workers.dev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2925"/>
          </a:xfrm>
          <a:prstGeom prst="rect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100013"/>
            <a:ext cx="342900" cy="342900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2900" y="100013"/>
            <a:ext cx="4000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</a:t>
            </a:r>
            <a:endParaRPr lang="en-US" sz="1013" dirty="0"/>
          </a:p>
        </p:txBody>
      </p:sp>
      <p:sp>
        <p:nvSpPr>
          <p:cNvPr id="5" name="Text 3"/>
          <p:cNvSpPr/>
          <p:nvPr/>
        </p:nvSpPr>
        <p:spPr>
          <a:xfrm>
            <a:off x="800100" y="160734"/>
            <a:ext cx="7693819" cy="239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63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Pengukuran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8551069" y="153591"/>
            <a:ext cx="25003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75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346472" y="703659"/>
            <a:ext cx="4164806" cy="1921669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2857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4344" y="807244"/>
            <a:ext cx="192881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38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📈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728663" y="842963"/>
            <a:ext cx="366474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Output — Statistik Real-time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64344" y="1035844"/>
            <a:ext cx="3929063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Dashboard: Total proyek, Sedang berjalan, Selesai. Filter waktu: hari/minggu/bulan/tahun.</a:t>
            </a:r>
            <a:endParaRPr lang="en-US" sz="619" dirty="0"/>
          </a:p>
        </p:txBody>
      </p:sp>
      <p:pic>
        <p:nvPicPr>
          <p:cNvPr id="11" name="Image 0" descr="/tmp/h2p-fit-1791074621262-55lbx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9444" y="1446386"/>
            <a:ext cx="1258863" cy="71426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64344" y="2443163"/>
            <a:ext cx="392906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Statistik &amp; Progress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632722" y="703659"/>
            <a:ext cx="4164806" cy="1921669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2857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750594" y="807244"/>
            <a:ext cx="192881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38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📄</a:t>
            </a:r>
            <a:endParaRPr lang="en-US" sz="1238" dirty="0"/>
          </a:p>
        </p:txBody>
      </p:sp>
      <p:sp>
        <p:nvSpPr>
          <p:cNvPr id="15" name="Text 12"/>
          <p:cNvSpPr/>
          <p:nvPr/>
        </p:nvSpPr>
        <p:spPr>
          <a:xfrm>
            <a:off x="5014913" y="842963"/>
            <a:ext cx="366474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Dokumentasi — Laporan SKP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750594" y="1035844"/>
            <a:ext cx="3929063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Setiap user download laporan kegiatannya (PDF). Manager export rekap (PDF/Excel). Bukti kinerja triwulan.</a:t>
            </a:r>
            <a:endParaRPr lang="en-US" sz="619" dirty="0"/>
          </a:p>
        </p:txBody>
      </p:sp>
      <p:pic>
        <p:nvPicPr>
          <p:cNvPr id="17" name="Image 1" descr="/tmp/h2p-fit-1791074621264-7vv2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694" y="1446386"/>
            <a:ext cx="1258863" cy="71426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750594" y="2443163"/>
            <a:ext cx="392906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Laporan Kegiatan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346472" y="2746772"/>
            <a:ext cx="4164806" cy="1921669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2857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64344" y="2850356"/>
            <a:ext cx="192881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38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🔍</a:t>
            </a:r>
            <a:endParaRPr lang="en-US" sz="1238" dirty="0"/>
          </a:p>
        </p:txBody>
      </p:sp>
      <p:sp>
        <p:nvSpPr>
          <p:cNvPr id="21" name="Text 17"/>
          <p:cNvSpPr/>
          <p:nvPr/>
        </p:nvSpPr>
        <p:spPr>
          <a:xfrm>
            <a:off x="728663" y="2886075"/>
            <a:ext cx="366474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Transparansi — Public Tracker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464344" y="3078956"/>
            <a:ext cx="3929063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Link publik untuk pantau progress real-time. Bisa dibagi ke stakeholder eksternal.</a:t>
            </a:r>
            <a:endParaRPr lang="en-US" sz="619" dirty="0"/>
          </a:p>
        </p:txBody>
      </p:sp>
      <p:pic>
        <p:nvPicPr>
          <p:cNvPr id="23" name="Image 2" descr="/tmp/h2p-fit-1791074621265-r8dzu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444" y="3489499"/>
            <a:ext cx="1258863" cy="71426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64344" y="4486275"/>
            <a:ext cx="392906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app.pushakin-flows.workers.dev/?public=tracker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4632722" y="2746772"/>
            <a:ext cx="4164806" cy="1921669"/>
          </a:xfrm>
          <a:prstGeom prst="roundRect">
            <a:avLst>
              <a:gd name="adj" fmla="val 4957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2857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4750594" y="2850356"/>
            <a:ext cx="192881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38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📑</a:t>
            </a:r>
            <a:endParaRPr lang="en-US" sz="1238" dirty="0"/>
          </a:p>
        </p:txBody>
      </p:sp>
      <p:sp>
        <p:nvSpPr>
          <p:cNvPr id="27" name="Text 22"/>
          <p:cNvSpPr/>
          <p:nvPr/>
        </p:nvSpPr>
        <p:spPr>
          <a:xfrm>
            <a:off x="5014913" y="2886075"/>
            <a:ext cx="366474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Rekapitulasi — Multi-modul Export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4750594" y="3078956"/>
            <a:ext cx="3929063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Surat: rekap masuk/keluar. Kegiatan: rekap + filter. Inventaris: stok + per-kategori. Semua export PDF/Excel.</a:t>
            </a:r>
            <a:endParaRPr lang="en-US" sz="619" dirty="0"/>
          </a:p>
        </p:txBody>
      </p:sp>
      <p:pic>
        <p:nvPicPr>
          <p:cNvPr id="29" name="Image 3" descr="/tmp/h2p-fit-1791074621267-ktxc2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5694" y="3489499"/>
            <a:ext cx="1258863" cy="71426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750594" y="4486275"/>
            <a:ext cx="392906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Menu Rekapitulasi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50056"/>
          </a:xfrm>
          <a:prstGeom prst="rect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439341"/>
            <a:ext cx="9144000" cy="0"/>
          </a:xfrm>
          <a:prstGeom prst="line">
            <a:avLst/>
          </a:prstGeom>
          <a:noFill/>
          <a:ln w="21431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10300"/>
            <a:ext cx="1118175" cy="208026"/>
          </a:xfrm>
          <a:prstGeom prst="roundRect">
            <a:avLst>
              <a:gd name="adj" fmla="val 4574176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2900" y="121444"/>
            <a:ext cx="107245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68" kern="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★ INOVASI KUNCI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43943" y="114300"/>
            <a:ext cx="609004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spc="-17" kern="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Integrasi LIHUM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698284" y="146447"/>
            <a:ext cx="110281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96" dirty="0">
                <a:solidFill>
                  <a:srgbClr val="FFFFFF">
                    <a:alpha val="85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pPr algn="l" indent="0" marL="0">
              <a:buNone/>
            </a:pPr>
            <a:r>
              <a:rPr lang="en-US" sz="619" dirty="0">
                <a:solidFill>
                  <a:srgbClr val="FFFFFF">
                    <a:alpha val="85000"/>
                  </a:srgbClr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Pushakin Flows ↔ LIHUM</a:t>
            </a:r>
            <a:endParaRPr lang="en-US" sz="619" dirty="0"/>
          </a:p>
        </p:txBody>
      </p:sp>
      <p:sp>
        <p:nvSpPr>
          <p:cNvPr id="8" name="Text 6"/>
          <p:cNvSpPr/>
          <p:nvPr/>
        </p:nvSpPr>
        <p:spPr>
          <a:xfrm>
            <a:off x="342900" y="621506"/>
            <a:ext cx="2050256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42900" y="635794"/>
            <a:ext cx="2050256" cy="0"/>
          </a:xfrm>
          <a:prstGeom prst="line">
            <a:avLst/>
          </a:prstGeom>
          <a:noFill/>
          <a:ln w="28575">
            <a:solidFill>
              <a:srgbClr val="4C2A8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89584" y="621506"/>
            <a:ext cx="0" cy="142875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" y="2046684"/>
            <a:ext cx="205025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6472" y="621506"/>
            <a:ext cx="0" cy="142875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056" y="750094"/>
            <a:ext cx="200025" cy="200025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0056" y="750094"/>
            <a:ext cx="228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07231" y="794407"/>
            <a:ext cx="1578769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Petugas Upload Foto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0056" y="1007269"/>
            <a:ext cx="1835944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Petugas Tahap 1 upload foto ke folder </a:t>
            </a:r>
            <a:pPr algn="l" indent="0" marL="0">
              <a:lnSpc>
                <a:spcPts val="897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PUBLIC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(boleh dibagi) atau </a:t>
            </a:r>
            <a:pPr algn="l" indent="0" marL="0">
              <a:lnSpc>
                <a:spcPts val="897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PRIVATE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(rahasia).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7196" y="1828657"/>
            <a:ext cx="716005" cy="136017"/>
          </a:xfrm>
          <a:prstGeom prst="roundRect">
            <a:avLst>
              <a:gd name="adj" fmla="val 280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0056" y="1835944"/>
            <a:ext cx="67028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Tahap 1 · Upload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78881" y="621506"/>
            <a:ext cx="2050256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478881" y="635794"/>
            <a:ext cx="2050256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5566" y="621506"/>
            <a:ext cx="0" cy="142875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78881" y="2046684"/>
            <a:ext cx="205025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82453" y="621506"/>
            <a:ext cx="0" cy="142875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86038" y="750094"/>
            <a:ext cx="200025" cy="200025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586038" y="750094"/>
            <a:ext cx="228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843213" y="794407"/>
            <a:ext cx="1578769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Manager Klik Publikasikan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586038" y="1007269"/>
            <a:ext cx="1835944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klik di Project Detail. Sistem otomatis buat gallery di LIHUM. </a:t>
            </a:r>
            <a:pPr algn="l" indent="0" marL="0">
              <a:lnSpc>
                <a:spcPts val="897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HANYA folder PUBLIC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di-share.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563178" y="1828657"/>
            <a:ext cx="701494" cy="136017"/>
          </a:xfrm>
          <a:prstGeom prst="roundRect">
            <a:avLst>
              <a:gd name="adj" fmla="val 280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586038" y="1835944"/>
            <a:ext cx="65577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1-Click · Publish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14863" y="621506"/>
            <a:ext cx="2050256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14863" y="635794"/>
            <a:ext cx="2050256" cy="0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61547" y="621506"/>
            <a:ext cx="0" cy="142875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4863" y="2046684"/>
            <a:ext cx="205025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8434" y="621506"/>
            <a:ext cx="0" cy="142875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22019" y="750094"/>
            <a:ext cx="200025" cy="200025"/>
          </a:xfrm>
          <a:prstGeom prst="ellipse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22019" y="750094"/>
            <a:ext cx="228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79194" y="794407"/>
            <a:ext cx="1578769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Gallery Live di LIHUM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22019" y="1007269"/>
            <a:ext cx="1835944" cy="476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Gallery tampil di </a:t>
            </a:r>
            <a:pPr algn="l" indent="0" marL="0">
              <a:lnSpc>
                <a:spcPts val="897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lihum.synclicen.workers.dev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. Pengunjung lihat &amp; download tanpa akun Google. QR Code otomatis.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99159" y="1828657"/>
            <a:ext cx="733083" cy="136017"/>
          </a:xfrm>
          <a:prstGeom prst="roundRect">
            <a:avLst>
              <a:gd name="adj" fmla="val 280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722019" y="1835944"/>
            <a:ext cx="68736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Public · No Login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750844" y="621506"/>
            <a:ext cx="2050256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6750844" y="635794"/>
            <a:ext cx="2050256" cy="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97528" y="621506"/>
            <a:ext cx="0" cy="142875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50844" y="2046684"/>
            <a:ext cx="2050256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54416" y="621506"/>
            <a:ext cx="0" cy="142875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0" y="750094"/>
            <a:ext cx="200025" cy="200025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858000" y="750094"/>
            <a:ext cx="2286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115175" y="794407"/>
            <a:ext cx="1578769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Embed di Web Resmi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858000" y="1007269"/>
            <a:ext cx="1835944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Manager copy link → embed di </a:t>
            </a:r>
            <a:pPr algn="l" indent="0" marL="0">
              <a:lnSpc>
                <a:spcPts val="897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uin-antasari.ac.id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. Atau bagikan via WA. Download mandiri 24/7.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36368" y="1828657"/>
            <a:ext cx="584069" cy="136017"/>
          </a:xfrm>
          <a:prstGeom prst="roundRect">
            <a:avLst>
              <a:gd name="adj" fmla="val 280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749759" y="1835944"/>
            <a:ext cx="75728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Embed · 24/7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46472" y="2168128"/>
            <a:ext cx="5067709" cy="1178719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64344" y="2271713"/>
            <a:ext cx="4831966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💡</a:t>
            </a:r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Kenapa Ini Inovatif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64344" y="2436019"/>
            <a:ext cx="4831966" cy="66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Workflow otomatis: upload → filter → publish → embed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Transparansi publik: siapa saja bisa akses foto kegiatan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Self-service download: tidak perlu request ke admin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Filter keamanan: folder PRIVATE tidak pernah bocor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535625" y="2168128"/>
            <a:ext cx="3261903" cy="1178719"/>
          </a:xfrm>
          <a:prstGeom prst="roundRect">
            <a:avLst>
              <a:gd name="adj" fmla="val 8081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316414" y="2250281"/>
            <a:ext cx="1700213" cy="771525"/>
          </a:xfrm>
          <a:prstGeom prst="roundRect">
            <a:avLst>
              <a:gd name="adj" fmla="val 9877"/>
            </a:avLst>
          </a:prstGeom>
          <a:solidFill>
            <a:srgbClr val="F5F5F4"/>
          </a:solidFill>
          <a:ln w="14288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7" name="Image 0" descr="/tmp/h2p-fit-1791074623704-lzse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3558" y="2257425"/>
            <a:ext cx="1685925" cy="757238"/>
          </a:xfrm>
          <a:prstGeom prst="rect">
            <a:avLst/>
          </a:prstGeom>
        </p:spPr>
      </p:pic>
      <p:sp>
        <p:nvSpPr>
          <p:cNvPr id="58" name="Text 55"/>
          <p:cNvSpPr/>
          <p:nvPr/>
        </p:nvSpPr>
        <p:spPr>
          <a:xfrm>
            <a:off x="6686187" y="3071813"/>
            <a:ext cx="960779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78716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Evidence — Gallery LIHUM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6101432" y="3193256"/>
            <a:ext cx="213028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lihum.synclicen.workers.dev/?gallery=pendampingan-aps-lamgama</a:t>
            </a:r>
            <a:endParaRPr lang="en-US" sz="600" dirty="0"/>
          </a:p>
        </p:txBody>
      </p:sp>
      <p:sp>
        <p:nvSpPr>
          <p:cNvPr id="60" name="Text 57"/>
          <p:cNvSpPr/>
          <p:nvPr/>
        </p:nvSpPr>
        <p:spPr>
          <a:xfrm>
            <a:off x="342900" y="4993481"/>
            <a:ext cx="8230716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 · Penghargaan Komunikasi Publik Inovatif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8562639" y="4993481"/>
            <a:ext cx="340477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A8A2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11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4356"/>
          </a:xfrm>
          <a:prstGeom prst="rect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53641"/>
            <a:ext cx="9144000" cy="0"/>
          </a:xfrm>
          <a:prstGeom prst="line">
            <a:avLst/>
          </a:prstGeom>
          <a:noFill/>
          <a:ln w="21431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2900" y="128588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1478" y="177165"/>
            <a:ext cx="188595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📦</a:t>
            </a:r>
            <a:endParaRPr lang="en-US" sz="1238" dirty="0"/>
          </a:p>
        </p:txBody>
      </p:sp>
      <p:sp>
        <p:nvSpPr>
          <p:cNvPr id="6" name="Text 4"/>
          <p:cNvSpPr/>
          <p:nvPr/>
        </p:nvSpPr>
        <p:spPr>
          <a:xfrm>
            <a:off x="742950" y="114300"/>
            <a:ext cx="1835972" cy="186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7" kern="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Manajemen Inventaris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2950" y="328613"/>
            <a:ext cx="1888428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FFFFFF">
                    <a:alpha val="85000"/>
                  </a:srgbClr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Dukungan Eksekusi Komunikasi Publik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7786018" y="225028"/>
            <a:ext cx="1075987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19" dirty="0">
                <a:solidFill>
                  <a:srgbClr val="FFFFFF">
                    <a:alpha val="85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📦</a:t>
            </a:r>
            <a:pPr algn="l" indent="0" marL="0">
              <a:buNone/>
            </a:pPr>
            <a:r>
              <a:rPr lang="en-US" sz="619" dirty="0">
                <a:solidFill>
                  <a:srgbClr val="FFFFFF">
                    <a:alpha val="85000"/>
                  </a:srgbClr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</a:t>
            </a:r>
            <a:pPr algn="l" indent="0" marL="0">
              <a:buNone/>
            </a:pPr>
            <a:r>
              <a:rPr lang="en-US" sz="619" dirty="0">
                <a:solidFill>
                  <a:srgbClr val="FFFFFF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Sub-modul Terintegrasi</a:t>
            </a:r>
            <a:endParaRPr lang="en-US" sz="619" dirty="0"/>
          </a:p>
        </p:txBody>
      </p:sp>
      <p:sp>
        <p:nvSpPr>
          <p:cNvPr id="9" name="Text 7"/>
          <p:cNvSpPr/>
          <p:nvPr/>
        </p:nvSpPr>
        <p:spPr>
          <a:xfrm>
            <a:off x="342900" y="735806"/>
            <a:ext cx="1622971" cy="2357438"/>
          </a:xfrm>
          <a:prstGeom prst="roundRect">
            <a:avLst>
              <a:gd name="adj" fmla="val 58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42900" y="746522"/>
            <a:ext cx="1622971" cy="0"/>
          </a:xfrm>
          <a:prstGeom prst="line">
            <a:avLst/>
          </a:prstGeom>
          <a:noFill/>
          <a:ln w="21431">
            <a:solidFill>
              <a:srgbClr val="4C2A8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2299" y="735806"/>
            <a:ext cx="0" cy="2357438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" y="3089672"/>
            <a:ext cx="1622971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6472" y="735806"/>
            <a:ext cx="0" cy="2357438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769" y="857250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▢</a:t>
            </a:r>
            <a:endParaRPr lang="en-US" sz="1406" dirty="0"/>
          </a:p>
        </p:txBody>
      </p:sp>
      <p:sp>
        <p:nvSpPr>
          <p:cNvPr id="15" name="Text 13"/>
          <p:cNvSpPr/>
          <p:nvPr/>
        </p:nvSpPr>
        <p:spPr>
          <a:xfrm>
            <a:off x="750094" y="946547"/>
            <a:ext cx="1122908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23" kern="0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CRUD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35769" y="1171575"/>
            <a:ext cx="1437233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Barang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5769" y="1348718"/>
            <a:ext cx="1523467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CRUD barang dengan kode otomatis. 7 kategori. Foto + pop-up preview.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9341" y="2432447"/>
            <a:ext cx="1430089" cy="564356"/>
          </a:xfrm>
          <a:prstGeom prst="roundRect">
            <a:avLst>
              <a:gd name="adj" fmla="val 10127"/>
            </a:avLst>
          </a:prstGeom>
          <a:solidFill>
            <a:srgbClr val="F5F5F4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0" descr="/tmp/h2p-fit-1791074623789-grvp6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913" y="2436019"/>
            <a:ext cx="1422946" cy="557213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2051596" y="735806"/>
            <a:ext cx="1623082" cy="2357438"/>
          </a:xfrm>
          <a:prstGeom prst="roundRect">
            <a:avLst>
              <a:gd name="adj" fmla="val 58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2051596" y="746522"/>
            <a:ext cx="1623082" cy="0"/>
          </a:xfrm>
          <a:prstGeom prst="line">
            <a:avLst/>
          </a:prstGeom>
          <a:noFill/>
          <a:ln w="21431">
            <a:solidFill>
              <a:srgbClr val="2563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71106" y="735806"/>
            <a:ext cx="0" cy="2357438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051596" y="3089672"/>
            <a:ext cx="1623082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055168" y="735806"/>
            <a:ext cx="0" cy="2357438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144464" y="857250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▢</a:t>
            </a:r>
            <a:endParaRPr lang="en-US" sz="1406" dirty="0"/>
          </a:p>
        </p:txBody>
      </p:sp>
      <p:sp>
        <p:nvSpPr>
          <p:cNvPr id="26" name="Text 23"/>
          <p:cNvSpPr/>
          <p:nvPr/>
        </p:nvSpPr>
        <p:spPr>
          <a:xfrm>
            <a:off x="2458789" y="946547"/>
            <a:ext cx="1123020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23" kern="0" dirty="0">
                <a:solidFill>
                  <a:srgbClr val="2563E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BORROW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144464" y="1171575"/>
            <a:ext cx="1437345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Peminjaman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144464" y="1348718"/>
            <a:ext cx="1523586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Multi-item + foto peminjam. Form PDF download. Approve / Reject / Return.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148036" y="2432447"/>
            <a:ext cx="1430201" cy="564356"/>
          </a:xfrm>
          <a:prstGeom prst="roundRect">
            <a:avLst>
              <a:gd name="adj" fmla="val 10127"/>
            </a:avLst>
          </a:prstGeom>
          <a:solidFill>
            <a:srgbClr val="F5F5F4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2730922" y="2589609"/>
            <a:ext cx="264319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📥</a:t>
            </a:r>
            <a:endParaRPr lang="en-US" sz="1688" dirty="0"/>
          </a:p>
        </p:txBody>
      </p:sp>
      <p:sp>
        <p:nvSpPr>
          <p:cNvPr id="31" name="Text 28"/>
          <p:cNvSpPr/>
          <p:nvPr/>
        </p:nvSpPr>
        <p:spPr>
          <a:xfrm>
            <a:off x="3760403" y="735806"/>
            <a:ext cx="1623082" cy="2357438"/>
          </a:xfrm>
          <a:prstGeom prst="roundRect">
            <a:avLst>
              <a:gd name="adj" fmla="val 58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3760403" y="746522"/>
            <a:ext cx="1623082" cy="0"/>
          </a:xfrm>
          <a:prstGeom prst="line">
            <a:avLst/>
          </a:prstGeom>
          <a:noFill/>
          <a:ln w="21431">
            <a:solidFill>
              <a:srgbClr val="A8872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379913" y="735806"/>
            <a:ext cx="0" cy="2357438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760403" y="3089672"/>
            <a:ext cx="1623082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763975" y="735806"/>
            <a:ext cx="0" cy="2357438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853272" y="857250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▢</a:t>
            </a:r>
            <a:endParaRPr lang="en-US" sz="1406" dirty="0"/>
          </a:p>
        </p:txBody>
      </p:sp>
      <p:sp>
        <p:nvSpPr>
          <p:cNvPr id="37" name="Text 34"/>
          <p:cNvSpPr/>
          <p:nvPr/>
        </p:nvSpPr>
        <p:spPr>
          <a:xfrm>
            <a:off x="4167597" y="946547"/>
            <a:ext cx="1123020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23" kern="0" dirty="0">
                <a:solidFill>
                  <a:srgbClr val="A8872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DISTRIBUTE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853272" y="1171575"/>
            <a:ext cx="1437345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Pembagian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853272" y="1348718"/>
            <a:ext cx="1523586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Distribusi barang ke penerima. Stok auto-deduct. Keperluan + catatan.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3856844" y="2432447"/>
            <a:ext cx="1430201" cy="564356"/>
          </a:xfrm>
          <a:prstGeom prst="roundRect">
            <a:avLst>
              <a:gd name="adj" fmla="val 10127"/>
            </a:avLst>
          </a:prstGeom>
          <a:solidFill>
            <a:srgbClr val="F5F5F4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439729" y="2589609"/>
            <a:ext cx="264319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A887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📤</a:t>
            </a:r>
            <a:endParaRPr lang="en-US" sz="1688" dirty="0"/>
          </a:p>
        </p:txBody>
      </p:sp>
      <p:sp>
        <p:nvSpPr>
          <p:cNvPr id="42" name="Text 39"/>
          <p:cNvSpPr/>
          <p:nvPr/>
        </p:nvSpPr>
        <p:spPr>
          <a:xfrm>
            <a:off x="5469210" y="735806"/>
            <a:ext cx="1623082" cy="2357438"/>
          </a:xfrm>
          <a:prstGeom prst="roundRect">
            <a:avLst>
              <a:gd name="adj" fmla="val 58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0"/>
          <p:cNvSpPr/>
          <p:nvPr/>
        </p:nvSpPr>
        <p:spPr>
          <a:xfrm>
            <a:off x="5469210" y="746522"/>
            <a:ext cx="1623082" cy="0"/>
          </a:xfrm>
          <a:prstGeom prst="line">
            <a:avLst/>
          </a:prstGeom>
          <a:noFill/>
          <a:ln w="21431">
            <a:solidFill>
              <a:srgbClr val="EA580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088721" y="735806"/>
            <a:ext cx="0" cy="2357438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469210" y="3089672"/>
            <a:ext cx="1623082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472782" y="735806"/>
            <a:ext cx="0" cy="2357438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562079" y="857250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EA580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▢</a:t>
            </a:r>
            <a:endParaRPr lang="en-US" sz="1406" dirty="0"/>
          </a:p>
        </p:txBody>
      </p:sp>
      <p:sp>
        <p:nvSpPr>
          <p:cNvPr id="48" name="Text 45"/>
          <p:cNvSpPr/>
          <p:nvPr/>
        </p:nvSpPr>
        <p:spPr>
          <a:xfrm>
            <a:off x="5876404" y="946547"/>
            <a:ext cx="1123020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23" kern="0" dirty="0">
                <a:solidFill>
                  <a:srgbClr val="EA580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TRACK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562079" y="1171575"/>
            <a:ext cx="1437345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History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5562079" y="1348718"/>
            <a:ext cx="1523586" cy="476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Tracking semua transaksi: masuk, pinjam, kembali, bagi, edit. Filter + hapus.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5565651" y="2432447"/>
            <a:ext cx="1430201" cy="564356"/>
          </a:xfrm>
          <a:prstGeom prst="roundRect">
            <a:avLst>
              <a:gd name="adj" fmla="val 10127"/>
            </a:avLst>
          </a:prstGeom>
          <a:solidFill>
            <a:srgbClr val="F5F5F4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6148536" y="2589609"/>
            <a:ext cx="264319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EA580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📜</a:t>
            </a:r>
            <a:endParaRPr lang="en-US" sz="1688" dirty="0"/>
          </a:p>
        </p:txBody>
      </p:sp>
      <p:sp>
        <p:nvSpPr>
          <p:cNvPr id="53" name="Text 50"/>
          <p:cNvSpPr/>
          <p:nvPr/>
        </p:nvSpPr>
        <p:spPr>
          <a:xfrm>
            <a:off x="7178018" y="735806"/>
            <a:ext cx="1622971" cy="2357438"/>
          </a:xfrm>
          <a:prstGeom prst="roundRect">
            <a:avLst>
              <a:gd name="adj" fmla="val 58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4C2A8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1"/>
          <p:cNvSpPr/>
          <p:nvPr/>
        </p:nvSpPr>
        <p:spPr>
          <a:xfrm>
            <a:off x="7178018" y="746522"/>
            <a:ext cx="1622971" cy="0"/>
          </a:xfrm>
          <a:prstGeom prst="line">
            <a:avLst/>
          </a:prstGeom>
          <a:noFill/>
          <a:ln w="21431">
            <a:solidFill>
              <a:srgbClr val="16A34A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797417" y="735806"/>
            <a:ext cx="0" cy="2357438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178018" y="3089672"/>
            <a:ext cx="1622971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181590" y="735806"/>
            <a:ext cx="0" cy="2357438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270886" y="857250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6A3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▢</a:t>
            </a:r>
            <a:endParaRPr lang="en-US" sz="1406" dirty="0"/>
          </a:p>
        </p:txBody>
      </p:sp>
      <p:sp>
        <p:nvSpPr>
          <p:cNvPr id="59" name="Text 56"/>
          <p:cNvSpPr/>
          <p:nvPr/>
        </p:nvSpPr>
        <p:spPr>
          <a:xfrm>
            <a:off x="7585211" y="946547"/>
            <a:ext cx="1122908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23" kern="0" dirty="0">
                <a:solidFill>
                  <a:srgbClr val="16A34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· REPORT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7270886" y="1171575"/>
            <a:ext cx="1437233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Rekapitulasi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7270886" y="1348718"/>
            <a:ext cx="1523467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Filter + sort + search. Export Excel + PDF. Per-kategori breakdown.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7274458" y="2432447"/>
            <a:ext cx="1430089" cy="564356"/>
          </a:xfrm>
          <a:prstGeom prst="roundRect">
            <a:avLst>
              <a:gd name="adj" fmla="val 10127"/>
            </a:avLst>
          </a:prstGeom>
          <a:solidFill>
            <a:srgbClr val="F5F5F4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0"/>
          <p:cNvSpPr/>
          <p:nvPr/>
        </p:nvSpPr>
        <p:spPr>
          <a:xfrm>
            <a:off x="7857344" y="2589609"/>
            <a:ext cx="264319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6A3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endParaRPr lang="en-US" sz="1688" dirty="0"/>
          </a:p>
        </p:txBody>
      </p:sp>
      <p:sp>
        <p:nvSpPr>
          <p:cNvPr id="64" name="Text 61"/>
          <p:cNvSpPr/>
          <p:nvPr/>
        </p:nvSpPr>
        <p:spPr>
          <a:xfrm>
            <a:off x="342900" y="3193256"/>
            <a:ext cx="8458200" cy="439341"/>
          </a:xfrm>
          <a:prstGeom prst="roundRect">
            <a:avLst>
              <a:gd name="adj" fmla="val 21680"/>
            </a:avLst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2"/>
          <p:cNvSpPr/>
          <p:nvPr/>
        </p:nvSpPr>
        <p:spPr>
          <a:xfrm>
            <a:off x="357188" y="3193256"/>
            <a:ext cx="0" cy="439341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00063" y="3278981"/>
            <a:ext cx="8172450" cy="122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0D67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💡</a:t>
            </a:r>
            <a:pPr algn="l" indent="0" marL="0">
              <a:buNone/>
            </a:pPr>
            <a:r>
              <a:rPr lang="en-US" sz="800" b="1" dirty="0">
                <a:solidFill>
                  <a:srgbClr val="F0D67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Kenapa Inventaris Penting untuk Komunikasi Publik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500063" y="3429000"/>
            <a:ext cx="817245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0D67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Track peralatan kehumasan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(kamera, mic, tripod) </a:t>
            </a:r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|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</a:t>
            </a:r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0D67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Bukti peminjaman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untuk SKP </a:t>
            </a:r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|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</a:t>
            </a:r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0D67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Stok management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untuk distribusi merchandise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342900" y="4993481"/>
            <a:ext cx="8230716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 · Penghargaan Komunikasi Publik Inovatif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8562639" y="4993481"/>
            <a:ext cx="340477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A8A29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11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64356"/>
          </a:xfrm>
          <a:prstGeom prst="rect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53641"/>
            <a:ext cx="9144000" cy="0"/>
          </a:xfrm>
          <a:prstGeom prst="line">
            <a:avLst/>
          </a:prstGeom>
          <a:noFill/>
          <a:ln w="21431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2900" y="128588"/>
            <a:ext cx="285750" cy="28575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57150" dist="19050" dir="5400000">
              <a:srgbClr val="D4AF37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1478" y="177165"/>
            <a:ext cx="188595" cy="1885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</a:t>
            </a:r>
            <a:endParaRPr lang="en-US" sz="1238" dirty="0"/>
          </a:p>
        </p:txBody>
      </p:sp>
      <p:sp>
        <p:nvSpPr>
          <p:cNvPr id="6" name="Text 4"/>
          <p:cNvSpPr/>
          <p:nvPr/>
        </p:nvSpPr>
        <p:spPr>
          <a:xfrm>
            <a:off x="742950" y="114300"/>
            <a:ext cx="3302500" cy="186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7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Ringkasan Pemenuhan 6 Indikator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2950" y="328613"/>
            <a:ext cx="300227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FFFFFF">
                    <a:alpha val="85000"/>
                  </a:srgbClr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Penghargaan Pengelolaan Komunikasi Publik Inovatif · Kementerian Agama RI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7829796" y="175451"/>
            <a:ext cx="994164" cy="192024"/>
          </a:xfrm>
          <a:prstGeom prst="roundRect">
            <a:avLst>
              <a:gd name="adj" fmla="val 4955357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52656" y="185738"/>
            <a:ext cx="9484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56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 TERPENUHI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6472" y="739378"/>
            <a:ext cx="8451056" cy="1838399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0044" y="742950"/>
          <a:ext cx="8443913" cy="914400"/>
        </p:xfrm>
        <a:graphic>
          <a:graphicData uri="http://schemas.openxmlformats.org/drawingml/2006/table">
            <a:tbl>
              <a:tblPr/>
              <a:tblGrid>
                <a:gridCol w="1857598"/>
                <a:gridCol w="844302"/>
                <a:gridCol w="1519833"/>
                <a:gridCol w="422217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Indikator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2A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Bobot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2A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Status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2A8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Bukti di Sistem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71438" marR="100013" marT="100013" marB="71438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2A8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Objektif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20%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✅ Terpenuhi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Surat, Kegiatan, Project, Surat Tugas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Strategi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20%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✅ Terpenuhi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Pemilihan petugas, Fast Track, Inventaris, WA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Taktik / Saluran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10%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✅ Terpenuhi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14+ platform, role per saluran, LIHUM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Key Messages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15%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✅ Terpenuhi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Description, customActivity, catatan task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Eksekusi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20%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A88720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✅✅ Sangat Kuat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5-tahap workflow, 16 role, Drive, LIHUM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Pengukuran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15%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✅ Terpenuhi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Laporan SKP, rekap, public tracker, LIHUM stats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</a:tr>
              <a:tr h="0"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TOTAL: 100% Terpenuhi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3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42900" y="2681362"/>
            <a:ext cx="8458200" cy="606326"/>
          </a:xfrm>
          <a:prstGeom prst="roundRect">
            <a:avLst>
              <a:gd name="adj" fmla="val 15709"/>
            </a:avLst>
          </a:prstGeom>
          <a:solidFill>
            <a:srgbClr val="D4AF37"/>
          </a:solidFill>
          <a:ln/>
          <a:effectLst>
            <a:outerShdw sx="100000" sy="100000" kx="0" ky="0" algn="bl" rotWithShape="0" blurRad="95250" dist="28575" dir="5400000">
              <a:srgbClr val="D4AF37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71488" y="2781374"/>
            <a:ext cx="271463" cy="271463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21494" y="283138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💡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871538" y="2781374"/>
            <a:ext cx="7800975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Key Innovation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71538" y="2931393"/>
            <a:ext cx="7800975" cy="271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00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●  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Integrasi Pushakin Flows ↔ LIHUM = workflow otomatis end-to-end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600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●  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Folder PUBLIC/PRIVATE = filter keamanan distribusi konten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600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●  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Laporan per petugas = bukti kinerja SKP terstruktur</a:t>
            </a:r>
            <a:endParaRPr lang="en-US" sz="800" dirty="0"/>
          </a:p>
          <a:p>
            <a:pPr algn="l" indent="0" marL="0">
              <a:lnSpc>
                <a:spcPts val="897"/>
              </a:lnSpc>
              <a:buNone/>
            </a:pPr>
            <a:r>
              <a:rPr lang="en-US" sz="600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●  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Public Tracker = transparansi publik real-time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42900" y="3391272"/>
            <a:ext cx="8458200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342900" y="3652019"/>
            <a:ext cx="8458200" cy="0"/>
          </a:xfrm>
          <a:prstGeom prst="line">
            <a:avLst/>
          </a:prstGeom>
          <a:noFill/>
          <a:ln w="7144">
            <a:solidFill>
              <a:srgbClr val="D4AF37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342900" y="3387700"/>
            <a:ext cx="8458200" cy="316523"/>
          </a:xfrm>
          <a:prstGeom prst="rect">
            <a:avLst/>
          </a:prstGeom>
          <a:noFill/>
          <a:ln/>
        </p:spPr>
        <p:txBody>
          <a:bodyPr wrap="square" lIns="171450" tIns="57150" rIns="171450" bIns="5715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i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"Pushakin Flows — ekosistem komunikasi publik inovatif yang terintegrasi end-to-end, dari perencanaan hingga pengukuran hasil."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42900" y="3755603"/>
            <a:ext cx="845820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Pusat Humas dan Keterbukaan Informasi </a:t>
            </a:r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|</a:t>
            </a:r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UIN Antasari Banjarmasin</a:t>
            </a:r>
            <a:endParaRPr lang="en-US" sz="800" dirty="0"/>
          </a:p>
          <a:p>
            <a:pPr algn="ctr" indent="0" marL="0">
              <a:lnSpc>
                <a:spcPts val="900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app.pushakin-flows.workers.dev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2026-10-04T00:43:43Z</dcterms:created>
  <dcterms:modified xsi:type="dcterms:W3CDTF">2026-10-04T00:43:43Z</dcterms:modified>
</cp:coreProperties>
</file>