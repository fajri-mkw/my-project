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15250" y="-571500"/>
            <a:ext cx="2000250" cy="2000250"/>
          </a:xfrm>
          <a:prstGeom prst="ellipse">
            <a:avLst/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714375" y="3571875"/>
            <a:ext cx="2286000" cy="228600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357688" y="214313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3581996" y="600075"/>
            <a:ext cx="1979896" cy="2797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13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</a:t>
            </a:r>
            <a:endParaRPr lang="en-US" sz="1913" dirty="0"/>
          </a:p>
        </p:txBody>
      </p:sp>
      <p:sp>
        <p:nvSpPr>
          <p:cNvPr id="8" name="Text 4"/>
          <p:cNvSpPr/>
          <p:nvPr/>
        </p:nvSpPr>
        <p:spPr>
          <a:xfrm>
            <a:off x="3380235" y="907256"/>
            <a:ext cx="238353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Produksi &amp; Manajemen Humas</a:t>
            </a:r>
            <a:endParaRPr lang="en-US" sz="956" dirty="0"/>
          </a:p>
        </p:txBody>
      </p:sp>
      <p:sp>
        <p:nvSpPr>
          <p:cNvPr id="9" name="Text 5"/>
          <p:cNvSpPr/>
          <p:nvPr/>
        </p:nvSpPr>
        <p:spPr>
          <a:xfrm>
            <a:off x="4071938" y="1121569"/>
            <a:ext cx="1000125" cy="21431"/>
          </a:xfrm>
          <a:prstGeom prst="roundRect">
            <a:avLst>
              <a:gd name="adj" fmla="val 8889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467063" y="1200150"/>
            <a:ext cx="2209763" cy="131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Penghargaan Pengelolaan Komunikasi Publik Inovatif</a:t>
            </a:r>
            <a:endParaRPr lang="en-US" sz="731" dirty="0"/>
          </a:p>
        </p:txBody>
      </p:sp>
      <p:sp>
        <p:nvSpPr>
          <p:cNvPr id="11" name="Text 7"/>
          <p:cNvSpPr/>
          <p:nvPr/>
        </p:nvSpPr>
        <p:spPr>
          <a:xfrm>
            <a:off x="3556471" y="1358652"/>
            <a:ext cx="2031057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9" dirty="0">
                <a:solidFill>
                  <a:srgbClr val="FFFFFF">
                    <a:alpha val="70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Kementerian Agama RI — UIN Antasari Banjarmasin 2026</a:t>
            </a:r>
            <a:endParaRPr lang="en-US" sz="619" dirty="0"/>
          </a:p>
        </p:txBody>
      </p:sp>
      <p:sp>
        <p:nvSpPr>
          <p:cNvPr id="12" name="Shape 8"/>
          <p:cNvSpPr/>
          <p:nvPr/>
        </p:nvSpPr>
        <p:spPr>
          <a:xfrm>
            <a:off x="457200" y="1819424"/>
            <a:ext cx="8229600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285750" y="3087439"/>
            <a:ext cx="857250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7" kern="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Hubungan Masyarakat dan Keterbukaan Informasi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292894" y="1551533"/>
            <a:ext cx="8558213" cy="1457325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14288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57200" y="1658689"/>
            <a:ext cx="8339328" cy="180267"/>
          </a:xfrm>
          <a:prstGeom prst="rect">
            <a:avLst/>
          </a:prstGeom>
          <a:noFill/>
          <a:ln/>
        </p:spPr>
        <p:txBody>
          <a:bodyPr wrap="square" lIns="0" tIns="0" rIns="0" bIns="42863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Daftar Isi — Alur Proses Sistem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945917" y="1880146"/>
            <a:ext cx="142875" cy="14287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945917" y="1880146"/>
            <a:ext cx="17859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160230" y="1908721"/>
            <a:ext cx="1120881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Pengertian &amp; Tujuan Sistem</a:t>
            </a:r>
            <a:endParaRPr lang="en-US" sz="619" dirty="0"/>
          </a:p>
        </p:txBody>
      </p:sp>
      <p:sp>
        <p:nvSpPr>
          <p:cNvPr id="19" name="Text 15"/>
          <p:cNvSpPr/>
          <p:nvPr/>
        </p:nvSpPr>
        <p:spPr>
          <a:xfrm>
            <a:off x="3938550" y="2058739"/>
            <a:ext cx="142875" cy="14287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938550" y="2058739"/>
            <a:ext cx="17859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152863" y="2087314"/>
            <a:ext cx="1136794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Alur Surat → Inisiasi Proyek</a:t>
            </a:r>
            <a:endParaRPr lang="en-US" sz="619" dirty="0"/>
          </a:p>
        </p:txBody>
      </p:sp>
      <p:sp>
        <p:nvSpPr>
          <p:cNvPr id="22" name="Text 18"/>
          <p:cNvSpPr/>
          <p:nvPr/>
        </p:nvSpPr>
        <p:spPr>
          <a:xfrm>
            <a:off x="3903613" y="2237333"/>
            <a:ext cx="142875" cy="14287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903613" y="2237333"/>
            <a:ext cx="17859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117925" y="2265908"/>
            <a:ext cx="1212138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Surat &amp; Inventaris</a:t>
            </a:r>
            <a:endParaRPr lang="en-US" sz="619" dirty="0"/>
          </a:p>
        </p:txBody>
      </p:sp>
      <p:sp>
        <p:nvSpPr>
          <p:cNvPr id="25" name="Text 21"/>
          <p:cNvSpPr/>
          <p:nvPr/>
        </p:nvSpPr>
        <p:spPr>
          <a:xfrm>
            <a:off x="3890553" y="2415927"/>
            <a:ext cx="142875" cy="14287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890553" y="2415927"/>
            <a:ext cx="17859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104866" y="2444502"/>
            <a:ext cx="1240468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Role, Pesan &amp; Laporan SKP</a:t>
            </a:r>
            <a:endParaRPr lang="en-US" sz="619" dirty="0"/>
          </a:p>
        </p:txBody>
      </p:sp>
      <p:sp>
        <p:nvSpPr>
          <p:cNvPr id="28" name="Text 24"/>
          <p:cNvSpPr/>
          <p:nvPr/>
        </p:nvSpPr>
        <p:spPr>
          <a:xfrm>
            <a:off x="4006304" y="2594521"/>
            <a:ext cx="142875" cy="14287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006304" y="2594521"/>
            <a:ext cx="17859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220617" y="2623096"/>
            <a:ext cx="1008664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Inovasi Integrasi: LIHUM</a:t>
            </a:r>
            <a:endParaRPr lang="en-US" sz="619" dirty="0"/>
          </a:p>
        </p:txBody>
      </p:sp>
      <p:sp>
        <p:nvSpPr>
          <p:cNvPr id="31" name="Text 27"/>
          <p:cNvSpPr/>
          <p:nvPr/>
        </p:nvSpPr>
        <p:spPr>
          <a:xfrm>
            <a:off x="3838203" y="2773114"/>
            <a:ext cx="142875" cy="14287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3838203" y="2773114"/>
            <a:ext cx="17859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052515" y="2801689"/>
            <a:ext cx="13535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Eksekusi, Pengukuran &amp; Penutup</a:t>
            </a:r>
            <a:endParaRPr lang="en-US" sz="61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171450"/>
            <a:ext cx="8743950" cy="3286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53603"/>
            <a:ext cx="76269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 Pengertian &amp; Tujuan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961285" y="231743"/>
            <a:ext cx="862675" cy="208026"/>
          </a:xfrm>
          <a:prstGeom prst="roundRect">
            <a:avLst>
              <a:gd name="adj" fmla="val 9157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984145" y="242888"/>
            <a:ext cx="81695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🎯 Objektif 20%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00025" y="571500"/>
            <a:ext cx="348875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Apa itu Pushakin Flows?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00025" y="728663"/>
            <a:ext cx="3322625" cy="3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manajemen produksi kehumasan terintegrasi end-to-end. Mewadahi proses produksi bagi setiap user sesuai peran, dan menyediakan manajemen terintegrasi untuk Humas.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0025" y="1057275"/>
            <a:ext cx="348875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Tujuan Sistem — 3 Step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0025" y="1214438"/>
            <a:ext cx="171450" cy="171450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00025" y="1214438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28625" y="1214438"/>
            <a:ext cx="30940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Dokumentasi tujuan komunikasi per kegiatan — </a:t>
            </a:r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Surat → Kegiatan → Proyek + Surat Tugas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200025" y="1471613"/>
            <a:ext cx="171450" cy="171450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00025" y="1471613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28625" y="1471613"/>
            <a:ext cx="3094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Mewadahi proses produksi bagi user sesuai peran + manajemen Humas (Surat, Kegiatan, Konten, Inventaris)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00025" y="1771650"/>
            <a:ext cx="171450" cy="171450"/>
          </a:xfrm>
          <a:prstGeom prst="ellipse">
            <a:avLst/>
          </a:prstGeom>
          <a:solidFill>
            <a:srgbClr val="1FA8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0025" y="1771650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28625" y="1771650"/>
            <a:ext cx="30940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Bukti kinerja SKP per petugas (PDF/Excel) + transparansi publik via </a:t>
            </a:r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 Tracker &amp; LIHUM</a:t>
            </a:r>
            <a:endParaRPr lang="en-US" sz="600" dirty="0"/>
          </a:p>
        </p:txBody>
      </p:sp>
      <p:pic>
        <p:nvPicPr>
          <p:cNvPr id="18" name="Image 1" descr="/tmp/h2p-fit-1791162907583-8qkg8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663" y="571500"/>
            <a:ext cx="5321201" cy="3005733"/>
          </a:xfrm>
          <a:prstGeom prst="rect">
            <a:avLst/>
          </a:prstGeom>
          <a:effectLst>
            <a:outerShdw sx="100000" sy="100000" kx="0" ky="0" algn="bl" rotWithShape="0" blurRad="171450" dist="57150" dir="5400000">
              <a:srgbClr val="2C1A52">
                <a:alpha val="22000"/>
              </a:srgbClr>
            </a:outerShdw>
          </a:effectLst>
        </p:spPr>
      </p:pic>
      <p:sp>
        <p:nvSpPr>
          <p:cNvPr id="19" name="Text 15"/>
          <p:cNvSpPr/>
          <p:nvPr/>
        </p:nvSpPr>
        <p:spPr>
          <a:xfrm>
            <a:off x="5489302" y="3634383"/>
            <a:ext cx="1714955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6FB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app.pushakin-flows.workers.dev — Dashboard</a:t>
            </a:r>
            <a:endParaRPr lang="en-US" sz="6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4779169"/>
            <a:ext cx="8743950" cy="19288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00025" y="4779169"/>
            <a:ext cx="8636000" cy="296266"/>
          </a:xfrm>
          <a:prstGeom prst="rect">
            <a:avLst/>
          </a:prstGeom>
          <a:noFill/>
          <a:ln/>
        </p:spPr>
        <p:txBody>
          <a:bodyPr wrap="square" lIns="100013" tIns="57150" rIns="100013" bIns="5715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Tujuan komunikasi terdokumentasi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step: Surat → Kegiatan → Proyek. Objektif jelas, terukur, tertulis.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171450"/>
            <a:ext cx="8743950" cy="3286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53603"/>
            <a:ext cx="76268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 Alur Surat → Inisiasi Proyek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961174" y="231743"/>
            <a:ext cx="862786" cy="208026"/>
          </a:xfrm>
          <a:prstGeom prst="roundRect">
            <a:avLst>
              <a:gd name="adj" fmla="val 9157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984034" y="242888"/>
            <a:ext cx="81706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♟️ Strategi 20%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00025" y="542925"/>
            <a:ext cx="8636000" cy="136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i="1" dirty="0">
                <a:solidFill>
                  <a:srgbClr val="6B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Dari surat masuk hingga tim mulai produksi — 5 step berurutan dengan nomor.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00025" y="707231"/>
            <a:ext cx="5049537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Alur Proses Surat → Proyek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0025" y="864394"/>
            <a:ext cx="200025" cy="200025"/>
          </a:xfrm>
          <a:prstGeom prst="ellipse">
            <a:avLst/>
          </a:prstGeom>
          <a:solidFill>
            <a:srgbClr val="1FA8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00025" y="864394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864394"/>
            <a:ext cx="38316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📬</a:t>
            </a:r>
            <a:pPr algn="l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Surat Masuk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971550"/>
            <a:ext cx="36492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Surat diterima di Manajemen Surat. Kategori: Permohonan, Undangan, Pemberitahuan. Disimpan dengan dokumen pendukung.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200025" y="1110853"/>
            <a:ext cx="200025" cy="200025"/>
          </a:xfrm>
          <a:prstGeom prst="ellipse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00025" y="1110853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1110853"/>
            <a:ext cx="277323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pPr algn="l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Diteruskan ke Manager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" y="1218009"/>
            <a:ext cx="2641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Jika berbentuk permohonan, surat diteruskan ke Manager untuk evaluasi dan inisiasi proyek.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200025" y="1357313"/>
            <a:ext cx="200025" cy="20002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00025" y="1357313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57200" y="1357313"/>
            <a:ext cx="416177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🏗</a:t>
            </a:r>
            <a:pPr algn="l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Manager Inisiasi Proyek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7200" y="1464469"/>
            <a:ext cx="38534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buka Form Buat Proyek. Isi: judul, deskripsi, activityTypes, outputNeeds, pemilihan petugas per role, folder PUBLIC/PRIVATE.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200025" y="1603772"/>
            <a:ext cx="200025" cy="200025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00025" y="1603772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7200" y="1603772"/>
            <a:ext cx="33320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📨</a:t>
            </a:r>
            <a:pPr algn="l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Surat Tugas Otomatis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57200" y="1710928"/>
            <a:ext cx="31733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kirim Surat Tugas resmi ke Inbox setiap petugas. Berisi nomor surat, judul proyek, role yang ditugaskan.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200025" y="1850231"/>
            <a:ext cx="200025" cy="200025"/>
          </a:xfrm>
          <a:prstGeom prst="ellipse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00025" y="1850231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57200" y="1850231"/>
            <a:ext cx="324192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▶️ Tim Mulai Produksi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57200" y="1957388"/>
            <a:ext cx="3087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Petugas terima Surat Tugas → mulai kerja di tahap masing-masing. Folder Drive otomatis dibuat per proyek.</a:t>
            </a:r>
            <a:endParaRPr lang="en-US" sz="600" dirty="0"/>
          </a:p>
        </p:txBody>
      </p:sp>
      <p:pic>
        <p:nvPicPr>
          <p:cNvPr id="28" name="Image 1" descr="/tmp/h2p-fit-1791162907584-hj3k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361" y="707231"/>
            <a:ext cx="2708263" cy="1535906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2C1A52">
                <a:alpha val="20000"/>
              </a:srgbClr>
            </a:outerShdw>
          </a:effectLst>
        </p:spPr>
      </p:pic>
      <p:sp>
        <p:nvSpPr>
          <p:cNvPr id="29" name="Text 25"/>
          <p:cNvSpPr/>
          <p:nvPr/>
        </p:nvSpPr>
        <p:spPr>
          <a:xfrm>
            <a:off x="6644246" y="2243138"/>
            <a:ext cx="841065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6F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1: Manajemen Surat</a:t>
            </a:r>
            <a:endParaRPr lang="en-US" sz="600" dirty="0"/>
          </a:p>
        </p:txBody>
      </p:sp>
      <p:pic>
        <p:nvPicPr>
          <p:cNvPr id="30" name="Image 2" descr="/tmp/h2p-fit-1791162907585-6kse7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361" y="2357438"/>
            <a:ext cx="2708263" cy="1535906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2C1A52">
                <a:alpha val="20000"/>
              </a:srgbClr>
            </a:outerShdw>
          </a:effectLst>
        </p:spPr>
      </p:pic>
      <p:sp>
        <p:nvSpPr>
          <p:cNvPr id="31" name="Text 26"/>
          <p:cNvSpPr/>
          <p:nvPr/>
        </p:nvSpPr>
        <p:spPr>
          <a:xfrm>
            <a:off x="6633530" y="3893344"/>
            <a:ext cx="864639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6F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3: Form Buat Proyek</a:t>
            </a:r>
            <a:endParaRPr lang="en-US" sz="6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" y="4793456"/>
            <a:ext cx="8743950" cy="17859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200025" y="4793456"/>
            <a:ext cx="8636000" cy="274320"/>
          </a:xfrm>
          <a:prstGeom prst="rect">
            <a:avLst/>
          </a:prstGeom>
          <a:noFill/>
          <a:ln/>
        </p:spPr>
        <p:txBody>
          <a:bodyPr wrap="square" lIns="100013" tIns="50006" rIns="100013" bIns="50006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Alur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step: Surat Masuk → Diteruskan → Manager Inisiasi → Surat Tugas → Tim Produksi. Proses terdokumentasi &amp; terstruktur.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171450"/>
            <a:ext cx="8743950" cy="3286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53603"/>
            <a:ext cx="75295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 Manajemen Surat &amp; Inventaris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863840" y="231743"/>
            <a:ext cx="960120" cy="208026"/>
          </a:xfrm>
          <a:prstGeom prst="roundRect">
            <a:avLst>
              <a:gd name="adj" fmla="val 9157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886700" y="242888"/>
            <a:ext cx="9144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Modul Pendukung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10741" y="582216"/>
            <a:ext cx="4300538" cy="1064419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21431">
            <a:solidFill>
              <a:srgbClr val="1FA89C"/>
            </a:solidFill>
            <a:prstDash val="solid"/>
          </a:ln>
          <a:effectLst>
            <a:outerShdw sx="100000" sy="100000" kx="0" ky="0" algn="bl" rotWithShape="0" blurRad="95250" dist="28575" dir="5400000">
              <a:srgbClr val="2C1A52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07181" y="664369"/>
            <a:ext cx="410765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A89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📬 Manajemen Surat — 4 Step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07181" y="807244"/>
            <a:ext cx="157163" cy="157163"/>
          </a:xfrm>
          <a:prstGeom prst="ellipse">
            <a:avLst/>
          </a:prstGeom>
          <a:solidFill>
            <a:srgbClr val="1FA8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07181" y="807244"/>
            <a:ext cx="1785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7206" y="807244"/>
            <a:ext cx="3907631" cy="188976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Catat surat masuk: pengirim, perihal, kategori, tanggal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07181" y="1007269"/>
            <a:ext cx="157163" cy="157163"/>
          </a:xfrm>
          <a:prstGeom prst="ellipse">
            <a:avLst/>
          </a:prstGeom>
          <a:solidFill>
            <a:srgbClr val="1FA8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07181" y="1007269"/>
            <a:ext cx="1785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7206" y="1007269"/>
            <a:ext cx="3907631" cy="188976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Track status: Diterima → Diproses → Diteruskan → Selesai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07181" y="1207294"/>
            <a:ext cx="157163" cy="157163"/>
          </a:xfrm>
          <a:prstGeom prst="ellipse">
            <a:avLst/>
          </a:prstGeom>
          <a:solidFill>
            <a:srgbClr val="1FA8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07181" y="1207294"/>
            <a:ext cx="1785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7206" y="1207294"/>
            <a:ext cx="3907631" cy="188976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Upload dokumen pendukung ke Google Drive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07181" y="1407319"/>
            <a:ext cx="157163" cy="157163"/>
          </a:xfrm>
          <a:prstGeom prst="ellipse">
            <a:avLst/>
          </a:prstGeom>
          <a:solidFill>
            <a:srgbClr val="1FA8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07181" y="1407319"/>
            <a:ext cx="1785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07206" y="1407319"/>
            <a:ext cx="3907631" cy="157163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Rekapitulasi: filter + export PDF/Excel untuk laporan</a:t>
            </a:r>
            <a:endParaRPr lang="en-US" sz="800" dirty="0"/>
          </a:p>
        </p:txBody>
      </p:sp>
      <p:pic>
        <p:nvPicPr>
          <p:cNvPr id="20" name="Image 1" descr="/tmp/h2p-fit-1791162907587-2w70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572" y="1728788"/>
            <a:ext cx="2136763" cy="1214438"/>
          </a:xfrm>
          <a:prstGeom prst="rect">
            <a:avLst/>
          </a:prstGeom>
          <a:effectLst>
            <a:outerShdw sx="100000" sy="100000" kx="0" ky="0" algn="bl" rotWithShape="0" blurRad="95250" dist="38100" dir="5400000">
              <a:srgbClr val="2C1A52">
                <a:alpha val="18000"/>
              </a:srgbClr>
            </a:outerShdw>
          </a:effectLst>
        </p:spPr>
      </p:pic>
      <p:sp>
        <p:nvSpPr>
          <p:cNvPr id="21" name="Text 17"/>
          <p:cNvSpPr/>
          <p:nvPr/>
        </p:nvSpPr>
        <p:spPr>
          <a:xfrm>
            <a:off x="1548185" y="2957513"/>
            <a:ext cx="162565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6FB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app.pushakin-flows.workers.dev — Manajemen Surat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4632722" y="582216"/>
            <a:ext cx="4300538" cy="1064419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21431">
            <a:solidFill>
              <a:srgbClr val="E67E22"/>
            </a:solidFill>
            <a:prstDash val="solid"/>
          </a:ln>
          <a:effectLst>
            <a:outerShdw sx="100000" sy="100000" kx="0" ky="0" algn="bl" rotWithShape="0" blurRad="95250" dist="28575" dir="5400000">
              <a:srgbClr val="2C1A52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729163" y="664369"/>
            <a:ext cx="4217384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📦 Manajemen Inventaris — 4 Step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729163" y="807244"/>
            <a:ext cx="157163" cy="157163"/>
          </a:xfrm>
          <a:prstGeom prst="ellipse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729163" y="807244"/>
            <a:ext cx="1785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929188" y="807244"/>
            <a:ext cx="3907631" cy="188976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CRUD barang: kode otomatis, 7 kategori, foto + pop-up preview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729163" y="1007269"/>
            <a:ext cx="157163" cy="157163"/>
          </a:xfrm>
          <a:prstGeom prst="ellipse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729163" y="1007269"/>
            <a:ext cx="1785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929188" y="1007269"/>
            <a:ext cx="3907631" cy="188976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Peminjaman: multi-item + foto peminjam + form PDF download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729163" y="1207294"/>
            <a:ext cx="157163" cy="157163"/>
          </a:xfrm>
          <a:prstGeom prst="ellipse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729163" y="1207294"/>
            <a:ext cx="1785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929188" y="1207294"/>
            <a:ext cx="3907631" cy="188976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Pembagian: distribusi barang + stok auto-deduct real-time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729163" y="1407319"/>
            <a:ext cx="157163" cy="157163"/>
          </a:xfrm>
          <a:prstGeom prst="ellipse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4729163" y="1407319"/>
            <a:ext cx="1785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929188" y="1407319"/>
            <a:ext cx="3907631" cy="157163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History + Rekapitulasi: export Excel/PDF per kategori</a:t>
            </a:r>
            <a:endParaRPr lang="en-US" sz="800" dirty="0"/>
          </a:p>
        </p:txBody>
      </p:sp>
      <p:pic>
        <p:nvPicPr>
          <p:cNvPr id="36" name="Image 2" descr="/tmp/h2p-fit-1791162907588-83345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554" y="1728788"/>
            <a:ext cx="2136763" cy="1214438"/>
          </a:xfrm>
          <a:prstGeom prst="rect">
            <a:avLst/>
          </a:prstGeom>
          <a:effectLst>
            <a:outerShdw sx="100000" sy="100000" kx="0" ky="0" algn="bl" rotWithShape="0" blurRad="95250" dist="38100" dir="5400000">
              <a:srgbClr val="2C1A52">
                <a:alpha val="18000"/>
              </a:srgbClr>
            </a:outerShdw>
          </a:effectLst>
        </p:spPr>
      </p:pic>
      <p:sp>
        <p:nvSpPr>
          <p:cNvPr id="37" name="Text 32"/>
          <p:cNvSpPr/>
          <p:nvPr/>
        </p:nvSpPr>
        <p:spPr>
          <a:xfrm>
            <a:off x="6084466" y="2957513"/>
            <a:ext cx="1480873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6FB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app.pushakin-flows.workers.dev — Inventaris</a:t>
            </a:r>
            <a:endParaRPr lang="en-US" sz="6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" y="4793456"/>
            <a:ext cx="8743950" cy="17859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200025" y="4793456"/>
            <a:ext cx="8636000" cy="274320"/>
          </a:xfrm>
          <a:prstGeom prst="rect">
            <a:avLst/>
          </a:prstGeom>
          <a:noFill/>
          <a:ln/>
        </p:spPr>
        <p:txBody>
          <a:bodyPr wrap="square" lIns="100013" tIns="50006" rIns="100013" bIns="50006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Surat = dokumentasi objektif (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step). Inventaris = dukungan eksekusi (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step). Keduanya menghasilkan laporan SKP.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" y="171450"/>
            <a:ext cx="8801100" cy="357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325" y="253603"/>
            <a:ext cx="741231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4. 16 Role, Pesan Petugas &amp; Laporan SKP</a:t>
            </a:r>
            <a:endParaRPr lang="en-US" sz="1013" dirty="0"/>
          </a:p>
        </p:txBody>
      </p:sp>
      <p:sp>
        <p:nvSpPr>
          <p:cNvPr id="4" name="Text 1"/>
          <p:cNvSpPr/>
          <p:nvPr/>
        </p:nvSpPr>
        <p:spPr>
          <a:xfrm>
            <a:off x="7718063" y="230086"/>
            <a:ext cx="1134472" cy="239916"/>
          </a:xfrm>
          <a:prstGeom prst="roundRect">
            <a:avLst>
              <a:gd name="adj" fmla="val 31761"/>
            </a:avLst>
          </a:prstGeom>
          <a:solidFill>
            <a:srgbClr val="D4AF37">
              <a:alpha val="20000"/>
            </a:srgbClr>
          </a:solidFill>
          <a:ln w="14288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740923" y="242888"/>
            <a:ext cx="10887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💬 Key Messages 15%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71450" y="571500"/>
            <a:ext cx="8636000" cy="133302"/>
          </a:xfrm>
          <a:prstGeom prst="rect">
            <a:avLst/>
          </a:prstGeom>
          <a:noFill/>
          <a:ln/>
        </p:spPr>
        <p:txBody>
          <a:bodyPr wrap="square" lIns="14288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Role &amp; Tugas per Tahap — 5 Step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71450" y="732234"/>
            <a:ext cx="1737271" cy="678656"/>
          </a:xfrm>
          <a:prstGeom prst="roundRect">
            <a:avLst>
              <a:gd name="adj" fmla="val 112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71450" y="746522"/>
            <a:ext cx="1737271" cy="0"/>
          </a:xfrm>
          <a:prstGeom prst="line">
            <a:avLst/>
          </a:prstGeom>
          <a:noFill/>
          <a:ln w="28575">
            <a:solidFill>
              <a:srgbClr val="2196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803672"/>
            <a:ext cx="162297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1: 🔵 PRODUKSI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914400"/>
            <a:ext cx="1622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role: Reporter, Creator, Photographer, Designer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228600" y="1282303"/>
            <a:ext cx="17203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upload konten mentah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37296" y="732234"/>
            <a:ext cx="1737382" cy="678656"/>
          </a:xfrm>
          <a:prstGeom prst="roundRect">
            <a:avLst>
              <a:gd name="adj" fmla="val 112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937296" y="746522"/>
            <a:ext cx="1737382" cy="0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94446" y="803672"/>
            <a:ext cx="162308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2: 🟠 PASCA PRODUKSI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994446" y="914400"/>
            <a:ext cx="16230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 role: Editor Video, Web, Foto, Template, Streaming, Podcast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1994446" y="1282303"/>
            <a:ext cx="162308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edit &amp; upload hasil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703253" y="732234"/>
            <a:ext cx="1737382" cy="678656"/>
          </a:xfrm>
          <a:prstGeom prst="roundRect">
            <a:avLst>
              <a:gd name="adj" fmla="val 112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3703253" y="746522"/>
            <a:ext cx="1737382" cy="0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0403" y="803672"/>
            <a:ext cx="162308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3: 🟢 REVIEW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760403" y="914400"/>
            <a:ext cx="16230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role: Reviewer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760403" y="1282303"/>
            <a:ext cx="172046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cek kualitas, approve/revisi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469210" y="732234"/>
            <a:ext cx="1737382" cy="678656"/>
          </a:xfrm>
          <a:prstGeom prst="roundRect">
            <a:avLst>
              <a:gd name="adj" fmla="val 112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469210" y="746522"/>
            <a:ext cx="1737382" cy="0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26360" y="803672"/>
            <a:ext cx="162308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4: 🟣 PUBLIKASI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526360" y="914400"/>
            <a:ext cx="17204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role: Publisher Web, Publisher Sosmed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5526360" y="1282303"/>
            <a:ext cx="172046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publish + embed LIHUM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235168" y="732234"/>
            <a:ext cx="1737382" cy="678656"/>
          </a:xfrm>
          <a:prstGeom prst="roundRect">
            <a:avLst>
              <a:gd name="adj" fmla="val 112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7235168" y="746522"/>
            <a:ext cx="1737382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92318" y="803672"/>
            <a:ext cx="162308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5: 👑 MANAJEMEN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292318" y="914400"/>
            <a:ext cx="17204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role: Admin, Administrator, Manager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7292318" y="1282303"/>
            <a:ext cx="172046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kelola sistem &amp; inisiasi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171450" y="1482328"/>
            <a:ext cx="8636000" cy="133302"/>
          </a:xfrm>
          <a:prstGeom prst="rect">
            <a:avLst/>
          </a:prstGeom>
          <a:noFill/>
          <a:ln/>
        </p:spPr>
        <p:txBody>
          <a:bodyPr wrap="square" lIns="14288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Pesan Komunikasi untuk Petugas — 3 Step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71450" y="1643063"/>
            <a:ext cx="2905051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185738" y="1643063"/>
            <a:ext cx="0" cy="464344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71463" y="1803797"/>
            <a:ext cx="142875" cy="14287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271463" y="1803797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71488" y="1784152"/>
            <a:ext cx="10667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Project Description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471488" y="1880592"/>
            <a:ext cx="9101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tulis narasi = pesan utama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3119363" y="1643063"/>
            <a:ext cx="2905162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3133651" y="1643063"/>
            <a:ext cx="0" cy="464344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19376" y="1803797"/>
            <a:ext cx="142875" cy="142875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219376" y="1803797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419401" y="1784152"/>
            <a:ext cx="728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Custom Activity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3419401" y="1880592"/>
            <a:ext cx="6832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Konteks + jenis kegiatan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6067388" y="1643063"/>
            <a:ext cx="2905162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3"/>
          <p:cNvSpPr/>
          <p:nvPr/>
        </p:nvSpPr>
        <p:spPr>
          <a:xfrm>
            <a:off x="6081675" y="1643063"/>
            <a:ext cx="0" cy="464344"/>
          </a:xfrm>
          <a:prstGeom prst="line">
            <a:avLst/>
          </a:prstGeom>
          <a:noFill/>
          <a:ln w="28575">
            <a:solidFill>
              <a:srgbClr val="00968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167400" y="1803797"/>
            <a:ext cx="142875" cy="142875"/>
          </a:xfrm>
          <a:prstGeom prst="ellipse">
            <a:avLst/>
          </a:prstGeom>
          <a:solidFill>
            <a:srgbClr val="0096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167400" y="1803797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367425" y="1784152"/>
            <a:ext cx="9661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Catatan Task + Surat Tugas</a:t>
            </a:r>
            <a:endParaRPr lang="en-US" sz="600" dirty="0"/>
          </a:p>
        </p:txBody>
      </p:sp>
      <p:sp>
        <p:nvSpPr>
          <p:cNvPr id="50" name="Text 47"/>
          <p:cNvSpPr/>
          <p:nvPr/>
        </p:nvSpPr>
        <p:spPr>
          <a:xfrm>
            <a:off x="6367425" y="1880592"/>
            <a:ext cx="9310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Instruksi per petugas + surat resmi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171450" y="2178844"/>
            <a:ext cx="8636000" cy="133302"/>
          </a:xfrm>
          <a:prstGeom prst="rect">
            <a:avLst/>
          </a:prstGeom>
          <a:noFill/>
          <a:ln/>
        </p:spPr>
        <p:txBody>
          <a:bodyPr wrap="none" lIns="14288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Laporan SKP — 2 Step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71450" y="2339578"/>
            <a:ext cx="2250281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0"/>
          <p:cNvSpPr/>
          <p:nvPr/>
        </p:nvSpPr>
        <p:spPr>
          <a:xfrm>
            <a:off x="185738" y="2339578"/>
            <a:ext cx="0" cy="857250"/>
          </a:xfrm>
          <a:prstGeom prst="line">
            <a:avLst/>
          </a:prstGeom>
          <a:noFill/>
          <a:ln w="28575">
            <a:solidFill>
              <a:srgbClr val="2196F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71463" y="2396728"/>
            <a:ext cx="157163" cy="157163"/>
          </a:xfrm>
          <a:prstGeom prst="ellipse">
            <a:avLst/>
          </a:prstGeom>
          <a:solidFill>
            <a:srgbClr val="219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271463" y="2396728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485775" y="2396728"/>
            <a:ext cx="98533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User buka Laporan Kegiatan</a:t>
            </a:r>
            <a:endParaRPr lang="en-US" sz="600" dirty="0"/>
          </a:p>
        </p:txBody>
      </p:sp>
      <p:sp>
        <p:nvSpPr>
          <p:cNvPr id="57" name="Text 54"/>
          <p:cNvSpPr/>
          <p:nvPr/>
        </p:nvSpPr>
        <p:spPr>
          <a:xfrm>
            <a:off x="485775" y="2507456"/>
            <a:ext cx="9495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Pilih periode, klik Export PDF/Excel</a:t>
            </a:r>
            <a:endParaRPr lang="en-US" sz="600" dirty="0"/>
          </a:p>
        </p:txBody>
      </p:sp>
      <p:pic>
        <p:nvPicPr>
          <p:cNvPr id="58" name="Image 1" descr="/tmp/h2p-fit-1791162907760-u9lt0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881" y="2375297"/>
            <a:ext cx="4186238" cy="785813"/>
          </a:xfrm>
          <a:prstGeom prst="rect">
            <a:avLst/>
          </a:prstGeom>
          <a:effectLst>
            <a:outerShdw sx="100000" sy="100000" kx="0" ky="0" algn="bl" rotWithShape="0" blurRad="57150" dist="19050" dir="5400000">
              <a:srgbClr val="000000">
                <a:alpha val="10000"/>
              </a:srgbClr>
            </a:outerShdw>
          </a:effectLst>
        </p:spPr>
      </p:pic>
      <p:sp>
        <p:nvSpPr>
          <p:cNvPr id="59" name="Text 55"/>
          <p:cNvSpPr/>
          <p:nvPr/>
        </p:nvSpPr>
        <p:spPr>
          <a:xfrm>
            <a:off x="6722269" y="2339578"/>
            <a:ext cx="2250281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6"/>
          <p:cNvSpPr/>
          <p:nvPr/>
        </p:nvSpPr>
        <p:spPr>
          <a:xfrm>
            <a:off x="6736556" y="2339578"/>
            <a:ext cx="0" cy="857250"/>
          </a:xfrm>
          <a:prstGeom prst="line">
            <a:avLst/>
          </a:prstGeom>
          <a:noFill/>
          <a:ln w="28575">
            <a:solidFill>
              <a:srgbClr val="009688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822281" y="2396728"/>
            <a:ext cx="157163" cy="157163"/>
          </a:xfrm>
          <a:prstGeom prst="ellipse">
            <a:avLst/>
          </a:prstGeom>
          <a:solidFill>
            <a:srgbClr val="0096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6822281" y="2396728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7036594" y="2396728"/>
            <a:ext cx="1864519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Isi Laporan SKP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7036594" y="2521744"/>
            <a:ext cx="1864519" cy="30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Isi: daftar tugas, status, tanggal, link hasil produksi. Bukti pemenuhan SKP triwulan.</a:t>
            </a:r>
            <a:endParaRPr lang="en-US" sz="800" dirty="0"/>
          </a:p>
        </p:txBody>
      </p:sp>
      <p:pic>
        <p:nvPicPr>
          <p:cNvPr id="6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4779169"/>
            <a:ext cx="8801100" cy="192881"/>
          </a:xfrm>
          <a:prstGeom prst="rect">
            <a:avLst/>
          </a:prstGeom>
        </p:spPr>
      </p:pic>
      <p:sp>
        <p:nvSpPr>
          <p:cNvPr id="66" name="Text 61"/>
          <p:cNvSpPr/>
          <p:nvPr/>
        </p:nvSpPr>
        <p:spPr>
          <a:xfrm>
            <a:off x="171450" y="4779169"/>
            <a:ext cx="8636000" cy="296266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✅ </a:t>
            </a:r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role (</a:t>
            </a:r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step) + pesan </a:t>
            </a:r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 (description→activity→catatan) + laporan SKP </a:t>
            </a:r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step. Semua terdokumentasi.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200025"/>
            <a:ext cx="8743950" cy="357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71463"/>
            <a:ext cx="75000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5. Inovasi Integrasi: Pushakin Flows ↔ LIHUM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834372" y="258661"/>
            <a:ext cx="989588" cy="239916"/>
          </a:xfrm>
          <a:prstGeom prst="roundRect">
            <a:avLst>
              <a:gd name="adj" fmla="val 31761"/>
            </a:avLst>
          </a:prstGeom>
          <a:solidFill>
            <a:srgbClr val="4C2A85">
              <a:alpha val="15000"/>
            </a:srgbClr>
          </a:solidFill>
          <a:ln w="14288">
            <a:solidFill>
              <a:srgbClr val="4C2A8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857232" y="271463"/>
            <a:ext cx="94386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INOVASI KUNCI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00025" y="600075"/>
            <a:ext cx="8636000" cy="151162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i="1" dirty="0">
                <a:solidFill>
                  <a:srgbClr val="77777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Publisher Web embed gallery LIHUM di web resmi UIN Antasari. Publik unduh foto mandiri 24/7.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00025" y="778669"/>
            <a:ext cx="3588435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Bagaimana Integrasi Bekerja — 4 Step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0025" y="950119"/>
            <a:ext cx="3322625" cy="500063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214313" y="950119"/>
            <a:ext cx="0" cy="500063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0038" y="1100138"/>
            <a:ext cx="200025" cy="20002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00038" y="1100138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1500" y="1098352"/>
            <a:ext cx="154982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Petugas upload foto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71500" y="1205508"/>
            <a:ext cx="14017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 folder 3 (PUBLIC) — foto yang boleh dibagi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00025" y="1493044"/>
            <a:ext cx="3322625" cy="500063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214313" y="1493044"/>
            <a:ext cx="0" cy="500063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0038" y="1643063"/>
            <a:ext cx="200025" cy="200025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00038" y="1643063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71500" y="1641277"/>
            <a:ext cx="12931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klik Publikasikan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71500" y="1748433"/>
            <a:ext cx="12461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klik → gallery otomatis dibuat di LIHUM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200025" y="2035969"/>
            <a:ext cx="3322625" cy="500063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214313" y="2035969"/>
            <a:ext cx="0" cy="500063"/>
          </a:xfrm>
          <a:prstGeom prst="line">
            <a:avLst/>
          </a:prstGeom>
          <a:noFill/>
          <a:ln w="28575">
            <a:solidFill>
              <a:srgbClr val="0096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0038" y="2185988"/>
            <a:ext cx="200025" cy="200025"/>
          </a:xfrm>
          <a:prstGeom prst="ellipse">
            <a:avLst/>
          </a:prstGeom>
          <a:solidFill>
            <a:srgbClr val="0096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00038" y="2185988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71500" y="2184202"/>
            <a:ext cx="143692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Gallery live di LIHUM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71500" y="2291358"/>
            <a:ext cx="12996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Publik lihat &amp; download tanpa akun Google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200025" y="2578894"/>
            <a:ext cx="3322625" cy="500063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214313" y="2578894"/>
            <a:ext cx="0" cy="500063"/>
          </a:xfrm>
          <a:prstGeom prst="line">
            <a:avLst/>
          </a:prstGeom>
          <a:noFill/>
          <a:ln w="28575">
            <a:solidFill>
              <a:srgbClr val="2196F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0038" y="2728913"/>
            <a:ext cx="200025" cy="200025"/>
          </a:xfrm>
          <a:prstGeom prst="ellipse">
            <a:avLst/>
          </a:prstGeom>
          <a:solidFill>
            <a:srgbClr val="219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00038" y="2728913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71500" y="2727127"/>
            <a:ext cx="12774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Publisher Web embed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71500" y="2834283"/>
            <a:ext cx="11553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Embed di web resmi uin-antasari.ac.id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207169" y="3143250"/>
            <a:ext cx="3308338" cy="196453"/>
          </a:xfrm>
          <a:prstGeom prst="roundRect">
            <a:avLst>
              <a:gd name="adj" fmla="val 38788"/>
            </a:avLst>
          </a:prstGeom>
          <a:solidFill>
            <a:srgbClr val="FFF5F5"/>
          </a:solidFill>
          <a:ln w="14288">
            <a:solidFill>
              <a:srgbClr val="DC354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200025" y="3136106"/>
            <a:ext cx="3322625" cy="359664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DC3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</a:t>
            </a:r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DC354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Folder PRIVATE tidak pernah di-share. Hanya PUBLIC.</a:t>
            </a:r>
            <a:endParaRPr lang="en-US" sz="800" dirty="0"/>
          </a:p>
        </p:txBody>
      </p:sp>
      <p:pic>
        <p:nvPicPr>
          <p:cNvPr id="34" name="Image 1" descr="/tmp/h2p-fit-1791162907588-f9hq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663" y="1017984"/>
            <a:ext cx="5421213" cy="3286125"/>
          </a:xfrm>
          <a:prstGeom prst="rect">
            <a:avLst/>
          </a:prstGeom>
          <a:effectLst>
            <a:outerShdw sx="100000" sy="100000" kx="0" ky="0" algn="bl" rotWithShape="0" blurRad="209550" dist="50800" dir="16200000">
              <a:srgbClr val="D4AF37">
                <a:alpha val="55000"/>
              </a:srgbClr>
            </a:outerShdw>
          </a:effectLst>
        </p:spPr>
      </p:pic>
      <p:sp>
        <p:nvSpPr>
          <p:cNvPr id="35" name="Text 31"/>
          <p:cNvSpPr/>
          <p:nvPr/>
        </p:nvSpPr>
        <p:spPr>
          <a:xfrm>
            <a:off x="5542094" y="4361259"/>
            <a:ext cx="1582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2196F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 — Gallery live</a:t>
            </a:r>
            <a:endParaRPr lang="en-US" sz="6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4750594"/>
            <a:ext cx="8743950" cy="192881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200025" y="4750594"/>
            <a:ext cx="8636000" cy="296266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✅ </a:t>
            </a:r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step: upload → publikasikan → gallery live → embed web resmi. Publisher Web embed LIHUM di uin-antasari.ac.id.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" y="171450"/>
            <a:ext cx="8801100" cy="357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325" y="242888"/>
            <a:ext cx="76267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 Eksekusi, Pengukuran &amp; Penutup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932487" y="230086"/>
            <a:ext cx="920048" cy="239916"/>
          </a:xfrm>
          <a:prstGeom prst="roundRect">
            <a:avLst>
              <a:gd name="adj" fmla="val 31761"/>
            </a:avLst>
          </a:prstGeom>
          <a:solidFill>
            <a:srgbClr val="D4AF37">
              <a:alpha val="20000"/>
            </a:srgbClr>
          </a:solidFill>
          <a:ln w="14288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955347" y="242888"/>
            <a:ext cx="87432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⚡ 20% + 📊 15%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71450" y="600075"/>
            <a:ext cx="3511611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⚡ Eksekusi — 5 Step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71450" y="746522"/>
            <a:ext cx="3344391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mewadahi proses produksi dengan tracking real-time.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71450" y="885825"/>
            <a:ext cx="142875" cy="142875"/>
          </a:xfrm>
          <a:prstGeom prst="ellipse">
            <a:avLst/>
          </a:prstGeom>
          <a:solidFill>
            <a:srgbClr val="219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71450" y="885825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71475" y="912279"/>
            <a:ext cx="3144366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🔵</a:t>
            </a:r>
            <a:pPr algn="l" indent="0" marL="0">
              <a:lnSpc>
                <a:spcPts val="709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PRODUKSI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— upload mentah (4 role)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71450" y="1057275"/>
            <a:ext cx="142875" cy="142875"/>
          </a:xfrm>
          <a:prstGeom prst="ellipse">
            <a:avLst/>
          </a:prstGeom>
          <a:solidFill>
            <a:srgbClr val="FF9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71450" y="1057275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71475" y="1083729"/>
            <a:ext cx="3144366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🟠</a:t>
            </a:r>
            <a:pPr algn="l" indent="0" marL="0">
              <a:lnSpc>
                <a:spcPts val="709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PASCA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— editor edit (6 role)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71450" y="1228725"/>
            <a:ext cx="142875" cy="142875"/>
          </a:xfrm>
          <a:prstGeom prst="ellipse">
            <a:avLst/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71450" y="1228725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71475" y="1255179"/>
            <a:ext cx="3144366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🟢</a:t>
            </a:r>
            <a:pPr algn="l" indent="0" marL="0">
              <a:lnSpc>
                <a:spcPts val="709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REVIEW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— reviewer cek kualitas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71450" y="1400175"/>
            <a:ext cx="142875" cy="14287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71450" y="1400175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71475" y="1426629"/>
            <a:ext cx="3144366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🟣</a:t>
            </a:r>
            <a:pPr algn="l" indent="0" marL="0">
              <a:lnSpc>
                <a:spcPts val="709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PUBLIKASI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— publisher ke saluran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71450" y="1571625"/>
            <a:ext cx="142875" cy="142875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71450" y="1571625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71475" y="1598079"/>
            <a:ext cx="3144366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SELESAI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— arsip + LIHUM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71450" y="1785938"/>
            <a:ext cx="3511611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📊 Pengukuran — 4 Step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71450" y="1932384"/>
            <a:ext cx="142875" cy="142875"/>
          </a:xfrm>
          <a:prstGeom prst="ellipse">
            <a:avLst/>
          </a:prstGeom>
          <a:solidFill>
            <a:srgbClr val="0096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71450" y="1932384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71475" y="1958839"/>
            <a:ext cx="3144366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Statistik real-time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71450" y="2103834"/>
            <a:ext cx="142875" cy="142875"/>
          </a:xfrm>
          <a:prstGeom prst="ellipse">
            <a:avLst/>
          </a:prstGeom>
          <a:solidFill>
            <a:srgbClr val="FF9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71450" y="2103834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71475" y="2130289"/>
            <a:ext cx="3144366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Laporan SKP per petugas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1450" y="2275284"/>
            <a:ext cx="142875" cy="142875"/>
          </a:xfrm>
          <a:prstGeom prst="ellipse">
            <a:avLst/>
          </a:prstGeom>
          <a:solidFill>
            <a:srgbClr val="219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171450" y="2275284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71475" y="2301739"/>
            <a:ext cx="3144366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Public Tracker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71450" y="2446734"/>
            <a:ext cx="142875" cy="142875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171450" y="2446734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71475" y="2473189"/>
            <a:ext cx="3144366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LIHUM stats</a:t>
            </a:r>
            <a:endParaRPr lang="en-US" sz="800" dirty="0"/>
          </a:p>
        </p:txBody>
      </p:sp>
      <p:pic>
        <p:nvPicPr>
          <p:cNvPr id="36" name="Image 1" descr="/tmp/h2p-fit-1791162907766-8hzkm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854" y="589359"/>
            <a:ext cx="5456597" cy="257175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5000"/>
              </a:srgbClr>
            </a:outerShdw>
          </a:effectLst>
        </p:spPr>
      </p:pic>
      <p:sp>
        <p:nvSpPr>
          <p:cNvPr id="37" name="Text 33"/>
          <p:cNvSpPr/>
          <p:nvPr/>
        </p:nvSpPr>
        <p:spPr>
          <a:xfrm>
            <a:off x="5215607" y="3218259"/>
            <a:ext cx="22569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2196F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 Tracker — app.pushakin-flows.workers.dev/?public=tracker</a:t>
            </a:r>
            <a:endParaRPr lang="en-US" sz="6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3386138"/>
            <a:ext cx="8801100" cy="63936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4192702" y="3457575"/>
            <a:ext cx="75848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Kesimpulan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314325" y="3614738"/>
            <a:ext cx="8515350" cy="21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— sistem yang mewadahi proses produksi bagi user DAN manajemen bagi Humas. Semua proses dalam step berurutan: Surat → Proyek → 16 Role Produksi → Publikasi → LIHUM → Pengukuran SKP. Inovasi integrasi LIHUM: Publisher Web embed di uin-antasari.ac.id.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3524436" y="3857625"/>
            <a:ext cx="209512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6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Humas dan Keterbukaan Informasi | UIN Antasari Banjarmasin</a:t>
            </a:r>
            <a:endParaRPr lang="en-US" sz="6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" y="4068366"/>
            <a:ext cx="8801100" cy="192881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171450" y="4068366"/>
            <a:ext cx="8636000" cy="296266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Surat → Proyek → </a:t>
            </a:r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Role → Publikasi → LIHUM → Pengukuran SKP. Sistem end-to-end terdokumentasi &amp; terukur.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2026-10-05T01:15:07Z</dcterms:created>
  <dcterms:modified xsi:type="dcterms:W3CDTF">2026-10-05T01:15:07Z</dcterms:modified>
</cp:coreProperties>
</file>