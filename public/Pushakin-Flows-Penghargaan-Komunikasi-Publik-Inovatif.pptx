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-1500187"/>
            <a:ext cx="4000500" cy="4000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572250" y="-1500187"/>
            <a:ext cx="4000500" cy="400050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0125" y="3571875"/>
            <a:ext cx="2714625" cy="27146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-1000125" y="3571875"/>
            <a:ext cx="2714625" cy="271462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86125"/>
            <a:ext cx="9144000" cy="18573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203597" y="203597"/>
            <a:ext cx="8736806" cy="4736306"/>
          </a:xfrm>
          <a:prstGeom prst="roundRect">
            <a:avLst>
              <a:gd name="adj" fmla="val 1207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200025" y="207169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207169" y="200025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8786813" y="207169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8936831" y="200025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200025" y="4936331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07169" y="4786313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936831" y="4786313"/>
            <a:ext cx="0" cy="157163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8786813" y="4936331"/>
            <a:ext cx="157163" cy="0"/>
          </a:xfrm>
          <a:prstGeom prst="line">
            <a:avLst/>
          </a:prstGeom>
          <a:noFill/>
          <a:ln w="14288">
            <a:solidFill>
              <a:srgbClr val="D4AF37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0050"/>
            <a:ext cx="3364929" cy="4429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5800" y="500063"/>
            <a:ext cx="242888" cy="242888"/>
          </a:xfrm>
          <a:prstGeom prst="roundRect">
            <a:avLst>
              <a:gd name="adj" fmla="val 66667"/>
            </a:avLst>
          </a:prstGeom>
          <a:solidFill>
            <a:srgbClr val="2D1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1028700" y="567928"/>
            <a:ext cx="6570687" cy="126609"/>
          </a:xfrm>
          <a:prstGeom prst="rect">
            <a:avLst/>
          </a:prstGeom>
          <a:noFill/>
          <a:ln/>
        </p:spPr>
        <p:txBody>
          <a:bodyPr wrap="none" lIns="114300" tIns="100013" rIns="185738" bIns="100013" rtlCol="0" anchor="t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PENGHARGAAN KOMUNIKASI PUBLIK INOVATIF</a:t>
            </a:r>
            <a:endParaRPr lang="en-US" sz="800" dirty="0"/>
          </a:p>
        </p:txBody>
      </p:sp>
      <p:sp>
        <p:nvSpPr>
          <p:cNvPr id="21" name="Text 13"/>
          <p:cNvSpPr/>
          <p:nvPr/>
        </p:nvSpPr>
        <p:spPr>
          <a:xfrm>
            <a:off x="685800" y="500063"/>
            <a:ext cx="242888" cy="242888"/>
          </a:xfrm>
          <a:prstGeom prst="ellipse">
            <a:avLst/>
          </a:prstGeom>
          <a:solidFill>
            <a:srgbClr val="2D1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742950" y="5572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3" b="1" spc="113" kern="0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013" dirty="0"/>
          </a:p>
        </p:txBody>
      </p:sp>
      <p:sp>
        <p:nvSpPr>
          <p:cNvPr id="23" name="Text 15"/>
          <p:cNvSpPr/>
          <p:nvPr/>
        </p:nvSpPr>
        <p:spPr>
          <a:xfrm>
            <a:off x="7613675" y="557213"/>
            <a:ext cx="143823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spc="281" kern="0" dirty="0">
                <a:solidFill>
                  <a:srgbClr val="F0D6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844" b="1" spc="281" kern="0" dirty="0">
                <a:solidFill>
                  <a:srgbClr val="F0D6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44" dirty="0"/>
          </a:p>
        </p:txBody>
      </p:sp>
      <p:sp>
        <p:nvSpPr>
          <p:cNvPr id="24" name="Text 16"/>
          <p:cNvSpPr/>
          <p:nvPr/>
        </p:nvSpPr>
        <p:spPr>
          <a:xfrm>
            <a:off x="0" y="1523181"/>
            <a:ext cx="863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281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SUBMISSION DOKUMEN AWARD · EDISI 2026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274320" y="1780356"/>
            <a:ext cx="8595360" cy="936921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38100" dir="5400000">
              <a:srgbClr val="D4AF37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6831"/>
              </a:lnSpc>
              <a:buNone/>
            </a:pPr>
            <a:r>
              <a:rPr lang="en-US" sz="7425" b="1" spc="-225" kern="0" dirty="0">
                <a:solidFill>
                  <a:srgbClr val="F5E08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</a:t>
            </a:r>
            <a:endParaRPr lang="en-US" sz="7425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0475" y="2855044"/>
            <a:ext cx="642938" cy="142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 rot="2700000">
            <a:off x="4531589" y="2821777"/>
            <a:ext cx="80822" cy="80822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88" y="2855044"/>
            <a:ext cx="642938" cy="1428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71500" y="3047926"/>
            <a:ext cx="8001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spc="11" kern="0" dirty="0">
                <a:solidFill>
                  <a:srgbClr val="FFFFFF">
                    <a:alpha val="9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Manajemen Produksi Kehumasan Terintegrasi</a:t>
            </a:r>
            <a:endParaRPr lang="en-US" sz="1575" dirty="0"/>
          </a:p>
        </p:txBody>
      </p:sp>
      <p:sp>
        <p:nvSpPr>
          <p:cNvPr id="30" name="Text 20"/>
          <p:cNvSpPr/>
          <p:nvPr/>
        </p:nvSpPr>
        <p:spPr>
          <a:xfrm>
            <a:off x="2451199" y="3397969"/>
            <a:ext cx="4241490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844" spc="45" kern="0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Penghargaan Pengelolaan Komunikasi Publik Inovatif — Kementerian Agama RI</a:t>
            </a:r>
            <a:endParaRPr lang="en-US" sz="844" dirty="0"/>
          </a:p>
        </p:txBody>
      </p:sp>
      <p:sp>
        <p:nvSpPr>
          <p:cNvPr id="31" name="Text 21"/>
          <p:cNvSpPr/>
          <p:nvPr/>
        </p:nvSpPr>
        <p:spPr>
          <a:xfrm>
            <a:off x="571500" y="4294287"/>
            <a:ext cx="2272678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57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DISUSUN OLEH</a:t>
            </a:r>
            <a:endParaRPr lang="en-US" sz="800" dirty="0"/>
          </a:p>
        </p:txBody>
      </p:sp>
      <p:sp>
        <p:nvSpPr>
          <p:cNvPr id="32" name="Text 22"/>
          <p:cNvSpPr/>
          <p:nvPr/>
        </p:nvSpPr>
        <p:spPr>
          <a:xfrm>
            <a:off x="571500" y="4415730"/>
            <a:ext cx="1660252" cy="35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Hubungan Masyarakat</a:t>
            </a:r>
            <a:endParaRPr lang="en-US" sz="956" dirty="0"/>
          </a:p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dan Keterbukaan Informasi</a:t>
            </a:r>
            <a:endParaRPr lang="en-US" sz="956" dirty="0"/>
          </a:p>
        </p:txBody>
      </p:sp>
      <p:sp>
        <p:nvSpPr>
          <p:cNvPr id="33" name="Text 23"/>
          <p:cNvSpPr/>
          <p:nvPr/>
        </p:nvSpPr>
        <p:spPr>
          <a:xfrm>
            <a:off x="7796549" y="4390616"/>
            <a:ext cx="77595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00" b="1" spc="157" kern="0" dirty="0">
                <a:solidFill>
                  <a:srgbClr val="D4AF37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INSTITUSI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6515837" y="4554922"/>
            <a:ext cx="20566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UIN Antasari Banjarmasin</a:t>
            </a:r>
            <a:endParaRPr lang="en-US" sz="12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4325"/>
            <a:ext cx="22467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83344" y="314325"/>
            <a:ext cx="131726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84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OVERVIEW SISTEM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84802" y="314325"/>
            <a:ext cx="99633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56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</a:t>
            </a:r>
            <a:pPr algn="l" indent="0" marL="0">
              <a:buNone/>
            </a:pPr>
            <a:r>
              <a:rPr lang="en-US" sz="800" b="1" spc="56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50069"/>
            <a:ext cx="86360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4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78656"/>
            <a:ext cx="82296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 — Sistem Manajemen </a:t>
            </a:r>
            <a:pPr algn="l" indent="0" marL="0">
              <a:lnSpc>
                <a:spcPts val="1941"/>
              </a:lnSpc>
              <a:buNone/>
            </a:pPr>
            <a:r>
              <a:rPr lang="en-US" sz="1688" b="1" spc="-2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Komunikasi Publik Inovatif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457200" y="982266"/>
            <a:ext cx="5000625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yang mengintegrasikan seluruh tahapan produksi konten kehumasan — dari perencanaan, produksi, pasca-produksi, review, hingga publikasi multi-saluran.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00845"/>
            <a:ext cx="4817678" cy="211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 Platform end-to-end untuk produksi konten kehumasan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⌇ 5 Tahap Workflow: Perencanaan → Produksi → Pasca Produksi → Review → Publikasi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♟ 16 Role dengan tugas spesifik (Reporter, Photographer, Editor, Reviewer, Publisher, dll)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☁ Integrasi Google Drive untuk file management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▤ Integrasi LIHUM untuk galeri publik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▦ 4 Modul terintegrasi: Surat, Kegiatan, Konten, Inventaris</a:t>
            </a:r>
            <a:endParaRPr lang="en-US" sz="844" dirty="0"/>
          </a:p>
          <a:p>
            <a:pPr algn="l" marL="342900" indent="-342900">
              <a:lnSpc>
                <a:spcPts val="1181"/>
              </a:lnSpc>
              <a:spcAft>
                <a:spcPts val="619"/>
              </a:spcAft>
              <a:buSzPct val="100000"/>
              <a:buChar char="•"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▤ Laporan SKP per petugas (PDF/Excel) untuk bukti kinerja triwulan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478475" y="1404417"/>
            <a:ext cx="3204753" cy="2992562"/>
          </a:xfrm>
          <a:prstGeom prst="roundRect">
            <a:avLst>
              <a:gd name="adj" fmla="val 445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266700" dist="95250" dir="5400000">
              <a:srgbClr val="4C2A8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39197" y="1493713"/>
            <a:ext cx="3083309" cy="2699668"/>
          </a:xfrm>
          <a:prstGeom prst="roundRect">
            <a:avLst>
              <a:gd name="adj" fmla="val 2823"/>
            </a:avLst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tmp/h2p-fit-1791070788350-e0ph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197" y="1493713"/>
            <a:ext cx="3083309" cy="26996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9197" y="4193381"/>
            <a:ext cx="3083309" cy="171450"/>
          </a:xfrm>
          <a:prstGeom prst="rect">
            <a:avLst/>
          </a:prstGeom>
          <a:noFill/>
          <a:ln/>
        </p:spPr>
        <p:txBody>
          <a:bodyPr wrap="square" lIns="28575" tIns="57150" rIns="28575" bIns="28575" rtlCol="0" anchor="t"/>
          <a:lstStyle/>
          <a:p>
            <a:pPr algn="ctr" indent="0" marL="0">
              <a:buNone/>
            </a:pPr>
            <a:r>
              <a:rPr lang="en-US" sz="600" spc="11" kern="0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Pushakin Flows — </a:t>
            </a:r>
            <a:pPr algn="ctr" indent="0" marL="0">
              <a:buNone/>
            </a:pPr>
            <a:r>
              <a:rPr lang="en-US" sz="600" b="1" spc="11" kern="0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925" y="4500563"/>
            <a:ext cx="2270038" cy="3857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2650" y="4572000"/>
            <a:ext cx="242888" cy="242888"/>
          </a:xfrm>
          <a:prstGeom prst="ellipse">
            <a:avLst/>
          </a:prstGeom>
          <a:solidFill>
            <a:srgbClr val="2D1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550868" y="46002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16" name="Text 12"/>
          <p:cNvSpPr/>
          <p:nvPr/>
        </p:nvSpPr>
        <p:spPr>
          <a:xfrm>
            <a:off x="3865550" y="4618434"/>
            <a:ext cx="1770161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spc="17" kern="0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buNone/>
            </a:pPr>
            <a:r>
              <a:rPr lang="en-US" sz="844" b="1" spc="17" kern="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Indikator Penilaian Terpenuhi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8635678" y="4964906"/>
            <a:ext cx="5022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22467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6194" y="285750"/>
            <a:ext cx="164225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84" kern="0" dirty="0">
                <a:solidFill>
                  <a:srgbClr val="7871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1 · OBJEKTIF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41952" y="285750"/>
            <a:ext cx="99633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56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</a:t>
            </a:r>
            <a:pPr algn="l" indent="0" marL="0">
              <a:buNone/>
            </a:pPr>
            <a:r>
              <a:rPr lang="en-US" sz="800" b="1" spc="56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Flows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52149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0050" y="521494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000125" y="553975"/>
            <a:ext cx="81438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4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1 — BOBOT 20%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0125" y="661132"/>
            <a:ext cx="8143875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b="1" spc="-28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Objektif</a:t>
            </a:r>
            <a:endParaRPr lang="en-US" sz="2138" dirty="0"/>
          </a:p>
        </p:txBody>
      </p:sp>
      <p:sp>
        <p:nvSpPr>
          <p:cNvPr id="9" name="Text 6"/>
          <p:cNvSpPr/>
          <p:nvPr/>
        </p:nvSpPr>
        <p:spPr>
          <a:xfrm>
            <a:off x="8343900" y="550069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4C2A85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429625" y="63579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8625" y="1209415"/>
            <a:ext cx="455526" cy="176250"/>
          </a:xfrm>
          <a:prstGeom prst="roundRect">
            <a:avLst>
              <a:gd name="adj" fmla="val 53988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41301" y="1209415"/>
            <a:ext cx="210964" cy="176250"/>
          </a:xfrm>
          <a:prstGeom prst="roundRect">
            <a:avLst>
              <a:gd name="adj" fmla="val 53988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209415" y="1209415"/>
            <a:ext cx="608335" cy="176250"/>
          </a:xfrm>
          <a:prstGeom prst="roundRect">
            <a:avLst>
              <a:gd name="adj" fmla="val 53988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874900" y="1209415"/>
            <a:ext cx="210964" cy="176250"/>
          </a:xfrm>
          <a:prstGeom prst="roundRect">
            <a:avLst>
              <a:gd name="adj" fmla="val 53988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143013" y="1209415"/>
            <a:ext cx="529865" cy="176250"/>
          </a:xfrm>
          <a:prstGeom prst="roundRect">
            <a:avLst>
              <a:gd name="adj" fmla="val 53988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0050" y="1064419"/>
            <a:ext cx="8343900" cy="352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Alur 3 Lapis Dokumentasi Objektif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setiap kegiatan dimulai dari dokumen permohonan formal, dipetakan ke program kegiatan, lalu diinisiasi sebagai proyek dengan Surat Tugas resmi: </a:t>
            </a:r>
            <a:pPr algn="l" indent="0" marL="0">
              <a:lnSpc>
                <a:spcPts val="1142"/>
              </a:lnSpc>
              <a:buNone/>
            </a:pPr>
            <a:r>
              <a:rPr lang="en-US" sz="800" b="1" spc="34" kern="0" dirty="0">
                <a:solidFill>
                  <a:srgbClr val="4C2A85"/>
                </a:solidFill>
                <a:highlight>
                  <a:srgbClr val="FFFFFF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SURAT</a:t>
            </a:r>
            <a:pPr algn="l" indent="0" marL="0">
              <a:lnSpc>
                <a:spcPts val="1142"/>
              </a:lnSpc>
              <a:buNone/>
            </a:pPr>
            <a:r>
              <a:rPr lang="en-US" sz="800" b="1" spc="34" kern="0" dirty="0">
                <a:solidFill>
                  <a:srgbClr val="D4AF37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142"/>
              </a:lnSpc>
              <a:buNone/>
            </a:pPr>
            <a:r>
              <a:rPr lang="en-US" sz="800" b="1" spc="34" kern="0" dirty="0">
                <a:solidFill>
                  <a:srgbClr val="4C2A85"/>
                </a:solidFill>
                <a:highlight>
                  <a:srgbClr val="FFFFFF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KEGIATAN</a:t>
            </a:r>
            <a:pPr algn="l" indent="0" marL="0">
              <a:lnSpc>
                <a:spcPts val="1142"/>
              </a:lnSpc>
              <a:buNone/>
            </a:pPr>
            <a:r>
              <a:rPr lang="en-US" sz="800" b="1" spc="34" kern="0" dirty="0">
                <a:solidFill>
                  <a:srgbClr val="D4AF37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142"/>
              </a:lnSpc>
              <a:buNone/>
            </a:pPr>
            <a:r>
              <a:rPr lang="en-US" sz="800" b="1" spc="34" kern="0" dirty="0">
                <a:solidFill>
                  <a:srgbClr val="4C2A85"/>
                </a:solidFill>
                <a:highlight>
                  <a:srgbClr val="FFFFFF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PROYEK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0050" y="1485677"/>
            <a:ext cx="2854709" cy="3429223"/>
          </a:xfrm>
          <a:prstGeom prst="roundRect">
            <a:avLst>
              <a:gd name="adj" fmla="val 46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1499964"/>
            <a:ext cx="2854709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51188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050" y="4911328"/>
            <a:ext cx="285470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3622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1628552"/>
            <a:ext cx="271463" cy="2714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21494" y="1628552"/>
            <a:ext cx="31432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8681" y="1645741"/>
            <a:ext cx="1547186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/ Permohonan Masuk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8681" y="1797100"/>
            <a:ext cx="1768396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3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SURAT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1494" y="1985739"/>
            <a:ext cx="2611822" cy="52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Surat menerima surat masuk dari unit pemohon</a:t>
            </a:r>
            <a:endParaRPr lang="en-US" sz="800" dirty="0"/>
          </a:p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Field: pengirim, perihal, deskripsi, kategori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5066" y="3854053"/>
            <a:ext cx="2604678" cy="821531"/>
          </a:xfrm>
          <a:prstGeom prst="roundRect">
            <a:avLst>
              <a:gd name="adj" fmla="val 9275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1" descr="/tmp/h2p-fit-1791070788321-9rzd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3857625"/>
            <a:ext cx="2597534" cy="8143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1496" y="4537424"/>
            <a:ext cx="866805" cy="112014"/>
          </a:xfrm>
          <a:prstGeom prst="roundRect">
            <a:avLst>
              <a:gd name="adj" fmla="val 34014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4356" y="4543425"/>
            <a:ext cx="82108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evidence_surat.png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35794" y="4739878"/>
            <a:ext cx="227952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· menu Manajemen Surat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521494" y="47363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sp>
        <p:nvSpPr>
          <p:cNvPr id="33" name="Text 29"/>
          <p:cNvSpPr/>
          <p:nvPr/>
        </p:nvSpPr>
        <p:spPr>
          <a:xfrm>
            <a:off x="3369059" y="1485677"/>
            <a:ext cx="4154425" cy="3429223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3369059" y="1499964"/>
            <a:ext cx="4154425" cy="0"/>
          </a:xfrm>
          <a:prstGeom prst="line">
            <a:avLst/>
          </a:prstGeom>
          <a:noFill/>
          <a:ln w="28575">
            <a:solidFill>
              <a:srgbClr val="7C4DC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519913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369059" y="4911328"/>
            <a:ext cx="41544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372631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490503" y="1628552"/>
            <a:ext cx="271463" cy="271463"/>
          </a:xfrm>
          <a:prstGeom prst="ellipse">
            <a:avLst/>
          </a:prstGeom>
          <a:solidFill>
            <a:srgbClr val="7C4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90503" y="1628552"/>
            <a:ext cx="31432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3847691" y="1645741"/>
            <a:ext cx="119608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 Kegiatan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3847691" y="1797100"/>
            <a:ext cx="1224790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47" spc="23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KEGIATAN</a:t>
            </a:r>
            <a:endParaRPr lang="en-US" sz="647" dirty="0"/>
          </a:p>
        </p:txBody>
      </p:sp>
      <p:sp>
        <p:nvSpPr>
          <p:cNvPr id="42" name="Text 38"/>
          <p:cNvSpPr/>
          <p:nvPr/>
        </p:nvSpPr>
        <p:spPr>
          <a:xfrm>
            <a:off x="3490503" y="1985739"/>
            <a:ext cx="3911538" cy="382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Kegiatan mencatat kegiatan dengan nomor, perihal, deskripsi</a:t>
            </a:r>
            <a:endParaRPr lang="en-US" sz="800" dirty="0"/>
          </a:p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Field: nomorKegiatan, jenisKegiatan, perihal, deskripsi, penyelenggara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494075" y="3996928"/>
            <a:ext cx="3904394" cy="821531"/>
          </a:xfrm>
          <a:prstGeom prst="roundRect">
            <a:avLst>
              <a:gd name="adj" fmla="val 9275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2" descr="/tmp/h2p-fit-1791070788319-xeszh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647" y="4000500"/>
            <a:ext cx="3897250" cy="81438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3510506" y="4680299"/>
            <a:ext cx="989365" cy="112014"/>
          </a:xfrm>
          <a:prstGeom prst="roundRect">
            <a:avLst>
              <a:gd name="adj" fmla="val 34014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3533366" y="4686300"/>
            <a:ext cx="9436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evidence_kegiatan.png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7637785" y="1485677"/>
            <a:ext cx="4051399" cy="3429223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3"/>
          <p:cNvSpPr/>
          <p:nvPr/>
        </p:nvSpPr>
        <p:spPr>
          <a:xfrm>
            <a:off x="7637785" y="1499964"/>
            <a:ext cx="4051399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1685612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637785" y="4911328"/>
            <a:ext cx="405139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641357" y="1485677"/>
            <a:ext cx="0" cy="3429223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229" y="1628552"/>
            <a:ext cx="271463" cy="271463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759229" y="1628552"/>
            <a:ext cx="31432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8116416" y="1645741"/>
            <a:ext cx="1027584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Inisiasi Proyek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8116416" y="1797100"/>
            <a:ext cx="1027584" cy="1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47" spc="23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BUAT PROYEK</a:t>
            </a:r>
            <a:endParaRPr lang="en-US" sz="647" dirty="0"/>
          </a:p>
        </p:txBody>
      </p:sp>
      <p:sp>
        <p:nvSpPr>
          <p:cNvPr id="56" name="Text 50"/>
          <p:cNvSpPr/>
          <p:nvPr/>
        </p:nvSpPr>
        <p:spPr>
          <a:xfrm>
            <a:off x="7759229" y="1985739"/>
            <a:ext cx="1384771" cy="52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Buat Proyek: activityTypes, outputNeeds, description, requesterUnit</a:t>
            </a:r>
            <a:endParaRPr lang="en-US" sz="800" dirty="0"/>
          </a:p>
          <a:p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38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otomatis dikirim ke setiap petugas dengan nomor surat resmi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762801" y="3996928"/>
            <a:ext cx="3801368" cy="821531"/>
          </a:xfrm>
          <a:prstGeom prst="roundRect">
            <a:avLst>
              <a:gd name="adj" fmla="val 9275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4" descr="/tmp/h2p-fit-1791070788320-vpmj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372" y="4000500"/>
            <a:ext cx="3794224" cy="81438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802091" y="4686300"/>
            <a:ext cx="1188765" cy="100013"/>
          </a:xfrm>
          <a:prstGeom prst="roundRect">
            <a:avLst>
              <a:gd name="adj" fmla="val 38095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7802091" y="4686300"/>
            <a:ext cx="1341909" cy="128588"/>
          </a:xfrm>
          <a:prstGeom prst="rect">
            <a:avLst/>
          </a:prstGeom>
          <a:noFill/>
          <a:ln/>
        </p:spPr>
        <p:txBody>
          <a:bodyPr wrap="none" lIns="42863" tIns="14288" rIns="42863" bIns="14288" rtlCol="0" anchor="t"/>
          <a:lstStyle/>
          <a:p>
            <a:pPr algn="l" indent="0" marL="0">
              <a:buNone/>
            </a:pPr>
            <a:r>
              <a:rPr lang="en-US" sz="6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evidence_create_project.png</a:t>
            </a:r>
            <a:endParaRPr lang="en-US" sz="600" dirty="0"/>
          </a:p>
        </p:txBody>
      </p:sp>
      <p:sp>
        <p:nvSpPr>
          <p:cNvPr id="61" name="Text 54"/>
          <p:cNvSpPr/>
          <p:nvPr/>
        </p:nvSpPr>
        <p:spPr>
          <a:xfrm>
            <a:off x="8635678" y="4979194"/>
            <a:ext cx="5022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22467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6194" y="285750"/>
            <a:ext cx="164628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84" kern="0" dirty="0">
                <a:solidFill>
                  <a:srgbClr val="7871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2 · STRATEGI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41952" y="285750"/>
            <a:ext cx="99633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56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</a:t>
            </a:r>
            <a:pPr algn="l" indent="0" marL="0">
              <a:buNone/>
            </a:pPr>
            <a:r>
              <a:rPr lang="en-US" sz="800" b="1" spc="56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Flows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52149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0050" y="521494"/>
            <a:ext cx="5286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000125" y="553975"/>
            <a:ext cx="81438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4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2 — BOBOT 20%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0125" y="661132"/>
            <a:ext cx="8143875" cy="30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b="1" spc="-28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2138" dirty="0"/>
          </a:p>
        </p:txBody>
      </p:sp>
      <p:sp>
        <p:nvSpPr>
          <p:cNvPr id="9" name="Text 6"/>
          <p:cNvSpPr/>
          <p:nvPr/>
        </p:nvSpPr>
        <p:spPr>
          <a:xfrm>
            <a:off x="8343900" y="550069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4C2A85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382533" y="635794"/>
            <a:ext cx="3227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0050" y="1064419"/>
            <a:ext cx="8343900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788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Strategi yang Didukung Sistem</a:t>
            </a:r>
            <a:pPr algn="l" indent="0" marL="0">
              <a:lnSpc>
                <a:spcPts val="1142"/>
              </a:lnSpc>
              <a:buNone/>
            </a:pPr>
            <a:r>
              <a:rPr lang="en-US" sz="788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dari pemilihan petugas per role hingga koordinasi tim via WhatsApp, sistem mendukung strategi eksekusi yang adaptif dan terukur.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400050" y="1309427"/>
            <a:ext cx="2714625" cy="1752674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1312999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11103" y="1309427"/>
            <a:ext cx="0" cy="175267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3058530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0766" y="1309427"/>
            <a:ext cx="0" cy="1752674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416583"/>
            <a:ext cx="285750" cy="2857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0075" y="148087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238" dirty="0"/>
          </a:p>
        </p:txBody>
      </p:sp>
      <p:sp>
        <p:nvSpPr>
          <p:cNvPr id="19" name="Text 15"/>
          <p:cNvSpPr/>
          <p:nvPr/>
        </p:nvSpPr>
        <p:spPr>
          <a:xfrm>
            <a:off x="907256" y="1448730"/>
            <a:ext cx="183270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01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07256" y="1541599"/>
            <a:ext cx="1524244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Pemilihan Petugas per Role</a:t>
            </a:r>
            <a:endParaRPr lang="en-US" sz="844" dirty="0"/>
          </a:p>
        </p:txBody>
      </p:sp>
      <p:sp>
        <p:nvSpPr>
          <p:cNvPr id="21" name="Text 17"/>
          <p:cNvSpPr/>
          <p:nvPr/>
        </p:nvSpPr>
        <p:spPr>
          <a:xfrm>
            <a:off x="535781" y="1773771"/>
            <a:ext cx="2457450" cy="48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pilih petugas berdasarkan role (Reporter, Photographer, Editor, dll)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 role dengan stage spesifik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39353" y="2529892"/>
            <a:ext cx="2450306" cy="435769"/>
          </a:xfrm>
          <a:prstGeom prst="roundRect">
            <a:avLst>
              <a:gd name="adj" fmla="val 15301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/tmp/h2p-fit-1791070788350-8rwoz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533464"/>
            <a:ext cx="2443163" cy="4286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8644" y="2854933"/>
            <a:ext cx="1116434" cy="85725"/>
          </a:xfrm>
          <a:prstGeom prst="roundRect">
            <a:avLst>
              <a:gd name="adj" fmla="val 33333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78644" y="2854933"/>
            <a:ext cx="2414588" cy="107156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t"/>
          <a:lstStyle/>
          <a:p>
            <a:pPr algn="l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evidence_create_project.png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214688" y="1309427"/>
            <a:ext cx="2714625" cy="1752674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3214688" y="1312999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25741" y="1309427"/>
            <a:ext cx="0" cy="175267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214688" y="3058530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25403" y="1309427"/>
            <a:ext cx="0" cy="1752674"/>
          </a:xfrm>
          <a:prstGeom prst="line">
            <a:avLst/>
          </a:prstGeom>
          <a:noFill/>
          <a:ln w="21431">
            <a:solidFill>
              <a:srgbClr val="7C4DC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419" y="1416583"/>
            <a:ext cx="285750" cy="2857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414713" y="148087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38" dirty="0"/>
          </a:p>
        </p:txBody>
      </p:sp>
      <p:sp>
        <p:nvSpPr>
          <p:cNvPr id="33" name="Text 27"/>
          <p:cNvSpPr/>
          <p:nvPr/>
        </p:nvSpPr>
        <p:spPr>
          <a:xfrm>
            <a:off x="3721894" y="1448730"/>
            <a:ext cx="192533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02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3721894" y="1541599"/>
            <a:ext cx="1601276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Track &amp; Fast Production</a:t>
            </a:r>
            <a:endParaRPr lang="en-US" sz="844" dirty="0"/>
          </a:p>
        </p:txBody>
      </p:sp>
      <p:sp>
        <p:nvSpPr>
          <p:cNvPr id="35" name="Text 29"/>
          <p:cNvSpPr/>
          <p:nvPr/>
        </p:nvSpPr>
        <p:spPr>
          <a:xfrm>
            <a:off x="3350419" y="1773771"/>
            <a:ext cx="2457450" cy="3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respons cepat untuk kegiatan mendesak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Skip tahap yang tidak perlu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353991" y="2529892"/>
            <a:ext cx="2450306" cy="435769"/>
          </a:xfrm>
          <a:prstGeom prst="roundRect">
            <a:avLst>
              <a:gd name="adj" fmla="val 15301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4" descr="/tmp/h2p-fit-1791070788350-bop8r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563" y="2533464"/>
            <a:ext cx="2443163" cy="42862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393281" y="2854933"/>
            <a:ext cx="1116434" cy="85725"/>
          </a:xfrm>
          <a:prstGeom prst="roundRect">
            <a:avLst>
              <a:gd name="adj" fmla="val 33333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393281" y="2854933"/>
            <a:ext cx="2414588" cy="107156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t"/>
          <a:lstStyle/>
          <a:p>
            <a:pPr algn="l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evidence_create_project.png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6029325" y="1309427"/>
            <a:ext cx="2714625" cy="1752674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4"/>
          <p:cNvSpPr/>
          <p:nvPr/>
        </p:nvSpPr>
        <p:spPr>
          <a:xfrm>
            <a:off x="6029325" y="1312999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740378" y="1309427"/>
            <a:ext cx="0" cy="175267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029325" y="3058530"/>
            <a:ext cx="2714625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040041" y="1309427"/>
            <a:ext cx="0" cy="1752674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056" y="1416583"/>
            <a:ext cx="285750" cy="28575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196975" y="1480877"/>
            <a:ext cx="2219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⚠️</a:t>
            </a:r>
            <a:endParaRPr lang="en-US" sz="1238" dirty="0"/>
          </a:p>
        </p:txBody>
      </p:sp>
      <p:sp>
        <p:nvSpPr>
          <p:cNvPr id="47" name="Text 39"/>
          <p:cNvSpPr/>
          <p:nvPr/>
        </p:nvSpPr>
        <p:spPr>
          <a:xfrm>
            <a:off x="6536531" y="1448730"/>
            <a:ext cx="150802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03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6536531" y="1541599"/>
            <a:ext cx="1277436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Deteksi Konflik Jadwal</a:t>
            </a:r>
            <a:endParaRPr lang="en-US" sz="844" dirty="0"/>
          </a:p>
        </p:txBody>
      </p:sp>
      <p:sp>
        <p:nvSpPr>
          <p:cNvPr id="49" name="Text 41"/>
          <p:cNvSpPr/>
          <p:nvPr/>
        </p:nvSpPr>
        <p:spPr>
          <a:xfrm>
            <a:off x="6165056" y="1773771"/>
            <a:ext cx="2457450" cy="3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cek petugas bentrok jadwal (±3 jam window)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Warning + konfirmasi override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168628" y="2529892"/>
            <a:ext cx="2450306" cy="435769"/>
          </a:xfrm>
          <a:prstGeom prst="roundRect">
            <a:avLst>
              <a:gd name="adj" fmla="val 15301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6" descr="/tmp/h2p-fit-1791070788350-yjxj7j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533464"/>
            <a:ext cx="2443163" cy="42862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207919" y="2854933"/>
            <a:ext cx="1116434" cy="85725"/>
          </a:xfrm>
          <a:prstGeom prst="roundRect">
            <a:avLst>
              <a:gd name="adj" fmla="val 33333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6207919" y="2854933"/>
            <a:ext cx="2414588" cy="107156"/>
          </a:xfrm>
          <a:prstGeom prst="rect">
            <a:avLst/>
          </a:prstGeom>
          <a:noFill/>
          <a:ln/>
        </p:spPr>
        <p:txBody>
          <a:bodyPr wrap="none" lIns="35719" tIns="7144" rIns="35719" bIns="7144" rtlCol="0" anchor="t"/>
          <a:lstStyle/>
          <a:p>
            <a:pPr algn="l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evidence_create_project.png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400050" y="3162114"/>
            <a:ext cx="4121944" cy="1752786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46"/>
          <p:cNvSpPr/>
          <p:nvPr/>
        </p:nvSpPr>
        <p:spPr>
          <a:xfrm>
            <a:off x="400050" y="3165686"/>
            <a:ext cx="4121944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518422" y="3162114"/>
            <a:ext cx="0" cy="1752786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00050" y="4911328"/>
            <a:ext cx="4121944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410766" y="3162114"/>
            <a:ext cx="0" cy="1752786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81" y="3269270"/>
            <a:ext cx="285750" cy="285750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00075" y="333356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38" dirty="0"/>
          </a:p>
        </p:txBody>
      </p:sp>
      <p:sp>
        <p:nvSpPr>
          <p:cNvPr id="61" name="Text 51"/>
          <p:cNvSpPr/>
          <p:nvPr/>
        </p:nvSpPr>
        <p:spPr>
          <a:xfrm>
            <a:off x="907256" y="3301417"/>
            <a:ext cx="145396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04</a:t>
            </a:r>
            <a:endParaRPr lang="en-US" sz="800" dirty="0"/>
          </a:p>
        </p:txBody>
      </p:sp>
      <p:sp>
        <p:nvSpPr>
          <p:cNvPr id="62" name="Text 52"/>
          <p:cNvSpPr/>
          <p:nvPr/>
        </p:nvSpPr>
        <p:spPr>
          <a:xfrm>
            <a:off x="907256" y="3394286"/>
            <a:ext cx="1312255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Inventaris</a:t>
            </a:r>
            <a:endParaRPr lang="en-US" sz="844" dirty="0"/>
          </a:p>
        </p:txBody>
      </p:sp>
      <p:sp>
        <p:nvSpPr>
          <p:cNvPr id="63" name="Text 53"/>
          <p:cNvSpPr/>
          <p:nvPr/>
        </p:nvSpPr>
        <p:spPr>
          <a:xfrm>
            <a:off x="535781" y="3626458"/>
            <a:ext cx="3864769" cy="3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Peminjaman &amp; pembagian barang untuk kegiatan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Stok tracking real-time</a:t>
            </a:r>
            <a:endParaRPr lang="en-US" sz="800" dirty="0"/>
          </a:p>
        </p:txBody>
      </p:sp>
      <p:sp>
        <p:nvSpPr>
          <p:cNvPr id="64" name="Text 54"/>
          <p:cNvSpPr/>
          <p:nvPr/>
        </p:nvSpPr>
        <p:spPr>
          <a:xfrm>
            <a:off x="539353" y="4382691"/>
            <a:ext cx="3857625" cy="435769"/>
          </a:xfrm>
          <a:prstGeom prst="roundRect">
            <a:avLst>
              <a:gd name="adj" fmla="val 15301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5" name="Image 8" descr="/tmp/h2p-fit-1791070788350-5rk3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4386263"/>
            <a:ext cx="3850481" cy="428625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555784" y="4702245"/>
            <a:ext cx="968603" cy="96698"/>
          </a:xfrm>
          <a:prstGeom prst="roundRect">
            <a:avLst>
              <a:gd name="adj" fmla="val 29551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6"/>
          <p:cNvSpPr/>
          <p:nvPr/>
        </p:nvSpPr>
        <p:spPr>
          <a:xfrm>
            <a:off x="578644" y="4707731"/>
            <a:ext cx="92288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evidence_inventory.png</a:t>
            </a:r>
            <a:endParaRPr lang="en-US" sz="800" dirty="0"/>
          </a:p>
        </p:txBody>
      </p:sp>
      <p:sp>
        <p:nvSpPr>
          <p:cNvPr id="68" name="Text 57"/>
          <p:cNvSpPr/>
          <p:nvPr/>
        </p:nvSpPr>
        <p:spPr>
          <a:xfrm>
            <a:off x="4622006" y="3162114"/>
            <a:ext cx="4121944" cy="1752786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58"/>
          <p:cNvSpPr/>
          <p:nvPr/>
        </p:nvSpPr>
        <p:spPr>
          <a:xfrm>
            <a:off x="4622006" y="3165686"/>
            <a:ext cx="4121944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70" name="Shape 59"/>
          <p:cNvSpPr/>
          <p:nvPr/>
        </p:nvSpPr>
        <p:spPr>
          <a:xfrm>
            <a:off x="8740378" y="3162114"/>
            <a:ext cx="0" cy="1752786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4622006" y="4911328"/>
            <a:ext cx="4121944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4632722" y="3162114"/>
            <a:ext cx="0" cy="1752786"/>
          </a:xfrm>
          <a:prstGeom prst="line">
            <a:avLst/>
          </a:prstGeom>
          <a:noFill/>
          <a:ln w="21431">
            <a:solidFill>
              <a:srgbClr val="7C4DC9"/>
            </a:solidFill>
            <a:prstDash val="solid"/>
          </a:ln>
        </p:spPr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3269270"/>
            <a:ext cx="285750" cy="285750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4822031" y="333356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238" dirty="0"/>
          </a:p>
        </p:txBody>
      </p:sp>
      <p:sp>
        <p:nvSpPr>
          <p:cNvPr id="75" name="Text 63"/>
          <p:cNvSpPr/>
          <p:nvPr/>
        </p:nvSpPr>
        <p:spPr>
          <a:xfrm>
            <a:off x="5129213" y="3301417"/>
            <a:ext cx="196896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STRATEGI 05</a:t>
            </a:r>
            <a:endParaRPr lang="en-US" sz="800" dirty="0"/>
          </a:p>
        </p:txBody>
      </p:sp>
      <p:sp>
        <p:nvSpPr>
          <p:cNvPr id="76" name="Text 64"/>
          <p:cNvSpPr/>
          <p:nvPr/>
        </p:nvSpPr>
        <p:spPr>
          <a:xfrm>
            <a:off x="5129213" y="3394286"/>
            <a:ext cx="1637562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Koordinasi Tim via WhatsApp</a:t>
            </a:r>
            <a:endParaRPr lang="en-US" sz="844" dirty="0"/>
          </a:p>
        </p:txBody>
      </p:sp>
      <p:sp>
        <p:nvSpPr>
          <p:cNvPr id="77" name="Text 65"/>
          <p:cNvSpPr/>
          <p:nvPr/>
        </p:nvSpPr>
        <p:spPr>
          <a:xfrm>
            <a:off x="4757738" y="3626458"/>
            <a:ext cx="3864769" cy="3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Reminder WA dengan progress per petugas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'belum 3 dari 5' per orang</a:t>
            </a:r>
            <a:endParaRPr lang="en-US" sz="800" dirty="0"/>
          </a:p>
        </p:txBody>
      </p:sp>
      <p:sp>
        <p:nvSpPr>
          <p:cNvPr id="78" name="Text 66"/>
          <p:cNvSpPr/>
          <p:nvPr/>
        </p:nvSpPr>
        <p:spPr>
          <a:xfrm>
            <a:off x="4761309" y="4382691"/>
            <a:ext cx="3857625" cy="435769"/>
          </a:xfrm>
          <a:prstGeom prst="roundRect">
            <a:avLst>
              <a:gd name="adj" fmla="val 15301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9" name="Image 10" descr="/tmp/h2p-fit-1791070788350-xursy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4881" y="4386263"/>
            <a:ext cx="3850481" cy="428625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4777740" y="4702245"/>
            <a:ext cx="929982" cy="96698"/>
          </a:xfrm>
          <a:prstGeom prst="roundRect">
            <a:avLst>
              <a:gd name="adj" fmla="val 29551"/>
            </a:avLst>
          </a:prstGeom>
          <a:solidFill>
            <a:srgbClr val="2D1A52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68"/>
          <p:cNvSpPr/>
          <p:nvPr/>
        </p:nvSpPr>
        <p:spPr>
          <a:xfrm>
            <a:off x="4800600" y="4707731"/>
            <a:ext cx="88426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evidence_overview.png</a:t>
            </a:r>
            <a:endParaRPr lang="en-US" sz="800" dirty="0"/>
          </a:p>
        </p:txBody>
      </p:sp>
      <p:sp>
        <p:nvSpPr>
          <p:cNvPr id="82" name="Text 69"/>
          <p:cNvSpPr/>
          <p:nvPr/>
        </p:nvSpPr>
        <p:spPr>
          <a:xfrm>
            <a:off x="8635678" y="4979194"/>
            <a:ext cx="5022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56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5175" y="-214312"/>
            <a:ext cx="2028825" cy="1857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25" dirty="0">
                <a:solidFill>
                  <a:srgbClr val="D4AF37">
                    <a:alpha val="6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endParaRPr lang="en-US" sz="146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400050" cy="400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00050"/>
            <a:ext cx="46434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985838" y="417909"/>
            <a:ext cx="7886369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68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3 — TAKTIK &amp; SALURAN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5838" y="546497"/>
            <a:ext cx="7936706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Taktik &amp; Saluran Publikasi Terintegrasi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8329613" y="4572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813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8688"/>
            <a:ext cx="8229600" cy="375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772" y="932259"/>
            <a:ext cx="8222456" cy="367903"/>
          </a:xfrm>
          <a:prstGeom prst="roundRect">
            <a:avLst>
              <a:gd name="adj" fmla="val 46602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632522" y="239316"/>
            <a:ext cx="2331549" cy="900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0125" b="1" spc="-450" kern="0" dirty="0">
                <a:solidFill>
                  <a:srgbClr val="D4AF37">
                    <a:alpha val="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0125" dirty="0"/>
          </a:p>
        </p:txBody>
      </p:sp>
      <p:sp>
        <p:nvSpPr>
          <p:cNvPr id="11" name="Text 7"/>
          <p:cNvSpPr/>
          <p:nvPr/>
        </p:nvSpPr>
        <p:spPr>
          <a:xfrm>
            <a:off x="460772" y="1435894"/>
            <a:ext cx="4043363" cy="177522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64381" y="1546622"/>
            <a:ext cx="1599919" cy="128016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buNone/>
            </a:pPr>
            <a:r>
              <a:rPr lang="en-US" sz="800" b="1" spc="45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SALURAN DIGITAL UTAMA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2931" y="179665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792956" y="1810048"/>
            <a:ext cx="16394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Website Resmi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532459" y="179665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844" dirty="0"/>
          </a:p>
        </p:txBody>
      </p:sp>
      <p:sp>
        <p:nvSpPr>
          <p:cNvPr id="16" name="Text 12"/>
          <p:cNvSpPr/>
          <p:nvPr/>
        </p:nvSpPr>
        <p:spPr>
          <a:xfrm>
            <a:off x="2732484" y="1810048"/>
            <a:ext cx="16394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Instagram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92931" y="198596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endParaRPr lang="en-US" sz="844" dirty="0"/>
          </a:p>
        </p:txBody>
      </p:sp>
      <p:sp>
        <p:nvSpPr>
          <p:cNvPr id="18" name="Text 14"/>
          <p:cNvSpPr/>
          <p:nvPr/>
        </p:nvSpPr>
        <p:spPr>
          <a:xfrm>
            <a:off x="792956" y="1999357"/>
            <a:ext cx="16394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Facebook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32459" y="198596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🐦</a:t>
            </a:r>
            <a:endParaRPr lang="en-US" sz="844" dirty="0"/>
          </a:p>
        </p:txBody>
      </p:sp>
      <p:sp>
        <p:nvSpPr>
          <p:cNvPr id="20" name="Text 16"/>
          <p:cNvSpPr/>
          <p:nvPr/>
        </p:nvSpPr>
        <p:spPr>
          <a:xfrm>
            <a:off x="2732484" y="1999357"/>
            <a:ext cx="16394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Twitter / X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92931" y="2175272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▶️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792956" y="2188666"/>
            <a:ext cx="16394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YouTube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532459" y="2175272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🎵</a:t>
            </a:r>
            <a:endParaRPr lang="en-US" sz="844" dirty="0"/>
          </a:p>
        </p:txBody>
      </p:sp>
      <p:sp>
        <p:nvSpPr>
          <p:cNvPr id="24" name="Text 20"/>
          <p:cNvSpPr/>
          <p:nvPr/>
        </p:nvSpPr>
        <p:spPr>
          <a:xfrm>
            <a:off x="2732484" y="2188666"/>
            <a:ext cx="16394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TikTok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92931" y="2364581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💼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792956" y="2377976"/>
            <a:ext cx="16394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639866" y="1435894"/>
            <a:ext cx="4043363" cy="177522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943475" y="1546622"/>
            <a:ext cx="1678911" cy="128016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SALURAN KHUSUS &amp; DISTRIBUSI</a:t>
            </a:r>
            <a:endParaRPr lang="en-US" sz="675" dirty="0"/>
          </a:p>
        </p:txBody>
      </p:sp>
      <p:sp>
        <p:nvSpPr>
          <p:cNvPr id="29" name="Text 25"/>
          <p:cNvSpPr/>
          <p:nvPr/>
        </p:nvSpPr>
        <p:spPr>
          <a:xfrm>
            <a:off x="4772025" y="179665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📧</a:t>
            </a:r>
            <a:endParaRPr lang="en-US" sz="844" dirty="0"/>
          </a:p>
        </p:txBody>
      </p:sp>
      <p:sp>
        <p:nvSpPr>
          <p:cNvPr id="30" name="Text 26"/>
          <p:cNvSpPr/>
          <p:nvPr/>
        </p:nvSpPr>
        <p:spPr>
          <a:xfrm>
            <a:off x="4972050" y="1810048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Newsletter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772025" y="1985963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endParaRPr lang="en-US" sz="844" dirty="0"/>
          </a:p>
        </p:txBody>
      </p:sp>
      <p:sp>
        <p:nvSpPr>
          <p:cNvPr id="32" name="Text 28"/>
          <p:cNvSpPr/>
          <p:nvPr/>
        </p:nvSpPr>
        <p:spPr>
          <a:xfrm>
            <a:off x="4972050" y="1999357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Portal Berita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772025" y="2175272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endParaRPr lang="en-US" sz="844" dirty="0"/>
          </a:p>
        </p:txBody>
      </p:sp>
      <p:sp>
        <p:nvSpPr>
          <p:cNvPr id="34" name="Text 30"/>
          <p:cNvSpPr/>
          <p:nvPr/>
        </p:nvSpPr>
        <p:spPr>
          <a:xfrm>
            <a:off x="4972050" y="2188666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Spotify / Podcast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772025" y="2364581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endParaRPr lang="en-US" sz="844" dirty="0"/>
          </a:p>
        </p:txBody>
      </p:sp>
      <p:sp>
        <p:nvSpPr>
          <p:cNvPr id="36" name="Text 32"/>
          <p:cNvSpPr/>
          <p:nvPr/>
        </p:nvSpPr>
        <p:spPr>
          <a:xfrm>
            <a:off x="4972050" y="2377976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Live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772025" y="2553891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844" dirty="0"/>
          </a:p>
        </p:txBody>
      </p:sp>
      <p:sp>
        <p:nvSpPr>
          <p:cNvPr id="38" name="Text 34"/>
          <p:cNvSpPr/>
          <p:nvPr/>
        </p:nvSpPr>
        <p:spPr>
          <a:xfrm>
            <a:off x="4972050" y="2567285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Lainnya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72025" y="2743200"/>
            <a:ext cx="1428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endParaRPr lang="en-US" sz="844" dirty="0"/>
          </a:p>
        </p:txBody>
      </p:sp>
      <p:sp>
        <p:nvSpPr>
          <p:cNvPr id="40" name="Text 36"/>
          <p:cNvSpPr/>
          <p:nvPr/>
        </p:nvSpPr>
        <p:spPr>
          <a:xfrm>
            <a:off x="4972050" y="2756595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Folder PUBLIC/PRIVATE (filter distribusi)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4772025" y="2932509"/>
            <a:ext cx="142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endParaRPr lang="en-US" sz="844" dirty="0"/>
          </a:p>
        </p:txBody>
      </p:sp>
      <p:sp>
        <p:nvSpPr>
          <p:cNvPr id="42" name="Text 38"/>
          <p:cNvSpPr/>
          <p:nvPr/>
        </p:nvSpPr>
        <p:spPr>
          <a:xfrm>
            <a:off x="4972050" y="2945904"/>
            <a:ext cx="3579019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Gallery (unduh mandiri)</a:t>
            </a:r>
            <a:endParaRPr lang="en-US" sz="8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3275"/>
            <a:ext cx="8229600" cy="64293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460772" y="3346847"/>
            <a:ext cx="8222456" cy="635794"/>
          </a:xfrm>
          <a:prstGeom prst="roundRect">
            <a:avLst>
              <a:gd name="adj" fmla="val 17978"/>
            </a:avLst>
          </a:prstGeom>
          <a:noFill/>
          <a:ln w="7144">
            <a:solidFill>
              <a:srgbClr val="4C2A8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750094" y="3621881"/>
            <a:ext cx="1688714" cy="11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45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 KHUSUS PER SALURAN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592931" y="360759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7" name="Text 42"/>
          <p:cNvSpPr/>
          <p:nvPr/>
        </p:nvSpPr>
        <p:spPr>
          <a:xfrm>
            <a:off x="2146474" y="3439716"/>
            <a:ext cx="1973238" cy="192881"/>
          </a:xfrm>
          <a:prstGeom prst="roundRect">
            <a:avLst>
              <a:gd name="adj" fmla="val 493334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2378646" y="3486150"/>
            <a:ext cx="17732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Publisher Web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2235771" y="34861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0" name="Text 45"/>
          <p:cNvSpPr/>
          <p:nvPr/>
        </p:nvSpPr>
        <p:spPr>
          <a:xfrm>
            <a:off x="2991780" y="3486150"/>
            <a:ext cx="914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3134655" y="3486150"/>
            <a:ext cx="8957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saluran website resmi</a:t>
            </a:r>
            <a:endParaRPr lang="en-US" sz="675" dirty="0"/>
          </a:p>
        </p:txBody>
      </p:sp>
      <p:sp>
        <p:nvSpPr>
          <p:cNvPr id="52" name="Text 47"/>
          <p:cNvSpPr/>
          <p:nvPr/>
        </p:nvSpPr>
        <p:spPr>
          <a:xfrm>
            <a:off x="4184005" y="3439716"/>
            <a:ext cx="2046238" cy="192881"/>
          </a:xfrm>
          <a:prstGeom prst="roundRect">
            <a:avLst>
              <a:gd name="adj" fmla="val 493334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4416177" y="3486150"/>
            <a:ext cx="18462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Publisher Social Media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4273302" y="34861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84" dirty="0"/>
          </a:p>
        </p:txBody>
      </p:sp>
      <p:sp>
        <p:nvSpPr>
          <p:cNvPr id="55" name="Text 50"/>
          <p:cNvSpPr/>
          <p:nvPr/>
        </p:nvSpPr>
        <p:spPr>
          <a:xfrm>
            <a:off x="5345311" y="3486150"/>
            <a:ext cx="914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5488186" y="3486150"/>
            <a:ext cx="65276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saluran sosmed</a:t>
            </a:r>
            <a:endParaRPr lang="en-US" sz="675" dirty="0"/>
          </a:p>
        </p:txBody>
      </p:sp>
      <p:sp>
        <p:nvSpPr>
          <p:cNvPr id="57" name="Text 52"/>
          <p:cNvSpPr/>
          <p:nvPr/>
        </p:nvSpPr>
        <p:spPr>
          <a:xfrm>
            <a:off x="6294537" y="3439716"/>
            <a:ext cx="1931826" cy="192881"/>
          </a:xfrm>
          <a:prstGeom prst="roundRect">
            <a:avLst>
              <a:gd name="adj" fmla="val 493334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6526709" y="3486150"/>
            <a:ext cx="202436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Operator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6383834" y="34861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60" name="Text 55"/>
          <p:cNvSpPr/>
          <p:nvPr/>
        </p:nvSpPr>
        <p:spPr>
          <a:xfrm>
            <a:off x="7336743" y="3486150"/>
            <a:ext cx="914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7479618" y="3486150"/>
            <a:ext cx="65744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siaran langsung</a:t>
            </a:r>
            <a:endParaRPr lang="en-US" sz="675" dirty="0"/>
          </a:p>
        </p:txBody>
      </p:sp>
      <p:sp>
        <p:nvSpPr>
          <p:cNvPr id="62" name="Text 57"/>
          <p:cNvSpPr/>
          <p:nvPr/>
        </p:nvSpPr>
        <p:spPr>
          <a:xfrm>
            <a:off x="2146474" y="3696891"/>
            <a:ext cx="1888852" cy="192881"/>
          </a:xfrm>
          <a:prstGeom prst="roundRect">
            <a:avLst>
              <a:gd name="adj" fmla="val 493334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2378646" y="3743325"/>
            <a:ext cx="17732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Podcast Operator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2235771" y="37433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984" dirty="0"/>
          </a:p>
        </p:txBody>
      </p:sp>
      <p:sp>
        <p:nvSpPr>
          <p:cNvPr id="65" name="Text 60"/>
          <p:cNvSpPr/>
          <p:nvPr/>
        </p:nvSpPr>
        <p:spPr>
          <a:xfrm>
            <a:off x="3107754" y="3743325"/>
            <a:ext cx="9144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3250629" y="3743325"/>
            <a:ext cx="69539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podcast</a:t>
            </a:r>
            <a:endParaRPr lang="en-US" sz="675" dirty="0"/>
          </a:p>
        </p:txBody>
      </p:sp>
      <p:sp>
        <p:nvSpPr>
          <p:cNvPr id="67" name="Text 62"/>
          <p:cNvSpPr/>
          <p:nvPr/>
        </p:nvSpPr>
        <p:spPr>
          <a:xfrm>
            <a:off x="464344" y="4121944"/>
            <a:ext cx="1271588" cy="614363"/>
          </a:xfrm>
          <a:prstGeom prst="roundRect">
            <a:avLst>
              <a:gd name="adj" fmla="val 15504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952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8" name="Image 3" descr="/tmp/h2p-fit-1791070788474-x4yo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8" y="4129088"/>
            <a:ext cx="1257300" cy="600075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1834515" y="4205218"/>
            <a:ext cx="702499" cy="152019"/>
          </a:xfrm>
          <a:prstGeom prst="roundRect">
            <a:avLst>
              <a:gd name="adj" fmla="val 25063"/>
            </a:avLst>
          </a:prstGeom>
          <a:solidFill>
            <a:srgbClr val="D4AF37">
              <a:alpha val="1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2006588" y="4241936"/>
            <a:ext cx="47265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34" kern="0" dirty="0">
                <a:solidFill>
                  <a:srgbClr val="A8872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</a:t>
            </a:r>
            <a:endParaRPr lang="en-US" sz="600" dirty="0"/>
          </a:p>
        </p:txBody>
      </p:sp>
      <p:sp>
        <p:nvSpPr>
          <p:cNvPr id="71" name="Text 65"/>
          <p:cNvSpPr/>
          <p:nvPr/>
        </p:nvSpPr>
        <p:spPr>
          <a:xfrm>
            <a:off x="1928813" y="424193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800" dirty="0"/>
          </a:p>
        </p:txBody>
      </p:sp>
      <p:sp>
        <p:nvSpPr>
          <p:cNvPr id="72" name="Text 66"/>
          <p:cNvSpPr/>
          <p:nvPr/>
        </p:nvSpPr>
        <p:spPr>
          <a:xfrm>
            <a:off x="1857375" y="4391955"/>
            <a:ext cx="6829425" cy="12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Gallery — Galeri Publik Otomatis untuk Distribusi Konten Kehumasan</a:t>
            </a:r>
            <a:endParaRPr lang="en-US" sz="800" dirty="0"/>
          </a:p>
        </p:txBody>
      </p:sp>
      <p:sp>
        <p:nvSpPr>
          <p:cNvPr id="73" name="Text 67"/>
          <p:cNvSpPr/>
          <p:nvPr/>
        </p:nvSpPr>
        <p:spPr>
          <a:xfrm>
            <a:off x="1978819" y="4541193"/>
            <a:ext cx="1442270" cy="13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47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lihum.synclicen.workers.dev</a:t>
            </a:r>
            <a:endParaRPr lang="en-US" sz="647" dirty="0"/>
          </a:p>
        </p:txBody>
      </p:sp>
      <p:sp>
        <p:nvSpPr>
          <p:cNvPr id="74" name="Text 68"/>
          <p:cNvSpPr/>
          <p:nvPr/>
        </p:nvSpPr>
        <p:spPr>
          <a:xfrm>
            <a:off x="1857375" y="454476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14" dirty="0"/>
          </a:p>
        </p:txBody>
      </p:sp>
      <p:sp>
        <p:nvSpPr>
          <p:cNvPr id="75" name="Text 69"/>
          <p:cNvSpPr/>
          <p:nvPr/>
        </p:nvSpPr>
        <p:spPr>
          <a:xfrm>
            <a:off x="457200" y="4929188"/>
            <a:ext cx="140357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</a:t>
            </a:r>
            <a:pPr algn="l" indent="0" marL="0">
              <a:buNone/>
            </a:pPr>
            <a:r>
              <a:rPr lang="en-US" sz="619" spc="2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3 / 6</a:t>
            </a:r>
            <a:endParaRPr lang="en-US" sz="619" dirty="0"/>
          </a:p>
        </p:txBody>
      </p:sp>
      <p:sp>
        <p:nvSpPr>
          <p:cNvPr id="76" name="Text 70"/>
          <p:cNvSpPr/>
          <p:nvPr/>
        </p:nvSpPr>
        <p:spPr>
          <a:xfrm>
            <a:off x="8592703" y="4922044"/>
            <a:ext cx="48760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11</a:t>
            </a:r>
            <a:endParaRPr lang="en-US" sz="800" dirty="0"/>
          </a:p>
        </p:txBody>
      </p:sp>
      <p:sp>
        <p:nvSpPr>
          <p:cNvPr id="77" name="Text 71"/>
          <p:cNvSpPr/>
          <p:nvPr/>
        </p:nvSpPr>
        <p:spPr>
          <a:xfrm>
            <a:off x="664369" y="873323"/>
            <a:ext cx="140392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endParaRPr lang="en-US" sz="3825" dirty="0"/>
          </a:p>
        </p:txBody>
      </p:sp>
      <p:sp>
        <p:nvSpPr>
          <p:cNvPr id="78" name="Text 72"/>
          <p:cNvSpPr/>
          <p:nvPr/>
        </p:nvSpPr>
        <p:spPr>
          <a:xfrm>
            <a:off x="1891866" y="895313"/>
            <a:ext cx="2777490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>
                    <a:alpha val="9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Saluran Publikasi Terintegrasi</a:t>
            </a:r>
            <a:endParaRPr lang="en-US" sz="1013" dirty="0"/>
          </a:p>
        </p:txBody>
      </p:sp>
      <p:sp>
        <p:nvSpPr>
          <p:cNvPr id="79" name="Text 73"/>
          <p:cNvSpPr/>
          <p:nvPr/>
        </p:nvSpPr>
        <p:spPr>
          <a:xfrm>
            <a:off x="1891866" y="1078148"/>
            <a:ext cx="25717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Dari kanal digital utama hingga saluran khusus — semuanya terhubung ke satu workflow produksi konten kehumasan.</a:t>
            </a:r>
            <a:endParaRPr lang="en-US" sz="800" dirty="0"/>
          </a:p>
        </p:txBody>
      </p:sp>
      <p:sp>
        <p:nvSpPr>
          <p:cNvPr id="80" name="Text 74"/>
          <p:cNvSpPr/>
          <p:nvPr/>
        </p:nvSpPr>
        <p:spPr>
          <a:xfrm>
            <a:off x="6965960" y="989109"/>
            <a:ext cx="1536531" cy="254203"/>
          </a:xfrm>
          <a:prstGeom prst="roundRect">
            <a:avLst>
              <a:gd name="adj" fmla="val 3743258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5"/>
          <p:cNvSpPr/>
          <p:nvPr/>
        </p:nvSpPr>
        <p:spPr>
          <a:xfrm>
            <a:off x="7238851" y="1073348"/>
            <a:ext cx="124078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MULTI-CHANNEL DELIVERY</a:t>
            </a:r>
            <a:endParaRPr lang="en-US" sz="619" dirty="0"/>
          </a:p>
        </p:txBody>
      </p:sp>
      <p:sp>
        <p:nvSpPr>
          <p:cNvPr id="82" name="Text 76"/>
          <p:cNvSpPr/>
          <p:nvPr/>
        </p:nvSpPr>
        <p:spPr>
          <a:xfrm>
            <a:off x="7095976" y="106620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29063"/>
            <a:ext cx="1743075" cy="1214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75" dirty="0">
                <a:solidFill>
                  <a:srgbClr val="4C2A85">
                    <a:alpha val="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237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400050" cy="400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00050"/>
            <a:ext cx="46434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985838" y="417909"/>
            <a:ext cx="815816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68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4 — KEY MESSAGES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5838" y="546497"/>
            <a:ext cx="7936706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Pesan Komunikasi Tersusun dari Narasi hingga Instruksi Petugas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8329613" y="4572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813" dirty="0"/>
          </a:p>
        </p:txBody>
      </p:sp>
      <p:sp>
        <p:nvSpPr>
          <p:cNvPr id="8" name="Text 5"/>
          <p:cNvSpPr/>
          <p:nvPr/>
        </p:nvSpPr>
        <p:spPr>
          <a:xfrm>
            <a:off x="460772" y="903684"/>
            <a:ext cx="5807869" cy="744178"/>
          </a:xfrm>
          <a:prstGeom prst="roundRect">
            <a:avLst>
              <a:gd name="adj" fmla="val 17919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992981"/>
            <a:ext cx="400050" cy="400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7468" y="1042988"/>
            <a:ext cx="31265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600" b="1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635794" y="1114425"/>
            <a:ext cx="228600" cy="22860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5794" y="111442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1207294" y="992981"/>
            <a:ext cx="2155091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Description — Narasi Kegiatan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1050131" y="1143000"/>
            <a:ext cx="5100638" cy="43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tulis narasi kegiatan di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4C2A85"/>
                </a:solidFill>
                <a:highlight>
                  <a:srgbClr val="4C2A8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Buat Proyek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4C2A85"/>
                </a:solidFill>
                <a:highlight>
                  <a:srgbClr val="4C2A8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pesan utama kegiatan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Contoh: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i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"Dokumentasi kegiatan Pendampingan APS LAMGAMA untuk publikasi internal dan eksternal"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336131" y="17085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460772" y="1826456"/>
            <a:ext cx="5807869" cy="605656"/>
          </a:xfrm>
          <a:prstGeom prst="roundRect">
            <a:avLst>
              <a:gd name="adj" fmla="val 2201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9" y="1915753"/>
            <a:ext cx="400050" cy="4000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468" y="1965759"/>
            <a:ext cx="31265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600" b="1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635794" y="2037197"/>
            <a:ext cx="228600" cy="22860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5794" y="20371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21" name="Text 16"/>
          <p:cNvSpPr/>
          <p:nvPr/>
        </p:nvSpPr>
        <p:spPr>
          <a:xfrm>
            <a:off x="1207294" y="1915753"/>
            <a:ext cx="2386414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Activity — Konteks Pesan Khusus</a:t>
            </a:r>
            <a:endParaRPr lang="en-US" sz="844" dirty="0"/>
          </a:p>
        </p:txBody>
      </p:sp>
      <p:sp>
        <p:nvSpPr>
          <p:cNvPr id="22" name="Text 17"/>
          <p:cNvSpPr/>
          <p:nvPr/>
        </p:nvSpPr>
        <p:spPr>
          <a:xfrm>
            <a:off x="1050131" y="2065772"/>
            <a:ext cx="5100638" cy="29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4C2A85"/>
                </a:solidFill>
                <a:highlight>
                  <a:srgbClr val="4C2A8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customActivity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konteks pesan khusus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Jenis kegiatan + tujuan komunikasi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336131" y="249283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013" dirty="0"/>
          </a:p>
        </p:txBody>
      </p:sp>
      <p:sp>
        <p:nvSpPr>
          <p:cNvPr id="24" name="Text 19"/>
          <p:cNvSpPr/>
          <p:nvPr/>
        </p:nvSpPr>
        <p:spPr>
          <a:xfrm>
            <a:off x="460772" y="2610706"/>
            <a:ext cx="5807869" cy="744178"/>
          </a:xfrm>
          <a:prstGeom prst="roundRect">
            <a:avLst>
              <a:gd name="adj" fmla="val 17919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" y="2700003"/>
            <a:ext cx="400050" cy="4000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7468" y="2750009"/>
            <a:ext cx="312651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6"/>
              </a:lnSpc>
              <a:buNone/>
            </a:pPr>
            <a:r>
              <a:rPr lang="en-US" sz="600" b="1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</a:t>
            </a:r>
            <a:endParaRPr lang="en-US" sz="600" dirty="0"/>
          </a:p>
        </p:txBody>
      </p:sp>
      <p:sp>
        <p:nvSpPr>
          <p:cNvPr id="27" name="Text 21"/>
          <p:cNvSpPr/>
          <p:nvPr/>
        </p:nvSpPr>
        <p:spPr>
          <a:xfrm>
            <a:off x="635794" y="2821446"/>
            <a:ext cx="228600" cy="22860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35794" y="282144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29" name="Text 23"/>
          <p:cNvSpPr/>
          <p:nvPr/>
        </p:nvSpPr>
        <p:spPr>
          <a:xfrm>
            <a:off x="1207294" y="2700003"/>
            <a:ext cx="2808052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Catatan per Task — Instruksi Spesifik per Petugas</a:t>
            </a:r>
            <a:endParaRPr lang="en-US" sz="844" dirty="0"/>
          </a:p>
        </p:txBody>
      </p:sp>
      <p:sp>
        <p:nvSpPr>
          <p:cNvPr id="30" name="Text 24"/>
          <p:cNvSpPr/>
          <p:nvPr/>
        </p:nvSpPr>
        <p:spPr>
          <a:xfrm>
            <a:off x="1050131" y="2850021"/>
            <a:ext cx="5100638" cy="43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bisa tambah catatan ke setiap petugas per tahap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Instruksi pesan: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i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"foto harus menonjolkan kebersamaan"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i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"artikel fokus ke program beasiswa"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dll</a:t>
            </a:r>
            <a:endParaRPr lang="en-US" sz="800" dirty="0"/>
          </a:p>
          <a:p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79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petugas lihat catatan saat mengerjakan tugas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404372" y="903684"/>
            <a:ext cx="2278856" cy="2921794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507956" y="995553"/>
            <a:ext cx="656779" cy="152019"/>
          </a:xfrm>
          <a:prstGeom prst="roundRect">
            <a:avLst>
              <a:gd name="adj" fmla="val 25063"/>
            </a:avLst>
          </a:prstGeom>
          <a:solidFill>
            <a:srgbClr val="D4AF37">
              <a:alpha val="1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685744" y="1032272"/>
            <a:ext cx="47265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34" kern="0" dirty="0">
                <a:solidFill>
                  <a:srgbClr val="A8872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</a:t>
            </a:r>
            <a:endParaRPr lang="en-US" sz="600" dirty="0"/>
          </a:p>
        </p:txBody>
      </p:sp>
      <p:sp>
        <p:nvSpPr>
          <p:cNvPr id="34" name="Text 28"/>
          <p:cNvSpPr/>
          <p:nvPr/>
        </p:nvSpPr>
        <p:spPr>
          <a:xfrm>
            <a:off x="6579394" y="103227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164735" y="992981"/>
            <a:ext cx="152810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23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BUAT PROYEK — FIELD DESCRIPTION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6500813" y="1228725"/>
            <a:ext cx="2085975" cy="1964308"/>
          </a:xfrm>
          <a:prstGeom prst="roundRect">
            <a:avLst>
              <a:gd name="adj" fmla="val 3879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4" descr="/tmp/h2p-fit-1791070787561-idn7z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956" y="1235869"/>
            <a:ext cx="2071688" cy="195002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493669" y="3271614"/>
            <a:ext cx="2100263" cy="265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Buat Proyek menampung description &amp; customActivity sebagai pesan utama kegiatan.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607969" y="3564731"/>
            <a:ext cx="18046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→ Buat Proyek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6493669" y="360759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29063"/>
            <a:ext cx="8229600" cy="8143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460772" y="3932634"/>
            <a:ext cx="8222456" cy="807244"/>
          </a:xfrm>
          <a:prstGeom prst="roundRect">
            <a:avLst>
              <a:gd name="adj" fmla="val 16519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596503" y="4111228"/>
            <a:ext cx="450056" cy="450056"/>
          </a:xfrm>
          <a:prstGeom prst="roundRect">
            <a:avLst>
              <a:gd name="adj" fmla="val 25397"/>
            </a:avLst>
          </a:prstGeom>
          <a:solidFill>
            <a:srgbClr val="D4AF37">
              <a:alpha val="1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655796" y="4170521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2250" dirty="0"/>
          </a:p>
        </p:txBody>
      </p:sp>
      <p:sp>
        <p:nvSpPr>
          <p:cNvPr id="45" name="Text 37"/>
          <p:cNvSpPr/>
          <p:nvPr/>
        </p:nvSpPr>
        <p:spPr>
          <a:xfrm>
            <a:off x="3680371" y="4074505"/>
            <a:ext cx="351272" cy="107156"/>
          </a:xfrm>
          <a:prstGeom prst="roundRect">
            <a:avLst>
              <a:gd name="adj" fmla="val 3555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1335881" y="4070933"/>
            <a:ext cx="2470327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— PESAN TERTULIS FORMAL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1164431" y="40709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8" name="Text 40"/>
          <p:cNvSpPr/>
          <p:nvPr/>
        </p:nvSpPr>
        <p:spPr>
          <a:xfrm>
            <a:off x="3666320" y="4068075"/>
            <a:ext cx="379373" cy="120015"/>
          </a:xfrm>
          <a:prstGeom prst="roundRect">
            <a:avLst>
              <a:gd name="adj" fmla="val 3174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3652400" y="4074505"/>
            <a:ext cx="4072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7" kern="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RESMI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1164431" y="4228095"/>
            <a:ext cx="6672263" cy="395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petugas terima Surat Tugas resmi dengan detail kegiatan</a:t>
            </a:r>
            <a:endParaRPr lang="en-US" sz="800" dirty="0"/>
          </a:p>
          <a:p>
            <a:pPr algn="l" indent="0" marL="0">
              <a:lnSpc>
                <a:spcPts val="906"/>
              </a:lnSpc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Berisi: nomor surat, judul proyek, deskripsi, role yang ditugaskan</a:t>
            </a:r>
            <a:endParaRPr lang="en-US" sz="800" dirty="0"/>
          </a:p>
          <a:p>
            <a:pPr algn="l" indent="0" marL="0">
              <a:lnSpc>
                <a:spcPts val="906"/>
              </a:lnSpc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Pesan tertulis formal yang menjadi pedoman tim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7958138" y="4043363"/>
            <a:ext cx="585788" cy="585788"/>
          </a:xfrm>
          <a:prstGeom prst="ellipse">
            <a:avLst/>
          </a:prstGeom>
          <a:noFill/>
          <a:ln w="14288">
            <a:solidFill>
              <a:srgbClr val="D4AF3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8172450" y="417340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3" name="Text 45"/>
          <p:cNvSpPr/>
          <p:nvPr/>
        </p:nvSpPr>
        <p:spPr>
          <a:xfrm>
            <a:off x="8074112" y="4344851"/>
            <a:ext cx="353727" cy="26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8"/>
              </a:lnSpc>
              <a:buNone/>
            </a:pPr>
            <a:r>
              <a:rPr lang="en-US" sz="800" b="1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PEDOMAN</a:t>
            </a:r>
            <a:endParaRPr lang="en-US" sz="800" dirty="0"/>
          </a:p>
          <a:p>
            <a:pPr algn="ctr" indent="0" marL="0">
              <a:lnSpc>
                <a:spcPts val="608"/>
              </a:lnSpc>
              <a:buNone/>
            </a:pPr>
            <a:r>
              <a:rPr lang="en-US" sz="800" b="1" spc="28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457200" y="4929188"/>
            <a:ext cx="140357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</a:t>
            </a:r>
            <a:pPr algn="l" indent="0" marL="0">
              <a:buNone/>
            </a:pPr>
            <a:r>
              <a:rPr lang="en-US" sz="619" spc="2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4 / 6</a:t>
            </a:r>
            <a:endParaRPr lang="en-US" sz="619" dirty="0"/>
          </a:p>
        </p:txBody>
      </p:sp>
      <p:sp>
        <p:nvSpPr>
          <p:cNvPr id="55" name="Text 47"/>
          <p:cNvSpPr/>
          <p:nvPr/>
        </p:nvSpPr>
        <p:spPr>
          <a:xfrm>
            <a:off x="8592703" y="4922044"/>
            <a:ext cx="48760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1" y="3786188"/>
            <a:ext cx="1921669" cy="1357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0" dirty="0">
                <a:solidFill>
                  <a:srgbClr val="D4AF37">
                    <a:alpha val="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400050" cy="400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00050"/>
            <a:ext cx="46434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2343038" y="422151"/>
            <a:ext cx="1135187" cy="107156"/>
          </a:xfrm>
          <a:prstGeom prst="roundRect">
            <a:avLst>
              <a:gd name="adj" fmla="val 3555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85838" y="425723"/>
            <a:ext cx="173475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68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5 — EKSEKUSI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320178" y="415722"/>
            <a:ext cx="1180907" cy="120015"/>
          </a:xfrm>
          <a:prstGeom prst="roundRect">
            <a:avLst>
              <a:gd name="adj" fmla="val 3174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343038" y="422151"/>
            <a:ext cx="11351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KEKUATAN UTAMA SISTEM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85838" y="557882"/>
            <a:ext cx="7960281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Eksekusi — 5-Tahap Workflow Produksi Kehumasan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8351044" y="464344"/>
            <a:ext cx="3357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72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672" dirty="0"/>
          </a:p>
        </p:txBody>
      </p:sp>
      <p:sp>
        <p:nvSpPr>
          <p:cNvPr id="11" name="Text 8"/>
          <p:cNvSpPr/>
          <p:nvPr/>
        </p:nvSpPr>
        <p:spPr>
          <a:xfrm>
            <a:off x="460772" y="903684"/>
            <a:ext cx="1604442" cy="1309762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4344" y="907256"/>
            <a:ext cx="1597298" cy="28575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0069" y="992981"/>
            <a:ext cx="200025" cy="200025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0069" y="99298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7244" y="1025128"/>
            <a:ext cx="142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7269" y="1041871"/>
            <a:ext cx="968648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PRODUKSI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0069" y="1235869"/>
            <a:ext cx="1425848" cy="78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Petugas upload mentah (foto, video, audio, artikel)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role: Reporter, Content Creator, Photographer, Graphic Designer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 ke Google Drive folder otomatis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1174" y="1994562"/>
            <a:ext cx="510171" cy="152019"/>
          </a:xfrm>
          <a:prstGeom prst="roundRect">
            <a:avLst>
              <a:gd name="adj" fmla="val 6259398"/>
            </a:avLst>
          </a:prstGeom>
          <a:solidFill>
            <a:srgbClr val="2563EB">
              <a:alpha val="10000"/>
            </a:srgbClr>
          </a:solidFill>
          <a:ln w="7144">
            <a:solidFill>
              <a:srgbClr val="2563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70972" y="2031281"/>
            <a:ext cx="3305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17" kern="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ROLE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07219" y="20348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115220" y="903684"/>
            <a:ext cx="1604442" cy="1309762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118792" y="907256"/>
            <a:ext cx="1597298" cy="28575"/>
          </a:xfrm>
          <a:prstGeom prst="roundRect">
            <a:avLst>
              <a:gd name="adj" fmla="val 400000"/>
            </a:avLst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204517" y="992981"/>
            <a:ext cx="200025" cy="200025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204517" y="99298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461692" y="1025128"/>
            <a:ext cx="142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61717" y="1041871"/>
            <a:ext cx="968648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PASCA PRODUKSI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204517" y="1235869"/>
            <a:ext cx="1425848" cy="78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EA580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Editor edit hasil produksi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EA580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role: Editor Video, Web Article, Foto, Template Sosmed, Streaming, Podcast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EA580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dari folder produksi → upload ke folder pasca produksi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85621" y="1994562"/>
            <a:ext cx="510171" cy="152019"/>
          </a:xfrm>
          <a:prstGeom prst="roundRect">
            <a:avLst>
              <a:gd name="adj" fmla="val 6259398"/>
            </a:avLst>
          </a:prstGeom>
          <a:solidFill>
            <a:srgbClr val="EA580C">
              <a:alpha val="10000"/>
            </a:srgbClr>
          </a:solidFill>
          <a:ln w="7144">
            <a:solidFill>
              <a:srgbClr val="EA580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325420" y="2031281"/>
            <a:ext cx="3305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17" kern="0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ROLE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261667" y="20348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769668" y="903684"/>
            <a:ext cx="1604553" cy="1309762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773239" y="907256"/>
            <a:ext cx="1597409" cy="28575"/>
          </a:xfrm>
          <a:prstGeom prst="roundRect">
            <a:avLst>
              <a:gd name="adj" fmla="val 400000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858964" y="992981"/>
            <a:ext cx="200025" cy="200025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858964" y="99298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116139" y="1025128"/>
            <a:ext cx="142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316164" y="1041871"/>
            <a:ext cx="968759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858964" y="1235869"/>
            <a:ext cx="1425959" cy="78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Reviewer cek kualitas konten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atau revisi (revisionCount tracking)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role: Reviewer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840069" y="1994562"/>
            <a:ext cx="510171" cy="152019"/>
          </a:xfrm>
          <a:prstGeom prst="roundRect">
            <a:avLst>
              <a:gd name="adj" fmla="val 6259398"/>
            </a:avLst>
          </a:prstGeom>
          <a:solidFill>
            <a:srgbClr val="16A34A">
              <a:alpha val="10000"/>
            </a:srgbClr>
          </a:solidFill>
          <a:ln w="7144">
            <a:solidFill>
              <a:srgbClr val="16A34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979868" y="2031281"/>
            <a:ext cx="3305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17" kern="0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ROLE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3916114" y="20348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424227" y="903684"/>
            <a:ext cx="1604442" cy="1309762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427799" y="907256"/>
            <a:ext cx="1597298" cy="28575"/>
          </a:xfrm>
          <a:prstGeom prst="roundRect">
            <a:avLst>
              <a:gd name="adj" fmla="val 400000"/>
            </a:avLst>
          </a:prstGeom>
          <a:solidFill>
            <a:srgbClr val="7C4DC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513524" y="992981"/>
            <a:ext cx="200025" cy="200025"/>
          </a:xfrm>
          <a:prstGeom prst="ellipse">
            <a:avLst/>
          </a:prstGeom>
          <a:solidFill>
            <a:srgbClr val="7C4DC9"/>
          </a:solidFill>
          <a:ln/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513524" y="99298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770699" y="1025128"/>
            <a:ext cx="142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970724" y="1041871"/>
            <a:ext cx="968648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PUBLIKASI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513524" y="1235869"/>
            <a:ext cx="1425848" cy="78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Publisher publish ke saluran (web, sosmed)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role: Publisher Web, Publisher Social Media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Input link publikasi per platform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494629" y="1994562"/>
            <a:ext cx="510171" cy="152019"/>
          </a:xfrm>
          <a:prstGeom prst="roundRect">
            <a:avLst>
              <a:gd name="adj" fmla="val 6259398"/>
            </a:avLst>
          </a:prstGeom>
          <a:solidFill>
            <a:srgbClr val="7C4DC9">
              <a:alpha val="10000"/>
            </a:srgbClr>
          </a:solidFill>
          <a:ln w="7144">
            <a:solidFill>
              <a:srgbClr val="7C4DC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634427" y="2031281"/>
            <a:ext cx="33058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17" kern="0" dirty="0">
                <a:solidFill>
                  <a:srgbClr val="7C4D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ROLE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5570674" y="20348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C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078675" y="903684"/>
            <a:ext cx="1604553" cy="1309762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082247" y="907256"/>
            <a:ext cx="1597409" cy="28575"/>
          </a:xfrm>
          <a:prstGeom prst="roundRect">
            <a:avLst>
              <a:gd name="adj" fmla="val 4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7167972" y="992981"/>
            <a:ext cx="200025" cy="200025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47625" dist="1905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7167972" y="992981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425147" y="1025128"/>
            <a:ext cx="142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625172" y="1041871"/>
            <a:ext cx="968759" cy="12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SELESAI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167972" y="1235869"/>
            <a:ext cx="1425959" cy="788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Arsip dokumentasi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152519" y="1994562"/>
            <a:ext cx="417226" cy="152019"/>
          </a:xfrm>
          <a:prstGeom prst="roundRect">
            <a:avLst>
              <a:gd name="adj" fmla="val 6259398"/>
            </a:avLst>
          </a:prstGeom>
          <a:solidFill>
            <a:srgbClr val="D4AF37">
              <a:alpha val="1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7286307" y="2031281"/>
            <a:ext cx="2496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17" kern="0" dirty="0">
                <a:solidFill>
                  <a:srgbClr val="A887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7225122" y="203485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852129" y="2370609"/>
            <a:ext cx="6834671" cy="7144"/>
          </a:xfrm>
          <a:prstGeom prst="rect">
            <a:avLst/>
          </a:prstGeom>
          <a:solidFill>
            <a:srgbClr val="E7E5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28650" y="2320603"/>
            <a:ext cx="145791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Fitur Pendukung Eksekusi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457200" y="231703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1852129" y="2370609"/>
            <a:ext cx="6834671" cy="7144"/>
          </a:xfrm>
          <a:prstGeom prst="rect">
            <a:avLst/>
          </a:prstGeom>
          <a:solidFill>
            <a:srgbClr val="E7E5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460772" y="2492053"/>
            <a:ext cx="2697882" cy="333524"/>
          </a:xfrm>
          <a:prstGeom prst="roundRect">
            <a:avLst>
              <a:gd name="adj" fmla="val 28559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550069" y="25599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67" name="Text 64"/>
          <p:cNvSpPr/>
          <p:nvPr/>
        </p:nvSpPr>
        <p:spPr>
          <a:xfrm>
            <a:off x="735806" y="2552774"/>
            <a:ext cx="233355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Folder Drive otomatis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proyek — PRODUKSI, PASCA, PUBLIC, PRIVATE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3222947" y="2492053"/>
            <a:ext cx="2697993" cy="333524"/>
          </a:xfrm>
          <a:prstGeom prst="roundRect">
            <a:avLst>
              <a:gd name="adj" fmla="val 28559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3312244" y="25599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70" name="Text 67"/>
          <p:cNvSpPr/>
          <p:nvPr/>
        </p:nvSpPr>
        <p:spPr>
          <a:xfrm>
            <a:off x="3497982" y="2552774"/>
            <a:ext cx="2340806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subfolder</a:t>
            </a:r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petugas + output subfolder</a:t>
            </a:r>
            <a:endParaRPr lang="en-US" sz="619" dirty="0"/>
          </a:p>
        </p:txBody>
      </p:sp>
      <p:sp>
        <p:nvSpPr>
          <p:cNvPr id="71" name="Text 68"/>
          <p:cNvSpPr/>
          <p:nvPr/>
        </p:nvSpPr>
        <p:spPr>
          <a:xfrm>
            <a:off x="5985235" y="2492053"/>
            <a:ext cx="2697882" cy="333524"/>
          </a:xfrm>
          <a:prstGeom prst="roundRect">
            <a:avLst>
              <a:gd name="adj" fmla="val 28559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6074532" y="25599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73" name="Text 70"/>
          <p:cNvSpPr/>
          <p:nvPr/>
        </p:nvSpPr>
        <p:spPr>
          <a:xfrm>
            <a:off x="6260269" y="2552774"/>
            <a:ext cx="2340694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Dependency tracking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ETSM nunggu EFoto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460772" y="2889870"/>
            <a:ext cx="2697882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550069" y="29577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76" name="Text 73"/>
          <p:cNvSpPr/>
          <p:nvPr/>
        </p:nvSpPr>
        <p:spPr>
          <a:xfrm>
            <a:off x="735806" y="2950592"/>
            <a:ext cx="23406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Auto-repair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stuck projects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3222947" y="2889870"/>
            <a:ext cx="2697993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3312244" y="29577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266" dirty="0"/>
          </a:p>
        </p:txBody>
      </p:sp>
      <p:sp>
        <p:nvSpPr>
          <p:cNvPr id="79" name="Text 76"/>
          <p:cNvSpPr/>
          <p:nvPr/>
        </p:nvSpPr>
        <p:spPr>
          <a:xfrm>
            <a:off x="3497982" y="2950592"/>
            <a:ext cx="234080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upload chunked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langsung ke Drive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5985235" y="2889870"/>
            <a:ext cx="2697882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6074532" y="29577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82" name="Text 79"/>
          <p:cNvSpPr/>
          <p:nvPr/>
        </p:nvSpPr>
        <p:spPr>
          <a:xfrm>
            <a:off x="6260269" y="2950592"/>
            <a:ext cx="23406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1-klik publikasi</a:t>
            </a:r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 LIHUM gallery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464344" y="4250531"/>
            <a:ext cx="1057275" cy="485775"/>
          </a:xfrm>
          <a:prstGeom prst="roundRect">
            <a:avLst>
              <a:gd name="adj" fmla="val 15686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4" name="Image 1" descr="/tmp/h2p-fit-1791070788248-h4imi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4257675"/>
            <a:ext cx="1042988" cy="471488"/>
          </a:xfrm>
          <a:prstGeom prst="rect">
            <a:avLst/>
          </a:prstGeom>
        </p:spPr>
      </p:pic>
      <p:sp>
        <p:nvSpPr>
          <p:cNvPr id="85" name="Text 81"/>
          <p:cNvSpPr/>
          <p:nvPr/>
        </p:nvSpPr>
        <p:spPr>
          <a:xfrm>
            <a:off x="1621631" y="4250531"/>
            <a:ext cx="1057275" cy="485775"/>
          </a:xfrm>
          <a:prstGeom prst="roundRect">
            <a:avLst>
              <a:gd name="adj" fmla="val 15686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6" name="Image 2" descr="/tmp/h2p-fit-1791070788248-wrpw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4257675"/>
            <a:ext cx="1042988" cy="471488"/>
          </a:xfrm>
          <a:prstGeom prst="rect">
            <a:avLst/>
          </a:prstGeom>
        </p:spPr>
      </p:pic>
      <p:sp>
        <p:nvSpPr>
          <p:cNvPr id="87" name="Text 82"/>
          <p:cNvSpPr/>
          <p:nvPr/>
        </p:nvSpPr>
        <p:spPr>
          <a:xfrm>
            <a:off x="2748915" y="4307762"/>
            <a:ext cx="664212" cy="136017"/>
          </a:xfrm>
          <a:prstGeom prst="roundRect">
            <a:avLst>
              <a:gd name="adj" fmla="val 28011"/>
            </a:avLst>
          </a:prstGeom>
          <a:solidFill>
            <a:srgbClr val="D4AF37">
              <a:alpha val="1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3"/>
          <p:cNvSpPr/>
          <p:nvPr/>
        </p:nvSpPr>
        <p:spPr>
          <a:xfrm>
            <a:off x="2901845" y="4336479"/>
            <a:ext cx="472653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28" kern="0" dirty="0">
                <a:solidFill>
                  <a:srgbClr val="A8872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</a:t>
            </a:r>
            <a:endParaRPr lang="en-US" sz="600" dirty="0"/>
          </a:p>
        </p:txBody>
      </p:sp>
      <p:sp>
        <p:nvSpPr>
          <p:cNvPr id="89" name="Text 84"/>
          <p:cNvSpPr/>
          <p:nvPr/>
        </p:nvSpPr>
        <p:spPr>
          <a:xfrm>
            <a:off x="2836069" y="433647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800" dirty="0"/>
          </a:p>
        </p:txBody>
      </p:sp>
      <p:sp>
        <p:nvSpPr>
          <p:cNvPr id="90" name="Text 85"/>
          <p:cNvSpPr/>
          <p:nvPr/>
        </p:nvSpPr>
        <p:spPr>
          <a:xfrm>
            <a:off x="2771775" y="4465067"/>
            <a:ext cx="5915025" cy="93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Eksekusi Workflow + LIHUM Gallery sebagai endpoint publikasi 1-klik</a:t>
            </a:r>
            <a:endParaRPr lang="en-US" sz="800" dirty="0"/>
          </a:p>
        </p:txBody>
      </p:sp>
      <p:sp>
        <p:nvSpPr>
          <p:cNvPr id="91" name="Text 86"/>
          <p:cNvSpPr/>
          <p:nvPr/>
        </p:nvSpPr>
        <p:spPr>
          <a:xfrm>
            <a:off x="2886075" y="4586064"/>
            <a:ext cx="2077380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app.pushakin-flows.workers.dev/?public=tracker</a:t>
            </a:r>
            <a:endParaRPr lang="en-US" sz="600" dirty="0"/>
          </a:p>
        </p:txBody>
      </p:sp>
      <p:sp>
        <p:nvSpPr>
          <p:cNvPr id="92" name="Text 87"/>
          <p:cNvSpPr/>
          <p:nvPr/>
        </p:nvSpPr>
        <p:spPr>
          <a:xfrm>
            <a:off x="2771775" y="45860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sp>
        <p:nvSpPr>
          <p:cNvPr id="93" name="Text 88"/>
          <p:cNvSpPr/>
          <p:nvPr/>
        </p:nvSpPr>
        <p:spPr>
          <a:xfrm>
            <a:off x="457200" y="4957763"/>
            <a:ext cx="140357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</a:t>
            </a:r>
            <a:pPr algn="l" indent="0" marL="0">
              <a:buNone/>
            </a:pPr>
            <a:r>
              <a:rPr lang="en-US" sz="619" spc="2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5 / 6</a:t>
            </a:r>
            <a:endParaRPr lang="en-US" sz="619" dirty="0"/>
          </a:p>
        </p:txBody>
      </p:sp>
      <p:sp>
        <p:nvSpPr>
          <p:cNvPr id="94" name="Text 89"/>
          <p:cNvSpPr/>
          <p:nvPr/>
        </p:nvSpPr>
        <p:spPr>
          <a:xfrm>
            <a:off x="8592703" y="4950619"/>
            <a:ext cx="48760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285750"/>
            <a:ext cx="1921669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0" dirty="0">
                <a:solidFill>
                  <a:srgbClr val="4C2A85">
                    <a:alpha val="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400050" cy="400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00050"/>
            <a:ext cx="46434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985838" y="425723"/>
            <a:ext cx="793727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68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6 — PENGUKURAN / HASIL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5838" y="554310"/>
            <a:ext cx="7960281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575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Pengukuran — 4 Level Bukti Kinerja Kehumasan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8351044" y="464344"/>
            <a:ext cx="3357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72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672" dirty="0"/>
          </a:p>
        </p:txBody>
      </p:sp>
      <p:sp>
        <p:nvSpPr>
          <p:cNvPr id="8" name="Text 5"/>
          <p:cNvSpPr/>
          <p:nvPr/>
        </p:nvSpPr>
        <p:spPr>
          <a:xfrm>
            <a:off x="460772" y="903684"/>
            <a:ext cx="4057650" cy="994879"/>
          </a:xfrm>
          <a:prstGeom prst="roundRect">
            <a:avLst>
              <a:gd name="adj" fmla="val 1340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4356" y="992981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2563E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7218" y="102584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927259" y="986552"/>
            <a:ext cx="650371" cy="120015"/>
          </a:xfrm>
          <a:prstGeom prst="roundRect">
            <a:avLst>
              <a:gd name="adj" fmla="val 31746"/>
            </a:avLst>
          </a:prstGeom>
          <a:solidFill>
            <a:srgbClr val="2563E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76799" y="992981"/>
            <a:ext cx="7512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3" kern="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OUTPUT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0119" y="1128713"/>
            <a:ext cx="2737842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Statistik Real-time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50119" y="1272257"/>
            <a:ext cx="2607469" cy="26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Dashboard: Total proyek, Sedang berjalan, Selesai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2563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Statistik &amp; Progress dengan filter waktu (hari/minggu/bulan/tahun)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50119" y="1563588"/>
            <a:ext cx="2500982" cy="121444"/>
          </a:xfrm>
          <a:prstGeom prst="roundRect">
            <a:avLst>
              <a:gd name="adj" fmla="val 31372"/>
            </a:avLst>
          </a:prstGeom>
          <a:solidFill>
            <a:srgbClr val="2563E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114425" y="1585020"/>
            <a:ext cx="2279526" cy="12070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· Statistik &amp; Progress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007269" y="158502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36169" y="1000125"/>
            <a:ext cx="771525" cy="700088"/>
          </a:xfrm>
          <a:prstGeom prst="roundRect">
            <a:avLst>
              <a:gd name="adj" fmla="val 10884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/tmp/h2p-fit-1791070788247-ry8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13" y="1007269"/>
            <a:ext cx="757238" cy="6858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56064" y="1566053"/>
            <a:ext cx="427232" cy="104013"/>
          </a:xfrm>
          <a:prstGeom prst="roundRect">
            <a:avLst>
              <a:gd name="adj" fmla="val 27473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554578" y="1571625"/>
            <a:ext cx="63020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OVERVIEW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25578" y="903684"/>
            <a:ext cx="4057650" cy="994879"/>
          </a:xfrm>
          <a:prstGeom prst="roundRect">
            <a:avLst>
              <a:gd name="adj" fmla="val 13404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29163" y="992981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6A34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62024" y="1025843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25" name="Text 21"/>
          <p:cNvSpPr/>
          <p:nvPr/>
        </p:nvSpPr>
        <p:spPr>
          <a:xfrm>
            <a:off x="5092065" y="986552"/>
            <a:ext cx="879641" cy="120015"/>
          </a:xfrm>
          <a:prstGeom prst="roundRect">
            <a:avLst>
              <a:gd name="adj" fmla="val 31746"/>
            </a:avLst>
          </a:prstGeom>
          <a:solidFill>
            <a:srgbClr val="16A34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114925" y="992981"/>
            <a:ext cx="8339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3" kern="0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DOKUMENTASI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114925" y="1128713"/>
            <a:ext cx="2737842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SKP per Petugas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114925" y="1272257"/>
            <a:ext cx="2607469" cy="39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user download laporan kegiatannya sendiri (PDF)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berisi: tugas, status, tanggal, link hasil produksi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export rekap semua proyek (PDF/Excel)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114925" y="1687823"/>
            <a:ext cx="2328974" cy="121444"/>
          </a:xfrm>
          <a:prstGeom prst="roundRect">
            <a:avLst>
              <a:gd name="adj" fmla="val 31372"/>
            </a:avLst>
          </a:prstGeom>
          <a:solidFill>
            <a:srgbClr val="2563E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279231" y="1709254"/>
            <a:ext cx="2107518" cy="100013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· Laporan Kegiatan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5172075" y="170925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800975" y="1000125"/>
            <a:ext cx="771525" cy="700088"/>
          </a:xfrm>
          <a:prstGeom prst="roundRect">
            <a:avLst>
              <a:gd name="adj" fmla="val 10884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2" descr="/tmp/h2p-fit-1791070788247-py18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119" y="1007269"/>
            <a:ext cx="757238" cy="6858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821933" y="1566053"/>
            <a:ext cx="398541" cy="104013"/>
          </a:xfrm>
          <a:prstGeom prst="roundRect">
            <a:avLst>
              <a:gd name="adj" fmla="val 27473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7743266" y="1571625"/>
            <a:ext cx="55587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460772" y="2005719"/>
            <a:ext cx="4057650" cy="892969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64356" y="209501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A58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97218" y="212787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88" dirty="0"/>
          </a:p>
        </p:txBody>
      </p:sp>
      <p:sp>
        <p:nvSpPr>
          <p:cNvPr id="39" name="Text 34"/>
          <p:cNvSpPr/>
          <p:nvPr/>
        </p:nvSpPr>
        <p:spPr>
          <a:xfrm>
            <a:off x="927259" y="2088587"/>
            <a:ext cx="925517" cy="120015"/>
          </a:xfrm>
          <a:prstGeom prst="roundRect">
            <a:avLst>
              <a:gd name="adj" fmla="val 31746"/>
            </a:avLst>
          </a:prstGeom>
          <a:solidFill>
            <a:srgbClr val="EA580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950119" y="2095016"/>
            <a:ext cx="879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3" kern="0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TRANSPARANSI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950119" y="2230748"/>
            <a:ext cx="2737842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Tracker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950119" y="2374292"/>
            <a:ext cx="2607469" cy="26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EA580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 publik untuk pantau progress real-time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EA580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Bisa dibagi ke stakeholder eksternal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950119" y="2665623"/>
            <a:ext cx="2199940" cy="121444"/>
          </a:xfrm>
          <a:prstGeom prst="roundRect">
            <a:avLst>
              <a:gd name="adj" fmla="val 31372"/>
            </a:avLst>
          </a:prstGeom>
          <a:solidFill>
            <a:srgbClr val="2563E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1114425" y="2687055"/>
            <a:ext cx="1978484" cy="12070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app.pushakin-flows.workers.dev/?public=tracker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1007269" y="268705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3636169" y="2102160"/>
            <a:ext cx="771525" cy="700088"/>
          </a:xfrm>
          <a:prstGeom prst="roundRect">
            <a:avLst>
              <a:gd name="adj" fmla="val 10884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3" descr="/tmp/h2p-fit-1791070788247-0r08x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3" y="2109304"/>
            <a:ext cx="757238" cy="6858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3657252" y="2668088"/>
            <a:ext cx="395165" cy="104013"/>
          </a:xfrm>
          <a:prstGeom prst="roundRect">
            <a:avLst>
              <a:gd name="adj" fmla="val 27473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3576898" y="2673660"/>
            <a:ext cx="55587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TRACKER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4625578" y="2005719"/>
            <a:ext cx="4057650" cy="892969"/>
          </a:xfrm>
          <a:prstGeom prst="roundRect">
            <a:avLst>
              <a:gd name="adj" fmla="val 14933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4729163" y="2095016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7C4DC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762024" y="2127878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7C4DC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3" name="Text 47"/>
          <p:cNvSpPr/>
          <p:nvPr/>
        </p:nvSpPr>
        <p:spPr>
          <a:xfrm>
            <a:off x="5092065" y="2088587"/>
            <a:ext cx="925517" cy="120015"/>
          </a:xfrm>
          <a:prstGeom prst="roundRect">
            <a:avLst>
              <a:gd name="adj" fmla="val 31746"/>
            </a:avLst>
          </a:prstGeom>
          <a:solidFill>
            <a:srgbClr val="7C4DC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114925" y="2095016"/>
            <a:ext cx="879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3" kern="0" dirty="0">
                <a:solidFill>
                  <a:srgbClr val="7C4DC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REKAPITULASI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5114925" y="2230748"/>
            <a:ext cx="2737842" cy="116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Multi-modul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5114925" y="2374292"/>
            <a:ext cx="2607469" cy="39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Surat: rekap masuk/keluar + export PDF/Excel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Kegiatan: rekap dengan filter + export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600" dirty="0">
                <a:solidFill>
                  <a:srgbClr val="7C4DC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13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Inventaris: rekap stok + per-kategori breakdown + export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797403" y="2098588"/>
            <a:ext cx="778669" cy="339328"/>
          </a:xfrm>
          <a:prstGeom prst="roundRect">
            <a:avLst>
              <a:gd name="adj" fmla="val 16842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4" descr="/tmp/h2p-fit-1791070788247-huyw7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975" y="2102160"/>
            <a:ext cx="771525" cy="332184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804290" y="2335989"/>
            <a:ext cx="266842" cy="89554"/>
          </a:xfrm>
          <a:prstGeom prst="roundRect">
            <a:avLst>
              <a:gd name="adj" fmla="val 21272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7734104" y="2341476"/>
            <a:ext cx="4072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7797403" y="2466491"/>
            <a:ext cx="778669" cy="339328"/>
          </a:xfrm>
          <a:prstGeom prst="roundRect">
            <a:avLst>
              <a:gd name="adj" fmla="val 16842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5" descr="/tmp/h2p-fit-1791070788248-4sfr1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975" y="2470063"/>
            <a:ext cx="771525" cy="332184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7799582" y="2703892"/>
            <a:ext cx="423374" cy="89554"/>
          </a:xfrm>
          <a:prstGeom prst="roundRect">
            <a:avLst>
              <a:gd name="adj" fmla="val 21272"/>
            </a:avLst>
          </a:prstGeom>
          <a:solidFill>
            <a:srgbClr val="00000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7621836" y="2709379"/>
            <a:ext cx="77886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INVENTARIS</a:t>
            </a:r>
            <a:endParaRPr lang="en-US" sz="800" dirty="0"/>
          </a:p>
        </p:txBody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002273"/>
            <a:ext cx="8229600" cy="364331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60772" y="3005844"/>
            <a:ext cx="8222456" cy="357188"/>
          </a:xfrm>
          <a:prstGeom prst="roundRect">
            <a:avLst>
              <a:gd name="adj" fmla="val 37333"/>
            </a:avLst>
          </a:prstGeom>
          <a:noFill/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58"/>
          <p:cNvSpPr/>
          <p:nvPr/>
        </p:nvSpPr>
        <p:spPr>
          <a:xfrm>
            <a:off x="592931" y="3088426"/>
            <a:ext cx="741722" cy="192024"/>
          </a:xfrm>
          <a:prstGeom prst="roundRect">
            <a:avLst>
              <a:gd name="adj" fmla="val 4955357"/>
            </a:avLst>
          </a:prstGeom>
          <a:solidFill>
            <a:srgbClr val="D4AF37">
              <a:alpha val="1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791759" y="3145148"/>
            <a:ext cx="47265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34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TAMBAHAN</a:t>
            </a:r>
            <a:endParaRPr lang="en-US" sz="600" dirty="0"/>
          </a:p>
        </p:txBody>
      </p:sp>
      <p:sp>
        <p:nvSpPr>
          <p:cNvPr id="69" name="Text 60"/>
          <p:cNvSpPr/>
          <p:nvPr/>
        </p:nvSpPr>
        <p:spPr>
          <a:xfrm>
            <a:off x="678656" y="314157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844" dirty="0"/>
          </a:p>
        </p:txBody>
      </p:sp>
      <p:sp>
        <p:nvSpPr>
          <p:cNvPr id="70" name="Text 61"/>
          <p:cNvSpPr/>
          <p:nvPr/>
        </p:nvSpPr>
        <p:spPr>
          <a:xfrm>
            <a:off x="1434666" y="3130860"/>
            <a:ext cx="110965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31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Gallery Stats</a:t>
            </a:r>
            <a:endParaRPr lang="en-US" sz="731" dirty="0"/>
          </a:p>
        </p:txBody>
      </p:sp>
      <p:sp>
        <p:nvSpPr>
          <p:cNvPr id="71" name="Text 62"/>
          <p:cNvSpPr/>
          <p:nvPr/>
        </p:nvSpPr>
        <p:spPr>
          <a:xfrm>
            <a:off x="2436688" y="3120144"/>
            <a:ext cx="1352941" cy="15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1.918</a:t>
            </a:r>
            <a:pPr algn="l" indent="0" marL="0">
              <a:buNone/>
            </a:pPr>
            <a:r>
              <a:rPr lang="en-US" sz="731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buNone/>
            </a:pPr>
            <a:r>
              <a:rPr lang="en-US" sz="731" b="1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foto per gallery (contoh)</a:t>
            </a:r>
            <a:endParaRPr lang="en-US" sz="731" dirty="0"/>
          </a:p>
        </p:txBody>
      </p:sp>
      <p:sp>
        <p:nvSpPr>
          <p:cNvPr id="72" name="Text 63"/>
          <p:cNvSpPr/>
          <p:nvPr/>
        </p:nvSpPr>
        <p:spPr>
          <a:xfrm>
            <a:off x="3803712" y="3130860"/>
            <a:ext cx="91440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2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73" name="Text 64"/>
          <p:cNvSpPr/>
          <p:nvPr/>
        </p:nvSpPr>
        <p:spPr>
          <a:xfrm>
            <a:off x="3949043" y="3120144"/>
            <a:ext cx="2953159" cy="15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download count per foto</a:t>
            </a:r>
            <a:endParaRPr lang="en-US" sz="800" dirty="0"/>
          </a:p>
        </p:txBody>
      </p:sp>
      <p:sp>
        <p:nvSpPr>
          <p:cNvPr id="74" name="Text 65"/>
          <p:cNvSpPr/>
          <p:nvPr/>
        </p:nvSpPr>
        <p:spPr>
          <a:xfrm>
            <a:off x="7005786" y="3098713"/>
            <a:ext cx="1541711" cy="171450"/>
          </a:xfrm>
          <a:prstGeom prst="roundRect">
            <a:avLst>
              <a:gd name="adj" fmla="val 33333"/>
            </a:avLst>
          </a:prstGeom>
          <a:solidFill>
            <a:srgbClr val="000000">
              <a:alpha val="2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6"/>
          <p:cNvSpPr/>
          <p:nvPr/>
        </p:nvSpPr>
        <p:spPr>
          <a:xfrm>
            <a:off x="7195096" y="3138004"/>
            <a:ext cx="1277392" cy="129679"/>
          </a:xfrm>
          <a:prstGeom prst="rect">
            <a:avLst/>
          </a:prstGeom>
          <a:noFill/>
          <a:ln/>
        </p:spPr>
        <p:txBody>
          <a:bodyPr wrap="none" lIns="71438" tIns="35719" rIns="71438" bIns="35719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F0D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lihum.synclicen.workers.dev</a:t>
            </a:r>
            <a:endParaRPr lang="en-US" sz="619" dirty="0"/>
          </a:p>
        </p:txBody>
      </p:sp>
      <p:sp>
        <p:nvSpPr>
          <p:cNvPr id="76" name="Text 67"/>
          <p:cNvSpPr/>
          <p:nvPr/>
        </p:nvSpPr>
        <p:spPr>
          <a:xfrm>
            <a:off x="7080796" y="314157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sp>
        <p:nvSpPr>
          <p:cNvPr id="77" name="Text 68"/>
          <p:cNvSpPr/>
          <p:nvPr/>
        </p:nvSpPr>
        <p:spPr>
          <a:xfrm>
            <a:off x="457200" y="4957763"/>
            <a:ext cx="1403573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</a:t>
            </a:r>
            <a:pPr algn="l" indent="0" marL="0">
              <a:buNone/>
            </a:pPr>
            <a:r>
              <a:rPr lang="en-US" sz="619" spc="23" kern="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pPr algn="l" indent="0" marL="0">
              <a:buNone/>
            </a:pPr>
            <a:r>
              <a:rPr lang="en-US" sz="619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Indikator 6 / 6</a:t>
            </a:r>
            <a:endParaRPr lang="en-US" sz="619" dirty="0"/>
          </a:p>
        </p:txBody>
      </p:sp>
      <p:sp>
        <p:nvSpPr>
          <p:cNvPr id="78" name="Text 69"/>
          <p:cNvSpPr/>
          <p:nvPr/>
        </p:nvSpPr>
        <p:spPr>
          <a:xfrm>
            <a:off x="8592703" y="4950619"/>
            <a:ext cx="48760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23" kern="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504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2553" y="39755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388" y="285750"/>
            <a:ext cx="821531" cy="2071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1563" y="335756"/>
            <a:ext cx="392035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8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INOVASI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28688" y="3393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814388" y="535781"/>
            <a:ext cx="4511734" cy="262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8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Integrasi LIHUM — Galeri Publik Otomatis</a:t>
            </a:r>
            <a:endParaRPr lang="en-US" sz="1688" dirty="0"/>
          </a:p>
        </p:txBody>
      </p:sp>
      <p:sp>
        <p:nvSpPr>
          <p:cNvPr id="8" name="Text 5"/>
          <p:cNvSpPr/>
          <p:nvPr/>
        </p:nvSpPr>
        <p:spPr>
          <a:xfrm>
            <a:off x="400050" y="935831"/>
            <a:ext cx="1935956" cy="1185751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946547"/>
            <a:ext cx="1935956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32434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" y="2118010"/>
            <a:ext cx="19359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3622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" y="1057275"/>
            <a:ext cx="214313" cy="2143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494" y="1057275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07244" y="1104379"/>
            <a:ext cx="1407319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Petugas Upload Foto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21494" y="1328738"/>
            <a:ext cx="1693069" cy="59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Petugas Tahap 1 upload foto ke folder 3 (PUBLIC/UMUM)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awal: foto yang boleh dibagi → PUBLIC, rahasia → PRIVATE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336006" y="14286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18" name="Text 14"/>
          <p:cNvSpPr/>
          <p:nvPr/>
        </p:nvSpPr>
        <p:spPr>
          <a:xfrm>
            <a:off x="2536031" y="935831"/>
            <a:ext cx="1935956" cy="1185751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2536031" y="946547"/>
            <a:ext cx="1935956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68416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536031" y="2118010"/>
            <a:ext cx="19359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39603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070111"/>
            <a:ext cx="214313" cy="21431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57475" y="1070111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2943225" y="1057275"/>
            <a:ext cx="1491758" cy="263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Klik 'Publikasikan ke LIHUM'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657475" y="1354410"/>
            <a:ext cx="1693069" cy="64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klik di Project Detail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otomatis buat gallery di LIHUM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HANYA folder PUBLIC yang di-share (folder PRIVATE tetap aman)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471988" y="14286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28" name="Text 23"/>
          <p:cNvSpPr/>
          <p:nvPr/>
        </p:nvSpPr>
        <p:spPr>
          <a:xfrm>
            <a:off x="4672013" y="935831"/>
            <a:ext cx="1935956" cy="1185751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4672013" y="946547"/>
            <a:ext cx="1935956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04397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672013" y="2118010"/>
            <a:ext cx="19359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675584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456" y="1057275"/>
            <a:ext cx="214313" cy="21431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793456" y="1057275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079206" y="1104379"/>
            <a:ext cx="1407319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Gallery Live di LIHUM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4793456" y="1328738"/>
            <a:ext cx="1693069" cy="76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Gallery otomatis tampil di lihum.synclicen.workers.dev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Pengunjung bisa lihat &amp; download foto tanpa akun Google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Code + share link otomatis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607969" y="142869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828" dirty="0"/>
          </a:p>
        </p:txBody>
      </p:sp>
      <p:sp>
        <p:nvSpPr>
          <p:cNvPr id="38" name="Text 32"/>
          <p:cNvSpPr/>
          <p:nvPr/>
        </p:nvSpPr>
        <p:spPr>
          <a:xfrm>
            <a:off x="6807994" y="935831"/>
            <a:ext cx="1935956" cy="1185751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3"/>
          <p:cNvSpPr/>
          <p:nvPr/>
        </p:nvSpPr>
        <p:spPr>
          <a:xfrm>
            <a:off x="6807994" y="946547"/>
            <a:ext cx="1935956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8740378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807994" y="2118010"/>
            <a:ext cx="19359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811566" y="935831"/>
            <a:ext cx="0" cy="118575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438" y="1057275"/>
            <a:ext cx="214313" cy="214313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929438" y="1057275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7215188" y="1104379"/>
            <a:ext cx="1407319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 di Web Resmi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6929438" y="1328738"/>
            <a:ext cx="1693069" cy="64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 copy link → embed di uin-antasari.ac.id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Atau bagikan via WhatsApp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Pengunjung unduh mandiri 24/7</a:t>
            </a:r>
            <a:endParaRPr lang="en-US" sz="8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2278745"/>
            <a:ext cx="4193158" cy="26075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57238" y="2414476"/>
            <a:ext cx="1321175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7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Kenapa Ini Inovatif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557213" y="240733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50" name="Text 42"/>
          <p:cNvSpPr/>
          <p:nvPr/>
        </p:nvSpPr>
        <p:spPr>
          <a:xfrm>
            <a:off x="557213" y="2621645"/>
            <a:ext cx="3878833" cy="80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 otomatis: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upload → filter → publish → embed</a:t>
            </a:r>
            <a:endParaRPr lang="en-US" sz="800" dirty="0"/>
          </a:p>
          <a:p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Transparansi publik: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siapa saja bisa akses foto kegiatan</a:t>
            </a:r>
            <a:endParaRPr lang="en-US" sz="800" dirty="0"/>
          </a:p>
          <a:p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download: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tidak perlu request ke admin</a:t>
            </a:r>
            <a:endParaRPr lang="en-US" sz="800" dirty="0"/>
          </a:p>
          <a:p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keamanan:</a:t>
            </a:r>
            <a:pPr algn="l" indent="0" marL="0">
              <a:lnSpc>
                <a:spcPts val="1060"/>
              </a:lnSpc>
              <a:spcAft>
                <a:spcPts val="45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folder PRIVATE tidak pernah bocor ke publik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557213" y="4582716"/>
            <a:ext cx="3878833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52" name="Text 44"/>
          <p:cNvSpPr/>
          <p:nvPr/>
        </p:nvSpPr>
        <p:spPr>
          <a:xfrm>
            <a:off x="557213" y="465772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84" dirty="0"/>
          </a:p>
        </p:txBody>
      </p:sp>
      <p:sp>
        <p:nvSpPr>
          <p:cNvPr id="53" name="Text 45"/>
          <p:cNvSpPr/>
          <p:nvPr/>
        </p:nvSpPr>
        <p:spPr>
          <a:xfrm>
            <a:off x="714375" y="4661297"/>
            <a:ext cx="372167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lihum.synclicen.workers.dev/?gallery=pendampingan-aps-lamgama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4753942" y="2282317"/>
            <a:ext cx="1946783" cy="2600437"/>
          </a:xfrm>
          <a:prstGeom prst="roundRect">
            <a:avLst>
              <a:gd name="adj" fmla="val 587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4832524" y="2360898"/>
            <a:ext cx="1789621" cy="1064419"/>
          </a:xfrm>
          <a:prstGeom prst="roundRect">
            <a:avLst>
              <a:gd name="adj" fmla="val 7159"/>
            </a:avLst>
          </a:prstGeom>
          <a:solidFill>
            <a:srgbClr val="F4F4F3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6" descr="/tmp/h2p-fit-1791070789613-ebi2m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6096" y="2364470"/>
            <a:ext cx="1782477" cy="1057275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4828952" y="3471751"/>
            <a:ext cx="1904571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Gallery LIHUM</a:t>
            </a:r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tampilan publik &amp; unduh mandiri</a:t>
            </a:r>
            <a:endParaRPr lang="en-US" sz="619" dirty="0"/>
          </a:p>
        </p:txBody>
      </p:sp>
      <p:sp>
        <p:nvSpPr>
          <p:cNvPr id="58" name="Text 49"/>
          <p:cNvSpPr/>
          <p:nvPr/>
        </p:nvSpPr>
        <p:spPr>
          <a:xfrm>
            <a:off x="6793595" y="2282317"/>
            <a:ext cx="1946783" cy="2600437"/>
          </a:xfrm>
          <a:prstGeom prst="roundRect">
            <a:avLst>
              <a:gd name="adj" fmla="val 587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0"/>
          <p:cNvSpPr/>
          <p:nvPr/>
        </p:nvSpPr>
        <p:spPr>
          <a:xfrm>
            <a:off x="6872176" y="2360898"/>
            <a:ext cx="1789621" cy="1064419"/>
          </a:xfrm>
          <a:prstGeom prst="roundRect">
            <a:avLst>
              <a:gd name="adj" fmla="val 7159"/>
            </a:avLst>
          </a:prstGeom>
          <a:solidFill>
            <a:srgbClr val="F4F4F3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7" descr="/tmp/h2p-fit-1791070789614-vbhuc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5748" y="2364470"/>
            <a:ext cx="1782477" cy="1057275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868604" y="3471751"/>
            <a:ext cx="1904571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LIHUM</a:t>
            </a:r>
            <a:pPr algn="l" indent="0" marL="0">
              <a:lnSpc>
                <a:spcPts val="835"/>
              </a:lnSpc>
              <a:buNone/>
            </a:pPr>
            <a:r>
              <a:rPr lang="en-US" sz="619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daftar gallery kegiatan</a:t>
            </a:r>
            <a:endParaRPr lang="en-US" sz="619" dirty="0"/>
          </a:p>
        </p:txBody>
      </p:sp>
      <p:sp>
        <p:nvSpPr>
          <p:cNvPr id="62" name="Text 52"/>
          <p:cNvSpPr/>
          <p:nvPr/>
        </p:nvSpPr>
        <p:spPr>
          <a:xfrm>
            <a:off x="400050" y="4950619"/>
            <a:ext cx="7998433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Pushakin Flows · Penghargaan Pengelolaan Komunikasi Publik Inovatif</a:t>
            </a:r>
            <a:endParaRPr lang="en-US" sz="800" dirty="0"/>
          </a:p>
        </p:txBody>
      </p:sp>
      <p:sp>
        <p:nvSpPr>
          <p:cNvPr id="63" name="Text 53"/>
          <p:cNvSpPr/>
          <p:nvPr/>
        </p:nvSpPr>
        <p:spPr>
          <a:xfrm>
            <a:off x="8410988" y="4950619"/>
            <a:ext cx="45396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67891"/>
            <a:ext cx="342900" cy="342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70761"/>
            <a:ext cx="1371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42963" y="257175"/>
            <a:ext cx="2306187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4C2A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Inventaris</a:t>
            </a:r>
            <a:endParaRPr lang="en-US" sz="1688" dirty="0"/>
          </a:p>
        </p:txBody>
      </p:sp>
      <p:sp>
        <p:nvSpPr>
          <p:cNvPr id="5" name="Text 2"/>
          <p:cNvSpPr/>
          <p:nvPr/>
        </p:nvSpPr>
        <p:spPr>
          <a:xfrm>
            <a:off x="842963" y="514350"/>
            <a:ext cx="2372078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Dukungan Eksekusi Komunikasi Publik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396880" y="335756"/>
            <a:ext cx="3343498" cy="207169"/>
          </a:xfrm>
          <a:prstGeom prst="roundRect">
            <a:avLst>
              <a:gd name="adj" fmla="val 4593098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643339" y="389334"/>
            <a:ext cx="3100611" cy="128016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2D1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 · menu Manajemen Inventaris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5500464" y="3893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403622" y="753666"/>
            <a:ext cx="2707481" cy="1682353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5781" y="892969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5781" y="89296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2956" y="87153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03672" y="88225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4" name="Text 11"/>
          <p:cNvSpPr/>
          <p:nvPr/>
        </p:nvSpPr>
        <p:spPr>
          <a:xfrm>
            <a:off x="1092994" y="925116"/>
            <a:ext cx="188595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Barang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535781" y="1171575"/>
            <a:ext cx="2443163" cy="125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barang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kode otomatis per kategori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kategori: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Elektronik, Kalender, Plakat, Furniture, ATK, Merchandise, Lainnya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Foto barang + pop-up preview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18259" y="753666"/>
            <a:ext cx="2707481" cy="1682353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50419" y="892969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50419" y="89296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07594" y="87153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618309" y="88225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3907631" y="925116"/>
            <a:ext cx="188595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Peminjaman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3350419" y="1171575"/>
            <a:ext cx="2443163" cy="125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Multi-item peminjaman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dengan foto peminjam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PDF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download (bukti peminjaman)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Approve / Reject / Return dengan kondisi tracking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32897" y="753666"/>
            <a:ext cx="2707481" cy="1682353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65056" y="892969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65056" y="89296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22231" y="871538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432947" y="88225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8" name="Text 25"/>
          <p:cNvSpPr/>
          <p:nvPr/>
        </p:nvSpPr>
        <p:spPr>
          <a:xfrm>
            <a:off x="6722269" y="925116"/>
            <a:ext cx="188595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Pembagian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6165056" y="1171575"/>
            <a:ext cx="2443163" cy="125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Distribusi barang ke penerima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Stok auto-deduct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otomatis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Keperluan + catatan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03622" y="2543175"/>
            <a:ext cx="2707481" cy="1682353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35781" y="2682478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35781" y="2682478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2956" y="266104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03672" y="267176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5" name="Text 32"/>
          <p:cNvSpPr/>
          <p:nvPr/>
        </p:nvSpPr>
        <p:spPr>
          <a:xfrm>
            <a:off x="1092994" y="2714625"/>
            <a:ext cx="188595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535781" y="2961084"/>
            <a:ext cx="2443163" cy="125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Tracking semua transaksi (masuk, pinjam, kembali, bagi, edit)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+ centang + hapus batch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218259" y="2543175"/>
            <a:ext cx="2707481" cy="1682353"/>
          </a:xfrm>
          <a:prstGeom prst="roundRect">
            <a:avLst>
              <a:gd name="adj" fmla="val 792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350419" y="2682478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350419" y="2682478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607594" y="2661047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618309" y="267176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2" name="Text 39"/>
          <p:cNvSpPr/>
          <p:nvPr/>
        </p:nvSpPr>
        <p:spPr>
          <a:xfrm>
            <a:off x="3907631" y="2714625"/>
            <a:ext cx="1885950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Rekapitulasi</a:t>
            </a:r>
            <a:endParaRPr lang="en-US" sz="844" dirty="0"/>
          </a:p>
        </p:txBody>
      </p:sp>
      <p:sp>
        <p:nvSpPr>
          <p:cNvPr id="43" name="Text 40"/>
          <p:cNvSpPr/>
          <p:nvPr/>
        </p:nvSpPr>
        <p:spPr>
          <a:xfrm>
            <a:off x="3350419" y="2961084"/>
            <a:ext cx="2443163" cy="125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+ sort + search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 Excel + PDF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Per-kategori breakdown</a:t>
            </a:r>
            <a:endParaRPr lang="en-US" sz="80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2539603"/>
            <a:ext cx="2714625" cy="1689497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157913" y="2653903"/>
            <a:ext cx="185738" cy="185738"/>
          </a:xfrm>
          <a:prstGeom prst="roundRect">
            <a:avLst>
              <a:gd name="adj" fmla="val 4102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167914" y="266390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1A5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47" name="Text 43"/>
          <p:cNvSpPr/>
          <p:nvPr/>
        </p:nvSpPr>
        <p:spPr>
          <a:xfrm>
            <a:off x="6415088" y="2689622"/>
            <a:ext cx="2310003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Kenapa Inventaris Penting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6157913" y="2911078"/>
            <a:ext cx="2457450" cy="131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peralatan kehumasan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(kamera, mic, tripod)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Bukti peminjaman untuk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SKP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Stok management untuk distribusi </a:t>
            </a:r>
            <a:pPr algn="l" indent="0" marL="0">
              <a:lnSpc>
                <a:spcPts val="945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merchandise/publikasi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03622" y="4361259"/>
            <a:ext cx="8336756" cy="550069"/>
          </a:xfrm>
          <a:prstGeom prst="roundRect">
            <a:avLst>
              <a:gd name="adj" fmla="val 17316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96491" y="4425553"/>
            <a:ext cx="921544" cy="421481"/>
          </a:xfrm>
          <a:prstGeom prst="roundRect">
            <a:avLst>
              <a:gd name="adj" fmla="val 13559"/>
            </a:avLst>
          </a:prstGeom>
          <a:solidFill>
            <a:srgbClr val="F4F4F3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2" descr="/tmp/h2p-fit-1791070790211-7fu8m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4429125"/>
            <a:ext cx="914400" cy="41433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1507331" y="4529138"/>
            <a:ext cx="714375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· Modul Manajemen Inventaris — tab Barang, Peminjaman, Pembagian, History, Rekapitulasi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1628775" y="4650581"/>
            <a:ext cx="153292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619" dirty="0"/>
          </a:p>
        </p:txBody>
      </p:sp>
      <p:sp>
        <p:nvSpPr>
          <p:cNvPr id="54" name="Text 49"/>
          <p:cNvSpPr/>
          <p:nvPr/>
        </p:nvSpPr>
        <p:spPr>
          <a:xfrm>
            <a:off x="1507331" y="465058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55" name="Text 50"/>
          <p:cNvSpPr/>
          <p:nvPr/>
        </p:nvSpPr>
        <p:spPr>
          <a:xfrm>
            <a:off x="400050" y="4950619"/>
            <a:ext cx="7998433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Pushakin Flows · Penghargaan Pengelolaan Komunikasi Publik Inovatif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8410988" y="4950619"/>
            <a:ext cx="45396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" y="228600"/>
            <a:ext cx="385763" cy="385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4351" y="352901"/>
            <a:ext cx="1371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85825" y="239316"/>
            <a:ext cx="3709709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17" kern="0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Ringkasan Pemenuhan 6 Indikator</a:t>
            </a:r>
            <a:endParaRPr lang="en-US" sz="1688" dirty="0"/>
          </a:p>
        </p:txBody>
      </p:sp>
      <p:sp>
        <p:nvSpPr>
          <p:cNvPr id="5" name="Text 2"/>
          <p:cNvSpPr/>
          <p:nvPr/>
        </p:nvSpPr>
        <p:spPr>
          <a:xfrm>
            <a:off x="885825" y="496491"/>
            <a:ext cx="3434916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Penghargaan Pengelolaan Komunikasi Publik Inovatif · Kementerian Agama RI</a:t>
            </a:r>
            <a:endParaRPr lang="en-US" sz="731" dirty="0"/>
          </a:p>
        </p:txBody>
      </p:sp>
      <p:sp>
        <p:nvSpPr>
          <p:cNvPr id="6" name="Text 3"/>
          <p:cNvSpPr/>
          <p:nvPr/>
        </p:nvSpPr>
        <p:spPr>
          <a:xfrm>
            <a:off x="403622" y="746522"/>
            <a:ext cx="4969036" cy="4193381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33350" dist="38100" dir="5400000">
              <a:srgbClr val="4C2A8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21519" y="871538"/>
            <a:ext cx="162671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2D1A5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Ringkasan 6 Indikator Penilaian</a:t>
            </a:r>
            <a:endParaRPr lang="en-US" sz="788" dirty="0"/>
          </a:p>
        </p:txBody>
      </p:sp>
      <p:sp>
        <p:nvSpPr>
          <p:cNvPr id="8" name="Text 5"/>
          <p:cNvSpPr/>
          <p:nvPr/>
        </p:nvSpPr>
        <p:spPr>
          <a:xfrm>
            <a:off x="535781" y="8643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781" y="1064419"/>
          <a:ext cx="4704717" cy="914400"/>
        </p:xfrm>
        <a:graphic>
          <a:graphicData uri="http://schemas.openxmlformats.org/drawingml/2006/table">
            <a:tbl>
              <a:tblPr/>
              <a:tblGrid>
                <a:gridCol w="841735"/>
                <a:gridCol w="486445"/>
                <a:gridCol w="933934"/>
                <a:gridCol w="24426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8716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Indikator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8716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8716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78716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Bukti di Sistem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Objektif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✓Ter-cover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Surat, Kegiatan, Project, Surat Tugas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Strategi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✓Ter-cover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Pemilihan petugas, Fast Track, Inventaris, WA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Taktik / Saluran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✓Ter-cover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14+ platform, role per saluran, LIHUM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Messages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✓Ter-cover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Description, customActivity, catatan task, Surat Tugas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Eksekusi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✓Sangat Kuat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5-tahap workflow, 16 role, Drive, LIHUM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Pengukuran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✓Ter-cover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Laporan SKP, rekap, public tracker, LIHUM stats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57150" marT="57150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2886075"/>
            <a:ext cx="4704717" cy="3143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1531" y="2989659"/>
            <a:ext cx="310038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Pemenuhan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35794" y="297894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13" name="Text 8"/>
          <p:cNvSpPr/>
          <p:nvPr/>
        </p:nvSpPr>
        <p:spPr>
          <a:xfrm>
            <a:off x="3936206" y="2957513"/>
            <a:ext cx="1204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0D67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terpenuhi</a:t>
            </a:r>
            <a:endParaRPr lang="en-US" sz="1125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392" y="742950"/>
            <a:ext cx="3210558" cy="9943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33430" y="850106"/>
            <a:ext cx="94932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17" kern="0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Innovation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5647692" y="842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1"/>
          <p:cNvSpPr/>
          <p:nvPr/>
        </p:nvSpPr>
        <p:spPr>
          <a:xfrm>
            <a:off x="5647692" y="1028700"/>
            <a:ext cx="2981958" cy="68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Integrasi Pushakin Flows ↔ LIHUM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workflow otomatis end-to-end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Folder PUBLIC/PRIVATE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filter keamanan distribusi konten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per petugas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bukti kinerja SKP terstruktur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b="1" dirty="0">
                <a:solidFill>
                  <a:srgbClr val="F0D6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Tracker</a:t>
            </a:r>
            <a:pPr algn="l" indent="0" marL="0">
              <a:lnSpc>
                <a:spcPts val="945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transparansi publik real-time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533392" y="2788965"/>
            <a:ext cx="3210558" cy="574179"/>
          </a:xfrm>
          <a:prstGeom prst="roundRect">
            <a:avLst>
              <a:gd name="adj" fmla="val 199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D4AF37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5533392" y="2792537"/>
            <a:ext cx="321055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740378" y="2788965"/>
            <a:ext cx="0" cy="574179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533392" y="3359572"/>
            <a:ext cx="321055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547680" y="2788965"/>
            <a:ext cx="0" cy="574179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1980" y="2881833"/>
            <a:ext cx="297481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2D1A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Pushakin Flows bukan sekadar sistem manajemen — ini ekosistem komunikasi publik inovatif yang terintegrasi end-to-end, dari perencanaan hingga pengukuran hasil.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536964" y="4418409"/>
            <a:ext cx="3203414" cy="521494"/>
          </a:xfrm>
          <a:prstGeom prst="roundRect">
            <a:avLst>
              <a:gd name="adj" fmla="val 21918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797711" y="4507706"/>
            <a:ext cx="1622614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7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Humas dan Keterbukaan Informasi</a:t>
            </a:r>
            <a:endParaRPr lang="en-US" sz="647" dirty="0"/>
          </a:p>
        </p:txBody>
      </p:sp>
      <p:sp>
        <p:nvSpPr>
          <p:cNvPr id="26" name="Text 20"/>
          <p:cNvSpPr/>
          <p:nvPr/>
        </p:nvSpPr>
        <p:spPr>
          <a:xfrm>
            <a:off x="5640549" y="45005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984" dirty="0"/>
          </a:p>
        </p:txBody>
      </p:sp>
      <p:sp>
        <p:nvSpPr>
          <p:cNvPr id="27" name="Text 21"/>
          <p:cNvSpPr/>
          <p:nvPr/>
        </p:nvSpPr>
        <p:spPr>
          <a:xfrm>
            <a:off x="5797711" y="4636294"/>
            <a:ext cx="117578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7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UIN Antasari Banjarmasin</a:t>
            </a:r>
            <a:endParaRPr lang="en-US" sz="647" dirty="0"/>
          </a:p>
        </p:txBody>
      </p:sp>
      <p:sp>
        <p:nvSpPr>
          <p:cNvPr id="28" name="Text 22"/>
          <p:cNvSpPr/>
          <p:nvPr/>
        </p:nvSpPr>
        <p:spPr>
          <a:xfrm>
            <a:off x="5640549" y="46291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984" dirty="0"/>
          </a:p>
        </p:txBody>
      </p:sp>
      <p:sp>
        <p:nvSpPr>
          <p:cNvPr id="29" name="Text 23"/>
          <p:cNvSpPr/>
          <p:nvPr/>
        </p:nvSpPr>
        <p:spPr>
          <a:xfrm>
            <a:off x="5797711" y="4757738"/>
            <a:ext cx="160260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47" dirty="0">
                <a:solidFill>
                  <a:srgbClr val="2D1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647" dirty="0"/>
          </a:p>
        </p:txBody>
      </p:sp>
      <p:sp>
        <p:nvSpPr>
          <p:cNvPr id="30" name="Text 24"/>
          <p:cNvSpPr/>
          <p:nvPr/>
        </p:nvSpPr>
        <p:spPr>
          <a:xfrm>
            <a:off x="5640549" y="47577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84" dirty="0"/>
          </a:p>
        </p:txBody>
      </p:sp>
      <p:sp>
        <p:nvSpPr>
          <p:cNvPr id="31" name="Text 25"/>
          <p:cNvSpPr/>
          <p:nvPr/>
        </p:nvSpPr>
        <p:spPr>
          <a:xfrm>
            <a:off x="400050" y="4964906"/>
            <a:ext cx="7998433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Pushakin Flows · Penghargaan Pengelolaan Komunikasi Publik Inovatif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410988" y="4964906"/>
            <a:ext cx="45396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2026-10-03T23:39:50Z</dcterms:created>
  <dcterms:modified xsi:type="dcterms:W3CDTF">2026-10-03T23:39:50Z</dcterms:modified>
</cp:coreProperties>
</file>