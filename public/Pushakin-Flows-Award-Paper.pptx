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5715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9086850" y="0"/>
            <a:ext cx="57150" cy="5143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429500" y="-857250"/>
            <a:ext cx="2428875" cy="2428875"/>
          </a:xfrm>
          <a:prstGeom prst="ellipse">
            <a:avLst/>
          </a:prstGeom>
          <a:solidFill>
            <a:srgbClr val="D4AF37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-571500" y="3714750"/>
            <a:ext cx="2000250" cy="2000250"/>
          </a:xfrm>
          <a:prstGeom prst="ellipse">
            <a:avLst/>
          </a:prstGeom>
          <a:solidFill>
            <a:srgbClr val="7B3FA0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6858000" y="2714625"/>
            <a:ext cx="1428750" cy="1428750"/>
          </a:xfrm>
          <a:prstGeom prst="ellipse">
            <a:avLst/>
          </a:prstGeom>
          <a:solidFill>
            <a:srgbClr val="17A2B8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432197" y="575072"/>
            <a:ext cx="850106" cy="850106"/>
          </a:xfrm>
          <a:prstGeom prst="ellipse">
            <a:avLst/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1003697" y="1146572"/>
            <a:ext cx="492919" cy="492919"/>
          </a:xfrm>
          <a:prstGeom prst="ellips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1428750" y="857250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7358063" y="428625"/>
            <a:ext cx="914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A2B8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8486775" y="4029075"/>
            <a:ext cx="914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28625" y="214312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539353" y="2078831"/>
            <a:ext cx="0" cy="22860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647009" y="2078831"/>
            <a:ext cx="0" cy="22860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39353" y="2350294"/>
            <a:ext cx="0" cy="22860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647009" y="2350294"/>
            <a:ext cx="0" cy="22860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39353" y="2621756"/>
            <a:ext cx="0" cy="22860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647009" y="2621756"/>
            <a:ext cx="0" cy="22860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0" y="214313"/>
            <a:ext cx="86360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925" dirty="0"/>
          </a:p>
        </p:txBody>
      </p:sp>
      <p:sp>
        <p:nvSpPr>
          <p:cNvPr id="22" name="Text 16"/>
          <p:cNvSpPr/>
          <p:nvPr/>
        </p:nvSpPr>
        <p:spPr>
          <a:xfrm>
            <a:off x="0" y="614363"/>
            <a:ext cx="8636000" cy="401193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88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2588" dirty="0"/>
          </a:p>
        </p:txBody>
      </p:sp>
      <p:sp>
        <p:nvSpPr>
          <p:cNvPr id="23" name="Text 17"/>
          <p:cNvSpPr/>
          <p:nvPr/>
        </p:nvSpPr>
        <p:spPr>
          <a:xfrm>
            <a:off x="0" y="1042988"/>
            <a:ext cx="8636000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b="1" spc="56" kern="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Produksi &amp; Manajemen Humas</a:t>
            </a:r>
            <a:endParaRPr lang="en-US" sz="1013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219" y="1278731"/>
            <a:ext cx="1071563" cy="2143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0" y="1371600"/>
            <a:ext cx="8636000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0" y="1514475"/>
            <a:ext cx="863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2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RI — UIN Antasari Banjarmasin 2026</a:t>
            </a:r>
            <a:endParaRPr lang="en-US" sz="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1743075"/>
            <a:ext cx="8458200" cy="1371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0044" y="1750219"/>
            <a:ext cx="8443913" cy="1357313"/>
          </a:xfrm>
          <a:prstGeom prst="roundRect">
            <a:avLst>
              <a:gd name="adj" fmla="val 11228"/>
            </a:avLst>
          </a:prstGeom>
          <a:noFill/>
          <a:ln w="14288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528638" y="1871663"/>
            <a:ext cx="808672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56" kern="0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📜</a:t>
            </a:r>
            <a:pPr algn="ctr" indent="0" marL="0">
              <a:buNone/>
            </a:pPr>
            <a:r>
              <a:rPr lang="en-US" sz="900" b="1" spc="56" kern="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DAFTAR ISI</a:t>
            </a:r>
            <a:endParaRPr lang="en-US" sz="9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8" y="2078831"/>
            <a:ext cx="3979069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1506" y="2114550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621506" y="2114550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35819" y="2143125"/>
            <a:ext cx="36004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Pengertian &amp; Tujuan Sistem</a:t>
            </a:r>
            <a:endParaRPr lang="en-US" sz="8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294" y="2078831"/>
            <a:ext cx="3979069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729163" y="2114550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4729163" y="2114550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27"/>
          <p:cNvSpPr/>
          <p:nvPr/>
        </p:nvSpPr>
        <p:spPr>
          <a:xfrm>
            <a:off x="4943475" y="2143125"/>
            <a:ext cx="36004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Latar Belakang &amp; Strategi</a:t>
            </a:r>
            <a:endParaRPr lang="en-US" sz="8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638" y="2350294"/>
            <a:ext cx="3979069" cy="22860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1506" y="2386013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621506" y="2386013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0"/>
          <p:cNvSpPr/>
          <p:nvPr/>
        </p:nvSpPr>
        <p:spPr>
          <a:xfrm>
            <a:off x="835819" y="2414588"/>
            <a:ext cx="36004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Saluran &amp; Pesan Komunikasi</a:t>
            </a:r>
            <a:endParaRPr lang="en-US" sz="8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6294" y="2350294"/>
            <a:ext cx="3979069" cy="22860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729163" y="2386013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2"/>
          <p:cNvSpPr/>
          <p:nvPr/>
        </p:nvSpPr>
        <p:spPr>
          <a:xfrm>
            <a:off x="4729163" y="2386013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4943475" y="2414588"/>
            <a:ext cx="36004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Implementasi &amp; Eksekusi</a:t>
            </a:r>
            <a:endParaRPr lang="en-US" sz="8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638" y="2621756"/>
            <a:ext cx="3979069" cy="22860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21506" y="2657475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5"/>
          <p:cNvSpPr/>
          <p:nvPr/>
        </p:nvSpPr>
        <p:spPr>
          <a:xfrm>
            <a:off x="621506" y="265747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36"/>
          <p:cNvSpPr/>
          <p:nvPr/>
        </p:nvSpPr>
        <p:spPr>
          <a:xfrm>
            <a:off x="835819" y="2686050"/>
            <a:ext cx="36004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Inovasi Integrasi: LIHUM</a:t>
            </a:r>
            <a:endParaRPr lang="en-US" sz="8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6294" y="2621756"/>
            <a:ext cx="3979069" cy="22860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4729163" y="2657475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8"/>
          <p:cNvSpPr/>
          <p:nvPr/>
        </p:nvSpPr>
        <p:spPr>
          <a:xfrm>
            <a:off x="4729163" y="2657475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53" name="Text 39"/>
          <p:cNvSpPr/>
          <p:nvPr/>
        </p:nvSpPr>
        <p:spPr>
          <a:xfrm>
            <a:off x="4943475" y="2686050"/>
            <a:ext cx="36004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Pengukuran Hasil &amp; Penutup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528638" y="2921794"/>
            <a:ext cx="808672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Disusun mengikuti </a:t>
            </a:r>
            <a:pPr algn="ctr" indent="0" marL="0">
              <a:buNone/>
            </a:pPr>
            <a:r>
              <a:rPr lang="en-US" sz="800" b="1" i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indikator penilaian</a:t>
            </a:r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dalam alur ilmiah (pengantar → penjelasan → bukti → kesimpulan)</a:t>
            </a:r>
            <a:endParaRPr lang="en-US" sz="800" dirty="0"/>
          </a:p>
        </p:txBody>
      </p:sp>
      <p:sp>
        <p:nvSpPr>
          <p:cNvPr id="55" name="Text 41"/>
          <p:cNvSpPr/>
          <p:nvPr/>
        </p:nvSpPr>
        <p:spPr>
          <a:xfrm>
            <a:off x="0" y="3271838"/>
            <a:ext cx="8636000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28" kern="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✦ Pusat Hubungan Masyarakat dan Keterbukaan Informasi ✦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86688" y="-642937"/>
            <a:ext cx="1857375" cy="1857375"/>
          </a:xfrm>
          <a:prstGeom prst="ellipse">
            <a:avLst/>
          </a:prstGeom>
          <a:solidFill>
            <a:srgbClr val="D4AF37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428625" y="4143375"/>
            <a:ext cx="1571625" cy="1571625"/>
          </a:xfrm>
          <a:prstGeom prst="ellipse">
            <a:avLst/>
          </a:prstGeom>
          <a:solidFill>
            <a:srgbClr val="4C2A85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00025" y="585788"/>
            <a:ext cx="8743950" cy="178594"/>
          </a:xfrm>
          <a:prstGeom prst="roundRect">
            <a:avLst>
              <a:gd name="adj" fmla="val 32000"/>
            </a:avLst>
          </a:prstGeom>
          <a:solidFill>
            <a:srgbClr val="4C2A8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210741" y="585788"/>
            <a:ext cx="0" cy="178594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0025" y="585788"/>
            <a:ext cx="8636000" cy="22259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buNone/>
            </a:pPr>
            <a:r>
              <a:rPr lang="en-US" sz="619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Pengantar: Setiap sistem perlu dasar yang jelas — apa yang dibangun, untuk apa, dan bagaimana tujuannya terdokumentasi. Pushakin Flows lahir sebagai jawaban terstruktur atas kebutuhan dokumentasi objektif kehumasan.</a:t>
            </a:r>
            <a:endParaRPr lang="en-US" sz="619" dirty="0"/>
          </a:p>
        </p:txBody>
      </p:sp>
      <p:sp>
        <p:nvSpPr>
          <p:cNvPr id="9" name="Text 5"/>
          <p:cNvSpPr/>
          <p:nvPr/>
        </p:nvSpPr>
        <p:spPr>
          <a:xfrm>
            <a:off x="200025" y="835819"/>
            <a:ext cx="6011354" cy="141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Apa itu Pushakin Flows?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03597" y="1025128"/>
            <a:ext cx="4801939" cy="464455"/>
          </a:xfrm>
          <a:prstGeom prst="roundRect">
            <a:avLst>
              <a:gd name="adj" fmla="val 16406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0025" y="1021556"/>
            <a:ext cx="4809083" cy="501317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>
            <a:normAutofit/>
          </a:bodyPr>
          <a:lstStyle/>
          <a:p>
            <a:pPr algn="just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adalah </a:t>
            </a:r>
            <a:pPr algn="just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manajemen produksi kehumasan</a:t>
            </a:r>
            <a:pPr algn="just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yang terintegrasi end-to-end. Sistem ini mewadahi seluruh proses produksi konten komunikasi publik — mulai dari </a:t>
            </a:r>
            <a:pPr algn="just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penerimaan surat permohonan</a:t>
            </a:r>
            <a:pPr algn="just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, perencanaan kegiatan, produksi konten, hingga </a:t>
            </a:r>
            <a:pPr algn="just" indent="0" marL="0">
              <a:lnSpc>
                <a:spcPts val="938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publikasi dan pengukuran hasil</a:t>
            </a:r>
            <a:pPr algn="just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00025" y="1550305"/>
            <a:ext cx="6011354" cy="141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Tujuan Sistem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00025" y="1736043"/>
            <a:ext cx="4809083" cy="163190"/>
          </a:xfrm>
          <a:prstGeom prst="roundRect">
            <a:avLst>
              <a:gd name="adj" fmla="val 350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210741" y="1736043"/>
            <a:ext cx="0" cy="16319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0025" y="1736043"/>
            <a:ext cx="4809083" cy="157189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Mendokumentasikan tujuan komunikasi setiap kegiatan secara terstruktur (Surat → Kegiatan → Proyek)</a:t>
            </a:r>
            <a:endParaRPr lang="en-US" sz="619" dirty="0"/>
          </a:p>
        </p:txBody>
      </p:sp>
      <p:sp>
        <p:nvSpPr>
          <p:cNvPr id="16" name="Text 12"/>
          <p:cNvSpPr/>
          <p:nvPr/>
        </p:nvSpPr>
        <p:spPr>
          <a:xfrm>
            <a:off x="200025" y="1920664"/>
            <a:ext cx="4809083" cy="163190"/>
          </a:xfrm>
          <a:prstGeom prst="roundRect">
            <a:avLst>
              <a:gd name="adj" fmla="val 350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210741" y="1920664"/>
            <a:ext cx="0" cy="163190"/>
          </a:xfrm>
          <a:prstGeom prst="line">
            <a:avLst/>
          </a:prstGeom>
          <a:noFill/>
          <a:ln w="21431">
            <a:solidFill>
              <a:srgbClr val="E07B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0025" y="1920664"/>
            <a:ext cx="4809083" cy="157189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Mewadahi proses produksi bagi setiap user sesuai peran masing-masing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00025" y="2105285"/>
            <a:ext cx="4809083" cy="163190"/>
          </a:xfrm>
          <a:prstGeom prst="roundRect">
            <a:avLst>
              <a:gd name="adj" fmla="val 350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210741" y="2105285"/>
            <a:ext cx="0" cy="16319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0025" y="2105285"/>
            <a:ext cx="4809083" cy="157189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Menyediakan manajemen terintegrasi untuk Humas (Surat, Kegiatan, Konten, Inventaris)</a:t>
            </a:r>
            <a:endParaRPr lang="en-US" sz="619" dirty="0"/>
          </a:p>
        </p:txBody>
      </p:sp>
      <p:sp>
        <p:nvSpPr>
          <p:cNvPr id="22" name="Text 18"/>
          <p:cNvSpPr/>
          <p:nvPr/>
        </p:nvSpPr>
        <p:spPr>
          <a:xfrm>
            <a:off x="200025" y="2289907"/>
            <a:ext cx="4809083" cy="163190"/>
          </a:xfrm>
          <a:prstGeom prst="roundRect">
            <a:avLst>
              <a:gd name="adj" fmla="val 350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210741" y="2289907"/>
            <a:ext cx="0" cy="163190"/>
          </a:xfrm>
          <a:prstGeom prst="line">
            <a:avLst/>
          </a:prstGeom>
          <a:noFill/>
          <a:ln w="21431">
            <a:solidFill>
              <a:srgbClr val="E07BB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00025" y="2289907"/>
            <a:ext cx="4809083" cy="157189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Menghasilkan bukti kinerja SKP per petugas untuk laporan triwulan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0025" y="2474528"/>
            <a:ext cx="4809083" cy="163190"/>
          </a:xfrm>
          <a:prstGeom prst="roundRect">
            <a:avLst>
              <a:gd name="adj" fmla="val 350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210741" y="2474528"/>
            <a:ext cx="0" cy="16319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00025" y="2474528"/>
            <a:ext cx="4809083" cy="227873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Membuka transparansi publik melalui Public Tracker dan LIHUM gallery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200025" y="2694868"/>
            <a:ext cx="5193810" cy="141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Objektif Tercatat di Sistem</a:t>
            </a:r>
            <a:endParaRPr lang="en-US" sz="8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2880606"/>
            <a:ext cx="1574416" cy="36433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03597" y="2884177"/>
            <a:ext cx="1567272" cy="357188"/>
          </a:xfrm>
          <a:prstGeom prst="roundRect">
            <a:avLst>
              <a:gd name="adj" fmla="val 26667"/>
            </a:avLst>
          </a:prstGeom>
          <a:noFill/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43384" y="2930612"/>
            <a:ext cx="157163" cy="157163"/>
          </a:xfrm>
          <a:prstGeom prst="roundRect">
            <a:avLst>
              <a:gd name="adj" fmla="val 66666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200025" y="2880606"/>
            <a:ext cx="1574416" cy="559613"/>
          </a:xfrm>
          <a:prstGeom prst="rect">
            <a:avLst/>
          </a:prstGeom>
          <a:noFill/>
          <a:ln/>
        </p:spPr>
        <p:txBody>
          <a:bodyPr wrap="square" lIns="57150" tIns="42863" rIns="57150" bIns="42863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FFFFFF"/>
                </a:solidFill>
                <a:highlight>
                  <a:srgbClr val="4C2A85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①</a:t>
            </a:r>
            <a:pPr algn="ctr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ctr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Masuk</a:t>
            </a:r>
            <a:endParaRPr lang="en-US" sz="800" dirty="0"/>
          </a:p>
          <a:p>
            <a:pPr algn="ctr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perihal, pengirim, kategori</a:t>
            </a:r>
            <a:endParaRPr lang="en-US" sz="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303" y="2880606"/>
            <a:ext cx="1574527" cy="36433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820875" y="2884177"/>
            <a:ext cx="1567383" cy="357188"/>
          </a:xfrm>
          <a:prstGeom prst="roundRect">
            <a:avLst>
              <a:gd name="adj" fmla="val 26667"/>
            </a:avLst>
          </a:prstGeom>
          <a:noFill/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2165449" y="2930612"/>
            <a:ext cx="157163" cy="157163"/>
          </a:xfrm>
          <a:prstGeom prst="roundRect">
            <a:avLst>
              <a:gd name="adj" fmla="val 66666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1817303" y="2880606"/>
            <a:ext cx="1574527" cy="559613"/>
          </a:xfrm>
          <a:prstGeom prst="rect">
            <a:avLst/>
          </a:prstGeom>
          <a:noFill/>
          <a:ln/>
        </p:spPr>
        <p:txBody>
          <a:bodyPr wrap="square" lIns="57150" tIns="42863" rIns="57150" bIns="42863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4C2A85"/>
                </a:solidFill>
                <a:highlight>
                  <a:srgbClr val="D4AF37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②</a:t>
            </a:r>
            <a:pPr algn="ctr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pPr algn="ctr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Program Kegiatan</a:t>
            </a:r>
            <a:endParaRPr lang="en-US" sz="800" dirty="0"/>
          </a:p>
          <a:p>
            <a:pPr algn="ctr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nomor, jenis, deskripsi</a:t>
            </a:r>
            <a:endParaRPr lang="en-US" sz="8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693" y="2880606"/>
            <a:ext cx="1574416" cy="36433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438265" y="2884177"/>
            <a:ext cx="1567272" cy="357188"/>
          </a:xfrm>
          <a:prstGeom prst="roundRect">
            <a:avLst>
              <a:gd name="adj" fmla="val 26667"/>
            </a:avLst>
          </a:prstGeom>
          <a:noFill/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3726917" y="2930612"/>
            <a:ext cx="157163" cy="157163"/>
          </a:xfrm>
          <a:prstGeom prst="roundRect">
            <a:avLst>
              <a:gd name="adj" fmla="val 66666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3434693" y="2880606"/>
            <a:ext cx="1574416" cy="559613"/>
          </a:xfrm>
          <a:prstGeom prst="rect">
            <a:avLst/>
          </a:prstGeom>
          <a:noFill/>
          <a:ln/>
        </p:spPr>
        <p:txBody>
          <a:bodyPr wrap="square" lIns="57150" tIns="42863" rIns="57150" bIns="42863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FFFFFF"/>
                </a:solidFill>
                <a:highlight>
                  <a:srgbClr val="17A2B8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③</a:t>
            </a:r>
            <a:pPr algn="ctr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ctr" indent="0" marL="0">
              <a:lnSpc>
                <a:spcPts val="731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Proyek + Surat Tugas</a:t>
            </a:r>
            <a:endParaRPr lang="en-US" sz="800" dirty="0"/>
          </a:p>
          <a:p>
            <a:pPr algn="ctr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activityTypes, outputNeeds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5116264" y="842963"/>
            <a:ext cx="3920468" cy="1721644"/>
          </a:xfrm>
          <a:prstGeom prst="roundRect">
            <a:avLst>
              <a:gd name="adj" fmla="val 5533"/>
            </a:avLst>
          </a:prstGeom>
          <a:solidFill>
            <a:srgbClr val="FFFFFF"/>
          </a:solidFill>
          <a:ln w="14288">
            <a:solidFill>
              <a:srgbClr val="4C2A8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159841" y="786098"/>
            <a:ext cx="559356" cy="128016"/>
          </a:xfrm>
          <a:prstGeom prst="roundRect">
            <a:avLst>
              <a:gd name="adj" fmla="val 44643"/>
            </a:avLst>
          </a:prstGeom>
          <a:solidFill>
            <a:srgbClr val="D4AF3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5087252" y="792956"/>
            <a:ext cx="7045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DASHBOARD</a:t>
            </a:r>
            <a:endParaRPr lang="en-US" sz="800" dirty="0"/>
          </a:p>
        </p:txBody>
      </p:sp>
      <p:pic>
        <p:nvPicPr>
          <p:cNvPr id="44" name="Image 5" descr="/tmp/h2p-fit-1791108753938-rvsgc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881" y="885825"/>
            <a:ext cx="3407122" cy="153590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167400" y="2443163"/>
            <a:ext cx="18181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1A6F9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 — Dashboard utama</a:t>
            </a:r>
            <a:endParaRPr lang="en-US" sz="600" dirty="0"/>
          </a:p>
        </p:txBody>
      </p:sp>
      <p:sp>
        <p:nvSpPr>
          <p:cNvPr id="46" name="Text 38"/>
          <p:cNvSpPr/>
          <p:nvPr/>
        </p:nvSpPr>
        <p:spPr>
          <a:xfrm>
            <a:off x="5116264" y="2621756"/>
            <a:ext cx="3920468" cy="1400175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5167887" y="2564892"/>
            <a:ext cx="342123" cy="128016"/>
          </a:xfrm>
          <a:prstGeom prst="roundRect">
            <a:avLst>
              <a:gd name="adj" fmla="val 44643"/>
            </a:avLst>
          </a:prstGeom>
          <a:solidFill>
            <a:srgbClr val="4C2A85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5135342" y="2571750"/>
            <a:ext cx="4072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</a:t>
            </a:r>
            <a:endParaRPr lang="en-US" sz="800" dirty="0"/>
          </a:p>
        </p:txBody>
      </p:sp>
      <p:pic>
        <p:nvPicPr>
          <p:cNvPr id="49" name="Image 6" descr="/tmp/h2p-fit-1791108753956-msb7s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511" y="2664619"/>
            <a:ext cx="2693975" cy="121443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143978" y="3900488"/>
            <a:ext cx="186504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1A6F9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Surat — dokumentasi objektif kegiatan</a:t>
            </a:r>
            <a:endParaRPr lang="en-US" sz="6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25" y="4719228"/>
            <a:ext cx="8743950" cy="252822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203597" y="4722800"/>
            <a:ext cx="8736806" cy="245678"/>
          </a:xfrm>
          <a:prstGeom prst="roundRect">
            <a:avLst>
              <a:gd name="adj" fmla="val 38770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4C2A85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200025" y="4719228"/>
            <a:ext cx="8636000" cy="353031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1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lnSpc>
                <a:spcPts val="866"/>
              </a:lnSpc>
              <a:buNone/>
            </a:pPr>
            <a:r>
              <a:rPr lang="en-US" sz="800" b="1" spc="17" kern="0" dirty="0">
                <a:solidFill>
                  <a:srgbClr val="FFD8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Tujuan komunikasi terdokumentasi 3 lapisan:</a:t>
            </a:r>
            <a:pPr algn="ctr" indent="0" marL="0">
              <a:lnSpc>
                <a:spcPts val="866"/>
              </a:lnSpc>
              <a:buNone/>
            </a:pPr>
            <a:r>
              <a:rPr lang="en-US" sz="800" b="1" spc="17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→ Kegiatan → Proyek + Surat Tugas resmi. Objektif jelas, terukur, tertulis.</a:t>
            </a:r>
            <a:endParaRPr lang="en-US" sz="800" dirty="0"/>
          </a:p>
        </p:txBody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025" y="171450"/>
            <a:ext cx="8743950" cy="34290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203597" y="175022"/>
            <a:ext cx="8736806" cy="335756"/>
          </a:xfrm>
          <a:prstGeom prst="roundRect">
            <a:avLst>
              <a:gd name="adj" fmla="val 39716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7150" dir="5400000">
              <a:srgbClr val="4C2A85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5"/>
          <p:cNvSpPr/>
          <p:nvPr/>
        </p:nvSpPr>
        <p:spPr>
          <a:xfrm>
            <a:off x="335756" y="250031"/>
            <a:ext cx="710780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Pengertian &amp; Tujuan</a:t>
            </a:r>
            <a:endParaRPr lang="en-US" sz="1238" dirty="0"/>
          </a:p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7852" y="250031"/>
            <a:ext cx="1350392" cy="185738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7461424" y="253603"/>
            <a:ext cx="1343248" cy="178594"/>
          </a:xfrm>
          <a:prstGeom prst="roundRect">
            <a:avLst>
              <a:gd name="adj" fmla="val 106667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7"/>
          <p:cNvSpPr/>
          <p:nvPr/>
        </p:nvSpPr>
        <p:spPr>
          <a:xfrm>
            <a:off x="7457852" y="250031"/>
            <a:ext cx="1350392" cy="185738"/>
          </a:xfrm>
          <a:prstGeom prst="rect">
            <a:avLst/>
          </a:prstGeom>
          <a:noFill/>
          <a:ln/>
        </p:spPr>
        <p:txBody>
          <a:bodyPr wrap="square" lIns="85725" tIns="35719" rIns="85725" bIns="35719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Menjawab: 🎯 Objektif (20%)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58125" y="-642937"/>
            <a:ext cx="1857375" cy="1857375"/>
          </a:xfrm>
          <a:prstGeom prst="ellipse">
            <a:avLst/>
          </a:prstGeom>
          <a:solidFill>
            <a:srgbClr val="E07BB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428625" y="4143375"/>
            <a:ext cx="1571625" cy="1571625"/>
          </a:xfrm>
          <a:prstGeom prst="ellipse">
            <a:avLst/>
          </a:prstGeom>
          <a:solidFill>
            <a:srgbClr val="17A2B8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8" y="157163"/>
            <a:ext cx="8772525" cy="3286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9309" y="160734"/>
            <a:ext cx="8765381" cy="321469"/>
          </a:xfrm>
          <a:prstGeom prst="roundRect">
            <a:avLst>
              <a:gd name="adj" fmla="val 41481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7150" dir="5400000">
              <a:srgbClr val="4C2A85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21469" y="228600"/>
            <a:ext cx="713638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Latar Belakang &amp; Strategi</a:t>
            </a:r>
            <a:endParaRPr lang="en-US" sz="1238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139" y="228600"/>
            <a:ext cx="1350392" cy="1857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75711" y="232172"/>
            <a:ext cx="1343248" cy="178594"/>
          </a:xfrm>
          <a:prstGeom prst="roundRect">
            <a:avLst>
              <a:gd name="adj" fmla="val 106667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7472139" y="228600"/>
            <a:ext cx="1350392" cy="185738"/>
          </a:xfrm>
          <a:prstGeom prst="rect">
            <a:avLst/>
          </a:prstGeom>
          <a:noFill/>
          <a:ln/>
        </p:spPr>
        <p:txBody>
          <a:bodyPr wrap="square" lIns="85725" tIns="35719" rIns="85725" bIns="35719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Menjawab: ♟️ Strategi (20%)</a:t>
            </a:r>
            <a:endParaRPr lang="en-US" sz="675" dirty="0"/>
          </a:p>
        </p:txBody>
      </p:sp>
      <p:sp>
        <p:nvSpPr>
          <p:cNvPr id="12" name="Text 6"/>
          <p:cNvSpPr/>
          <p:nvPr/>
        </p:nvSpPr>
        <p:spPr>
          <a:xfrm>
            <a:off x="185738" y="542925"/>
            <a:ext cx="8772525" cy="178594"/>
          </a:xfrm>
          <a:prstGeom prst="roundRect">
            <a:avLst>
              <a:gd name="adj" fmla="val 32000"/>
            </a:avLst>
          </a:prstGeom>
          <a:solidFill>
            <a:srgbClr val="4C2A8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196453" y="542925"/>
            <a:ext cx="0" cy="178594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85738" y="542925"/>
            <a:ext cx="8636000" cy="222599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buNone/>
            </a:pPr>
            <a:r>
              <a:rPr lang="en-US" sz="619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Pengantar: Setiap inovasi lahir dari masalah nyata. Bagian ini memetakan kendala produksi kehumasan sebelum sistem hadir, lalu menjelaskan lima strategi konkret yang menjadi pilar Pushakin Flows.</a:t>
            </a:r>
            <a:endParaRPr lang="en-US" sz="619" dirty="0"/>
          </a:p>
        </p:txBody>
      </p:sp>
      <p:sp>
        <p:nvSpPr>
          <p:cNvPr id="15" name="Text 9"/>
          <p:cNvSpPr/>
          <p:nvPr/>
        </p:nvSpPr>
        <p:spPr>
          <a:xfrm>
            <a:off x="185738" y="792956"/>
            <a:ext cx="8636000" cy="141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A. Kendala yang Dihadapi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185738" y="985838"/>
            <a:ext cx="8636000" cy="115443"/>
          </a:xfrm>
          <a:prstGeom prst="rect">
            <a:avLst/>
          </a:prstGeom>
          <a:noFill/>
          <a:ln/>
        </p:spPr>
        <p:txBody>
          <a:bodyPr wrap="square" lIns="100013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Sebelum Pushakin Flows, produksi kehumasan menghadapi tantangan berikut: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185738" y="1128713"/>
            <a:ext cx="2150269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E03A3A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203597" y="1128713"/>
            <a:ext cx="0" cy="714375"/>
          </a:xfrm>
          <a:prstGeom prst="line">
            <a:avLst/>
          </a:prstGeom>
          <a:noFill/>
          <a:ln w="35719">
            <a:solidFill>
              <a:srgbClr val="E03A3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92894" y="1550863"/>
            <a:ext cx="2071688" cy="119703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WhatsApp tanpa tracking, pesan hilang, status kabur.</a:t>
            </a:r>
            <a:endParaRPr lang="en-US" sz="619" dirty="0"/>
          </a:p>
        </p:txBody>
      </p:sp>
      <p:sp>
        <p:nvSpPr>
          <p:cNvPr id="20" name="Text 14"/>
          <p:cNvSpPr/>
          <p:nvPr/>
        </p:nvSpPr>
        <p:spPr>
          <a:xfrm>
            <a:off x="292894" y="1322040"/>
            <a:ext cx="1971675" cy="148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A0202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Koordinasi Manual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2393156" y="1128713"/>
            <a:ext cx="2150269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E03A3A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2411016" y="1128713"/>
            <a:ext cx="0" cy="714375"/>
          </a:xfrm>
          <a:prstGeom prst="line">
            <a:avLst/>
          </a:prstGeom>
          <a:noFill/>
          <a:ln w="35719">
            <a:solidFill>
              <a:srgbClr val="E03A3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500313" y="1550863"/>
            <a:ext cx="2071688" cy="119703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Tidak terstruktur per kegiatan, susah ditelusuri ulang.</a:t>
            </a:r>
            <a:endParaRPr lang="en-US" sz="619" dirty="0"/>
          </a:p>
        </p:txBody>
      </p:sp>
      <p:sp>
        <p:nvSpPr>
          <p:cNvPr id="24" name="Text 18"/>
          <p:cNvSpPr/>
          <p:nvPr/>
        </p:nvSpPr>
        <p:spPr>
          <a:xfrm>
            <a:off x="2500313" y="1322040"/>
            <a:ext cx="1971675" cy="148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A0202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File Tersebar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600575" y="1128713"/>
            <a:ext cx="2150269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E03A3A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4618434" y="1128713"/>
            <a:ext cx="0" cy="714375"/>
          </a:xfrm>
          <a:prstGeom prst="line">
            <a:avLst/>
          </a:prstGeom>
          <a:noFill/>
          <a:ln w="35719">
            <a:solidFill>
              <a:srgbClr val="E03A3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07731" y="1550863"/>
            <a:ext cx="2071688" cy="119703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SKP sulit dilaporkan, output kerja tidak tercatat.</a:t>
            </a:r>
            <a:endParaRPr lang="en-US" sz="619" dirty="0"/>
          </a:p>
        </p:txBody>
      </p:sp>
      <p:sp>
        <p:nvSpPr>
          <p:cNvPr id="28" name="Text 22"/>
          <p:cNvSpPr/>
          <p:nvPr/>
        </p:nvSpPr>
        <p:spPr>
          <a:xfrm>
            <a:off x="4707731" y="1322040"/>
            <a:ext cx="1971675" cy="148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A0202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Tidak Ada Bukti Kinerja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807994" y="1128713"/>
            <a:ext cx="2150269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E03A3A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6825853" y="1128713"/>
            <a:ext cx="0" cy="714375"/>
          </a:xfrm>
          <a:prstGeom prst="line">
            <a:avLst/>
          </a:prstGeom>
          <a:noFill/>
          <a:ln w="35719">
            <a:solidFill>
              <a:srgbClr val="E03A3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915150" y="1550863"/>
            <a:ext cx="2043113" cy="119703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 tidak bisa memantau kegiatan kehumasan.</a:t>
            </a:r>
            <a:endParaRPr lang="en-US" sz="619" dirty="0"/>
          </a:p>
        </p:txBody>
      </p:sp>
      <p:sp>
        <p:nvSpPr>
          <p:cNvPr id="32" name="Text 26"/>
          <p:cNvSpPr/>
          <p:nvPr/>
        </p:nvSpPr>
        <p:spPr>
          <a:xfrm>
            <a:off x="6915150" y="1322040"/>
            <a:ext cx="1971675" cy="148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A0202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❌ Tidak Ada Transparansi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85738" y="1914525"/>
            <a:ext cx="8636000" cy="141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 Strategi yang Diterapkan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85738" y="2107406"/>
            <a:ext cx="8636000" cy="115443"/>
          </a:xfrm>
          <a:prstGeom prst="rect">
            <a:avLst/>
          </a:prstGeom>
          <a:noFill/>
          <a:ln/>
        </p:spPr>
        <p:txBody>
          <a:bodyPr wrap="square" lIns="100013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menjawab kendala dengan 5 strategi berikut:</a:t>
            </a:r>
            <a:endParaRPr lang="en-US" sz="8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8" y="2250281"/>
            <a:ext cx="1714500" cy="24260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42888" y="2314575"/>
            <a:ext cx="16002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1238" dirty="0"/>
          </a:p>
        </p:txBody>
      </p:sp>
      <p:sp>
        <p:nvSpPr>
          <p:cNvPr id="37" name="Text 30"/>
          <p:cNvSpPr/>
          <p:nvPr/>
        </p:nvSpPr>
        <p:spPr>
          <a:xfrm>
            <a:off x="242888" y="2500313"/>
            <a:ext cx="1696212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Pemilihan Petugas per Role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242888" y="2636044"/>
            <a:ext cx="16002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3B2A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 role spesifik dengan tahap masing-masing. Manager pilih siapa kerja apa.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246459" y="4244169"/>
            <a:ext cx="1593056" cy="364331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5" descr="/tmp/h2p-fit-1791108754349-zwabw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44" y="4247741"/>
            <a:ext cx="792287" cy="357076"/>
          </a:xfrm>
          <a:prstGeom prst="rect">
            <a:avLst/>
          </a:prstGeom>
        </p:spPr>
      </p:pic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0244" y="2250281"/>
            <a:ext cx="1714500" cy="242608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007394" y="2314575"/>
            <a:ext cx="16002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38" dirty="0"/>
          </a:p>
        </p:txBody>
      </p:sp>
      <p:sp>
        <p:nvSpPr>
          <p:cNvPr id="43" name="Text 34"/>
          <p:cNvSpPr/>
          <p:nvPr/>
        </p:nvSpPr>
        <p:spPr>
          <a:xfrm>
            <a:off x="2007394" y="2500313"/>
            <a:ext cx="1696212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Fast Track &amp; Fast Production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2007394" y="2636044"/>
            <a:ext cx="16002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3B2A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Respons cepat untuk kegiatan mendesak. Skip tahap tidak perlu.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2010966" y="4244169"/>
            <a:ext cx="1593056" cy="364331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7" descr="/tmp/h2p-fit-1791108754349-efp82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350" y="4247741"/>
            <a:ext cx="792287" cy="357076"/>
          </a:xfrm>
          <a:prstGeom prst="rect">
            <a:avLst/>
          </a:prstGeom>
        </p:spPr>
      </p:pic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0" y="2250281"/>
            <a:ext cx="1714500" cy="242608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3771900" y="2314575"/>
            <a:ext cx="16002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1238" dirty="0"/>
          </a:p>
        </p:txBody>
      </p:sp>
      <p:sp>
        <p:nvSpPr>
          <p:cNvPr id="49" name="Text 38"/>
          <p:cNvSpPr/>
          <p:nvPr/>
        </p:nvSpPr>
        <p:spPr>
          <a:xfrm>
            <a:off x="3771900" y="2500313"/>
            <a:ext cx="160020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Deteksi Konflik Jadwal</a:t>
            </a:r>
            <a:endParaRPr lang="en-US" sz="800" dirty="0"/>
          </a:p>
        </p:txBody>
      </p:sp>
      <p:sp>
        <p:nvSpPr>
          <p:cNvPr id="50" name="Text 39"/>
          <p:cNvSpPr/>
          <p:nvPr/>
        </p:nvSpPr>
        <p:spPr>
          <a:xfrm>
            <a:off x="3771900" y="2636044"/>
            <a:ext cx="16002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3B2A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Cek bentrok ±3 jam. Warning + konfirmasi sebelum lanjut.</a:t>
            </a:r>
            <a:endParaRPr lang="en-US" sz="800" dirty="0"/>
          </a:p>
        </p:txBody>
      </p:sp>
      <p:sp>
        <p:nvSpPr>
          <p:cNvPr id="51" name="Text 40"/>
          <p:cNvSpPr/>
          <p:nvPr/>
        </p:nvSpPr>
        <p:spPr>
          <a:xfrm>
            <a:off x="3775472" y="4244169"/>
            <a:ext cx="1593056" cy="364331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17A2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2" name="Image 9" descr="/tmp/h2p-fit-1791108754349-xs1m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857" y="4247741"/>
            <a:ext cx="792287" cy="357076"/>
          </a:xfrm>
          <a:prstGeom prst="rect">
            <a:avLst/>
          </a:prstGeom>
        </p:spPr>
      </p:pic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9256" y="2250281"/>
            <a:ext cx="1714500" cy="2426084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5536406" y="2314575"/>
            <a:ext cx="16002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238" dirty="0"/>
          </a:p>
        </p:txBody>
      </p:sp>
      <p:sp>
        <p:nvSpPr>
          <p:cNvPr id="55" name="Text 42"/>
          <p:cNvSpPr/>
          <p:nvPr/>
        </p:nvSpPr>
        <p:spPr>
          <a:xfrm>
            <a:off x="5536406" y="2500313"/>
            <a:ext cx="160020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Inventaris</a:t>
            </a:r>
            <a:endParaRPr lang="en-US" sz="800" dirty="0"/>
          </a:p>
        </p:txBody>
      </p:sp>
      <p:sp>
        <p:nvSpPr>
          <p:cNvPr id="56" name="Text 43"/>
          <p:cNvSpPr/>
          <p:nvPr/>
        </p:nvSpPr>
        <p:spPr>
          <a:xfrm>
            <a:off x="5536406" y="2636044"/>
            <a:ext cx="16002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3B2A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Peminjaman &amp; pembagian barang. Stok real-time, tidak dobel.</a:t>
            </a:r>
            <a:endParaRPr lang="en-US" sz="800" dirty="0"/>
          </a:p>
        </p:txBody>
      </p:sp>
      <p:sp>
        <p:nvSpPr>
          <p:cNvPr id="57" name="Text 44"/>
          <p:cNvSpPr/>
          <p:nvPr/>
        </p:nvSpPr>
        <p:spPr>
          <a:xfrm>
            <a:off x="5539978" y="4244169"/>
            <a:ext cx="1593056" cy="364331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F08A2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11" descr="/tmp/h2p-fit-1791108754349-ducru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0363" y="4247741"/>
            <a:ext cx="792287" cy="357076"/>
          </a:xfrm>
          <a:prstGeom prst="rect">
            <a:avLst/>
          </a:prstGeom>
        </p:spPr>
      </p:pic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3763" y="2250281"/>
            <a:ext cx="1714500" cy="2426084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7300913" y="2314575"/>
            <a:ext cx="16002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238" dirty="0"/>
          </a:p>
        </p:txBody>
      </p:sp>
      <p:sp>
        <p:nvSpPr>
          <p:cNvPr id="61" name="Text 46"/>
          <p:cNvSpPr/>
          <p:nvPr/>
        </p:nvSpPr>
        <p:spPr>
          <a:xfrm>
            <a:off x="7300913" y="2500313"/>
            <a:ext cx="160020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Reminder WA</a:t>
            </a:r>
            <a:endParaRPr lang="en-US" sz="800" dirty="0"/>
          </a:p>
        </p:txBody>
      </p:sp>
      <p:sp>
        <p:nvSpPr>
          <p:cNvPr id="62" name="Text 47"/>
          <p:cNvSpPr/>
          <p:nvPr/>
        </p:nvSpPr>
        <p:spPr>
          <a:xfrm>
            <a:off x="7300913" y="2636044"/>
            <a:ext cx="16002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3B2A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Progress per petugas: belum 3 dari 5 tahap. Reminder otomatis.</a:t>
            </a:r>
            <a:endParaRPr lang="en-US" sz="800" dirty="0"/>
          </a:p>
        </p:txBody>
      </p:sp>
      <p:sp>
        <p:nvSpPr>
          <p:cNvPr id="63" name="Text 48"/>
          <p:cNvSpPr/>
          <p:nvPr/>
        </p:nvSpPr>
        <p:spPr>
          <a:xfrm>
            <a:off x="7304484" y="4244169"/>
            <a:ext cx="1593056" cy="364331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E07BB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13" descr="/tmp/h2p-fit-1791108754349-0cfra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04869" y="4247741"/>
            <a:ext cx="792287" cy="357076"/>
          </a:xfrm>
          <a:prstGeom prst="rect">
            <a:avLst/>
          </a:prstGeom>
        </p:spPr>
      </p:pic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738" y="4733516"/>
            <a:ext cx="8772525" cy="252822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189309" y="4737088"/>
            <a:ext cx="8765381" cy="245678"/>
          </a:xfrm>
          <a:prstGeom prst="roundRect">
            <a:avLst>
              <a:gd name="adj" fmla="val 38770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50"/>
          <p:cNvSpPr/>
          <p:nvPr/>
        </p:nvSpPr>
        <p:spPr>
          <a:xfrm>
            <a:off x="185738" y="4733516"/>
            <a:ext cx="8636000" cy="353031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1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lnSpc>
                <a:spcPts val="866"/>
              </a:lnSpc>
              <a:buNone/>
            </a:pPr>
            <a:r>
              <a:rPr lang="en-US" sz="800" b="1" spc="17" kern="0" dirty="0">
                <a:solidFill>
                  <a:srgbClr val="FFD8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Strategi terdukung 5 sistem:</a:t>
            </a:r>
            <a:pPr algn="ctr" indent="0" marL="0">
              <a:lnSpc>
                <a:spcPts val="866"/>
              </a:lnSpc>
              <a:buNone/>
            </a:pPr>
            <a:r>
              <a:rPr lang="en-US" sz="800" b="1" spc="17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pemilihan petugas, respons cepat, deteksi konflik, inventaris, koordinasi WA. Eksekusi terkoordinasi &amp; efektif.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58125" y="-642937"/>
            <a:ext cx="1857375" cy="1857375"/>
          </a:xfrm>
          <a:prstGeom prst="ellipse">
            <a:avLst/>
          </a:prstGeom>
          <a:solidFill>
            <a:srgbClr val="17A2B8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428625" y="4143375"/>
            <a:ext cx="1571625" cy="1571625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8" y="157163"/>
            <a:ext cx="8772525" cy="3286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9309" y="160734"/>
            <a:ext cx="8765381" cy="321469"/>
          </a:xfrm>
          <a:prstGeom prst="roundRect">
            <a:avLst>
              <a:gd name="adj" fmla="val 41481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7150" dir="5400000">
              <a:srgbClr val="4C2A85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21469" y="228600"/>
            <a:ext cx="61420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Saluran &amp; Pesan Komunikasi</a:t>
            </a:r>
            <a:endParaRPr lang="en-US" sz="1238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819" y="228600"/>
            <a:ext cx="2344713" cy="1857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81390" y="232172"/>
            <a:ext cx="2337569" cy="178594"/>
          </a:xfrm>
          <a:prstGeom prst="roundRect">
            <a:avLst>
              <a:gd name="adj" fmla="val 106667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6477819" y="228600"/>
            <a:ext cx="2344713" cy="185738"/>
          </a:xfrm>
          <a:prstGeom prst="rect">
            <a:avLst/>
          </a:prstGeom>
          <a:noFill/>
          <a:ln/>
        </p:spPr>
        <p:txBody>
          <a:bodyPr wrap="square" lIns="85725" tIns="35719" rIns="85725" bIns="35719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Menjawab: 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📡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Taktik (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) + 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Key Messages (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pPr algn="l" indent="0" marL="0">
              <a:buNone/>
            </a:pPr>
            <a:r>
              <a:rPr lang="en-US" sz="675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)</a:t>
            </a:r>
            <a:endParaRPr lang="en-US" sz="675" dirty="0"/>
          </a:p>
        </p:txBody>
      </p:sp>
      <p:sp>
        <p:nvSpPr>
          <p:cNvPr id="12" name="Text 6"/>
          <p:cNvSpPr/>
          <p:nvPr/>
        </p:nvSpPr>
        <p:spPr>
          <a:xfrm>
            <a:off x="185738" y="542925"/>
            <a:ext cx="8772525" cy="178594"/>
          </a:xfrm>
          <a:prstGeom prst="roundRect">
            <a:avLst>
              <a:gd name="adj" fmla="val 32000"/>
            </a:avLst>
          </a:prstGeom>
          <a:solidFill>
            <a:srgbClr val="4C2A8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196453" y="542925"/>
            <a:ext cx="0" cy="178594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85738" y="542925"/>
            <a:ext cx="8636000" cy="208312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buNone/>
            </a:pPr>
            <a:r>
              <a:rPr lang="en-US" sz="619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Pengantar: Taktik menentukan saluran apa yang dipakai; pesan menentukan apa yang dikomunikasikan. Bagian ini memetakan </a:t>
            </a:r>
            <a:pPr algn="l" indent="0" marL="0">
              <a:buNone/>
            </a:pPr>
            <a:r>
              <a:rPr lang="en-US" sz="619" i="1" dirty="0">
                <a:solidFill>
                  <a:srgbClr val="6B5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</a:t>
            </a:r>
            <a:pPr algn="l" indent="0" marL="0">
              <a:buNone/>
            </a:pPr>
            <a:r>
              <a:rPr lang="en-US" sz="619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saluran dengan role khusus, dan </a:t>
            </a:r>
            <a:pPr algn="l" indent="0" marL="0">
              <a:buNone/>
            </a:pPr>
            <a:r>
              <a:rPr lang="en-US" sz="619" i="1" dirty="0">
                <a:solidFill>
                  <a:srgbClr val="6B5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buNone/>
            </a:pPr>
            <a:r>
              <a:rPr lang="en-US" sz="619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level dokumentasi pesan kunci yang menjadi pedoman kerja tim.</a:t>
            </a:r>
            <a:endParaRPr lang="en-US" sz="619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8" y="778669"/>
            <a:ext cx="4336256" cy="38976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9309" y="782241"/>
            <a:ext cx="4329113" cy="3890553"/>
          </a:xfrm>
          <a:prstGeom prst="roundRect">
            <a:avLst>
              <a:gd name="adj" fmla="val 2938"/>
            </a:avLst>
          </a:prstGeom>
          <a:noFill/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271463" y="850106"/>
            <a:ext cx="416480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A. Saluran Publikasi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271463" y="1000125"/>
            <a:ext cx="4164806" cy="228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terintegrasi dengan </a:t>
            </a:r>
            <a:pPr algn="just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 saluran publikasi</a:t>
            </a:r>
            <a:pPr algn="just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, masing-masing dengan </a:t>
            </a:r>
            <a:pPr algn="just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role khusus</a:t>
            </a:r>
            <a:pPr algn="just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untuk memastikan konten tepat sasaran &amp; tidak salahpersepsi.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63" y="1255737"/>
            <a:ext cx="4164806" cy="40719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75034" y="1259309"/>
            <a:ext cx="4157663" cy="400050"/>
          </a:xfrm>
          <a:prstGeom prst="roundRect">
            <a:avLst>
              <a:gd name="adj" fmla="val 23810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364331" y="1305744"/>
            <a:ext cx="659368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</a:t>
            </a:r>
            <a:endParaRPr lang="en-US" sz="1913" dirty="0"/>
          </a:p>
        </p:txBody>
      </p:sp>
      <p:sp>
        <p:nvSpPr>
          <p:cNvPr id="22" name="Text 14"/>
          <p:cNvSpPr/>
          <p:nvPr/>
        </p:nvSpPr>
        <p:spPr>
          <a:xfrm>
            <a:off x="833586" y="1441475"/>
            <a:ext cx="35098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SALURAN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PUBLIKASI TERINTEGRASI</a:t>
            </a:r>
            <a:endParaRPr lang="en-US" sz="8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63" y="1698650"/>
            <a:ext cx="2060972" cy="135731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282178" y="1698650"/>
            <a:ext cx="0" cy="135731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271463" y="1698650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Website</a:t>
            </a:r>
            <a:endParaRPr lang="en-US" sz="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5297" y="1698650"/>
            <a:ext cx="2060972" cy="135731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2386013" y="1698650"/>
            <a:ext cx="0" cy="135731"/>
          </a:xfrm>
          <a:prstGeom prst="line">
            <a:avLst/>
          </a:prstGeom>
          <a:noFill/>
          <a:ln w="21431">
            <a:solidFill>
              <a:srgbClr val="17A2B8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2375297" y="1698650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Instagram</a:t>
            </a:r>
            <a:endParaRPr lang="en-US" sz="8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463" y="1855812"/>
            <a:ext cx="2060972" cy="135731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282178" y="1855812"/>
            <a:ext cx="0" cy="135731"/>
          </a:xfrm>
          <a:prstGeom prst="line">
            <a:avLst/>
          </a:prstGeom>
          <a:noFill/>
          <a:ln w="21431">
            <a:solidFill>
              <a:srgbClr val="E07BB0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271463" y="1855812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📘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Facebook</a:t>
            </a:r>
            <a:endParaRPr lang="en-US" sz="8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5297" y="1855812"/>
            <a:ext cx="2060972" cy="135731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2386013" y="1855812"/>
            <a:ext cx="0" cy="135731"/>
          </a:xfrm>
          <a:prstGeom prst="line">
            <a:avLst/>
          </a:prstGeom>
          <a:noFill/>
          <a:ln w="21431">
            <a:solidFill>
              <a:srgbClr val="F08A24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2375297" y="1855812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🐦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Twitter/X</a:t>
            </a:r>
            <a:endParaRPr lang="en-US" sz="8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463" y="2012975"/>
            <a:ext cx="2060972" cy="135731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282178" y="2012975"/>
            <a:ext cx="0" cy="135731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37" name="Text 24"/>
          <p:cNvSpPr/>
          <p:nvPr/>
        </p:nvSpPr>
        <p:spPr>
          <a:xfrm>
            <a:off x="271463" y="2012975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▶️ YouTube</a:t>
            </a:r>
            <a:endParaRPr lang="en-US" sz="8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5297" y="2012975"/>
            <a:ext cx="2060972" cy="135731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2386013" y="2012975"/>
            <a:ext cx="0" cy="135731"/>
          </a:xfrm>
          <a:prstGeom prst="line">
            <a:avLst/>
          </a:prstGeom>
          <a:noFill/>
          <a:ln w="21431">
            <a:solidFill>
              <a:srgbClr val="E07BB0"/>
            </a:solidFill>
            <a:prstDash val="solid"/>
          </a:ln>
        </p:spPr>
      </p:sp>
      <p:sp>
        <p:nvSpPr>
          <p:cNvPr id="40" name="Text 26"/>
          <p:cNvSpPr/>
          <p:nvPr/>
        </p:nvSpPr>
        <p:spPr>
          <a:xfrm>
            <a:off x="2375297" y="2012975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🎵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TikTok</a:t>
            </a:r>
            <a:endParaRPr lang="en-US" sz="80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1463" y="2170137"/>
            <a:ext cx="2060972" cy="135731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282178" y="2170137"/>
            <a:ext cx="0" cy="135731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271463" y="2170137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💼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LinkedIn</a:t>
            </a:r>
            <a:endParaRPr lang="en-US" sz="80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5297" y="2170137"/>
            <a:ext cx="2060972" cy="135731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2386013" y="2170137"/>
            <a:ext cx="0" cy="135731"/>
          </a:xfrm>
          <a:prstGeom prst="line">
            <a:avLst/>
          </a:prstGeom>
          <a:noFill/>
          <a:ln w="21431">
            <a:solidFill>
              <a:srgbClr val="F08A24"/>
            </a:solidFill>
            <a:prstDash val="solid"/>
          </a:ln>
        </p:spPr>
      </p:sp>
      <p:sp>
        <p:nvSpPr>
          <p:cNvPr id="46" name="Text 30"/>
          <p:cNvSpPr/>
          <p:nvPr/>
        </p:nvSpPr>
        <p:spPr>
          <a:xfrm>
            <a:off x="2375297" y="2170137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📧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Newsletter</a:t>
            </a:r>
            <a:endParaRPr lang="en-US" sz="8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1463" y="2327300"/>
            <a:ext cx="2060972" cy="135731"/>
          </a:xfrm>
          <a:prstGeom prst="rect">
            <a:avLst/>
          </a:prstGeom>
        </p:spPr>
      </p:pic>
      <p:sp>
        <p:nvSpPr>
          <p:cNvPr id="48" name="Shape 31"/>
          <p:cNvSpPr/>
          <p:nvPr/>
        </p:nvSpPr>
        <p:spPr>
          <a:xfrm>
            <a:off x="282178" y="2327300"/>
            <a:ext cx="0" cy="135731"/>
          </a:xfrm>
          <a:prstGeom prst="line">
            <a:avLst/>
          </a:prstGeom>
          <a:noFill/>
          <a:ln w="21431">
            <a:solidFill>
              <a:srgbClr val="E07BB0"/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1463" y="2327300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📰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Portal Berita</a:t>
            </a:r>
            <a:endParaRPr lang="en-US" sz="800" dirty="0"/>
          </a:p>
        </p:txBody>
      </p:sp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75297" y="2327300"/>
            <a:ext cx="2060972" cy="135731"/>
          </a:xfrm>
          <a:prstGeom prst="rect">
            <a:avLst/>
          </a:prstGeom>
        </p:spPr>
      </p:pic>
      <p:sp>
        <p:nvSpPr>
          <p:cNvPr id="51" name="Shape 33"/>
          <p:cNvSpPr/>
          <p:nvPr/>
        </p:nvSpPr>
        <p:spPr>
          <a:xfrm>
            <a:off x="2386013" y="2327300"/>
            <a:ext cx="0" cy="135731"/>
          </a:xfrm>
          <a:prstGeom prst="line">
            <a:avLst/>
          </a:prstGeom>
          <a:noFill/>
          <a:ln w="21431">
            <a:solidFill>
              <a:srgbClr val="17A2B8"/>
            </a:solidFill>
            <a:prstDash val="solid"/>
          </a:ln>
        </p:spPr>
      </p:sp>
      <p:sp>
        <p:nvSpPr>
          <p:cNvPr id="52" name="Text 34"/>
          <p:cNvSpPr/>
          <p:nvPr/>
        </p:nvSpPr>
        <p:spPr>
          <a:xfrm>
            <a:off x="2375297" y="2327300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🎧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Podcast</a:t>
            </a:r>
            <a:endParaRPr lang="en-US" sz="800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1463" y="2484462"/>
            <a:ext cx="2060972" cy="135731"/>
          </a:xfrm>
          <a:prstGeom prst="rect">
            <a:avLst/>
          </a:prstGeom>
        </p:spPr>
      </p:pic>
      <p:sp>
        <p:nvSpPr>
          <p:cNvPr id="54" name="Shape 35"/>
          <p:cNvSpPr/>
          <p:nvPr/>
        </p:nvSpPr>
        <p:spPr>
          <a:xfrm>
            <a:off x="282178" y="2484462"/>
            <a:ext cx="0" cy="135731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55" name="Text 36"/>
          <p:cNvSpPr/>
          <p:nvPr/>
        </p:nvSpPr>
        <p:spPr>
          <a:xfrm>
            <a:off x="271463" y="2484462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📺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Streaming</a:t>
            </a:r>
            <a:endParaRPr lang="en-US" sz="800" dirty="0"/>
          </a:p>
        </p:txBody>
      </p:sp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75297" y="2484462"/>
            <a:ext cx="2060972" cy="135731"/>
          </a:xfrm>
          <a:prstGeom prst="rect">
            <a:avLst/>
          </a:prstGeom>
        </p:spPr>
      </p:pic>
      <p:sp>
        <p:nvSpPr>
          <p:cNvPr id="57" name="Shape 37"/>
          <p:cNvSpPr/>
          <p:nvPr/>
        </p:nvSpPr>
        <p:spPr>
          <a:xfrm>
            <a:off x="2386013" y="2484462"/>
            <a:ext cx="0" cy="135731"/>
          </a:xfrm>
          <a:prstGeom prst="line">
            <a:avLst/>
          </a:prstGeom>
          <a:noFill/>
          <a:ln w="21431">
            <a:solidFill>
              <a:srgbClr val="F08A24"/>
            </a:solidFill>
            <a:prstDash val="solid"/>
          </a:ln>
        </p:spPr>
      </p:sp>
      <p:sp>
        <p:nvSpPr>
          <p:cNvPr id="58" name="Text 38"/>
          <p:cNvSpPr/>
          <p:nvPr/>
        </p:nvSpPr>
        <p:spPr>
          <a:xfrm>
            <a:off x="2375297" y="2484462"/>
            <a:ext cx="2060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Lainnya</a:t>
            </a:r>
            <a:endParaRPr lang="en-US" sz="800" dirty="0"/>
          </a:p>
        </p:txBody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1463" y="2655912"/>
            <a:ext cx="4164806" cy="200025"/>
          </a:xfrm>
          <a:prstGeom prst="rect">
            <a:avLst/>
          </a:prstGeom>
        </p:spPr>
      </p:pic>
      <p:sp>
        <p:nvSpPr>
          <p:cNvPr id="60" name="Text 39"/>
          <p:cNvSpPr/>
          <p:nvPr/>
        </p:nvSpPr>
        <p:spPr>
          <a:xfrm>
            <a:off x="271463" y="2655912"/>
            <a:ext cx="4164806" cy="208312"/>
          </a:xfrm>
          <a:prstGeom prst="rect">
            <a:avLst/>
          </a:prstGeom>
          <a:noFill/>
          <a:ln/>
        </p:spPr>
        <p:txBody>
          <a:bodyPr wrap="square" lIns="71438" tIns="50006" rIns="71438" bIns="50006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 </a:t>
            </a:r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E08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Role Mapping:</a:t>
            </a:r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Publisher Web → 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| Publisher Sosmed → 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| Streaming Op → 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📺</a:t>
            </a:r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| Podcast Op → 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🎧</a:t>
            </a:r>
            <a:endParaRPr lang="en-US" sz="800" dirty="0"/>
          </a:p>
        </p:txBody>
      </p:sp>
      <p:pic>
        <p:nvPicPr>
          <p:cNvPr id="6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1463" y="2891656"/>
            <a:ext cx="2060972" cy="150019"/>
          </a:xfrm>
          <a:prstGeom prst="rect">
            <a:avLst/>
          </a:prstGeom>
        </p:spPr>
      </p:pic>
      <p:sp>
        <p:nvSpPr>
          <p:cNvPr id="62" name="Text 40"/>
          <p:cNvSpPr/>
          <p:nvPr/>
        </p:nvSpPr>
        <p:spPr>
          <a:xfrm>
            <a:off x="275034" y="2895228"/>
            <a:ext cx="2053828" cy="142875"/>
          </a:xfrm>
          <a:prstGeom prst="roundRect">
            <a:avLst>
              <a:gd name="adj" fmla="val 53333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47625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41"/>
          <p:cNvSpPr/>
          <p:nvPr/>
        </p:nvSpPr>
        <p:spPr>
          <a:xfrm>
            <a:off x="271463" y="2891656"/>
            <a:ext cx="2060972" cy="230429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PUBLIC — Dibagikan ke LIHUM</a:t>
            </a:r>
            <a:endParaRPr lang="en-US" sz="800" dirty="0"/>
          </a:p>
        </p:txBody>
      </p:sp>
      <p:pic>
        <p:nvPicPr>
          <p:cNvPr id="6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5297" y="2891656"/>
            <a:ext cx="2060972" cy="150019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2378869" y="2895228"/>
            <a:ext cx="2053828" cy="142875"/>
          </a:xfrm>
          <a:prstGeom prst="roundRect">
            <a:avLst>
              <a:gd name="adj" fmla="val 53333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47625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43"/>
          <p:cNvSpPr/>
          <p:nvPr/>
        </p:nvSpPr>
        <p:spPr>
          <a:xfrm>
            <a:off x="2375297" y="2891656"/>
            <a:ext cx="2060972" cy="230429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🔴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PRIVATE — Tetap rahasia</a:t>
            </a:r>
            <a:endParaRPr lang="en-US" sz="800" dirty="0"/>
          </a:p>
        </p:txBody>
      </p:sp>
      <p:sp>
        <p:nvSpPr>
          <p:cNvPr id="67" name="Text 44"/>
          <p:cNvSpPr/>
          <p:nvPr/>
        </p:nvSpPr>
        <p:spPr>
          <a:xfrm>
            <a:off x="278606" y="3084537"/>
            <a:ext cx="4150519" cy="871538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38100" dir="5400000">
              <a:srgbClr val="D4AF37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8" name="Image 21" descr="/tmp/h2p-fit-1791108754128-sme9wa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18853" y="3120256"/>
            <a:ext cx="1269913" cy="714375"/>
          </a:xfrm>
          <a:prstGeom prst="rect">
            <a:avLst/>
          </a:prstGeom>
        </p:spPr>
      </p:pic>
      <p:sp>
        <p:nvSpPr>
          <p:cNvPr id="69" name="Text 45"/>
          <p:cNvSpPr/>
          <p:nvPr/>
        </p:nvSpPr>
        <p:spPr>
          <a:xfrm>
            <a:off x="1916088" y="3848919"/>
            <a:ext cx="8755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1A6F9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</a:t>
            </a:r>
            <a:endParaRPr lang="en-US" sz="600" dirty="0"/>
          </a:p>
        </p:txBody>
      </p:sp>
      <p:pic>
        <p:nvPicPr>
          <p:cNvPr id="7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22006" y="778669"/>
            <a:ext cx="4336256" cy="3897697"/>
          </a:xfrm>
          <a:prstGeom prst="rect">
            <a:avLst/>
          </a:prstGeom>
        </p:spPr>
      </p:pic>
      <p:sp>
        <p:nvSpPr>
          <p:cNvPr id="71" name="Text 46"/>
          <p:cNvSpPr/>
          <p:nvPr/>
        </p:nvSpPr>
        <p:spPr>
          <a:xfrm>
            <a:off x="4625578" y="782241"/>
            <a:ext cx="4329113" cy="3890553"/>
          </a:xfrm>
          <a:prstGeom prst="roundRect">
            <a:avLst>
              <a:gd name="adj" fmla="val 2938"/>
            </a:avLst>
          </a:prstGeom>
          <a:noFill/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47"/>
          <p:cNvSpPr/>
          <p:nvPr/>
        </p:nvSpPr>
        <p:spPr>
          <a:xfrm>
            <a:off x="4707731" y="850106"/>
            <a:ext cx="427453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 Pesan Kunci (Key Messages)</a:t>
            </a:r>
            <a:endParaRPr lang="en-US" sz="800" dirty="0"/>
          </a:p>
        </p:txBody>
      </p:sp>
      <p:sp>
        <p:nvSpPr>
          <p:cNvPr id="73" name="Text 48"/>
          <p:cNvSpPr/>
          <p:nvPr/>
        </p:nvSpPr>
        <p:spPr>
          <a:xfrm>
            <a:off x="4707731" y="1000125"/>
            <a:ext cx="4164806" cy="11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dikomunikasikan ke tim melalui </a:t>
            </a:r>
            <a:pPr algn="just" indent="0" marL="0">
              <a:lnSpc>
                <a:spcPts val="866"/>
              </a:lnSpc>
              <a:buNone/>
            </a:pPr>
            <a:r>
              <a:rPr lang="en-US" sz="619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level dokumentasi</a:t>
            </a:r>
            <a:pPr algn="just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yang menjadi pedoman kerja:</a:t>
            </a:r>
            <a:endParaRPr lang="en-US" sz="619" dirty="0"/>
          </a:p>
        </p:txBody>
      </p:sp>
      <p:sp>
        <p:nvSpPr>
          <p:cNvPr id="74" name="Text 49"/>
          <p:cNvSpPr/>
          <p:nvPr/>
        </p:nvSpPr>
        <p:spPr>
          <a:xfrm>
            <a:off x="4707731" y="1145791"/>
            <a:ext cx="4164806" cy="687139"/>
          </a:xfrm>
          <a:prstGeom prst="roundRect">
            <a:avLst>
              <a:gd name="adj" fmla="val 138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50"/>
          <p:cNvSpPr/>
          <p:nvPr/>
        </p:nvSpPr>
        <p:spPr>
          <a:xfrm>
            <a:off x="4707731" y="1149362"/>
            <a:ext cx="4164806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76" name="Shape 51"/>
          <p:cNvSpPr/>
          <p:nvPr/>
        </p:nvSpPr>
        <p:spPr>
          <a:xfrm>
            <a:off x="8868966" y="1145791"/>
            <a:ext cx="0" cy="687139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77" name="Shape 52"/>
          <p:cNvSpPr/>
          <p:nvPr/>
        </p:nvSpPr>
        <p:spPr>
          <a:xfrm>
            <a:off x="4707731" y="1829358"/>
            <a:ext cx="4164806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78" name="Shape 53"/>
          <p:cNvSpPr/>
          <p:nvPr/>
        </p:nvSpPr>
        <p:spPr>
          <a:xfrm>
            <a:off x="4725591" y="1145791"/>
            <a:ext cx="0" cy="687139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79" name="Text 54"/>
          <p:cNvSpPr/>
          <p:nvPr/>
        </p:nvSpPr>
        <p:spPr>
          <a:xfrm>
            <a:off x="4814888" y="1210084"/>
            <a:ext cx="171450" cy="171450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55"/>
          <p:cNvSpPr/>
          <p:nvPr/>
        </p:nvSpPr>
        <p:spPr>
          <a:xfrm>
            <a:off x="4844891" y="1240088"/>
            <a:ext cx="111443" cy="111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800" dirty="0"/>
          </a:p>
        </p:txBody>
      </p:sp>
      <p:sp>
        <p:nvSpPr>
          <p:cNvPr id="81" name="Text 56"/>
          <p:cNvSpPr/>
          <p:nvPr/>
        </p:nvSpPr>
        <p:spPr>
          <a:xfrm>
            <a:off x="5043488" y="1210084"/>
            <a:ext cx="37504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Project Description</a:t>
            </a:r>
            <a:endParaRPr lang="en-US" sz="800" dirty="0"/>
          </a:p>
        </p:txBody>
      </p:sp>
      <p:sp>
        <p:nvSpPr>
          <p:cNvPr id="82" name="Text 57"/>
          <p:cNvSpPr/>
          <p:nvPr/>
        </p:nvSpPr>
        <p:spPr>
          <a:xfrm>
            <a:off x="5043488" y="1318580"/>
            <a:ext cx="375046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tulis narasi kegiatan = </a:t>
            </a:r>
            <a:pPr algn="l" indent="0" marL="0">
              <a:lnSpc>
                <a:spcPts val="731"/>
              </a:lnSpc>
              <a:buNone/>
            </a:pPr>
            <a:r>
              <a:rPr lang="en-US" sz="6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utama</a:t>
            </a:r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yang menjadi rujukan semua petugas.</a:t>
            </a:r>
            <a:endParaRPr lang="en-US" sz="600" dirty="0"/>
          </a:p>
        </p:txBody>
      </p:sp>
      <p:sp>
        <p:nvSpPr>
          <p:cNvPr id="83" name="Text 58"/>
          <p:cNvSpPr/>
          <p:nvPr/>
        </p:nvSpPr>
        <p:spPr>
          <a:xfrm>
            <a:off x="5043488" y="1418592"/>
            <a:ext cx="3750469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Contoh: </a:t>
            </a:r>
            <a:pPr algn="l" indent="0" marL="0">
              <a:buNone/>
            </a:pPr>
            <a:r>
              <a:rPr lang="en-US" sz="800" b="1" i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Dokumentasi kegiatan Pendampingan APS LAMGAMA</a:t>
            </a:r>
            <a:endParaRPr lang="en-US" sz="800" dirty="0"/>
          </a:p>
        </p:txBody>
      </p:sp>
      <p:sp>
        <p:nvSpPr>
          <p:cNvPr id="84" name="Text 59"/>
          <p:cNvSpPr/>
          <p:nvPr/>
        </p:nvSpPr>
        <p:spPr>
          <a:xfrm>
            <a:off x="5047059" y="1515033"/>
            <a:ext cx="3743325" cy="250031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5" name="Image 23" descr="/tmp/h2p-fit-1791108754137-ufkjys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9269" y="1518605"/>
            <a:ext cx="538795" cy="242776"/>
          </a:xfrm>
          <a:prstGeom prst="rect">
            <a:avLst/>
          </a:prstGeom>
        </p:spPr>
      </p:pic>
      <p:sp>
        <p:nvSpPr>
          <p:cNvPr id="86" name="Text 60"/>
          <p:cNvSpPr/>
          <p:nvPr/>
        </p:nvSpPr>
        <p:spPr>
          <a:xfrm>
            <a:off x="4707731" y="1868649"/>
            <a:ext cx="4164806" cy="687139"/>
          </a:xfrm>
          <a:prstGeom prst="roundRect">
            <a:avLst>
              <a:gd name="adj" fmla="val 138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Shape 61"/>
          <p:cNvSpPr/>
          <p:nvPr/>
        </p:nvSpPr>
        <p:spPr>
          <a:xfrm>
            <a:off x="4707731" y="1872221"/>
            <a:ext cx="4164806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88" name="Shape 62"/>
          <p:cNvSpPr/>
          <p:nvPr/>
        </p:nvSpPr>
        <p:spPr>
          <a:xfrm>
            <a:off x="8868966" y="1868649"/>
            <a:ext cx="0" cy="687139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89" name="Shape 63"/>
          <p:cNvSpPr/>
          <p:nvPr/>
        </p:nvSpPr>
        <p:spPr>
          <a:xfrm>
            <a:off x="4707731" y="2552216"/>
            <a:ext cx="4164806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90" name="Shape 64"/>
          <p:cNvSpPr/>
          <p:nvPr/>
        </p:nvSpPr>
        <p:spPr>
          <a:xfrm>
            <a:off x="4725591" y="1868649"/>
            <a:ext cx="0" cy="687139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91" name="Text 65"/>
          <p:cNvSpPr/>
          <p:nvPr/>
        </p:nvSpPr>
        <p:spPr>
          <a:xfrm>
            <a:off x="4814888" y="1932942"/>
            <a:ext cx="171450" cy="17145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66"/>
          <p:cNvSpPr/>
          <p:nvPr/>
        </p:nvSpPr>
        <p:spPr>
          <a:xfrm>
            <a:off x="4844891" y="1962946"/>
            <a:ext cx="111443" cy="111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800" dirty="0"/>
          </a:p>
        </p:txBody>
      </p:sp>
      <p:sp>
        <p:nvSpPr>
          <p:cNvPr id="93" name="Text 67"/>
          <p:cNvSpPr/>
          <p:nvPr/>
        </p:nvSpPr>
        <p:spPr>
          <a:xfrm>
            <a:off x="5043488" y="1932942"/>
            <a:ext cx="37504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Custom Activity</a:t>
            </a:r>
            <a:endParaRPr lang="en-US" sz="800" dirty="0"/>
          </a:p>
        </p:txBody>
      </p:sp>
      <p:sp>
        <p:nvSpPr>
          <p:cNvPr id="94" name="Text 68"/>
          <p:cNvSpPr/>
          <p:nvPr/>
        </p:nvSpPr>
        <p:spPr>
          <a:xfrm>
            <a:off x="5043488" y="2041438"/>
            <a:ext cx="375046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Konteks pesan + jenis kegiatan, menentukan tone &amp; output yang diharapkan.</a:t>
            </a:r>
            <a:endParaRPr lang="en-US" sz="600" dirty="0"/>
          </a:p>
        </p:txBody>
      </p:sp>
      <p:sp>
        <p:nvSpPr>
          <p:cNvPr id="95" name="Text 69"/>
          <p:cNvSpPr/>
          <p:nvPr/>
        </p:nvSpPr>
        <p:spPr>
          <a:xfrm>
            <a:off x="5043488" y="2141451"/>
            <a:ext cx="386019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Contoh: </a:t>
            </a:r>
            <a:pPr algn="l" indent="0" marL="0">
              <a:buNone/>
            </a:pPr>
            <a:r>
              <a:rPr lang="en-US" sz="800" b="1" i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Meliput, Pemberitaan, Dokumentasi</a:t>
            </a:r>
            <a:endParaRPr lang="en-US" sz="800" dirty="0"/>
          </a:p>
        </p:txBody>
      </p:sp>
      <p:sp>
        <p:nvSpPr>
          <p:cNvPr id="96" name="Text 70"/>
          <p:cNvSpPr/>
          <p:nvPr/>
        </p:nvSpPr>
        <p:spPr>
          <a:xfrm>
            <a:off x="5047059" y="2237891"/>
            <a:ext cx="3743325" cy="250031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7" name="Image 24" descr="/tmp/h2p-fit-1791108754145-m2e5aq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9269" y="2241463"/>
            <a:ext cx="538795" cy="242776"/>
          </a:xfrm>
          <a:prstGeom prst="rect">
            <a:avLst/>
          </a:prstGeom>
        </p:spPr>
      </p:pic>
      <p:sp>
        <p:nvSpPr>
          <p:cNvPr id="98" name="Text 71"/>
          <p:cNvSpPr/>
          <p:nvPr/>
        </p:nvSpPr>
        <p:spPr>
          <a:xfrm>
            <a:off x="4707731" y="2591507"/>
            <a:ext cx="4164806" cy="687139"/>
          </a:xfrm>
          <a:prstGeom prst="roundRect">
            <a:avLst>
              <a:gd name="adj" fmla="val 138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72"/>
          <p:cNvSpPr/>
          <p:nvPr/>
        </p:nvSpPr>
        <p:spPr>
          <a:xfrm>
            <a:off x="4707731" y="2595079"/>
            <a:ext cx="4164806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00" name="Shape 73"/>
          <p:cNvSpPr/>
          <p:nvPr/>
        </p:nvSpPr>
        <p:spPr>
          <a:xfrm>
            <a:off x="8868966" y="2591507"/>
            <a:ext cx="0" cy="687139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01" name="Shape 74"/>
          <p:cNvSpPr/>
          <p:nvPr/>
        </p:nvSpPr>
        <p:spPr>
          <a:xfrm>
            <a:off x="4707731" y="3275075"/>
            <a:ext cx="4164806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02" name="Shape 75"/>
          <p:cNvSpPr/>
          <p:nvPr/>
        </p:nvSpPr>
        <p:spPr>
          <a:xfrm>
            <a:off x="4725591" y="2591507"/>
            <a:ext cx="0" cy="687139"/>
          </a:xfrm>
          <a:prstGeom prst="line">
            <a:avLst/>
          </a:prstGeom>
          <a:noFill/>
          <a:ln w="35719">
            <a:solidFill>
              <a:srgbClr val="17A2B8"/>
            </a:solidFill>
            <a:prstDash val="solid"/>
          </a:ln>
        </p:spPr>
      </p:sp>
      <p:sp>
        <p:nvSpPr>
          <p:cNvPr id="103" name="Text 76"/>
          <p:cNvSpPr/>
          <p:nvPr/>
        </p:nvSpPr>
        <p:spPr>
          <a:xfrm>
            <a:off x="4814888" y="2655801"/>
            <a:ext cx="171450" cy="171450"/>
          </a:xfrm>
          <a:prstGeom prst="ellipse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77"/>
          <p:cNvSpPr/>
          <p:nvPr/>
        </p:nvSpPr>
        <p:spPr>
          <a:xfrm>
            <a:off x="4844891" y="2685804"/>
            <a:ext cx="111443" cy="111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800" dirty="0"/>
          </a:p>
        </p:txBody>
      </p:sp>
      <p:sp>
        <p:nvSpPr>
          <p:cNvPr id="105" name="Text 78"/>
          <p:cNvSpPr/>
          <p:nvPr/>
        </p:nvSpPr>
        <p:spPr>
          <a:xfrm>
            <a:off x="5043488" y="2655801"/>
            <a:ext cx="37504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Catatan Task + Surat Tugas</a:t>
            </a:r>
            <a:endParaRPr lang="en-US" sz="800" dirty="0"/>
          </a:p>
        </p:txBody>
      </p:sp>
      <p:sp>
        <p:nvSpPr>
          <p:cNvPr id="106" name="Text 79"/>
          <p:cNvSpPr/>
          <p:nvPr/>
        </p:nvSpPr>
        <p:spPr>
          <a:xfrm>
            <a:off x="5043488" y="2764296"/>
            <a:ext cx="375046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Instruksi spesifik ke petugas + surat resmi sebagai dasar pelaksanaan.</a:t>
            </a:r>
            <a:endParaRPr lang="en-US" sz="600" dirty="0"/>
          </a:p>
        </p:txBody>
      </p:sp>
      <p:sp>
        <p:nvSpPr>
          <p:cNvPr id="107" name="Text 80"/>
          <p:cNvSpPr/>
          <p:nvPr/>
        </p:nvSpPr>
        <p:spPr>
          <a:xfrm>
            <a:off x="5043488" y="2864309"/>
            <a:ext cx="386019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Contoh: </a:t>
            </a:r>
            <a:pPr algn="l" indent="0" marL="0">
              <a:buNone/>
            </a:pPr>
            <a:r>
              <a:rPr lang="en-US" sz="800" b="1" i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Foto menonjolkan kebersamaan</a:t>
            </a:r>
            <a:endParaRPr lang="en-US" sz="800" dirty="0"/>
          </a:p>
        </p:txBody>
      </p:sp>
      <p:sp>
        <p:nvSpPr>
          <p:cNvPr id="108" name="Text 81"/>
          <p:cNvSpPr/>
          <p:nvPr/>
        </p:nvSpPr>
        <p:spPr>
          <a:xfrm>
            <a:off x="5047059" y="2960750"/>
            <a:ext cx="3743325" cy="250031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17A2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9" name="Image 25" descr="/tmp/h2p-fit-1791108754145-5ec1jh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49269" y="2964321"/>
            <a:ext cx="538795" cy="242776"/>
          </a:xfrm>
          <a:prstGeom prst="rect">
            <a:avLst/>
          </a:prstGeom>
        </p:spPr>
      </p:pic>
      <p:pic>
        <p:nvPicPr>
          <p:cNvPr id="11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5738" y="4733516"/>
            <a:ext cx="8772525" cy="252822"/>
          </a:xfrm>
          <a:prstGeom prst="rect">
            <a:avLst/>
          </a:prstGeom>
        </p:spPr>
      </p:pic>
      <p:sp>
        <p:nvSpPr>
          <p:cNvPr id="111" name="Text 82"/>
          <p:cNvSpPr/>
          <p:nvPr/>
        </p:nvSpPr>
        <p:spPr>
          <a:xfrm>
            <a:off x="189309" y="4737088"/>
            <a:ext cx="8765381" cy="245678"/>
          </a:xfrm>
          <a:prstGeom prst="roundRect">
            <a:avLst>
              <a:gd name="adj" fmla="val 38770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83"/>
          <p:cNvSpPr/>
          <p:nvPr/>
        </p:nvSpPr>
        <p:spPr>
          <a:xfrm>
            <a:off x="185738" y="4733516"/>
            <a:ext cx="8636000" cy="353031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17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lnSpc>
                <a:spcPts val="866"/>
              </a:lnSpc>
              <a:buNone/>
            </a:pPr>
            <a:r>
              <a:rPr lang="en-US" sz="800" b="1" spc="17" kern="0" dirty="0">
                <a:solidFill>
                  <a:srgbClr val="FFD8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 saluran dengan role khusus</a:t>
            </a:r>
            <a:pPr algn="ctr" indent="0" marL="0">
              <a:lnSpc>
                <a:spcPts val="866"/>
              </a:lnSpc>
              <a:buNone/>
            </a:pPr>
            <a:r>
              <a:rPr lang="en-US" sz="800" b="1" spc="17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+ filter PUBLIC/PRIVATE + pesan kunci 3 level. Taktik &amp; pesan terstruktur, aman, dan tepat sasaran.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57163"/>
            <a:ext cx="8743950" cy="342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597" y="160734"/>
            <a:ext cx="8736806" cy="335756"/>
          </a:xfrm>
          <a:prstGeom prst="roundRect">
            <a:avLst>
              <a:gd name="adj" fmla="val 39716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38100" dir="5400000">
              <a:srgbClr val="4C2A85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0044" y="235744"/>
            <a:ext cx="66978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17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Implementasi &amp; Eksekusi</a:t>
            </a:r>
            <a:endParaRPr lang="en-US" sz="1238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155" y="235744"/>
            <a:ext cx="1731801" cy="185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62155" y="235744"/>
            <a:ext cx="1731801" cy="185738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Eksekusi (20%) — Kekuatan Utama</a:t>
            </a:r>
            <a:endParaRPr lang="en-US" sz="675" dirty="0"/>
          </a:p>
        </p:txBody>
      </p:sp>
      <p:sp>
        <p:nvSpPr>
          <p:cNvPr id="7" name="Text 3"/>
          <p:cNvSpPr/>
          <p:nvPr/>
        </p:nvSpPr>
        <p:spPr>
          <a:xfrm>
            <a:off x="200025" y="557213"/>
            <a:ext cx="8743950" cy="305619"/>
          </a:xfrm>
          <a:prstGeom prst="rect">
            <a:avLst/>
          </a:prstGeom>
          <a:solidFill>
            <a:srgbClr val="D4AF3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210741" y="557213"/>
            <a:ext cx="0" cy="305619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0025" y="557213"/>
            <a:ext cx="8636000" cy="335337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adalah sistem yang mewadahi proses produksi bagi user. Workflow 5 tahap dengan 16 role, tracking real-time, dan folder Drive otomatis — dirancang sebagai jalur produksi end-to-end yang terdokumentasi penuh.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00025" y="919981"/>
            <a:ext cx="1703003" cy="113585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200025" y="937840"/>
            <a:ext cx="1703003" cy="0"/>
          </a:xfrm>
          <a:prstGeom prst="line">
            <a:avLst/>
          </a:prstGeom>
          <a:noFill/>
          <a:ln w="35719">
            <a:solidFill>
              <a:srgbClr val="2D6C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1463" y="1012850"/>
            <a:ext cx="157163" cy="157163"/>
          </a:xfrm>
          <a:prstGeom prst="ellipse">
            <a:avLst/>
          </a:prstGeom>
          <a:solidFill>
            <a:srgbClr val="2D6C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71463" y="10128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71463" y="1212875"/>
            <a:ext cx="156012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🔵</a:t>
            </a:r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PRODUKSI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71463" y="1334319"/>
            <a:ext cx="156012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mentah. 4 role: Reporter, Photographer, Creator, Designer.</a:t>
            </a:r>
            <a:endParaRPr lang="en-US" sz="800" dirty="0"/>
          </a:p>
        </p:txBody>
      </p:sp>
      <p:pic>
        <p:nvPicPr>
          <p:cNvPr id="16" name="Image 2" descr="/tmp/h2p-fit-1791108753678-odozs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3" y="1555775"/>
            <a:ext cx="1560128" cy="4429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0178" y="919981"/>
            <a:ext cx="1703115" cy="113585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1960178" y="937840"/>
            <a:ext cx="1703115" cy="0"/>
          </a:xfrm>
          <a:prstGeom prst="line">
            <a:avLst/>
          </a:prstGeom>
          <a:noFill/>
          <a:ln w="35719">
            <a:solidFill>
              <a:srgbClr val="E67E2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031616" y="1012850"/>
            <a:ext cx="157163" cy="157163"/>
          </a:xfrm>
          <a:prstGeom prst="ellipse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2031616" y="10128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031616" y="1212875"/>
            <a:ext cx="156024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🟠</a:t>
            </a:r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PASCA PRODUKSI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2031616" y="1334319"/>
            <a:ext cx="156024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Editor edit. 6 role: Video, Web, Foto, Template, Streaming, Podcast.</a:t>
            </a:r>
            <a:endParaRPr lang="en-US" sz="800" dirty="0"/>
          </a:p>
        </p:txBody>
      </p:sp>
      <p:pic>
        <p:nvPicPr>
          <p:cNvPr id="23" name="Image 3" descr="/tmp/h2p-fit-1791108753685-9agi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616" y="1555775"/>
            <a:ext cx="1560240" cy="4429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20443" y="919981"/>
            <a:ext cx="1703003" cy="113585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3720443" y="937840"/>
            <a:ext cx="1703003" cy="0"/>
          </a:xfrm>
          <a:prstGeom prst="line">
            <a:avLst/>
          </a:prstGeom>
          <a:noFill/>
          <a:ln w="35719">
            <a:solidFill>
              <a:srgbClr val="27AE6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791880" y="1012850"/>
            <a:ext cx="157163" cy="157163"/>
          </a:xfrm>
          <a:prstGeom prst="ellipse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3791880" y="10128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3791880" y="1212875"/>
            <a:ext cx="156012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3791880" y="1334319"/>
            <a:ext cx="16537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Reviewer cek kualitas. Approve atau revisi.</a:t>
            </a:r>
            <a:endParaRPr lang="en-US" sz="600" dirty="0"/>
          </a:p>
        </p:txBody>
      </p:sp>
      <p:pic>
        <p:nvPicPr>
          <p:cNvPr id="30" name="Image 4" descr="/tmp/h2p-fit-1791108753686-j2w5q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880" y="1459334"/>
            <a:ext cx="1560128" cy="44291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80596" y="919981"/>
            <a:ext cx="1703115" cy="113585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5480596" y="937840"/>
            <a:ext cx="1703115" cy="0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552033" y="1012850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5552033" y="10128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5552033" y="1212875"/>
            <a:ext cx="156024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552033" y="1334319"/>
            <a:ext cx="1653854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ke 14+ saluran. Link per platform.</a:t>
            </a:r>
            <a:endParaRPr lang="en-US" sz="600" dirty="0"/>
          </a:p>
        </p:txBody>
      </p:sp>
      <p:pic>
        <p:nvPicPr>
          <p:cNvPr id="37" name="Image 5" descr="/tmp/h2p-fit-1791108753687-12wjm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033" y="1459334"/>
            <a:ext cx="1560240" cy="44291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240860" y="919981"/>
            <a:ext cx="1703003" cy="113585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1"/>
          <p:cNvSpPr/>
          <p:nvPr/>
        </p:nvSpPr>
        <p:spPr>
          <a:xfrm>
            <a:off x="7240860" y="937840"/>
            <a:ext cx="1703003" cy="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312298" y="1012850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7312298" y="10128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7312298" y="1212875"/>
            <a:ext cx="156012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SELESAI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7312298" y="1334319"/>
            <a:ext cx="15601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Arsip + 1-klik publikasi ke LIHUM gallery publik.</a:t>
            </a:r>
            <a:endParaRPr lang="en-US" sz="600" dirty="0"/>
          </a:p>
        </p:txBody>
      </p:sp>
      <p:pic>
        <p:nvPicPr>
          <p:cNvPr id="44" name="Image 6" descr="/tmp/h2p-fit-1791108753688-bu39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2298" y="1459334"/>
            <a:ext cx="1560128" cy="44291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207169" y="2120131"/>
            <a:ext cx="5232016" cy="1414463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4288">
            <a:solidFill>
              <a:srgbClr val="4C2A85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300038" y="2198712"/>
            <a:ext cx="515600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🛠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Fitur Pendukung Eksekusi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300038" y="2341587"/>
            <a:ext cx="2670923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Drive otomatis per proyek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2873127" y="2341587"/>
            <a:ext cx="2582917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Subfolder per petugas + output</a:t>
            </a:r>
            <a:endParaRPr lang="en-US" sz="800" dirty="0"/>
          </a:p>
        </p:txBody>
      </p:sp>
      <p:sp>
        <p:nvSpPr>
          <p:cNvPr id="49" name="Text 40"/>
          <p:cNvSpPr/>
          <p:nvPr/>
        </p:nvSpPr>
        <p:spPr>
          <a:xfrm>
            <a:off x="300038" y="2475086"/>
            <a:ext cx="2670923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Dependency tracking (ETSM nunggu EFoto)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2873127" y="2475086"/>
            <a:ext cx="2582917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Auto-repair stuck projects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300038" y="2608585"/>
            <a:ext cx="2670923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chunked langsung ke Drive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2873127" y="2608585"/>
            <a:ext cx="2582917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1-klik publikasi ke LIHUM gallery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300038" y="2742084"/>
            <a:ext cx="2670923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 Tugas otomatis per petugas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2873127" y="2742084"/>
            <a:ext cx="2582917" cy="15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Notification per task assignment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5539197" y="2120131"/>
            <a:ext cx="3483248" cy="1414463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76200" dist="28575" dir="5400000">
              <a:srgbClr val="D4AF37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7" descr="/tmp/h2p-fit-1791108753689-yhgi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3491" y="2184425"/>
            <a:ext cx="3354660" cy="1178719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603491" y="3391719"/>
            <a:ext cx="33546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app.pushakin-flows.workers.dev/?public=tracker</a:t>
            </a:r>
            <a:endParaRPr lang="en-US" sz="8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025" y="3598887"/>
            <a:ext cx="8743950" cy="257845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203597" y="3602459"/>
            <a:ext cx="8736806" cy="250701"/>
          </a:xfrm>
          <a:prstGeom prst="roundRect">
            <a:avLst>
              <a:gd name="adj" fmla="val 37993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9"/>
          <p:cNvSpPr/>
          <p:nvPr/>
        </p:nvSpPr>
        <p:spPr>
          <a:xfrm>
            <a:off x="200025" y="3598887"/>
            <a:ext cx="8636000" cy="344391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Eksekusi = kekuatan utama: </a:t>
            </a:r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tahap, </a:t>
            </a:r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role, Drive otomatis, tracking real-time, </a:t>
            </a:r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1-klik</a:t>
            </a:r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LIHUM. Sistem mewadahi seluruh proses produksi bagi user.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7163"/>
            <a:ext cx="868680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2172" y="160734"/>
            <a:ext cx="8679656" cy="350044"/>
          </a:xfrm>
          <a:prstGeom prst="roundRect">
            <a:avLst>
              <a:gd name="adj" fmla="val 38095"/>
            </a:avLst>
          </a:prstGeom>
          <a:noFill/>
          <a:ln w="7144">
            <a:solidFill>
              <a:srgbClr val="B8941F"/>
            </a:solidFill>
            <a:prstDash val="solid"/>
          </a:ln>
          <a:effectLst>
            <a:outerShdw sx="100000" sy="100000" kx="0" ky="0" algn="bl" rotWithShape="0" blurRad="114300" dist="38100" dir="5400000">
              <a:srgbClr val="D4AF37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78619" y="242888"/>
            <a:ext cx="73857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17" kern="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5. Inovasi Integrasi: Pushakin Flows ↔ LIHUM</a:t>
            </a:r>
            <a:endParaRPr lang="en-US" sz="1238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651" y="235744"/>
            <a:ext cx="986730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55791" y="223742"/>
            <a:ext cx="1032450" cy="224028"/>
          </a:xfrm>
          <a:prstGeom prst="roundRect">
            <a:avLst>
              <a:gd name="adj" fmla="val 85034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778651" y="235744"/>
            <a:ext cx="9867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KUNCI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228600" y="571500"/>
            <a:ext cx="8686800" cy="181384"/>
          </a:xfrm>
          <a:prstGeom prst="rect">
            <a:avLst/>
          </a:prstGeom>
          <a:solidFill>
            <a:srgbClr val="D4AF3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239316" y="571500"/>
            <a:ext cx="0" cy="181384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8600" y="571500"/>
            <a:ext cx="8636000" cy="211102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unik antara sistem manajemen produksi (Pushakin Flows) dan galeri publik (LIHUM) menciptakan workflow end-to-end otomatis — dari upload foto hingga publik dapat mengunduh tanpa akun Google.</a:t>
            </a:r>
            <a:endParaRPr lang="en-US" sz="675" dirty="0"/>
          </a:p>
        </p:txBody>
      </p:sp>
      <p:sp>
        <p:nvSpPr>
          <p:cNvPr id="11" name="Text 7"/>
          <p:cNvSpPr/>
          <p:nvPr/>
        </p:nvSpPr>
        <p:spPr>
          <a:xfrm>
            <a:off x="228600" y="810034"/>
            <a:ext cx="597214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⚙️ Cara Kerja Integrasi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28600" y="967197"/>
            <a:ext cx="4777718" cy="307181"/>
          </a:xfrm>
          <a:prstGeom prst="roundRect">
            <a:avLst>
              <a:gd name="adj" fmla="val 31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246459" y="967197"/>
            <a:ext cx="0" cy="307181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0044" y="1024347"/>
            <a:ext cx="185738" cy="185738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50044" y="1024347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07219" y="1024347"/>
            <a:ext cx="3405760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upload foto ke folder PUBLIC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07219" y="1117216"/>
            <a:ext cx="309614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Tahap 1 filter: foto yang boleh dibagi → folder 3 (PUBLIC) langsung dari proses produksi.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228600" y="1324384"/>
            <a:ext cx="4777718" cy="307181"/>
          </a:xfrm>
          <a:prstGeom prst="roundRect">
            <a:avLst>
              <a:gd name="adj" fmla="val 31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246459" y="1324384"/>
            <a:ext cx="0" cy="307181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0044" y="1381534"/>
            <a:ext cx="185738" cy="185738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50044" y="1381534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07219" y="1381534"/>
            <a:ext cx="3096715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Publikasikan ke LIHUM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07219" y="1474403"/>
            <a:ext cx="281519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klik di Project Detail → sistem otomatis buat gallery di LIHUM, tidak perlu upload ulang.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228600" y="1681572"/>
            <a:ext cx="4777718" cy="307181"/>
          </a:xfrm>
          <a:prstGeom prst="roundRect">
            <a:avLst>
              <a:gd name="adj" fmla="val 31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246459" y="1681572"/>
            <a:ext cx="0" cy="307181"/>
          </a:xfrm>
          <a:prstGeom prst="line">
            <a:avLst/>
          </a:prstGeom>
          <a:noFill/>
          <a:ln w="35719">
            <a:solidFill>
              <a:srgbClr val="16A08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0044" y="1738722"/>
            <a:ext cx="185738" cy="185738"/>
          </a:xfrm>
          <a:prstGeom prst="ellipse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50044" y="1738722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07219" y="1738722"/>
            <a:ext cx="3127902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live — publik dapat akses 24/7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07219" y="1831591"/>
            <a:ext cx="284354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Pengunjung lihat &amp; download tanpa akun Google. QR Code tersedia untuk dibagikan fisik.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228600" y="2038759"/>
            <a:ext cx="4777718" cy="307181"/>
          </a:xfrm>
          <a:prstGeom prst="roundRect">
            <a:avLst>
              <a:gd name="adj" fmla="val 31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7"/>
          <p:cNvSpPr/>
          <p:nvPr/>
        </p:nvSpPr>
        <p:spPr>
          <a:xfrm>
            <a:off x="246459" y="2038759"/>
            <a:ext cx="0" cy="307181"/>
          </a:xfrm>
          <a:prstGeom prst="line">
            <a:avLst/>
          </a:prstGeom>
          <a:noFill/>
          <a:ln w="35719">
            <a:solidFill>
              <a:srgbClr val="2D6CD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0044" y="2095909"/>
            <a:ext cx="185738" cy="185738"/>
          </a:xfrm>
          <a:prstGeom prst="ellipse">
            <a:avLst/>
          </a:prstGeom>
          <a:solidFill>
            <a:srgbClr val="2D6C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50044" y="2095909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07219" y="2095909"/>
            <a:ext cx="3068938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embed di web resmi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607219" y="2188778"/>
            <a:ext cx="292279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Copy link → paste di uin-antasari.ac.id. Atau bagikan langsung via WhatsApp kepada publik.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235744" y="2395947"/>
            <a:ext cx="4763430" cy="257175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4288">
            <a:solidFill>
              <a:srgbClr val="C0392B"/>
            </a:solidFill>
            <a:prstDash val="solid"/>
          </a:ln>
          <a:effectLst>
            <a:outerShdw sx="100000" sy="100000" kx="0" ky="0" algn="bl" rotWithShape="0" blurRad="57150" dist="19050" dir="5400000">
              <a:srgbClr val="C0392B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328613" y="2488816"/>
            <a:ext cx="397036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600" b="1" dirty="0">
                <a:solidFill>
                  <a:srgbClr val="C039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pPr algn="l" indent="0" marL="0">
              <a:lnSpc>
                <a:spcPts val="827"/>
              </a:lnSpc>
              <a:buNone/>
            </a:pPr>
            <a:r>
              <a:rPr lang="en-US" sz="600" b="1" dirty="0">
                <a:solidFill>
                  <a:srgbClr val="C0392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Folder </a:t>
            </a:r>
            <a:pPr algn="l" indent="0" marL="0">
              <a:lnSpc>
                <a:spcPts val="827"/>
              </a:lnSpc>
              <a:buNone/>
            </a:pPr>
            <a:r>
              <a:rPr lang="en-US" sz="600" b="1" dirty="0">
                <a:solidFill>
                  <a:srgbClr val="C039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827"/>
              </a:lnSpc>
              <a:buNone/>
            </a:pPr>
            <a:r>
              <a:rPr lang="en-US" sz="600" b="1" dirty="0">
                <a:solidFill>
                  <a:srgbClr val="C0392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(PRIVATE/RAHASIA) TIDAK PERNAH di-share ke LIHUM. Hanya folder PUBLIC yang dipublikasikan.</a:t>
            </a:r>
            <a:endParaRPr lang="en-US" sz="600" dirty="0"/>
          </a:p>
        </p:txBody>
      </p:sp>
      <p:sp>
        <p:nvSpPr>
          <p:cNvPr id="38" name="Text 34"/>
          <p:cNvSpPr/>
          <p:nvPr/>
        </p:nvSpPr>
        <p:spPr>
          <a:xfrm>
            <a:off x="5120618" y="810034"/>
            <a:ext cx="402338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🖼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Bukti Gallery Live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31333" y="977912"/>
            <a:ext cx="3887539" cy="1878806"/>
          </a:xfrm>
          <a:prstGeom prst="roundRect">
            <a:avLst>
              <a:gd name="adj" fmla="val 7098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171450" dist="50800" dir="16200000">
              <a:srgbClr val="D4AF37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8548296" y="909904"/>
            <a:ext cx="403363" cy="136017"/>
          </a:xfrm>
          <a:prstGeom prst="roundRect">
            <a:avLst>
              <a:gd name="adj" fmla="val 84034"/>
            </a:avLst>
          </a:prstGeom>
          <a:solidFill>
            <a:srgbClr val="27AE60"/>
          </a:solidFill>
          <a:ln/>
          <a:effectLst>
            <a:outerShdw sx="100000" sy="100000" kx="0" ky="0" algn="bl" rotWithShape="0" blurRad="57150" dist="19050" dir="5400000">
              <a:srgbClr val="27B46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8563235" y="917191"/>
            <a:ext cx="3734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LIVE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213486" y="1060066"/>
            <a:ext cx="3832961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Pendampingan APS (LAMGAMA)</a:t>
            </a:r>
            <a:endParaRPr lang="en-US" sz="800" dirty="0"/>
          </a:p>
        </p:txBody>
      </p:sp>
      <p:pic>
        <p:nvPicPr>
          <p:cNvPr id="43" name="Image 2" descr="/tmp/h2p-fit-1791108753353-gdula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486" y="1210084"/>
            <a:ext cx="3723233" cy="142875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213486" y="2695984"/>
            <a:ext cx="372323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lihum.synclicen.workers.dev/?gallery=pendampingan-aps-lamgama</a:t>
            </a:r>
            <a:endParaRPr lang="en-US" sz="8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18" y="2924584"/>
            <a:ext cx="1274378" cy="478631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124190" y="2928156"/>
            <a:ext cx="1267234" cy="471488"/>
          </a:xfrm>
          <a:prstGeom prst="roundRect">
            <a:avLst>
              <a:gd name="adj" fmla="val 2020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5156336" y="2988878"/>
            <a:ext cx="120294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endParaRPr lang="en-US" sz="1013" dirty="0"/>
          </a:p>
        </p:txBody>
      </p:sp>
      <p:sp>
        <p:nvSpPr>
          <p:cNvPr id="48" name="Text 42"/>
          <p:cNvSpPr/>
          <p:nvPr/>
        </p:nvSpPr>
        <p:spPr>
          <a:xfrm>
            <a:off x="5156336" y="3146041"/>
            <a:ext cx="120294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Foto Publik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5156336" y="3267484"/>
            <a:ext cx="12029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tersedia 24/7</a:t>
            </a:r>
            <a:endParaRPr lang="en-US" sz="8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858" y="2924584"/>
            <a:ext cx="1274378" cy="478631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6441430" y="2928156"/>
            <a:ext cx="1267234" cy="471488"/>
          </a:xfrm>
          <a:prstGeom prst="roundRect">
            <a:avLst>
              <a:gd name="adj" fmla="val 2020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6473577" y="2988878"/>
            <a:ext cx="120294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1013" dirty="0"/>
          </a:p>
        </p:txBody>
      </p:sp>
      <p:sp>
        <p:nvSpPr>
          <p:cNvPr id="53" name="Text 46"/>
          <p:cNvSpPr/>
          <p:nvPr/>
        </p:nvSpPr>
        <p:spPr>
          <a:xfrm>
            <a:off x="6473577" y="3146041"/>
            <a:ext cx="120294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Live 24/7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6473577" y="3267484"/>
            <a:ext cx="12029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tanpa akun</a:t>
            </a:r>
            <a:endParaRPr lang="en-US" sz="80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5099" y="2924584"/>
            <a:ext cx="1274378" cy="478631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758671" y="2928156"/>
            <a:ext cx="1267234" cy="471488"/>
          </a:xfrm>
          <a:prstGeom prst="roundRect">
            <a:avLst>
              <a:gd name="adj" fmla="val 2020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7790817" y="2988878"/>
            <a:ext cx="1202941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1013" dirty="0"/>
          </a:p>
        </p:txBody>
      </p:sp>
      <p:sp>
        <p:nvSpPr>
          <p:cNvPr id="58" name="Text 50"/>
          <p:cNvSpPr/>
          <p:nvPr/>
        </p:nvSpPr>
        <p:spPr>
          <a:xfrm>
            <a:off x="7790817" y="3146041"/>
            <a:ext cx="120294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Unduh Mandiri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7790817" y="3267484"/>
            <a:ext cx="12029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QR Code</a:t>
            </a:r>
            <a:endParaRPr lang="en-US" sz="80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771355"/>
            <a:ext cx="8686800" cy="257845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232172" y="4774927"/>
            <a:ext cx="8679656" cy="250701"/>
          </a:xfrm>
          <a:prstGeom prst="roundRect">
            <a:avLst>
              <a:gd name="adj" fmla="val 37993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228600" y="4771355"/>
            <a:ext cx="8636000" cy="344391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Inovasi: workflow otomatis end-to-end (upload → filter → publish → embed). Transparansi publik + filter keamanan. LIHUM = jembatan produksi ke publik.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57163"/>
            <a:ext cx="8743950" cy="342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597" y="160734"/>
            <a:ext cx="8736806" cy="335756"/>
          </a:xfrm>
          <a:prstGeom prst="roundRect">
            <a:avLst>
              <a:gd name="adj" fmla="val 39716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38100" dir="5400000">
              <a:srgbClr val="4C2A85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0044" y="235744"/>
            <a:ext cx="73506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17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Pengukuran Hasil</a:t>
            </a:r>
            <a:endParaRPr lang="en-US" sz="1238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027" y="235744"/>
            <a:ext cx="1078929" cy="185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5027" y="235744"/>
            <a:ext cx="107892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📊 Pengukuran (15%)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200025" y="557213"/>
            <a:ext cx="8743950" cy="181384"/>
          </a:xfrm>
          <a:prstGeom prst="rect">
            <a:avLst/>
          </a:prstGeom>
          <a:solidFill>
            <a:srgbClr val="D4AF3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210741" y="557213"/>
            <a:ext cx="0" cy="181384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0025" y="557213"/>
            <a:ext cx="8636000" cy="211102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i="1" dirty="0">
                <a:solidFill>
                  <a:srgbClr val="6B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mengukur hasil di 4 level: output real-time, dokumentasi SKP, transparansi publik, dan rekapitulasi — semua tersedia dalam dashboard terintegrasi.</a:t>
            </a:r>
            <a:endParaRPr lang="en-US" sz="675" dirty="0"/>
          </a:p>
        </p:txBody>
      </p:sp>
      <p:sp>
        <p:nvSpPr>
          <p:cNvPr id="10" name="Text 6"/>
          <p:cNvSpPr/>
          <p:nvPr/>
        </p:nvSpPr>
        <p:spPr>
          <a:xfrm>
            <a:off x="200025" y="795747"/>
            <a:ext cx="2132409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217884" y="795747"/>
            <a:ext cx="0" cy="1543050"/>
          </a:xfrm>
          <a:prstGeom prst="line">
            <a:avLst/>
          </a:prstGeom>
          <a:noFill/>
          <a:ln w="35719">
            <a:solidFill>
              <a:srgbClr val="16A08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07181" y="867184"/>
            <a:ext cx="15716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500063" y="896429"/>
            <a:ext cx="1760934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Statistik Real-time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07181" y="1060066"/>
            <a:ext cx="195381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Total, aktif, selesai. Filter waktu untuk laporan periode.</a:t>
            </a:r>
            <a:endParaRPr lang="en-US" sz="600" dirty="0"/>
          </a:p>
        </p:txBody>
      </p:sp>
      <p:pic>
        <p:nvPicPr>
          <p:cNvPr id="15" name="Image 2" descr="/tmp/h2p-fit-1791108754233-bg13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" y="1195797"/>
            <a:ext cx="1953816" cy="9286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7181" y="2160203"/>
            <a:ext cx="19538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&amp; Progress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2403872" y="795747"/>
            <a:ext cx="2132409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2421731" y="795747"/>
            <a:ext cx="0" cy="1543050"/>
          </a:xfrm>
          <a:prstGeom prst="line">
            <a:avLst/>
          </a:prstGeom>
          <a:noFill/>
          <a:ln w="35719">
            <a:solidFill>
              <a:srgbClr val="E67E2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511028" y="867184"/>
            <a:ext cx="15716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013" dirty="0"/>
          </a:p>
        </p:txBody>
      </p:sp>
      <p:sp>
        <p:nvSpPr>
          <p:cNvPr id="20" name="Text 15"/>
          <p:cNvSpPr/>
          <p:nvPr/>
        </p:nvSpPr>
        <p:spPr>
          <a:xfrm>
            <a:off x="2703909" y="896429"/>
            <a:ext cx="1760934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SKP per Petugas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511028" y="1060066"/>
            <a:ext cx="206354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PDF/Excel bukti kinerja triwulan per petugas.</a:t>
            </a:r>
            <a:endParaRPr lang="en-US" sz="600" dirty="0"/>
          </a:p>
        </p:txBody>
      </p:sp>
      <p:pic>
        <p:nvPicPr>
          <p:cNvPr id="22" name="Image 3" descr="/tmp/h2p-fit-1791108754234-ea7j1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028" y="1195797"/>
            <a:ext cx="1953816" cy="9286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11028" y="2160203"/>
            <a:ext cx="19538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Laporan Kegiatan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607719" y="795747"/>
            <a:ext cx="2132409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4625578" y="795747"/>
            <a:ext cx="0" cy="1543050"/>
          </a:xfrm>
          <a:prstGeom prst="line">
            <a:avLst/>
          </a:prstGeom>
          <a:noFill/>
          <a:ln w="35719">
            <a:solidFill>
              <a:srgbClr val="2D6CD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14875" y="867184"/>
            <a:ext cx="15716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013" dirty="0"/>
          </a:p>
        </p:txBody>
      </p:sp>
      <p:sp>
        <p:nvSpPr>
          <p:cNvPr id="27" name="Text 21"/>
          <p:cNvSpPr/>
          <p:nvPr/>
        </p:nvSpPr>
        <p:spPr>
          <a:xfrm>
            <a:off x="4907756" y="896429"/>
            <a:ext cx="1760934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714875" y="1060066"/>
            <a:ext cx="206354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Transparansi publik via link, tanpa login.</a:t>
            </a:r>
            <a:endParaRPr lang="en-US" sz="600" dirty="0"/>
          </a:p>
        </p:txBody>
      </p:sp>
      <p:pic>
        <p:nvPicPr>
          <p:cNvPr id="29" name="Image 4" descr="/tmp/h2p-fit-1791108754234-rehws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95797"/>
            <a:ext cx="1953816" cy="9286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714875" y="2160203"/>
            <a:ext cx="19538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?public=tracker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811566" y="795747"/>
            <a:ext cx="2132409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162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6811566" y="802891"/>
            <a:ext cx="2132409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936831" y="795747"/>
            <a:ext cx="0" cy="154305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811566" y="2331653"/>
            <a:ext cx="2132409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829425" y="795747"/>
            <a:ext cx="0" cy="154305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18722" y="881472"/>
            <a:ext cx="15716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⭐</a:t>
            </a:r>
            <a:endParaRPr lang="en-US" sz="1013" dirty="0"/>
          </a:p>
        </p:txBody>
      </p:sp>
      <p:sp>
        <p:nvSpPr>
          <p:cNvPr id="37" name="Text 30"/>
          <p:cNvSpPr/>
          <p:nvPr/>
        </p:nvSpPr>
        <p:spPr>
          <a:xfrm>
            <a:off x="7111603" y="910717"/>
            <a:ext cx="1746647" cy="13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 Stats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6918722" y="1074353"/>
            <a:ext cx="204925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count + download count gallery publik.</a:t>
            </a:r>
            <a:endParaRPr lang="en-US" sz="600" dirty="0"/>
          </a:p>
        </p:txBody>
      </p:sp>
      <p:pic>
        <p:nvPicPr>
          <p:cNvPr id="39" name="Image 5" descr="/tmp/h2p-fit-1791108754236-knnto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722" y="1210084"/>
            <a:ext cx="1939528" cy="9286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18722" y="2174491"/>
            <a:ext cx="201710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C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</a:t>
            </a:r>
            <a:endParaRPr lang="en-US" sz="8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25" y="2395947"/>
            <a:ext cx="8743950" cy="86439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03597" y="2399519"/>
            <a:ext cx="8736806" cy="857250"/>
          </a:xfrm>
          <a:prstGeom prst="roundRect">
            <a:avLst>
              <a:gd name="adj" fmla="val 15556"/>
            </a:avLst>
          </a:prstGeom>
          <a:noFill/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133350" dist="38100" dir="5400000">
              <a:srgbClr val="4C2A85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335756" y="2488816"/>
            <a:ext cx="8472488" cy="129731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952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pPr algn="ctr" indent="0" marL="0">
              <a:buNone/>
            </a:pPr>
            <a:r>
              <a:rPr lang="en-US" sz="844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Kesimpulan</a:t>
            </a:r>
            <a:endParaRPr lang="en-US" sz="844" dirty="0"/>
          </a:p>
        </p:txBody>
      </p:sp>
      <p:sp>
        <p:nvSpPr>
          <p:cNvPr id="44" name="Text 35"/>
          <p:cNvSpPr/>
          <p:nvPr/>
        </p:nvSpPr>
        <p:spPr>
          <a:xfrm>
            <a:off x="642938" y="2645978"/>
            <a:ext cx="7858125" cy="265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adalah sistem yang mewadahi proses produksi bagi user </a:t>
            </a:r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DAN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bagi Humas. Dari objektif (Surat → Kegiatan → Proyek) hingga pengukuran (Laporan SKP + LIHUM stats). Inovasi integrasi LIHUM menciptakan workflow end-to-end otomatis — dari produksi ke publik. Semua 6 indikator penilaian terpenuhi dengan bukti nyata.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335756" y="2942444"/>
            <a:ext cx="847248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46" name="Text 37"/>
          <p:cNvSpPr/>
          <p:nvPr/>
        </p:nvSpPr>
        <p:spPr>
          <a:xfrm>
            <a:off x="335756" y="2988878"/>
            <a:ext cx="8472488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| UIN Antasari Banjarmasin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335756" y="3088891"/>
            <a:ext cx="8472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 | lihum.synclicen.workers.dev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2026-10-04T10:12:34Z</dcterms:created>
  <dcterms:modified xsi:type="dcterms:W3CDTF">2026-10-04T10:12:34Z</dcterms:modified>
</cp:coreProperties>
</file>