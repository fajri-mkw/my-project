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15250" y="-714375"/>
            <a:ext cx="2000250" cy="2000250"/>
          </a:xfrm>
          <a:prstGeom prst="ellipse">
            <a:avLst/>
          </a:prstGeom>
          <a:solidFill>
            <a:srgbClr val="D4AF37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642937" y="2714625"/>
            <a:ext cx="1571625" cy="1571625"/>
          </a:xfrm>
          <a:prstGeom prst="ellipse">
            <a:avLst/>
          </a:prstGeom>
          <a:solidFill>
            <a:srgbClr val="7B3FF2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572375" y="1714500"/>
            <a:ext cx="1143000" cy="1143000"/>
          </a:xfrm>
          <a:prstGeom prst="ellipse">
            <a:avLst/>
          </a:prstGeom>
          <a:solidFill>
            <a:srgbClr val="14B8A6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521494" y="2968228"/>
            <a:ext cx="4021931" cy="0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39853" y="2964656"/>
            <a:ext cx="0" cy="478631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21494" y="3439716"/>
            <a:ext cx="4021931" cy="0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5781" y="2964656"/>
            <a:ext cx="0" cy="478631"/>
          </a:xfrm>
          <a:prstGeom prst="line">
            <a:avLst/>
          </a:prstGeom>
          <a:noFill/>
          <a:ln w="28575">
            <a:solidFill>
              <a:srgbClr val="4C2A8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00575" y="2968228"/>
            <a:ext cx="4021931" cy="0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618934" y="2964656"/>
            <a:ext cx="0" cy="478631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00575" y="3439716"/>
            <a:ext cx="4021931" cy="0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14863" y="2964656"/>
            <a:ext cx="0" cy="478631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1494" y="3504009"/>
            <a:ext cx="4021931" cy="0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39853" y="3500438"/>
            <a:ext cx="0" cy="478631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21494" y="3975497"/>
            <a:ext cx="4021931" cy="0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35781" y="3500438"/>
            <a:ext cx="0" cy="478631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00575" y="3504009"/>
            <a:ext cx="4021931" cy="0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618934" y="3500438"/>
            <a:ext cx="0" cy="478631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00575" y="3975497"/>
            <a:ext cx="4021931" cy="0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14863" y="3500438"/>
            <a:ext cx="0" cy="478631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21494" y="4039791"/>
            <a:ext cx="4021931" cy="0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539853" y="4036219"/>
            <a:ext cx="0" cy="478631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21494" y="4511278"/>
            <a:ext cx="4021931" cy="0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35781" y="4036219"/>
            <a:ext cx="0" cy="478631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600575" y="4039791"/>
            <a:ext cx="4021931" cy="0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618934" y="4036219"/>
            <a:ext cx="0" cy="478631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600575" y="4511278"/>
            <a:ext cx="4021931" cy="0"/>
          </a:xfrm>
          <a:prstGeom prst="line">
            <a:avLst/>
          </a:prstGeom>
          <a:noFill/>
          <a:ln w="7144">
            <a:solidFill>
              <a:srgbClr val="E5DFF5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614863" y="4036219"/>
            <a:ext cx="0" cy="478631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21494" y="4575572"/>
            <a:ext cx="8101013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dash"/>
          </a:ln>
        </p:spPr>
      </p:sp>
      <p:sp>
        <p:nvSpPr>
          <p:cNvPr id="32" name="Shape 28"/>
          <p:cNvSpPr/>
          <p:nvPr/>
        </p:nvSpPr>
        <p:spPr>
          <a:xfrm>
            <a:off x="0" y="4822031"/>
            <a:ext cx="9144000" cy="0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675" y="585788"/>
            <a:ext cx="628650" cy="62865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268391" y="596503"/>
            <a:ext cx="607219" cy="607219"/>
          </a:xfrm>
          <a:prstGeom prst="ellipse">
            <a:avLst/>
          </a:prstGeom>
          <a:solidFill>
            <a:srgbClr val="D4AF37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0" dist="76200" dir="5400000">
              <a:srgbClr val="D4AF37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4371975" y="700088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3150" dirty="0"/>
          </a:p>
        </p:txBody>
      </p:sp>
      <p:sp>
        <p:nvSpPr>
          <p:cNvPr id="36" name="Text 31"/>
          <p:cNvSpPr/>
          <p:nvPr/>
        </p:nvSpPr>
        <p:spPr>
          <a:xfrm>
            <a:off x="3238413" y="1285875"/>
            <a:ext cx="2667063" cy="322612"/>
          </a:xfrm>
          <a:prstGeom prst="rect">
            <a:avLst/>
          </a:prstGeom>
          <a:noFill/>
          <a:ln/>
          <a:effectLst>
            <a:outerShdw sx="100000" sy="100000" kx="0" ky="0" algn="bl" rotWithShape="0" blurRad="95250" dist="28575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38" b="1" spc="84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</a:t>
            </a:r>
            <a:endParaRPr lang="en-US" sz="2138" dirty="0"/>
          </a:p>
        </p:txBody>
      </p:sp>
      <p:sp>
        <p:nvSpPr>
          <p:cNvPr id="37" name="Text 32"/>
          <p:cNvSpPr/>
          <p:nvPr/>
        </p:nvSpPr>
        <p:spPr>
          <a:xfrm>
            <a:off x="3246428" y="1635919"/>
            <a:ext cx="2651032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13" b="1" spc="28" kern="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Produksi &amp; Manajemen Humas</a:t>
            </a:r>
            <a:endParaRPr lang="en-US" sz="1013" dirty="0"/>
          </a:p>
        </p:txBody>
      </p:sp>
      <p:sp>
        <p:nvSpPr>
          <p:cNvPr id="38" name="Text 33"/>
          <p:cNvSpPr/>
          <p:nvPr/>
        </p:nvSpPr>
        <p:spPr>
          <a:xfrm>
            <a:off x="4000500" y="1900238"/>
            <a:ext cx="1143000" cy="28575"/>
          </a:xfrm>
          <a:prstGeom prst="roundRect">
            <a:avLst>
              <a:gd name="adj" fmla="val 66667"/>
            </a:avLst>
          </a:prstGeom>
          <a:solidFill>
            <a:srgbClr val="D4AF37"/>
          </a:solidFill>
          <a:ln/>
          <a:effectLst>
            <a:outerShdw sx="100000" sy="100000" kx="0" ky="0" algn="bl" rotWithShape="0" blurRad="95250" dist="50800" dir="16200000">
              <a:srgbClr val="D4AF37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3382119" y="2014538"/>
            <a:ext cx="2379762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Penghargaan Pengelolaan Komunikasi Publik Inovatif</a:t>
            </a:r>
            <a:endParaRPr lang="en-US" sz="788" dirty="0"/>
          </a:p>
        </p:txBody>
      </p:sp>
      <p:sp>
        <p:nvSpPr>
          <p:cNvPr id="40" name="Text 35"/>
          <p:cNvSpPr/>
          <p:nvPr/>
        </p:nvSpPr>
        <p:spPr>
          <a:xfrm>
            <a:off x="3464161" y="2171700"/>
            <a:ext cx="221567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Kementerian Agama RI — UIN Antasari Banjarmasin 2026</a:t>
            </a:r>
            <a:endParaRPr lang="en-US" sz="675" dirty="0"/>
          </a:p>
        </p:txBody>
      </p:sp>
      <p:sp>
        <p:nvSpPr>
          <p:cNvPr id="41" name="Text 36"/>
          <p:cNvSpPr/>
          <p:nvPr/>
        </p:nvSpPr>
        <p:spPr>
          <a:xfrm>
            <a:off x="353616" y="2625328"/>
            <a:ext cx="8436769" cy="2178844"/>
          </a:xfrm>
          <a:prstGeom prst="roundRect">
            <a:avLst>
              <a:gd name="adj" fmla="val 6120"/>
            </a:avLst>
          </a:prstGeom>
          <a:solidFill>
            <a:srgbClr val="FFFFFF"/>
          </a:solidFill>
          <a:ln w="21431">
            <a:solidFill>
              <a:srgbClr val="D4AF37"/>
            </a:solidFill>
            <a:prstDash val="solid"/>
          </a:ln>
          <a:effectLst>
            <a:outerShdw sx="100000" sy="100000" kx="0" ky="0" algn="bl" rotWithShape="0" blurRad="285750" dist="9525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4" y="2807494"/>
            <a:ext cx="3607482" cy="1428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21494" y="2736056"/>
            <a:ext cx="8101013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📚</a:t>
            </a:r>
            <a:pPr algn="ctr" indent="0" marL="0">
              <a:buNone/>
            </a:pPr>
            <a:r>
              <a:rPr lang="en-US" sz="1013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Daftar Isi</a:t>
            </a:r>
            <a:endParaRPr lang="en-US" sz="1013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024" y="2807494"/>
            <a:ext cx="3607482" cy="14288"/>
          </a:xfrm>
          <a:prstGeom prst="rect">
            <a:avLst/>
          </a:prstGeom>
        </p:spPr>
      </p:pic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494" y="2964656"/>
            <a:ext cx="4021931" cy="478631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35794" y="3131963"/>
            <a:ext cx="396255" cy="144018"/>
          </a:xfrm>
          <a:prstGeom prst="roundRect">
            <a:avLst>
              <a:gd name="adj" fmla="val 39683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631514" y="3139678"/>
            <a:ext cx="40481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2</a:t>
            </a:r>
            <a:endParaRPr lang="en-US" sz="800" dirty="0"/>
          </a:p>
        </p:txBody>
      </p:sp>
      <p:sp>
        <p:nvSpPr>
          <p:cNvPr id="48" name="Text 40"/>
          <p:cNvSpPr/>
          <p:nvPr/>
        </p:nvSpPr>
        <p:spPr>
          <a:xfrm>
            <a:off x="1103486" y="3150394"/>
            <a:ext cx="334707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Objektif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4178871" y="3139964"/>
            <a:ext cx="271686" cy="128016"/>
          </a:xfrm>
          <a:prstGeom prst="roundRect">
            <a:avLst>
              <a:gd name="adj" fmla="val 7440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2"/>
          <p:cNvSpPr/>
          <p:nvPr/>
        </p:nvSpPr>
        <p:spPr>
          <a:xfrm>
            <a:off x="4178871" y="3146822"/>
            <a:ext cx="2716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80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0575" y="2964656"/>
            <a:ext cx="4021931" cy="478631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4714875" y="3131963"/>
            <a:ext cx="396255" cy="144018"/>
          </a:xfrm>
          <a:prstGeom prst="roundRect">
            <a:avLst>
              <a:gd name="adj" fmla="val 39683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4"/>
          <p:cNvSpPr/>
          <p:nvPr/>
        </p:nvSpPr>
        <p:spPr>
          <a:xfrm>
            <a:off x="4710595" y="3139678"/>
            <a:ext cx="40481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3</a:t>
            </a:r>
            <a:endParaRPr lang="en-US" sz="800" dirty="0"/>
          </a:p>
        </p:txBody>
      </p:sp>
      <p:sp>
        <p:nvSpPr>
          <p:cNvPr id="54" name="Text 45"/>
          <p:cNvSpPr/>
          <p:nvPr/>
        </p:nvSpPr>
        <p:spPr>
          <a:xfrm>
            <a:off x="5182567" y="3150394"/>
            <a:ext cx="334707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♟️ Strategi</a:t>
            </a:r>
            <a:endParaRPr lang="en-US" sz="800" dirty="0"/>
          </a:p>
        </p:txBody>
      </p:sp>
      <p:sp>
        <p:nvSpPr>
          <p:cNvPr id="55" name="Text 46"/>
          <p:cNvSpPr/>
          <p:nvPr/>
        </p:nvSpPr>
        <p:spPr>
          <a:xfrm>
            <a:off x="8257952" y="3139964"/>
            <a:ext cx="271686" cy="128016"/>
          </a:xfrm>
          <a:prstGeom prst="roundRect">
            <a:avLst>
              <a:gd name="adj" fmla="val 7440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7"/>
          <p:cNvSpPr/>
          <p:nvPr/>
        </p:nvSpPr>
        <p:spPr>
          <a:xfrm>
            <a:off x="8257952" y="3146822"/>
            <a:ext cx="2716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800" dirty="0"/>
          </a:p>
        </p:txBody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494" y="3500438"/>
            <a:ext cx="4021931" cy="478631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635794" y="3667744"/>
            <a:ext cx="396255" cy="144018"/>
          </a:xfrm>
          <a:prstGeom prst="roundRect">
            <a:avLst>
              <a:gd name="adj" fmla="val 39683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49"/>
          <p:cNvSpPr/>
          <p:nvPr/>
        </p:nvSpPr>
        <p:spPr>
          <a:xfrm>
            <a:off x="631514" y="3675459"/>
            <a:ext cx="40481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4</a:t>
            </a:r>
            <a:endParaRPr lang="en-US" sz="800" dirty="0"/>
          </a:p>
        </p:txBody>
      </p:sp>
      <p:sp>
        <p:nvSpPr>
          <p:cNvPr id="60" name="Text 50"/>
          <p:cNvSpPr/>
          <p:nvPr/>
        </p:nvSpPr>
        <p:spPr>
          <a:xfrm>
            <a:off x="1103486" y="3686175"/>
            <a:ext cx="334707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📡</a:t>
            </a:r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Taktik/Saluran</a:t>
            </a:r>
            <a:endParaRPr lang="en-US" sz="800" dirty="0"/>
          </a:p>
        </p:txBody>
      </p:sp>
      <p:sp>
        <p:nvSpPr>
          <p:cNvPr id="61" name="Text 51"/>
          <p:cNvSpPr/>
          <p:nvPr/>
        </p:nvSpPr>
        <p:spPr>
          <a:xfrm>
            <a:off x="4178871" y="3675745"/>
            <a:ext cx="271686" cy="128016"/>
          </a:xfrm>
          <a:prstGeom prst="roundRect">
            <a:avLst>
              <a:gd name="adj" fmla="val 7440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2"/>
          <p:cNvSpPr/>
          <p:nvPr/>
        </p:nvSpPr>
        <p:spPr>
          <a:xfrm>
            <a:off x="4178871" y="3682603"/>
            <a:ext cx="2716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</a:t>
            </a:r>
            <a:endParaRPr lang="en-US" sz="800" dirty="0"/>
          </a:p>
        </p:txBody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0575" y="3500438"/>
            <a:ext cx="4021931" cy="478631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4714875" y="3667744"/>
            <a:ext cx="396255" cy="144018"/>
          </a:xfrm>
          <a:prstGeom prst="roundRect">
            <a:avLst>
              <a:gd name="adj" fmla="val 39683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4"/>
          <p:cNvSpPr/>
          <p:nvPr/>
        </p:nvSpPr>
        <p:spPr>
          <a:xfrm>
            <a:off x="4710595" y="3675459"/>
            <a:ext cx="40481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5</a:t>
            </a:r>
            <a:endParaRPr lang="en-US" sz="800" dirty="0"/>
          </a:p>
        </p:txBody>
      </p:sp>
      <p:sp>
        <p:nvSpPr>
          <p:cNvPr id="66" name="Text 55"/>
          <p:cNvSpPr/>
          <p:nvPr/>
        </p:nvSpPr>
        <p:spPr>
          <a:xfrm>
            <a:off x="5182567" y="3686175"/>
            <a:ext cx="334707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Key Messages</a:t>
            </a:r>
            <a:endParaRPr lang="en-US" sz="800" dirty="0"/>
          </a:p>
        </p:txBody>
      </p:sp>
      <p:sp>
        <p:nvSpPr>
          <p:cNvPr id="67" name="Text 56"/>
          <p:cNvSpPr/>
          <p:nvPr/>
        </p:nvSpPr>
        <p:spPr>
          <a:xfrm>
            <a:off x="8257952" y="3675745"/>
            <a:ext cx="271686" cy="128016"/>
          </a:xfrm>
          <a:prstGeom prst="roundRect">
            <a:avLst>
              <a:gd name="adj" fmla="val 7440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57"/>
          <p:cNvSpPr/>
          <p:nvPr/>
        </p:nvSpPr>
        <p:spPr>
          <a:xfrm>
            <a:off x="8257952" y="3682603"/>
            <a:ext cx="2716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800" dirty="0"/>
          </a:p>
        </p:txBody>
      </p:sp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494" y="4036219"/>
            <a:ext cx="4021931" cy="478631"/>
          </a:xfrm>
          <a:prstGeom prst="rect">
            <a:avLst/>
          </a:prstGeom>
        </p:spPr>
      </p:pic>
      <p:sp>
        <p:nvSpPr>
          <p:cNvPr id="70" name="Text 58"/>
          <p:cNvSpPr/>
          <p:nvPr/>
        </p:nvSpPr>
        <p:spPr>
          <a:xfrm>
            <a:off x="635794" y="4203525"/>
            <a:ext cx="396255" cy="144018"/>
          </a:xfrm>
          <a:prstGeom prst="roundRect">
            <a:avLst>
              <a:gd name="adj" fmla="val 39683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59"/>
          <p:cNvSpPr/>
          <p:nvPr/>
        </p:nvSpPr>
        <p:spPr>
          <a:xfrm>
            <a:off x="631514" y="4211241"/>
            <a:ext cx="40481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6</a:t>
            </a:r>
            <a:endParaRPr lang="en-US" sz="800" dirty="0"/>
          </a:p>
        </p:txBody>
      </p:sp>
      <p:sp>
        <p:nvSpPr>
          <p:cNvPr id="72" name="Text 60"/>
          <p:cNvSpPr/>
          <p:nvPr/>
        </p:nvSpPr>
        <p:spPr>
          <a:xfrm>
            <a:off x="1103486" y="4221956"/>
            <a:ext cx="334707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⚡ Eksekusi</a:t>
            </a:r>
            <a:endParaRPr lang="en-US" sz="800" dirty="0"/>
          </a:p>
        </p:txBody>
      </p:sp>
      <p:sp>
        <p:nvSpPr>
          <p:cNvPr id="73" name="Text 61"/>
          <p:cNvSpPr/>
          <p:nvPr/>
        </p:nvSpPr>
        <p:spPr>
          <a:xfrm>
            <a:off x="4178871" y="4211526"/>
            <a:ext cx="271686" cy="128016"/>
          </a:xfrm>
          <a:prstGeom prst="roundRect">
            <a:avLst>
              <a:gd name="adj" fmla="val 7440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62"/>
          <p:cNvSpPr/>
          <p:nvPr/>
        </p:nvSpPr>
        <p:spPr>
          <a:xfrm>
            <a:off x="4178871" y="4218384"/>
            <a:ext cx="2716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800" dirty="0"/>
          </a:p>
        </p:txBody>
      </p:sp>
      <p:pic>
        <p:nvPicPr>
          <p:cNvPr id="7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0575" y="4036219"/>
            <a:ext cx="4021931" cy="478631"/>
          </a:xfrm>
          <a:prstGeom prst="rect">
            <a:avLst/>
          </a:prstGeom>
        </p:spPr>
      </p:pic>
      <p:sp>
        <p:nvSpPr>
          <p:cNvPr id="76" name="Text 63"/>
          <p:cNvSpPr/>
          <p:nvPr/>
        </p:nvSpPr>
        <p:spPr>
          <a:xfrm>
            <a:off x="4714875" y="4203525"/>
            <a:ext cx="396255" cy="144018"/>
          </a:xfrm>
          <a:prstGeom prst="roundRect">
            <a:avLst>
              <a:gd name="adj" fmla="val 39683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64"/>
          <p:cNvSpPr/>
          <p:nvPr/>
        </p:nvSpPr>
        <p:spPr>
          <a:xfrm>
            <a:off x="4710595" y="4211241"/>
            <a:ext cx="40481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7</a:t>
            </a:r>
            <a:endParaRPr lang="en-US" sz="800" dirty="0"/>
          </a:p>
        </p:txBody>
      </p:sp>
      <p:sp>
        <p:nvSpPr>
          <p:cNvPr id="78" name="Text 65"/>
          <p:cNvSpPr/>
          <p:nvPr/>
        </p:nvSpPr>
        <p:spPr>
          <a:xfrm>
            <a:off x="5182567" y="4221956"/>
            <a:ext cx="334707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Pengukuran</a:t>
            </a:r>
            <a:endParaRPr lang="en-US" sz="800" dirty="0"/>
          </a:p>
        </p:txBody>
      </p:sp>
      <p:sp>
        <p:nvSpPr>
          <p:cNvPr id="79" name="Text 66"/>
          <p:cNvSpPr/>
          <p:nvPr/>
        </p:nvSpPr>
        <p:spPr>
          <a:xfrm>
            <a:off x="8257952" y="4211526"/>
            <a:ext cx="271686" cy="128016"/>
          </a:xfrm>
          <a:prstGeom prst="roundRect">
            <a:avLst>
              <a:gd name="adj" fmla="val 7440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67"/>
          <p:cNvSpPr/>
          <p:nvPr/>
        </p:nvSpPr>
        <p:spPr>
          <a:xfrm>
            <a:off x="8257952" y="4218384"/>
            <a:ext cx="2716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800" dirty="0"/>
          </a:p>
        </p:txBody>
      </p:sp>
      <p:sp>
        <p:nvSpPr>
          <p:cNvPr id="81" name="Text 68"/>
          <p:cNvSpPr/>
          <p:nvPr/>
        </p:nvSpPr>
        <p:spPr>
          <a:xfrm>
            <a:off x="521494" y="4572000"/>
            <a:ext cx="8101013" cy="135731"/>
          </a:xfrm>
          <a:prstGeom prst="rect">
            <a:avLst/>
          </a:prstGeom>
          <a:noFill/>
          <a:ln/>
        </p:spPr>
        <p:txBody>
          <a:bodyPr wrap="square" lIns="0" tIns="42863" rIns="0" bIns="0" rtlCol="0" anchor="t"/>
          <a:lstStyle/>
          <a:p>
            <a:pPr algn="ctr" indent="0" marL="0">
              <a:buNone/>
            </a:pPr>
            <a:r>
              <a:rPr lang="en-US" sz="800" spc="17" kern="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Pusat Hubungan Masyarakat dan Keterbukaan Informasi</a:t>
            </a:r>
            <a:endParaRPr lang="en-US" sz="800" dirty="0"/>
          </a:p>
        </p:txBody>
      </p:sp>
      <p:pic>
        <p:nvPicPr>
          <p:cNvPr id="8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4814888"/>
            <a:ext cx="9144000" cy="328613"/>
          </a:xfrm>
          <a:prstGeom prst="rect">
            <a:avLst/>
          </a:prstGeom>
        </p:spPr>
      </p:pic>
      <p:sp>
        <p:nvSpPr>
          <p:cNvPr id="83" name="Text 69"/>
          <p:cNvSpPr/>
          <p:nvPr/>
        </p:nvSpPr>
        <p:spPr>
          <a:xfrm>
            <a:off x="1648085" y="4936331"/>
            <a:ext cx="5847717" cy="100013"/>
          </a:xfrm>
          <a:prstGeom prst="rect">
            <a:avLst/>
          </a:prstGeom>
          <a:noFill/>
          <a:ln/>
        </p:spPr>
        <p:txBody>
          <a:bodyPr wrap="square" lIns="171450" tIns="0" rIns="17145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— Sistem yang mewadahi &amp; . 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indikator komunikasi publik terpenuhi 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100%.</a:t>
            </a:r>
            <a:endParaRPr lang="en-US" sz="800" dirty="0"/>
          </a:p>
        </p:txBody>
      </p:sp>
      <p:sp>
        <p:nvSpPr>
          <p:cNvPr id="84" name="Text 70"/>
          <p:cNvSpPr/>
          <p:nvPr/>
        </p:nvSpPr>
        <p:spPr>
          <a:xfrm>
            <a:off x="1674261" y="4936331"/>
            <a:ext cx="809811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</a:t>
            </a:r>
            <a:endParaRPr lang="en-US" sz="675" dirty="0"/>
          </a:p>
        </p:txBody>
      </p:sp>
      <p:sp>
        <p:nvSpPr>
          <p:cNvPr id="85" name="Text 71"/>
          <p:cNvSpPr/>
          <p:nvPr/>
        </p:nvSpPr>
        <p:spPr>
          <a:xfrm>
            <a:off x="3322025" y="4936331"/>
            <a:ext cx="133987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proses produksi bagi user</a:t>
            </a:r>
            <a:endParaRPr lang="en-US" sz="675" dirty="0"/>
          </a:p>
        </p:txBody>
      </p:sp>
      <p:sp>
        <p:nvSpPr>
          <p:cNvPr id="86" name="Text 72"/>
          <p:cNvSpPr/>
          <p:nvPr/>
        </p:nvSpPr>
        <p:spPr>
          <a:xfrm>
            <a:off x="4468374" y="4936331"/>
            <a:ext cx="121485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manajemen bagi humas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2714625"/>
            <a:ext cx="1714500" cy="171450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01000" y="3286125"/>
            <a:ext cx="1571625" cy="1571625"/>
          </a:xfrm>
          <a:prstGeom prst="ellipse">
            <a:avLst/>
          </a:prstGeom>
          <a:solidFill>
            <a:srgbClr val="D4AF37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28600" y="917972"/>
            <a:ext cx="2838413" cy="0"/>
          </a:xfrm>
          <a:prstGeom prst="line">
            <a:avLst/>
          </a:prstGeom>
          <a:noFill/>
          <a:ln w="35719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52738" y="917972"/>
            <a:ext cx="2838413" cy="0"/>
          </a:xfrm>
          <a:prstGeom prst="line">
            <a:avLst/>
          </a:prstGeom>
          <a:noFill/>
          <a:ln w="35719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76876" y="917972"/>
            <a:ext cx="2838524" cy="0"/>
          </a:xfrm>
          <a:prstGeom prst="line">
            <a:avLst/>
          </a:prstGeom>
          <a:noFill/>
          <a:ln w="35719">
            <a:solidFill>
              <a:srgbClr val="4C2A8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786313"/>
            <a:ext cx="9144000" cy="3571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793456"/>
            <a:ext cx="9144000" cy="0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79476" y="4922044"/>
            <a:ext cx="5384936" cy="100013"/>
          </a:xfrm>
          <a:prstGeom prst="rect">
            <a:avLst/>
          </a:prstGeom>
          <a:noFill/>
          <a:ln/>
        </p:spPr>
        <p:txBody>
          <a:bodyPr wrap="square" lIns="171450" tIns="85725" rIns="171450" bIns="8572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Objektif terdokumentasi : Surat → Kegiatan → Proyek + Surat Tugas resmi. Tujuan komunikasi 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885304" y="4922044"/>
            <a:ext cx="57985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lapisan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160346" y="4922044"/>
            <a:ext cx="1121725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jelas, terukur, dan tertulis</a:t>
            </a:r>
            <a:endParaRPr lang="en-US" sz="675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0025"/>
            <a:ext cx="8686800" cy="4572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271463"/>
            <a:ext cx="314325" cy="3143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2191" y="282178"/>
            <a:ext cx="292894" cy="292894"/>
          </a:xfrm>
          <a:prstGeom prst="ellipse">
            <a:avLst/>
          </a:prstGeom>
          <a:solidFill>
            <a:srgbClr val="D4AF37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371475" y="271463"/>
            <a:ext cx="36433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785813" y="335756"/>
            <a:ext cx="7986713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spc="28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pPr algn="l" indent="0" marL="0">
              <a:buNone/>
            </a:pPr>
            <a:r>
              <a:rPr lang="en-US" sz="1238" b="1" spc="28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Objektif</a:t>
            </a:r>
            <a:endParaRPr lang="en-US" sz="1238" dirty="0"/>
          </a:p>
        </p:txBody>
      </p:sp>
      <p:sp>
        <p:nvSpPr>
          <p:cNvPr id="17" name="Text 12"/>
          <p:cNvSpPr/>
          <p:nvPr/>
        </p:nvSpPr>
        <p:spPr>
          <a:xfrm>
            <a:off x="8072326" y="308667"/>
            <a:ext cx="700199" cy="239916"/>
          </a:xfrm>
          <a:prstGeom prst="roundRect">
            <a:avLst>
              <a:gd name="adj" fmla="val 79403"/>
            </a:avLst>
          </a:prstGeom>
          <a:solidFill>
            <a:srgbClr val="D4AF37"/>
          </a:solidFill>
          <a:ln w="14288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8072326" y="321469"/>
            <a:ext cx="70019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 Bobot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228600" y="728663"/>
            <a:ext cx="8636000" cy="128016"/>
          </a:xfrm>
          <a:prstGeom prst="rect">
            <a:avLst/>
          </a:prstGeom>
          <a:noFill/>
          <a:ln/>
        </p:spPr>
        <p:txBody>
          <a:bodyPr wrap="square" lIns="42863" tIns="0" rIns="42863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38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Setiap kegiatan komunikasi publik terdokumentasi dalam 3 lapisan objektif yang terukur dan tertulis resmi.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228600" y="900113"/>
            <a:ext cx="2838413" cy="3814763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328613" y="1021556"/>
            <a:ext cx="200025" cy="200025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47625" dist="1905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360045" y="1052989"/>
            <a:ext cx="1371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①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00075" y="1065870"/>
            <a:ext cx="2366925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Manajemen Surat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328613" y="1264444"/>
            <a:ext cx="263838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Surat masuk dari unit pemohon. Field: pengirim, perihal, kategori, deskripsi.</a:t>
            </a:r>
            <a:endParaRPr lang="en-US" sz="8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3" y="1607344"/>
            <a:ext cx="2638388" cy="29146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35756" y="1614488"/>
            <a:ext cx="2624100" cy="2900363"/>
          </a:xfrm>
          <a:prstGeom prst="roundRect">
            <a:avLst>
              <a:gd name="adj" fmla="val 2904"/>
            </a:avLst>
          </a:prstGeom>
          <a:noFill/>
          <a:ln w="14288">
            <a:solidFill>
              <a:srgbClr val="DDDDD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4" descr="/tmp/h2p-fit-1791105370641-jyffl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2476426"/>
            <a:ext cx="2609813" cy="11763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28613" y="4564856"/>
            <a:ext cx="26383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Menu Manajemen Surat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3152738" y="900113"/>
            <a:ext cx="2838413" cy="3814763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3252750" y="1021556"/>
            <a:ext cx="200025" cy="200025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47625" dist="1905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3284183" y="1052989"/>
            <a:ext cx="1371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②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3524213" y="1065870"/>
            <a:ext cx="2366925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Program Kegiatan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3252750" y="1264444"/>
            <a:ext cx="263838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Catat kegiatan: nomor, jenis, perihal, penyelenggara, deskripsi.</a:t>
            </a:r>
            <a:endParaRPr lang="en-US" sz="8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2750" y="1607344"/>
            <a:ext cx="2638388" cy="291465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259894" y="1614488"/>
            <a:ext cx="2624100" cy="2900363"/>
          </a:xfrm>
          <a:prstGeom prst="roundRect">
            <a:avLst>
              <a:gd name="adj" fmla="val 2904"/>
            </a:avLst>
          </a:prstGeom>
          <a:noFill/>
          <a:ln w="14288">
            <a:solidFill>
              <a:srgbClr val="DDDDD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6" descr="/tmp/h2p-fit-1791105370642-s29km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7038" y="2476426"/>
            <a:ext cx="2609813" cy="117637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252750" y="4564856"/>
            <a:ext cx="26383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Menu Program Kegiatan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6076876" y="900113"/>
            <a:ext cx="2838524" cy="3814763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0"/>
          <p:cNvSpPr/>
          <p:nvPr/>
        </p:nvSpPr>
        <p:spPr>
          <a:xfrm>
            <a:off x="6176888" y="1021556"/>
            <a:ext cx="200025" cy="200025"/>
          </a:xfrm>
          <a:prstGeom prst="ellipse">
            <a:avLst/>
          </a:prstGeom>
          <a:solidFill>
            <a:srgbClr val="4C2A85"/>
          </a:solidFill>
          <a:ln/>
          <a:effectLst>
            <a:outerShdw sx="100000" sy="100000" kx="0" ky="0" algn="bl" rotWithShape="0" blurRad="47625" dist="1905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1"/>
          <p:cNvSpPr/>
          <p:nvPr/>
        </p:nvSpPr>
        <p:spPr>
          <a:xfrm>
            <a:off x="6208321" y="1052989"/>
            <a:ext cx="1371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③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6448351" y="1065870"/>
            <a:ext cx="2367037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Inisiasi Proyek + Surat Tugas</a:t>
            </a:r>
            <a:endParaRPr lang="en-US" sz="800" dirty="0"/>
          </a:p>
        </p:txBody>
      </p:sp>
      <p:sp>
        <p:nvSpPr>
          <p:cNvPr id="42" name="Text 33"/>
          <p:cNvSpPr/>
          <p:nvPr/>
        </p:nvSpPr>
        <p:spPr>
          <a:xfrm>
            <a:off x="6176888" y="1264444"/>
            <a:ext cx="2638499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Form Buat Proyek: activityTypes, outputNeeds, description. Surat Tugas otomatis per petugas dengan nomor resmi.</a:t>
            </a:r>
            <a:endParaRPr lang="en-US" sz="800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6888" y="1607344"/>
            <a:ext cx="2638499" cy="291465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184032" y="1614488"/>
            <a:ext cx="2624212" cy="2900363"/>
          </a:xfrm>
          <a:prstGeom prst="roundRect">
            <a:avLst>
              <a:gd name="adj" fmla="val 2904"/>
            </a:avLst>
          </a:prstGeom>
          <a:noFill/>
          <a:ln w="14288">
            <a:solidFill>
              <a:srgbClr val="DDDDD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5" name="Image 8" descr="/tmp/h2p-fit-1791105370642-b1jq3z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176" y="2476426"/>
            <a:ext cx="2609924" cy="1176486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6176888" y="4564856"/>
            <a:ext cx="263849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Buat Proyek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0" y="428625"/>
            <a:ext cx="1571625" cy="1571625"/>
          </a:xfrm>
          <a:prstGeom prst="ellipse">
            <a:avLst/>
          </a:prstGeom>
          <a:solidFill>
            <a:srgbClr val="4C2A8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500062" y="2143125"/>
            <a:ext cx="1428750" cy="142875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46459" y="900113"/>
            <a:ext cx="0" cy="1714500"/>
          </a:xfrm>
          <a:prstGeom prst="line">
            <a:avLst/>
          </a:prstGeom>
          <a:noFill/>
          <a:ln w="35719">
            <a:solidFill>
              <a:srgbClr val="4C2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95227" y="900113"/>
            <a:ext cx="0" cy="1714500"/>
          </a:xfrm>
          <a:prstGeom prst="line">
            <a:avLst/>
          </a:prstGeom>
          <a:noFill/>
          <a:ln w="35719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3995" y="900113"/>
            <a:ext cx="0" cy="1714500"/>
          </a:xfrm>
          <a:prstGeom prst="line">
            <a:avLst/>
          </a:prstGeom>
          <a:noFill/>
          <a:ln w="35719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92762" y="900113"/>
            <a:ext cx="0" cy="1714500"/>
          </a:xfrm>
          <a:prstGeom prst="line">
            <a:avLst/>
          </a:prstGeom>
          <a:noFill/>
          <a:ln w="35719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41530" y="900113"/>
            <a:ext cx="0" cy="1714500"/>
          </a:xfrm>
          <a:prstGeom prst="line">
            <a:avLst/>
          </a:prstGeom>
          <a:noFill/>
          <a:ln w="35719">
            <a:solidFill>
              <a:srgbClr val="EC48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888" y="2686050"/>
            <a:ext cx="0" cy="1000125"/>
          </a:xfrm>
          <a:prstGeom prst="line">
            <a:avLst/>
          </a:prstGeom>
          <a:noFill/>
          <a:ln w="28575">
            <a:solidFill>
              <a:srgbClr val="4C2A8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9150" y="2686050"/>
            <a:ext cx="0" cy="1000125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757613"/>
            <a:ext cx="9144000" cy="3571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3764756"/>
            <a:ext cx="9144000" cy="0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45605" y="3893344"/>
            <a:ext cx="6252790" cy="100013"/>
          </a:xfrm>
          <a:prstGeom prst="rect">
            <a:avLst/>
          </a:prstGeom>
          <a:noFill/>
          <a:ln/>
        </p:spPr>
        <p:txBody>
          <a:bodyPr wrap="square" lIns="171450" tIns="85725" rIns="171450" bIns="8572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Strategi terdukung : pemilihan petugas, respons cepat, deteksi konflik, inventaris, koordinasi WA. Eksekusi komunikasi 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251492" y="3893344"/>
            <a:ext cx="51751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sistem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656231" y="3893344"/>
            <a:ext cx="113141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terkoordinasi &amp; efektif</a:t>
            </a:r>
            <a:endParaRPr lang="en-US" sz="67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0025"/>
            <a:ext cx="8686800" cy="45720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271463"/>
            <a:ext cx="314325" cy="3143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2191" y="282178"/>
            <a:ext cx="292894" cy="292894"/>
          </a:xfrm>
          <a:prstGeom prst="ellipse">
            <a:avLst/>
          </a:prstGeom>
          <a:solidFill>
            <a:srgbClr val="D4AF37"/>
          </a:solidFill>
          <a:ln w="21431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371475" y="271463"/>
            <a:ext cx="36433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85813" y="335756"/>
            <a:ext cx="7986713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spc="28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♟️ Strategi</a:t>
            </a:r>
            <a:endParaRPr lang="en-US" sz="1238" dirty="0"/>
          </a:p>
        </p:txBody>
      </p:sp>
      <p:sp>
        <p:nvSpPr>
          <p:cNvPr id="21" name="Text 16"/>
          <p:cNvSpPr/>
          <p:nvPr/>
        </p:nvSpPr>
        <p:spPr>
          <a:xfrm>
            <a:off x="8072326" y="308667"/>
            <a:ext cx="700199" cy="239916"/>
          </a:xfrm>
          <a:prstGeom prst="roundRect">
            <a:avLst>
              <a:gd name="adj" fmla="val 79403"/>
            </a:avLst>
          </a:prstGeom>
          <a:solidFill>
            <a:srgbClr val="D4AF37"/>
          </a:solidFill>
          <a:ln w="14288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8072326" y="321469"/>
            <a:ext cx="70019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 Bobot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228600" y="728663"/>
            <a:ext cx="8636000" cy="128016"/>
          </a:xfrm>
          <a:prstGeom prst="rect">
            <a:avLst/>
          </a:prstGeom>
          <a:noFill/>
          <a:ln/>
        </p:spPr>
        <p:txBody>
          <a:bodyPr wrap="square" lIns="42863" tIns="0" rIns="42863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38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mendukung 5 strategi untuk eksekusi komunikasi publik yang efektif dan terkoordinasi.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28600" y="900113"/>
            <a:ext cx="1691618" cy="17145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1631007" y="928688"/>
            <a:ext cx="27816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4C2A85">
                    <a:alpha val="1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2025" dirty="0"/>
          </a:p>
        </p:txBody>
      </p:sp>
      <p:sp>
        <p:nvSpPr>
          <p:cNvPr id="26" name="Text 21"/>
          <p:cNvSpPr/>
          <p:nvPr/>
        </p:nvSpPr>
        <p:spPr>
          <a:xfrm>
            <a:off x="350044" y="971550"/>
            <a:ext cx="14844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</a:t>
            </a:r>
            <a:endParaRPr lang="en-US" sz="1575" dirty="0"/>
          </a:p>
        </p:txBody>
      </p:sp>
      <p:sp>
        <p:nvSpPr>
          <p:cNvPr id="27" name="Text 22"/>
          <p:cNvSpPr/>
          <p:nvPr/>
        </p:nvSpPr>
        <p:spPr>
          <a:xfrm>
            <a:off x="350044" y="1228725"/>
            <a:ext cx="1573516" cy="118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Pemilihan Petugas per Role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350044" y="1374391"/>
            <a:ext cx="1573516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pilih 16 role spesifik. Setiap role punya tahap &amp; tugas berbeda.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336323" y="2422017"/>
            <a:ext cx="370453" cy="128016"/>
          </a:xfrm>
          <a:prstGeom prst="roundRect">
            <a:avLst>
              <a:gd name="adj" fmla="val 74405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281977" y="2428875"/>
            <a:ext cx="47914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Role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1977368" y="900113"/>
            <a:ext cx="1691618" cy="17145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3379775" y="928688"/>
            <a:ext cx="27816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D4AF37">
                    <a:alpha val="1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2025" dirty="0"/>
          </a:p>
        </p:txBody>
      </p:sp>
      <p:sp>
        <p:nvSpPr>
          <p:cNvPr id="33" name="Text 28"/>
          <p:cNvSpPr/>
          <p:nvPr/>
        </p:nvSpPr>
        <p:spPr>
          <a:xfrm>
            <a:off x="2098811" y="971550"/>
            <a:ext cx="14844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75" dirty="0"/>
          </a:p>
        </p:txBody>
      </p:sp>
      <p:sp>
        <p:nvSpPr>
          <p:cNvPr id="34" name="Text 29"/>
          <p:cNvSpPr/>
          <p:nvPr/>
        </p:nvSpPr>
        <p:spPr>
          <a:xfrm>
            <a:off x="2098811" y="1228725"/>
            <a:ext cx="1573516" cy="118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Fast Track &amp; Fast Production</a:t>
            </a:r>
            <a:endParaRPr lang="en-US" sz="675" dirty="0"/>
          </a:p>
        </p:txBody>
      </p:sp>
      <p:sp>
        <p:nvSpPr>
          <p:cNvPr id="35" name="Text 30"/>
          <p:cNvSpPr/>
          <p:nvPr/>
        </p:nvSpPr>
        <p:spPr>
          <a:xfrm>
            <a:off x="2098811" y="1374391"/>
            <a:ext cx="1573516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Mode respons cepat untuk kegiatan mendesak. Skip tahap yang tidak perlu.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081519" y="2422017"/>
            <a:ext cx="466893" cy="128016"/>
          </a:xfrm>
          <a:prstGeom prst="roundRect">
            <a:avLst>
              <a:gd name="adj" fmla="val 7440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2019046" y="2428875"/>
            <a:ext cx="59184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Fast Mode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3726135" y="900113"/>
            <a:ext cx="1691618" cy="17145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5128542" y="928688"/>
            <a:ext cx="27816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14B8A6">
                    <a:alpha val="1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2025" dirty="0"/>
          </a:p>
        </p:txBody>
      </p:sp>
      <p:sp>
        <p:nvSpPr>
          <p:cNvPr id="40" name="Text 35"/>
          <p:cNvSpPr/>
          <p:nvPr/>
        </p:nvSpPr>
        <p:spPr>
          <a:xfrm>
            <a:off x="3847579" y="971550"/>
            <a:ext cx="14844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📅</a:t>
            </a:r>
            <a:endParaRPr lang="en-US" sz="1575" dirty="0"/>
          </a:p>
        </p:txBody>
      </p:sp>
      <p:sp>
        <p:nvSpPr>
          <p:cNvPr id="41" name="Text 36"/>
          <p:cNvSpPr/>
          <p:nvPr/>
        </p:nvSpPr>
        <p:spPr>
          <a:xfrm>
            <a:off x="3847579" y="1228725"/>
            <a:ext cx="1484449" cy="118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Deteksi Konflik Jadwal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3847579" y="1374391"/>
            <a:ext cx="1573516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Cek petugas bentrok jadwal ±3 jam. Warning + konfirmasi override.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3834301" y="2422017"/>
            <a:ext cx="358518" cy="128016"/>
          </a:xfrm>
          <a:prstGeom prst="roundRect">
            <a:avLst>
              <a:gd name="adj" fmla="val 74405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3815348" y="2428875"/>
            <a:ext cx="39642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±3 Jam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5474903" y="900113"/>
            <a:ext cx="1691618" cy="17145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6877310" y="928688"/>
            <a:ext cx="27816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F97316">
                    <a:alpha val="1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2025" dirty="0"/>
          </a:p>
        </p:txBody>
      </p:sp>
      <p:sp>
        <p:nvSpPr>
          <p:cNvPr id="47" name="Text 42"/>
          <p:cNvSpPr/>
          <p:nvPr/>
        </p:nvSpPr>
        <p:spPr>
          <a:xfrm>
            <a:off x="5596347" y="971550"/>
            <a:ext cx="14844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endParaRPr lang="en-US" sz="1575" dirty="0"/>
          </a:p>
        </p:txBody>
      </p:sp>
      <p:sp>
        <p:nvSpPr>
          <p:cNvPr id="48" name="Text 43"/>
          <p:cNvSpPr/>
          <p:nvPr/>
        </p:nvSpPr>
        <p:spPr>
          <a:xfrm>
            <a:off x="5596347" y="1228725"/>
            <a:ext cx="1484449" cy="118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Manajemen Inventaris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5596347" y="1374391"/>
            <a:ext cx="1573516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Peminjaman &amp; pembagian barang. Stok tracking real-time.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5580197" y="2422017"/>
            <a:ext cx="436032" cy="128016"/>
          </a:xfrm>
          <a:prstGeom prst="roundRect">
            <a:avLst>
              <a:gd name="adj" fmla="val 74405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6"/>
          <p:cNvSpPr/>
          <p:nvPr/>
        </p:nvSpPr>
        <p:spPr>
          <a:xfrm>
            <a:off x="5498097" y="2428875"/>
            <a:ext cx="6002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Real-time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7223671" y="900113"/>
            <a:ext cx="1691729" cy="1714500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8626189" y="928688"/>
            <a:ext cx="27816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EC4899">
                    <a:alpha val="1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2025" dirty="0"/>
          </a:p>
        </p:txBody>
      </p:sp>
      <p:sp>
        <p:nvSpPr>
          <p:cNvPr id="54" name="Text 49"/>
          <p:cNvSpPr/>
          <p:nvPr/>
        </p:nvSpPr>
        <p:spPr>
          <a:xfrm>
            <a:off x="7345114" y="971550"/>
            <a:ext cx="148456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endParaRPr lang="en-US" sz="1575" dirty="0"/>
          </a:p>
        </p:txBody>
      </p:sp>
      <p:sp>
        <p:nvSpPr>
          <p:cNvPr id="55" name="Text 50"/>
          <p:cNvSpPr/>
          <p:nvPr/>
        </p:nvSpPr>
        <p:spPr>
          <a:xfrm>
            <a:off x="7345114" y="1228725"/>
            <a:ext cx="1484561" cy="118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Reminder WA</a:t>
            </a:r>
            <a:endParaRPr lang="en-US" sz="800" dirty="0"/>
          </a:p>
        </p:txBody>
      </p:sp>
      <p:sp>
        <p:nvSpPr>
          <p:cNvPr id="56" name="Text 51"/>
          <p:cNvSpPr/>
          <p:nvPr/>
        </p:nvSpPr>
        <p:spPr>
          <a:xfrm>
            <a:off x="7345114" y="1374391"/>
            <a:ext cx="1573634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Progress per petugas: belum 3 dari 5. Copy ke grup WA.</a:t>
            </a:r>
            <a:endParaRPr lang="en-US" sz="800" dirty="0"/>
          </a:p>
        </p:txBody>
      </p:sp>
      <p:sp>
        <p:nvSpPr>
          <p:cNvPr id="57" name="Text 52"/>
          <p:cNvSpPr/>
          <p:nvPr/>
        </p:nvSpPr>
        <p:spPr>
          <a:xfrm>
            <a:off x="7328063" y="2422017"/>
            <a:ext cx="460383" cy="128016"/>
          </a:xfrm>
          <a:prstGeom prst="roundRect">
            <a:avLst>
              <a:gd name="adj" fmla="val 74405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3"/>
          <p:cNvSpPr/>
          <p:nvPr/>
        </p:nvSpPr>
        <p:spPr>
          <a:xfrm>
            <a:off x="7287511" y="2428875"/>
            <a:ext cx="54148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 Group</a:t>
            </a:r>
            <a:endParaRPr lang="en-US" sz="800" dirty="0"/>
          </a:p>
        </p:txBody>
      </p:sp>
      <p:sp>
        <p:nvSpPr>
          <p:cNvPr id="59" name="Text 54"/>
          <p:cNvSpPr/>
          <p:nvPr/>
        </p:nvSpPr>
        <p:spPr>
          <a:xfrm>
            <a:off x="228600" y="2686050"/>
            <a:ext cx="4300538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3" y="2743200"/>
            <a:ext cx="4129088" cy="778669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335756" y="2750344"/>
            <a:ext cx="4114800" cy="764381"/>
          </a:xfrm>
          <a:prstGeom prst="roundRect">
            <a:avLst>
              <a:gd name="adj" fmla="val 9969"/>
            </a:avLst>
          </a:prstGeom>
          <a:noFill/>
          <a:ln w="14288">
            <a:solidFill>
              <a:srgbClr val="DDDDD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2" name="Image 4" descr="/tmp/h2p-fit-1791105370286-qers8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1133" y="2757488"/>
            <a:ext cx="1663936" cy="749982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328613" y="3550444"/>
            <a:ext cx="42388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Statistik &amp; Progress — Reminder WA</a:t>
            </a:r>
            <a:endParaRPr lang="en-US" sz="800" dirty="0"/>
          </a:p>
        </p:txBody>
      </p:sp>
      <p:sp>
        <p:nvSpPr>
          <p:cNvPr id="64" name="Text 57"/>
          <p:cNvSpPr/>
          <p:nvPr/>
        </p:nvSpPr>
        <p:spPr>
          <a:xfrm>
            <a:off x="4614863" y="2686050"/>
            <a:ext cx="4300538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2743200"/>
            <a:ext cx="4129088" cy="778669"/>
          </a:xfrm>
          <a:prstGeom prst="rect">
            <a:avLst/>
          </a:prstGeom>
        </p:spPr>
      </p:pic>
      <p:sp>
        <p:nvSpPr>
          <p:cNvPr id="66" name="Text 58"/>
          <p:cNvSpPr/>
          <p:nvPr/>
        </p:nvSpPr>
        <p:spPr>
          <a:xfrm>
            <a:off x="4722019" y="2750344"/>
            <a:ext cx="4114800" cy="764381"/>
          </a:xfrm>
          <a:prstGeom prst="roundRect">
            <a:avLst>
              <a:gd name="adj" fmla="val 9969"/>
            </a:avLst>
          </a:prstGeom>
          <a:noFill/>
          <a:ln w="14288">
            <a:solidFill>
              <a:srgbClr val="DDDDD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7" name="Image 6" descr="/tmp/h2p-fit-1791105370297-qa7qc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7395" y="2757488"/>
            <a:ext cx="1663936" cy="749982"/>
          </a:xfrm>
          <a:prstGeom prst="rect">
            <a:avLst/>
          </a:prstGeom>
        </p:spPr>
      </p:pic>
      <p:sp>
        <p:nvSpPr>
          <p:cNvPr id="68" name="Text 59"/>
          <p:cNvSpPr/>
          <p:nvPr/>
        </p:nvSpPr>
        <p:spPr>
          <a:xfrm>
            <a:off x="4714875" y="3550444"/>
            <a:ext cx="41290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Manajemen Inventaris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714375"/>
            <a:ext cx="1714500" cy="1714500"/>
          </a:xfrm>
          <a:prstGeom prst="ellipse">
            <a:avLst/>
          </a:prstGeom>
          <a:solidFill>
            <a:srgbClr val="14B8A6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43875" y="2857500"/>
            <a:ext cx="1428750" cy="1428750"/>
          </a:xfrm>
          <a:prstGeom prst="ellipse">
            <a:avLst/>
          </a:prstGeom>
          <a:solidFill>
            <a:srgbClr val="D4AF37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786313"/>
            <a:ext cx="9144000" cy="3571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793456"/>
            <a:ext cx="9144000" cy="0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30214" y="4922044"/>
            <a:ext cx="6083461" cy="100013"/>
          </a:xfrm>
          <a:prstGeom prst="rect">
            <a:avLst/>
          </a:prstGeom>
          <a:noFill/>
          <a:ln/>
        </p:spPr>
        <p:txBody>
          <a:bodyPr wrap="square" lIns="171450" tIns="85725" rIns="171450" bIns="8572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dengan role khusus + folder untuk filter distribusi + LIHUM gallery publik. Taktik penyebaran pesan 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575710" y="4922044"/>
            <a:ext cx="59748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14+ saluran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3169495" y="4922044"/>
            <a:ext cx="87720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PUBLIC/PRIVATE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6726845" y="4922044"/>
            <a:ext cx="958825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terstruktur &amp; aman</a:t>
            </a:r>
            <a:endParaRPr lang="en-US" sz="675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0025"/>
            <a:ext cx="8686800" cy="45720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271463"/>
            <a:ext cx="314325" cy="3143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2191" y="282178"/>
            <a:ext cx="292894" cy="292894"/>
          </a:xfrm>
          <a:prstGeom prst="ellipse">
            <a:avLst/>
          </a:prstGeom>
          <a:solidFill>
            <a:srgbClr val="D4AF37"/>
          </a:solidFill>
          <a:ln w="21431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371475" y="271463"/>
            <a:ext cx="36433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785813" y="335756"/>
            <a:ext cx="7986713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spc="28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📡</a:t>
            </a:r>
            <a:pPr algn="l" indent="0" marL="0">
              <a:buNone/>
            </a:pPr>
            <a:r>
              <a:rPr lang="en-US" sz="1238" b="1" spc="28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Taktik &amp; Saluran</a:t>
            </a:r>
            <a:endParaRPr lang="en-US" sz="1238" dirty="0"/>
          </a:p>
        </p:txBody>
      </p:sp>
      <p:sp>
        <p:nvSpPr>
          <p:cNvPr id="15" name="Text 10"/>
          <p:cNvSpPr/>
          <p:nvPr/>
        </p:nvSpPr>
        <p:spPr>
          <a:xfrm>
            <a:off x="8072326" y="308667"/>
            <a:ext cx="700199" cy="239916"/>
          </a:xfrm>
          <a:prstGeom prst="roundRect">
            <a:avLst>
              <a:gd name="adj" fmla="val 79403"/>
            </a:avLst>
          </a:prstGeom>
          <a:solidFill>
            <a:srgbClr val="D4AF37"/>
          </a:solidFill>
          <a:ln w="14288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8072326" y="321469"/>
            <a:ext cx="70019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 Bobot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228600" y="728663"/>
            <a:ext cx="8636000" cy="128016"/>
          </a:xfrm>
          <a:prstGeom prst="rect">
            <a:avLst/>
          </a:prstGeom>
          <a:noFill/>
          <a:ln/>
        </p:spPr>
        <p:txBody>
          <a:bodyPr wrap="square" lIns="42863" tIns="0" rIns="42863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38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14+ saluran publikasi terintegrasi dengan role khusus per saluran dan filter distribusi konten.</a:t>
            </a:r>
            <a:endParaRPr lang="en-US" sz="8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900113"/>
            <a:ext cx="4777718" cy="4714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35744" y="907256"/>
            <a:ext cx="4763430" cy="457200"/>
          </a:xfrm>
          <a:prstGeom prst="roundRect">
            <a:avLst>
              <a:gd name="adj" fmla="val 25000"/>
            </a:avLst>
          </a:prstGeom>
          <a:noFill/>
          <a:ln w="14288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342900" y="985838"/>
            <a:ext cx="814388" cy="300038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19050" dir="5400000">
              <a:srgbClr val="D4AF37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14+</a:t>
            </a:r>
            <a:endParaRPr lang="en-US" sz="2363" dirty="0"/>
          </a:p>
        </p:txBody>
      </p:sp>
      <p:sp>
        <p:nvSpPr>
          <p:cNvPr id="21" name="Text 15"/>
          <p:cNvSpPr/>
          <p:nvPr/>
        </p:nvSpPr>
        <p:spPr>
          <a:xfrm>
            <a:off x="937617" y="1046559"/>
            <a:ext cx="1019087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Saluran Publikasi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937617" y="1146572"/>
            <a:ext cx="869528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Terintegrasi dalam 1 sistem</a:t>
            </a:r>
            <a:endParaRPr lang="en-US" sz="600" dirty="0"/>
          </a:p>
        </p:txBody>
      </p:sp>
      <p:sp>
        <p:nvSpPr>
          <p:cNvPr id="23" name="Text 17"/>
          <p:cNvSpPr/>
          <p:nvPr/>
        </p:nvSpPr>
        <p:spPr>
          <a:xfrm>
            <a:off x="232172" y="1432322"/>
            <a:ext cx="4770574" cy="1628775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7144">
            <a:solidFill>
              <a:srgbClr val="E5DFF5"/>
            </a:solidFill>
            <a:prstDash val="solid"/>
          </a:ln>
          <a:effectLst>
            <a:outerShdw sx="100000" sy="100000" kx="0" ky="0" algn="bl" rotWithShape="0" blurRad="95250" dist="28575" dir="5400000">
              <a:srgbClr val="4C2A85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307181" y="1507331"/>
            <a:ext cx="462055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Daftar Saluran</a:t>
            </a:r>
            <a:endParaRPr lang="en-US" sz="8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181" y="1643063"/>
            <a:ext cx="2295934" cy="2000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10753" y="1646634"/>
            <a:ext cx="2288791" cy="192881"/>
          </a:xfrm>
          <a:prstGeom prst="roundRect">
            <a:avLst>
              <a:gd name="adj" fmla="val 39506"/>
            </a:avLst>
          </a:prstGeom>
          <a:noFill/>
          <a:ln w="7144">
            <a:solidFill>
              <a:srgbClr val="E5DF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498595" y="1700213"/>
            <a:ext cx="374298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Website</a:t>
            </a:r>
            <a:endParaRPr lang="en-US" sz="619" dirty="0"/>
          </a:p>
        </p:txBody>
      </p:sp>
      <p:sp>
        <p:nvSpPr>
          <p:cNvPr id="28" name="Text 21"/>
          <p:cNvSpPr/>
          <p:nvPr/>
        </p:nvSpPr>
        <p:spPr>
          <a:xfrm>
            <a:off x="371475" y="1685925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endParaRPr lang="en-US" sz="8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1691" y="1643063"/>
            <a:ext cx="2296046" cy="20002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635262" y="1646634"/>
            <a:ext cx="2288902" cy="192881"/>
          </a:xfrm>
          <a:prstGeom prst="roundRect">
            <a:avLst>
              <a:gd name="adj" fmla="val 39506"/>
            </a:avLst>
          </a:prstGeom>
          <a:noFill/>
          <a:ln w="7144">
            <a:solidFill>
              <a:srgbClr val="E5DF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2812726" y="1700213"/>
            <a:ext cx="470733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Instagram</a:t>
            </a:r>
            <a:endParaRPr lang="en-US" sz="619" dirty="0"/>
          </a:p>
        </p:txBody>
      </p:sp>
      <p:sp>
        <p:nvSpPr>
          <p:cNvPr id="32" name="Text 24"/>
          <p:cNvSpPr/>
          <p:nvPr/>
        </p:nvSpPr>
        <p:spPr>
          <a:xfrm>
            <a:off x="2695984" y="1685925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📱</a:t>
            </a:r>
            <a:endParaRPr lang="en-US" sz="8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181" y="1871663"/>
            <a:ext cx="2295934" cy="20002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10753" y="1875234"/>
            <a:ext cx="2288791" cy="192881"/>
          </a:xfrm>
          <a:prstGeom prst="roundRect">
            <a:avLst>
              <a:gd name="adj" fmla="val 39506"/>
            </a:avLst>
          </a:prstGeom>
          <a:noFill/>
          <a:ln w="7144">
            <a:solidFill>
              <a:srgbClr val="E5DF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6"/>
          <p:cNvSpPr/>
          <p:nvPr/>
        </p:nvSpPr>
        <p:spPr>
          <a:xfrm>
            <a:off x="507973" y="1928813"/>
            <a:ext cx="422516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Facebook</a:t>
            </a:r>
            <a:endParaRPr lang="en-US" sz="619" dirty="0"/>
          </a:p>
        </p:txBody>
      </p:sp>
      <p:sp>
        <p:nvSpPr>
          <p:cNvPr id="36" name="Text 27"/>
          <p:cNvSpPr/>
          <p:nvPr/>
        </p:nvSpPr>
        <p:spPr>
          <a:xfrm>
            <a:off x="371475" y="1914525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📘</a:t>
            </a:r>
            <a:endParaRPr lang="en-US" sz="8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1691" y="1871663"/>
            <a:ext cx="2296046" cy="20002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2635262" y="1875234"/>
            <a:ext cx="2288902" cy="192881"/>
          </a:xfrm>
          <a:prstGeom prst="roundRect">
            <a:avLst>
              <a:gd name="adj" fmla="val 39506"/>
            </a:avLst>
          </a:prstGeom>
          <a:noFill/>
          <a:ln w="7144">
            <a:solidFill>
              <a:srgbClr val="E5DF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29"/>
          <p:cNvSpPr/>
          <p:nvPr/>
        </p:nvSpPr>
        <p:spPr>
          <a:xfrm>
            <a:off x="2786556" y="1928813"/>
            <a:ext cx="473515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Twitter/X</a:t>
            </a:r>
            <a:endParaRPr lang="en-US" sz="619" dirty="0"/>
          </a:p>
        </p:txBody>
      </p:sp>
      <p:sp>
        <p:nvSpPr>
          <p:cNvPr id="40" name="Text 30"/>
          <p:cNvSpPr/>
          <p:nvPr/>
        </p:nvSpPr>
        <p:spPr>
          <a:xfrm>
            <a:off x="2695984" y="1914525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🐦</a:t>
            </a:r>
            <a:endParaRPr lang="en-US" sz="8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181" y="2100263"/>
            <a:ext cx="2295934" cy="200025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310753" y="2103834"/>
            <a:ext cx="2288791" cy="192881"/>
          </a:xfrm>
          <a:prstGeom prst="roundRect">
            <a:avLst>
              <a:gd name="adj" fmla="val 39506"/>
            </a:avLst>
          </a:prstGeom>
          <a:noFill/>
          <a:ln w="7144">
            <a:solidFill>
              <a:srgbClr val="E5DF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2"/>
          <p:cNvSpPr/>
          <p:nvPr/>
        </p:nvSpPr>
        <p:spPr>
          <a:xfrm>
            <a:off x="506237" y="2157413"/>
            <a:ext cx="38357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YouTube</a:t>
            </a:r>
            <a:endParaRPr lang="en-US" sz="619" dirty="0"/>
          </a:p>
        </p:txBody>
      </p:sp>
      <p:sp>
        <p:nvSpPr>
          <p:cNvPr id="44" name="Text 33"/>
          <p:cNvSpPr/>
          <p:nvPr/>
        </p:nvSpPr>
        <p:spPr>
          <a:xfrm>
            <a:off x="371475" y="2143125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▶️</a:t>
            </a:r>
            <a:endParaRPr lang="en-US" sz="80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1691" y="2100263"/>
            <a:ext cx="2296046" cy="200025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2635262" y="2103834"/>
            <a:ext cx="2288902" cy="192881"/>
          </a:xfrm>
          <a:prstGeom prst="roundRect">
            <a:avLst>
              <a:gd name="adj" fmla="val 39506"/>
            </a:avLst>
          </a:prstGeom>
          <a:noFill/>
          <a:ln w="7144">
            <a:solidFill>
              <a:srgbClr val="E5DF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5"/>
          <p:cNvSpPr/>
          <p:nvPr/>
        </p:nvSpPr>
        <p:spPr>
          <a:xfrm>
            <a:off x="2815620" y="2157413"/>
            <a:ext cx="335353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TikTok</a:t>
            </a:r>
            <a:endParaRPr lang="en-US" sz="619" dirty="0"/>
          </a:p>
        </p:txBody>
      </p:sp>
      <p:sp>
        <p:nvSpPr>
          <p:cNvPr id="48" name="Text 36"/>
          <p:cNvSpPr/>
          <p:nvPr/>
        </p:nvSpPr>
        <p:spPr>
          <a:xfrm>
            <a:off x="2695984" y="2143125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🎵</a:t>
            </a:r>
            <a:endParaRPr lang="en-US" sz="800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7181" y="2328863"/>
            <a:ext cx="2295934" cy="200025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310753" y="2332434"/>
            <a:ext cx="2288791" cy="192881"/>
          </a:xfrm>
          <a:prstGeom prst="roundRect">
            <a:avLst>
              <a:gd name="adj" fmla="val 39506"/>
            </a:avLst>
          </a:prstGeom>
          <a:noFill/>
          <a:ln w="7144">
            <a:solidFill>
              <a:srgbClr val="E5DF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38"/>
          <p:cNvSpPr/>
          <p:nvPr/>
        </p:nvSpPr>
        <p:spPr>
          <a:xfrm>
            <a:off x="481459" y="2386013"/>
            <a:ext cx="431788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LinkedIn</a:t>
            </a:r>
            <a:endParaRPr lang="en-US" sz="619" dirty="0"/>
          </a:p>
        </p:txBody>
      </p:sp>
      <p:sp>
        <p:nvSpPr>
          <p:cNvPr id="52" name="Text 39"/>
          <p:cNvSpPr/>
          <p:nvPr/>
        </p:nvSpPr>
        <p:spPr>
          <a:xfrm>
            <a:off x="371475" y="2371725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💼</a:t>
            </a:r>
            <a:endParaRPr lang="en-US" sz="800" dirty="0"/>
          </a:p>
        </p:txBody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31691" y="2328863"/>
            <a:ext cx="2296046" cy="200025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2635262" y="2332434"/>
            <a:ext cx="2288902" cy="192881"/>
          </a:xfrm>
          <a:prstGeom prst="roundRect">
            <a:avLst>
              <a:gd name="adj" fmla="val 39506"/>
            </a:avLst>
          </a:prstGeom>
          <a:noFill/>
          <a:ln w="7144">
            <a:solidFill>
              <a:srgbClr val="E5DF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1"/>
          <p:cNvSpPr/>
          <p:nvPr/>
        </p:nvSpPr>
        <p:spPr>
          <a:xfrm>
            <a:off x="2799557" y="2386013"/>
            <a:ext cx="51895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Newsletter</a:t>
            </a:r>
            <a:endParaRPr lang="en-US" sz="619" dirty="0"/>
          </a:p>
        </p:txBody>
      </p:sp>
      <p:sp>
        <p:nvSpPr>
          <p:cNvPr id="56" name="Text 42"/>
          <p:cNvSpPr/>
          <p:nvPr/>
        </p:nvSpPr>
        <p:spPr>
          <a:xfrm>
            <a:off x="2695984" y="2371725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📧</a:t>
            </a:r>
            <a:endParaRPr lang="en-US" sz="800" dirty="0"/>
          </a:p>
        </p:txBody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7181" y="2557463"/>
            <a:ext cx="2295934" cy="200025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310753" y="2561034"/>
            <a:ext cx="2288791" cy="192881"/>
          </a:xfrm>
          <a:prstGeom prst="roundRect">
            <a:avLst>
              <a:gd name="adj" fmla="val 39506"/>
            </a:avLst>
          </a:prstGeom>
          <a:noFill/>
          <a:ln w="7144">
            <a:solidFill>
              <a:srgbClr val="E5DF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44"/>
          <p:cNvSpPr/>
          <p:nvPr/>
        </p:nvSpPr>
        <p:spPr>
          <a:xfrm>
            <a:off x="444149" y="2614613"/>
            <a:ext cx="65062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Portal Berita</a:t>
            </a:r>
            <a:endParaRPr lang="en-US" sz="619" dirty="0"/>
          </a:p>
        </p:txBody>
      </p:sp>
      <p:sp>
        <p:nvSpPr>
          <p:cNvPr id="60" name="Text 45"/>
          <p:cNvSpPr/>
          <p:nvPr/>
        </p:nvSpPr>
        <p:spPr>
          <a:xfrm>
            <a:off x="371475" y="2600325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📰</a:t>
            </a:r>
            <a:endParaRPr lang="en-US" sz="800" dirty="0"/>
          </a:p>
        </p:txBody>
      </p:sp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31691" y="2557463"/>
            <a:ext cx="2296046" cy="200025"/>
          </a:xfrm>
          <a:prstGeom prst="rect">
            <a:avLst/>
          </a:prstGeom>
        </p:spPr>
      </p:pic>
      <p:sp>
        <p:nvSpPr>
          <p:cNvPr id="62" name="Text 46"/>
          <p:cNvSpPr/>
          <p:nvPr/>
        </p:nvSpPr>
        <p:spPr>
          <a:xfrm>
            <a:off x="2635262" y="2561034"/>
            <a:ext cx="2288902" cy="192881"/>
          </a:xfrm>
          <a:prstGeom prst="roundRect">
            <a:avLst>
              <a:gd name="adj" fmla="val 39506"/>
            </a:avLst>
          </a:prstGeom>
          <a:noFill/>
          <a:ln w="7144">
            <a:solidFill>
              <a:srgbClr val="E5DF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47"/>
          <p:cNvSpPr/>
          <p:nvPr/>
        </p:nvSpPr>
        <p:spPr>
          <a:xfrm>
            <a:off x="2826007" y="2614613"/>
            <a:ext cx="374298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Podcast</a:t>
            </a:r>
            <a:endParaRPr lang="en-US" sz="619" dirty="0"/>
          </a:p>
        </p:txBody>
      </p:sp>
      <p:sp>
        <p:nvSpPr>
          <p:cNvPr id="64" name="Text 48"/>
          <p:cNvSpPr/>
          <p:nvPr/>
        </p:nvSpPr>
        <p:spPr>
          <a:xfrm>
            <a:off x="2695984" y="2600325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🎧</a:t>
            </a:r>
            <a:endParaRPr lang="en-US" sz="800" dirty="0"/>
          </a:p>
        </p:txBody>
      </p:sp>
      <p:pic>
        <p:nvPicPr>
          <p:cNvPr id="6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7181" y="2786063"/>
            <a:ext cx="2295934" cy="200025"/>
          </a:xfrm>
          <a:prstGeom prst="rect">
            <a:avLst/>
          </a:prstGeom>
        </p:spPr>
      </p:pic>
      <p:sp>
        <p:nvSpPr>
          <p:cNvPr id="66" name="Text 49"/>
          <p:cNvSpPr/>
          <p:nvPr/>
        </p:nvSpPr>
        <p:spPr>
          <a:xfrm>
            <a:off x="310753" y="2789634"/>
            <a:ext cx="2288791" cy="192881"/>
          </a:xfrm>
          <a:prstGeom prst="roundRect">
            <a:avLst>
              <a:gd name="adj" fmla="val 39506"/>
            </a:avLst>
          </a:prstGeom>
          <a:noFill/>
          <a:ln w="7144">
            <a:solidFill>
              <a:srgbClr val="E5DF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50"/>
          <p:cNvSpPr/>
          <p:nvPr/>
        </p:nvSpPr>
        <p:spPr>
          <a:xfrm>
            <a:off x="492570" y="2843213"/>
            <a:ext cx="470733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Streaming</a:t>
            </a:r>
            <a:endParaRPr lang="en-US" sz="619" dirty="0"/>
          </a:p>
        </p:txBody>
      </p:sp>
      <p:sp>
        <p:nvSpPr>
          <p:cNvPr id="68" name="Text 51"/>
          <p:cNvSpPr/>
          <p:nvPr/>
        </p:nvSpPr>
        <p:spPr>
          <a:xfrm>
            <a:off x="371475" y="2828925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📺</a:t>
            </a:r>
            <a:endParaRPr lang="en-US" sz="800" dirty="0"/>
          </a:p>
        </p:txBody>
      </p:sp>
      <p:pic>
        <p:nvPicPr>
          <p:cNvPr id="6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31691" y="2786063"/>
            <a:ext cx="2296046" cy="200025"/>
          </a:xfrm>
          <a:prstGeom prst="rect">
            <a:avLst/>
          </a:prstGeom>
        </p:spPr>
      </p:pic>
      <p:sp>
        <p:nvSpPr>
          <p:cNvPr id="70" name="Text 52"/>
          <p:cNvSpPr/>
          <p:nvPr/>
        </p:nvSpPr>
        <p:spPr>
          <a:xfrm>
            <a:off x="2635262" y="2789634"/>
            <a:ext cx="2288902" cy="192881"/>
          </a:xfrm>
          <a:prstGeom prst="roundRect">
            <a:avLst>
              <a:gd name="adj" fmla="val 39506"/>
            </a:avLst>
          </a:prstGeom>
          <a:noFill/>
          <a:ln w="7144">
            <a:solidFill>
              <a:srgbClr val="E5DFF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53"/>
          <p:cNvSpPr/>
          <p:nvPr/>
        </p:nvSpPr>
        <p:spPr>
          <a:xfrm>
            <a:off x="2821653" y="2843213"/>
            <a:ext cx="374298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Lainnya</a:t>
            </a:r>
            <a:endParaRPr lang="en-US" sz="619" dirty="0"/>
          </a:p>
        </p:txBody>
      </p:sp>
      <p:sp>
        <p:nvSpPr>
          <p:cNvPr id="72" name="Text 54"/>
          <p:cNvSpPr/>
          <p:nvPr/>
        </p:nvSpPr>
        <p:spPr>
          <a:xfrm>
            <a:off x="2695984" y="2828925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endParaRPr lang="en-US" sz="800" dirty="0"/>
          </a:p>
        </p:txBody>
      </p:sp>
      <p:pic>
        <p:nvPicPr>
          <p:cNvPr id="7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8600" y="3121819"/>
            <a:ext cx="4777718" cy="528638"/>
          </a:xfrm>
          <a:prstGeom prst="rect">
            <a:avLst/>
          </a:prstGeom>
        </p:spPr>
      </p:pic>
      <p:sp>
        <p:nvSpPr>
          <p:cNvPr id="74" name="Text 55"/>
          <p:cNvSpPr/>
          <p:nvPr/>
        </p:nvSpPr>
        <p:spPr>
          <a:xfrm>
            <a:off x="235744" y="3128963"/>
            <a:ext cx="4763430" cy="514350"/>
          </a:xfrm>
          <a:prstGeom prst="roundRect">
            <a:avLst>
              <a:gd name="adj" fmla="val 18519"/>
            </a:avLst>
          </a:prstGeom>
          <a:noFill/>
          <a:ln w="14288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4B8A6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56"/>
          <p:cNvSpPr/>
          <p:nvPr/>
        </p:nvSpPr>
        <p:spPr>
          <a:xfrm>
            <a:off x="328613" y="3207544"/>
            <a:ext cx="457769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Role Khusus per Saluran</a:t>
            </a:r>
            <a:endParaRPr lang="en-US" sz="800" dirty="0"/>
          </a:p>
        </p:txBody>
      </p:sp>
      <p:sp>
        <p:nvSpPr>
          <p:cNvPr id="76" name="Text 57"/>
          <p:cNvSpPr/>
          <p:nvPr/>
        </p:nvSpPr>
        <p:spPr>
          <a:xfrm>
            <a:off x="328613" y="3328988"/>
            <a:ext cx="4577693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E08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Publisher Web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→ 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| </a:t>
            </a:r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E08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Publisher Sosmed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→ 📱</a:t>
            </a:r>
            <a:endParaRPr lang="en-US" sz="800" dirty="0"/>
          </a:p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E08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Streaming Operator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→ 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📺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| </a:t>
            </a:r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E08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Podcast Operator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→ 🎧</a:t>
            </a:r>
            <a:endParaRPr lang="en-US" sz="800" dirty="0"/>
          </a:p>
        </p:txBody>
      </p:sp>
      <p:sp>
        <p:nvSpPr>
          <p:cNvPr id="77" name="Text 58"/>
          <p:cNvSpPr/>
          <p:nvPr/>
        </p:nvSpPr>
        <p:spPr>
          <a:xfrm>
            <a:off x="5131333" y="910828"/>
            <a:ext cx="3887539" cy="3793331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21431">
            <a:solidFill>
              <a:srgbClr val="D4AF37"/>
            </a:solidFill>
            <a:prstDash val="solid"/>
          </a:ln>
          <a:effectLst>
            <a:outerShdw sx="100000" sy="100000" kx="0" ky="0" algn="bl" rotWithShape="0" blurRad="228600" dist="50800" dir="16200000">
              <a:srgbClr val="D4AF37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37759" y="1007269"/>
            <a:ext cx="1074576" cy="164306"/>
          </a:xfrm>
          <a:prstGeom prst="rect">
            <a:avLst/>
          </a:prstGeom>
        </p:spPr>
      </p:pic>
      <p:sp>
        <p:nvSpPr>
          <p:cNvPr id="79" name="Text 59"/>
          <p:cNvSpPr/>
          <p:nvPr/>
        </p:nvSpPr>
        <p:spPr>
          <a:xfrm>
            <a:off x="6514899" y="997410"/>
            <a:ext cx="1120296" cy="184023"/>
          </a:xfrm>
          <a:prstGeom prst="roundRect">
            <a:avLst>
              <a:gd name="adj" fmla="val 62112"/>
            </a:avLst>
          </a:prstGeom>
          <a:noFill/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57150" dist="19050" dir="5400000">
              <a:srgbClr val="D4AF37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60"/>
          <p:cNvSpPr/>
          <p:nvPr/>
        </p:nvSpPr>
        <p:spPr>
          <a:xfrm>
            <a:off x="6537759" y="1007269"/>
            <a:ext cx="10745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INOVASI INTEGRASI</a:t>
            </a:r>
            <a:endParaRPr lang="en-US" sz="800" dirty="0"/>
          </a:p>
        </p:txBody>
      </p:sp>
      <p:sp>
        <p:nvSpPr>
          <p:cNvPr id="81" name="Text 61"/>
          <p:cNvSpPr/>
          <p:nvPr/>
        </p:nvSpPr>
        <p:spPr>
          <a:xfrm>
            <a:off x="5227774" y="1228725"/>
            <a:ext cx="369465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Integrasi LIHUM</a:t>
            </a:r>
            <a:endParaRPr lang="en-US" sz="800" dirty="0"/>
          </a:p>
        </p:txBody>
      </p:sp>
      <p:sp>
        <p:nvSpPr>
          <p:cNvPr id="82" name="Text 62"/>
          <p:cNvSpPr/>
          <p:nvPr/>
        </p:nvSpPr>
        <p:spPr>
          <a:xfrm>
            <a:off x="5227774" y="1400175"/>
            <a:ext cx="369465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Folder </a:t>
            </a:r>
            <a:pPr algn="ctr" indent="0" marL="0">
              <a:lnSpc>
                <a:spcPts val="816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</a:t>
            </a:r>
            <a:pPr algn="ctr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→ gallery publik. Folder </a:t>
            </a:r>
            <a:pPr algn="ctr" indent="0" marL="0">
              <a:lnSpc>
                <a:spcPts val="816"/>
              </a:lnSpc>
              <a:buNone/>
            </a:pPr>
            <a:r>
              <a:rPr lang="en-US" sz="800" b="1" dirty="0">
                <a:solidFill>
                  <a:srgbClr val="DC262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PRIVATE</a:t>
            </a:r>
            <a:pPr algn="ctr" indent="0" marL="0">
              <a:lnSpc>
                <a:spcPts val="81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→ tetap aman.</a:t>
            </a:r>
            <a:endParaRPr lang="en-US" sz="800" dirty="0"/>
          </a:p>
        </p:txBody>
      </p:sp>
      <p:pic>
        <p:nvPicPr>
          <p:cNvPr id="8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27774" y="1560909"/>
            <a:ext cx="3694658" cy="2718197"/>
          </a:xfrm>
          <a:prstGeom prst="rect">
            <a:avLst/>
          </a:prstGeom>
        </p:spPr>
      </p:pic>
      <p:sp>
        <p:nvSpPr>
          <p:cNvPr id="84" name="Text 63"/>
          <p:cNvSpPr/>
          <p:nvPr/>
        </p:nvSpPr>
        <p:spPr>
          <a:xfrm>
            <a:off x="5234918" y="1568053"/>
            <a:ext cx="3680371" cy="2703909"/>
          </a:xfrm>
          <a:prstGeom prst="roundRect">
            <a:avLst>
              <a:gd name="adj" fmla="val 3523"/>
            </a:avLst>
          </a:prstGeom>
          <a:noFill/>
          <a:ln w="14288">
            <a:solidFill>
              <a:srgbClr val="DDDDD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5" name="Image 19" descr="/tmp/h2p-fit-1791105370834-560581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42061" y="1888964"/>
            <a:ext cx="3666083" cy="2062088"/>
          </a:xfrm>
          <a:prstGeom prst="rect">
            <a:avLst/>
          </a:prstGeom>
        </p:spPr>
      </p:pic>
      <p:sp>
        <p:nvSpPr>
          <p:cNvPr id="86" name="Text 64"/>
          <p:cNvSpPr/>
          <p:nvPr/>
        </p:nvSpPr>
        <p:spPr>
          <a:xfrm>
            <a:off x="5227774" y="4336256"/>
            <a:ext cx="3804386" cy="10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ctr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lihum.synclicen.workers.dev</a:t>
            </a:r>
            <a:endParaRPr lang="en-US" sz="800" dirty="0"/>
          </a:p>
        </p:txBody>
      </p:sp>
      <p:sp>
        <p:nvSpPr>
          <p:cNvPr id="87" name="Text 65"/>
          <p:cNvSpPr/>
          <p:nvPr/>
        </p:nvSpPr>
        <p:spPr>
          <a:xfrm>
            <a:off x="6103888" y="4463844"/>
            <a:ext cx="966974" cy="152019"/>
          </a:xfrm>
          <a:prstGeom prst="roundRect">
            <a:avLst>
              <a:gd name="adj" fmla="val 75188"/>
            </a:avLst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66"/>
          <p:cNvSpPr/>
          <p:nvPr/>
        </p:nvSpPr>
        <p:spPr>
          <a:xfrm>
            <a:off x="6103888" y="4471988"/>
            <a:ext cx="9669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🟢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PUBLIC — Dibagikan</a:t>
            </a:r>
            <a:endParaRPr lang="en-US" sz="800" dirty="0"/>
          </a:p>
        </p:txBody>
      </p:sp>
      <p:sp>
        <p:nvSpPr>
          <p:cNvPr id="89" name="Text 67"/>
          <p:cNvSpPr/>
          <p:nvPr/>
        </p:nvSpPr>
        <p:spPr>
          <a:xfrm>
            <a:off x="7113724" y="4463844"/>
            <a:ext cx="932594" cy="152019"/>
          </a:xfrm>
          <a:prstGeom prst="roundRect">
            <a:avLst>
              <a:gd name="adj" fmla="val 75188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68"/>
          <p:cNvSpPr/>
          <p:nvPr/>
        </p:nvSpPr>
        <p:spPr>
          <a:xfrm>
            <a:off x="7113724" y="4471988"/>
            <a:ext cx="9325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🔴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PRIVATE — Rahasia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8600"/>
            <a:ext cx="8686800" cy="5429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3" y="300038"/>
            <a:ext cx="400050" cy="4000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96478" y="310753"/>
            <a:ext cx="378619" cy="378619"/>
          </a:xfrm>
          <a:prstGeom prst="ellipse">
            <a:avLst/>
          </a:prstGeom>
          <a:noFill/>
          <a:ln w="21431">
            <a:solidFill>
              <a:srgbClr val="FFE9A8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385763" y="300038"/>
            <a:ext cx="4572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1238" dirty="0"/>
          </a:p>
        </p:txBody>
      </p:sp>
      <p:sp>
        <p:nvSpPr>
          <p:cNvPr id="8" name="Text 2"/>
          <p:cNvSpPr/>
          <p:nvPr/>
        </p:nvSpPr>
        <p:spPr>
          <a:xfrm>
            <a:off x="900113" y="389334"/>
            <a:ext cx="7858125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63" b="1" spc="28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pPr algn="l" indent="0" marL="0">
              <a:buNone/>
            </a:pPr>
            <a:r>
              <a:rPr lang="en-US" sz="1463" b="1" spc="28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Key Messages</a:t>
            </a:r>
            <a:endParaRPr lang="en-US" sz="1463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1203" y="375047"/>
            <a:ext cx="737034" cy="250031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7998343" y="362245"/>
            <a:ext cx="782754" cy="275634"/>
          </a:xfrm>
          <a:prstGeom prst="roundRect">
            <a:avLst>
              <a:gd name="adj" fmla="val 3452214"/>
            </a:avLst>
          </a:prstGeom>
          <a:noFill/>
          <a:ln w="14288">
            <a:solidFill>
              <a:srgbClr val="FFE9A8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4"/>
          <p:cNvSpPr/>
          <p:nvPr/>
        </p:nvSpPr>
        <p:spPr>
          <a:xfrm>
            <a:off x="8021203" y="375047"/>
            <a:ext cx="737034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 Bobot</a:t>
            </a:r>
            <a:endParaRPr lang="en-US" sz="800" dirty="0"/>
          </a:p>
        </p:txBody>
      </p:sp>
      <p:sp>
        <p:nvSpPr>
          <p:cNvPr id="12" name="Text 5"/>
          <p:cNvSpPr/>
          <p:nvPr/>
        </p:nvSpPr>
        <p:spPr>
          <a:xfrm>
            <a:off x="228600" y="871538"/>
            <a:ext cx="8636000" cy="153514"/>
          </a:xfrm>
          <a:prstGeom prst="rect">
            <a:avLst/>
          </a:prstGeom>
          <a:noFill/>
          <a:ln/>
        </p:spPr>
        <p:txBody>
          <a:bodyPr wrap="square" lIns="42863" tIns="0" rIns="42863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i="1" dirty="0">
                <a:solidFill>
                  <a:srgbClr val="6B5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📌</a:t>
            </a:r>
            <a:pPr algn="l" indent="0" marL="0">
              <a:lnSpc>
                <a:spcPts val="1024"/>
              </a:lnSpc>
              <a:buNone/>
            </a:pPr>
            <a:r>
              <a:rPr lang="en-US" sz="800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Pesan kunci dikomunikasikan ke tim melalui </a:t>
            </a:r>
            <a:pPr algn="l" indent="0" marL="0">
              <a:lnSpc>
                <a:spcPts val="1024"/>
              </a:lnSpc>
              <a:buNone/>
            </a:pPr>
            <a:r>
              <a:rPr lang="en-US" sz="800" i="1" dirty="0">
                <a:solidFill>
                  <a:srgbClr val="6B5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1024"/>
              </a:lnSpc>
              <a:buNone/>
            </a:pPr>
            <a:r>
              <a:rPr lang="en-US" sz="800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level dokumentasi yang menjadi pedoman kerja.</a:t>
            </a:r>
            <a:endParaRPr lang="en-US" sz="800" dirty="0"/>
          </a:p>
        </p:txBody>
      </p:sp>
      <p:sp>
        <p:nvSpPr>
          <p:cNvPr id="13" name="Text 6"/>
          <p:cNvSpPr/>
          <p:nvPr/>
        </p:nvSpPr>
        <p:spPr>
          <a:xfrm>
            <a:off x="228600" y="1101477"/>
            <a:ext cx="2828925" cy="3388035"/>
          </a:xfrm>
          <a:prstGeom prst="roundRect">
            <a:avLst>
              <a:gd name="adj" fmla="val 4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7"/>
          <p:cNvSpPr/>
          <p:nvPr/>
        </p:nvSpPr>
        <p:spPr>
          <a:xfrm>
            <a:off x="228600" y="1105049"/>
            <a:ext cx="2828925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3053953" y="1101477"/>
            <a:ext cx="0" cy="3388035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228600" y="4485940"/>
            <a:ext cx="2828925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250031" y="1101477"/>
            <a:ext cx="0" cy="3388035"/>
          </a:xfrm>
          <a:prstGeom prst="line">
            <a:avLst/>
          </a:prstGeom>
          <a:noFill/>
          <a:ln w="42863">
            <a:solidFill>
              <a:srgbClr val="4C2A85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763" y="1222921"/>
            <a:ext cx="257175" cy="2571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37198" y="1274356"/>
            <a:ext cx="15430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①</a:t>
            </a:r>
            <a:endParaRPr lang="en-US" sz="1013" dirty="0"/>
          </a:p>
        </p:txBody>
      </p:sp>
      <p:sp>
        <p:nvSpPr>
          <p:cNvPr id="20" name="Text 12"/>
          <p:cNvSpPr/>
          <p:nvPr/>
        </p:nvSpPr>
        <p:spPr>
          <a:xfrm>
            <a:off x="714375" y="1285763"/>
            <a:ext cx="2221706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Project Description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385763" y="1551533"/>
            <a:ext cx="2550319" cy="283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tulis narasi kegiatan. Field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description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= pesan utama yang menjadi pedoman tim.</a:t>
            </a:r>
            <a:endParaRPr lang="en-US" sz="8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763" y="1862956"/>
            <a:ext cx="2550319" cy="437108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396478" y="1862956"/>
            <a:ext cx="0" cy="437108"/>
          </a:xfrm>
          <a:prstGeom prst="line">
            <a:avLst/>
          </a:prstGeom>
          <a:noFill/>
          <a:ln w="21431">
            <a:solidFill>
              <a:srgbClr val="B39AE0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478631" y="2037978"/>
            <a:ext cx="2130177" cy="267774"/>
          </a:xfrm>
          <a:prstGeom prst="rect">
            <a:avLst/>
          </a:prstGeom>
          <a:noFill/>
          <a:ln/>
        </p:spPr>
        <p:txBody>
          <a:bodyPr wrap="square" lIns="71438" tIns="57150" rIns="71438" bIns="5715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i="1" dirty="0">
                <a:solidFill>
                  <a:srgbClr val="5A4A7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Dokumentasi kegiatan Pendampingan APS LAMGAMA untuk publikasi internal dan eksternal</a:t>
            </a:r>
            <a:endParaRPr lang="en-US" sz="800" dirty="0"/>
          </a:p>
        </p:txBody>
      </p:sp>
      <p:sp>
        <p:nvSpPr>
          <p:cNvPr id="25" name="Text 16"/>
          <p:cNvSpPr/>
          <p:nvPr/>
        </p:nvSpPr>
        <p:spPr>
          <a:xfrm>
            <a:off x="478631" y="1920106"/>
            <a:ext cx="2386013" cy="14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CONTOH</a:t>
            </a:r>
            <a:endParaRPr lang="en-US" sz="800" dirty="0"/>
          </a:p>
        </p:txBody>
      </p:sp>
      <p:sp>
        <p:nvSpPr>
          <p:cNvPr id="26" name="Text 17"/>
          <p:cNvSpPr/>
          <p:nvPr/>
        </p:nvSpPr>
        <p:spPr>
          <a:xfrm>
            <a:off x="389334" y="2375074"/>
            <a:ext cx="2543175" cy="1825117"/>
          </a:xfrm>
          <a:prstGeom prst="roundRect">
            <a:avLst>
              <a:gd name="adj" fmla="val 5219"/>
            </a:avLst>
          </a:prstGeom>
          <a:solidFill>
            <a:srgbClr val="E7DBFA"/>
          </a:solidFill>
          <a:ln w="7144">
            <a:solidFill>
              <a:srgbClr val="C5B3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18"/>
          <p:cNvSpPr/>
          <p:nvPr/>
        </p:nvSpPr>
        <p:spPr>
          <a:xfrm>
            <a:off x="385763" y="4289487"/>
            <a:ext cx="255031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Form Buat Proyek</a:t>
            </a:r>
            <a:endParaRPr lang="en-US" sz="800" dirty="0"/>
          </a:p>
        </p:txBody>
      </p:sp>
      <p:sp>
        <p:nvSpPr>
          <p:cNvPr id="28" name="Text 19"/>
          <p:cNvSpPr/>
          <p:nvPr/>
        </p:nvSpPr>
        <p:spPr>
          <a:xfrm>
            <a:off x="3157538" y="1101477"/>
            <a:ext cx="2828925" cy="3388035"/>
          </a:xfrm>
          <a:prstGeom prst="roundRect">
            <a:avLst>
              <a:gd name="adj" fmla="val 4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0"/>
          <p:cNvSpPr/>
          <p:nvPr/>
        </p:nvSpPr>
        <p:spPr>
          <a:xfrm>
            <a:off x="3157538" y="1105049"/>
            <a:ext cx="2828925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5982891" y="1101477"/>
            <a:ext cx="0" cy="3388035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3157538" y="4485940"/>
            <a:ext cx="2828925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3178969" y="1101477"/>
            <a:ext cx="0" cy="3388035"/>
          </a:xfrm>
          <a:prstGeom prst="line">
            <a:avLst/>
          </a:prstGeom>
          <a:noFill/>
          <a:ln w="42863">
            <a:solidFill>
              <a:srgbClr val="D4AF37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4700" y="1222921"/>
            <a:ext cx="257175" cy="25717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366135" y="1274356"/>
            <a:ext cx="15430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②</a:t>
            </a:r>
            <a:endParaRPr lang="en-US" sz="1013" dirty="0"/>
          </a:p>
        </p:txBody>
      </p:sp>
      <p:sp>
        <p:nvSpPr>
          <p:cNvPr id="35" name="Text 25"/>
          <p:cNvSpPr/>
          <p:nvPr/>
        </p:nvSpPr>
        <p:spPr>
          <a:xfrm>
            <a:off x="3643313" y="1285763"/>
            <a:ext cx="2221706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Custom Activity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3314700" y="1551533"/>
            <a:ext cx="2550319" cy="283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Field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customActivity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= konteks pesan + jenis kegiatan yang menjelaskan tujuan komunikasi.</a:t>
            </a:r>
            <a:endParaRPr lang="en-US" sz="8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4700" y="1862956"/>
            <a:ext cx="2550319" cy="33106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3325416" y="1862956"/>
            <a:ext cx="0" cy="331068"/>
          </a:xfrm>
          <a:prstGeom prst="line">
            <a:avLst/>
          </a:prstGeom>
          <a:noFill/>
          <a:ln w="21431">
            <a:solidFill>
              <a:srgbClr val="B39AE0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3407569" y="2037978"/>
            <a:ext cx="1843311" cy="119703"/>
          </a:xfrm>
          <a:prstGeom prst="rect">
            <a:avLst/>
          </a:prstGeom>
          <a:noFill/>
          <a:ln/>
        </p:spPr>
        <p:txBody>
          <a:bodyPr wrap="square" lIns="71438" tIns="57150" rIns="71438" bIns="5715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i="1" dirty="0">
                <a:solidFill>
                  <a:srgbClr val="5A4A7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Meliput, Pemberitaan, Dokumentasi, Siaran, Podcast</a:t>
            </a:r>
            <a:endParaRPr lang="en-US" sz="619" dirty="0"/>
          </a:p>
        </p:txBody>
      </p:sp>
      <p:sp>
        <p:nvSpPr>
          <p:cNvPr id="40" name="Text 29"/>
          <p:cNvSpPr/>
          <p:nvPr/>
        </p:nvSpPr>
        <p:spPr>
          <a:xfrm>
            <a:off x="3407569" y="1920106"/>
            <a:ext cx="2386013" cy="14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CONTOH</a:t>
            </a:r>
            <a:endParaRPr lang="en-US" sz="800" dirty="0"/>
          </a:p>
        </p:txBody>
      </p:sp>
      <p:sp>
        <p:nvSpPr>
          <p:cNvPr id="41" name="Text 30"/>
          <p:cNvSpPr/>
          <p:nvPr/>
        </p:nvSpPr>
        <p:spPr>
          <a:xfrm>
            <a:off x="3318272" y="2269034"/>
            <a:ext cx="2543175" cy="1931157"/>
          </a:xfrm>
          <a:prstGeom prst="roundRect">
            <a:avLst>
              <a:gd name="adj" fmla="val 4932"/>
            </a:avLst>
          </a:prstGeom>
          <a:solidFill>
            <a:srgbClr val="E7DBFA"/>
          </a:solidFill>
          <a:ln w="7144">
            <a:solidFill>
              <a:srgbClr val="C5B3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1"/>
          <p:cNvSpPr/>
          <p:nvPr/>
        </p:nvSpPr>
        <p:spPr>
          <a:xfrm>
            <a:off x="3314700" y="4289487"/>
            <a:ext cx="255031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activityTypes field</a:t>
            </a:r>
            <a:endParaRPr lang="en-US" sz="800" dirty="0"/>
          </a:p>
        </p:txBody>
      </p:sp>
      <p:sp>
        <p:nvSpPr>
          <p:cNvPr id="43" name="Text 32"/>
          <p:cNvSpPr/>
          <p:nvPr/>
        </p:nvSpPr>
        <p:spPr>
          <a:xfrm>
            <a:off x="6086475" y="1101477"/>
            <a:ext cx="2828925" cy="3388035"/>
          </a:xfrm>
          <a:prstGeom prst="roundRect">
            <a:avLst>
              <a:gd name="adj" fmla="val 4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33"/>
          <p:cNvSpPr/>
          <p:nvPr/>
        </p:nvSpPr>
        <p:spPr>
          <a:xfrm>
            <a:off x="6086475" y="1105049"/>
            <a:ext cx="2828925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8911828" y="1101477"/>
            <a:ext cx="0" cy="3388035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6086475" y="4485940"/>
            <a:ext cx="2828925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6107906" y="1101477"/>
            <a:ext cx="0" cy="3388035"/>
          </a:xfrm>
          <a:prstGeom prst="line">
            <a:avLst/>
          </a:prstGeom>
          <a:noFill/>
          <a:ln w="42863">
            <a:solidFill>
              <a:srgbClr val="14B8A6"/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3638" y="1222921"/>
            <a:ext cx="257175" cy="257175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6295073" y="1274356"/>
            <a:ext cx="15430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③</a:t>
            </a:r>
            <a:endParaRPr lang="en-US" sz="1013" dirty="0"/>
          </a:p>
        </p:txBody>
      </p:sp>
      <p:sp>
        <p:nvSpPr>
          <p:cNvPr id="50" name="Text 38"/>
          <p:cNvSpPr/>
          <p:nvPr/>
        </p:nvSpPr>
        <p:spPr>
          <a:xfrm>
            <a:off x="6572250" y="1285763"/>
            <a:ext cx="2221706" cy="141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Catatan per Task + Surat Tugas</a:t>
            </a:r>
            <a:endParaRPr lang="en-US" sz="900" dirty="0"/>
          </a:p>
        </p:txBody>
      </p:sp>
      <p:sp>
        <p:nvSpPr>
          <p:cNvPr id="51" name="Text 39"/>
          <p:cNvSpPr/>
          <p:nvPr/>
        </p:nvSpPr>
        <p:spPr>
          <a:xfrm>
            <a:off x="6243638" y="1551533"/>
            <a:ext cx="2550319" cy="283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tambah catatan ke setiap petugas per tahap. Surat Tugas resmi dengan nomor surat dikirim ke Inbox setiap petugas.</a:t>
            </a:r>
            <a:endParaRPr lang="en-US" sz="800" dirty="0"/>
          </a:p>
        </p:txBody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3638" y="1862956"/>
            <a:ext cx="2550319" cy="331068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6254353" y="1862956"/>
            <a:ext cx="0" cy="331068"/>
          </a:xfrm>
          <a:prstGeom prst="line">
            <a:avLst/>
          </a:prstGeom>
          <a:noFill/>
          <a:ln w="21431">
            <a:solidFill>
              <a:srgbClr val="B39AE0"/>
            </a:solidFill>
            <a:prstDash val="solid"/>
          </a:ln>
        </p:spPr>
      </p:sp>
      <p:sp>
        <p:nvSpPr>
          <p:cNvPr id="54" name="Text 41"/>
          <p:cNvSpPr/>
          <p:nvPr/>
        </p:nvSpPr>
        <p:spPr>
          <a:xfrm>
            <a:off x="6336506" y="2037978"/>
            <a:ext cx="2297609" cy="119703"/>
          </a:xfrm>
          <a:prstGeom prst="rect">
            <a:avLst/>
          </a:prstGeom>
          <a:noFill/>
          <a:ln/>
        </p:spPr>
        <p:txBody>
          <a:bodyPr wrap="square" lIns="71438" tIns="57150" rIns="71438" bIns="5715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i="1" dirty="0">
                <a:solidFill>
                  <a:srgbClr val="5A4A7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Catatan: foto menonjolkan kebersamaan, artikel fokus ke program</a:t>
            </a:r>
            <a:endParaRPr lang="en-US" sz="619" dirty="0"/>
          </a:p>
        </p:txBody>
      </p:sp>
      <p:sp>
        <p:nvSpPr>
          <p:cNvPr id="55" name="Text 42"/>
          <p:cNvSpPr/>
          <p:nvPr/>
        </p:nvSpPr>
        <p:spPr>
          <a:xfrm>
            <a:off x="6336506" y="1920106"/>
            <a:ext cx="2386013" cy="148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CONTOH</a:t>
            </a:r>
            <a:endParaRPr lang="en-US" sz="800" dirty="0"/>
          </a:p>
        </p:txBody>
      </p:sp>
      <p:sp>
        <p:nvSpPr>
          <p:cNvPr id="56" name="Text 43"/>
          <p:cNvSpPr/>
          <p:nvPr/>
        </p:nvSpPr>
        <p:spPr>
          <a:xfrm>
            <a:off x="6247209" y="2269034"/>
            <a:ext cx="2543175" cy="1931157"/>
          </a:xfrm>
          <a:prstGeom prst="roundRect">
            <a:avLst>
              <a:gd name="adj" fmla="val 4932"/>
            </a:avLst>
          </a:prstGeom>
          <a:solidFill>
            <a:srgbClr val="E7DBFA"/>
          </a:solidFill>
          <a:ln w="7144">
            <a:solidFill>
              <a:srgbClr val="C5B3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44"/>
          <p:cNvSpPr/>
          <p:nvPr/>
        </p:nvSpPr>
        <p:spPr>
          <a:xfrm>
            <a:off x="6243638" y="4289487"/>
            <a:ext cx="255031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Inbox — Surat Tugas</a:t>
            </a:r>
            <a:endParaRPr lang="en-US" sz="800" dirty="0"/>
          </a:p>
        </p:txBody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8600" y="4589525"/>
            <a:ext cx="8686800" cy="325375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235744" y="4596668"/>
            <a:ext cx="8672513" cy="311088"/>
          </a:xfrm>
          <a:prstGeom prst="roundRect">
            <a:avLst>
              <a:gd name="adj" fmla="val 36742"/>
            </a:avLst>
          </a:prstGeom>
          <a:noFill/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114300" dist="38100" dir="5400000">
              <a:srgbClr val="4C2A85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46"/>
          <p:cNvSpPr/>
          <p:nvPr/>
        </p:nvSpPr>
        <p:spPr>
          <a:xfrm>
            <a:off x="228600" y="4589525"/>
            <a:ext cx="8636000" cy="384444"/>
          </a:xfrm>
          <a:prstGeom prst="rect">
            <a:avLst/>
          </a:prstGeom>
          <a:noFill/>
          <a:ln/>
        </p:spPr>
        <p:txBody>
          <a:bodyPr wrap="square" lIns="157163" tIns="85725" rIns="157163" bIns="85725" rtlCol="0" anchor="t"/>
          <a:lstStyle/>
          <a:p>
            <a:pPr algn="ctr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F4D6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✅</a:t>
            </a:r>
            <a:pPr algn="ctr" indent="0" marL="0">
              <a:lnSpc>
                <a:spcPts val="98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Pesan kunci tersampaikan 3 level: description → customActivity → catatan task + Surat Tugas. Tim menerima pedoman pesan yang jelas &amp; tertulis.</a:t>
            </a:r>
            <a:endParaRPr lang="en-US" sz="800" dirty="0"/>
          </a:p>
        </p:txBody>
      </p:sp>
      <p:pic>
        <p:nvPicPr>
          <p:cNvPr id="61" name="Image 12" descr="/tmp/h2p-fit-1791105370943-b78yl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2906" y="2716076"/>
            <a:ext cx="2536031" cy="1143112"/>
          </a:xfrm>
          <a:prstGeom prst="rect">
            <a:avLst/>
          </a:prstGeom>
        </p:spPr>
      </p:pic>
      <p:pic>
        <p:nvPicPr>
          <p:cNvPr id="62" name="Image 13" descr="/tmp/h2p-fit-1791105370951-kig2fp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21844" y="2663056"/>
            <a:ext cx="2536031" cy="1143112"/>
          </a:xfrm>
          <a:prstGeom prst="rect">
            <a:avLst/>
          </a:prstGeom>
        </p:spPr>
      </p:pic>
      <p:pic>
        <p:nvPicPr>
          <p:cNvPr id="63" name="Image 14" descr="/tmp/h2p-fit-1791105370943-zo7rz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50781" y="2663056"/>
            <a:ext cx="2536031" cy="11431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200025"/>
            <a:ext cx="8743950" cy="571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07169" y="207169"/>
            <a:ext cx="8729663" cy="557213"/>
          </a:xfrm>
          <a:prstGeom prst="roundRect">
            <a:avLst>
              <a:gd name="adj" fmla="val 23932"/>
            </a:avLst>
          </a:prstGeom>
          <a:noFill/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114300" dist="38100" dir="5400000">
              <a:srgbClr val="4C2A85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285750"/>
            <a:ext cx="400050" cy="40005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382191" y="296466"/>
            <a:ext cx="378619" cy="378619"/>
          </a:xfrm>
          <a:prstGeom prst="ellipse">
            <a:avLst/>
          </a:prstGeom>
          <a:noFill/>
          <a:ln w="21431">
            <a:solidFill>
              <a:srgbClr val="FFE9A8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2"/>
          <p:cNvSpPr/>
          <p:nvPr/>
        </p:nvSpPr>
        <p:spPr>
          <a:xfrm>
            <a:off x="371475" y="285750"/>
            <a:ext cx="4572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1238" dirty="0"/>
          </a:p>
        </p:txBody>
      </p:sp>
      <p:sp>
        <p:nvSpPr>
          <p:cNvPr id="9" name="Text 3"/>
          <p:cNvSpPr/>
          <p:nvPr/>
        </p:nvSpPr>
        <p:spPr>
          <a:xfrm>
            <a:off x="885825" y="375047"/>
            <a:ext cx="7886700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63" b="1" spc="28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⚡ Eksekusi</a:t>
            </a:r>
            <a:endParaRPr lang="en-US" sz="1463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5087" y="360759"/>
            <a:ext cx="1287438" cy="250031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462227" y="347958"/>
            <a:ext cx="1333158" cy="275634"/>
          </a:xfrm>
          <a:prstGeom prst="roundRect">
            <a:avLst>
              <a:gd name="adj" fmla="val 3452214"/>
            </a:avLst>
          </a:prstGeom>
          <a:noFill/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95250" dist="50800" dir="16200000">
              <a:srgbClr val="D4AF37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5"/>
          <p:cNvSpPr/>
          <p:nvPr/>
        </p:nvSpPr>
        <p:spPr>
          <a:xfrm>
            <a:off x="7485087" y="360759"/>
            <a:ext cx="128743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KEKUATAN UTAMA</a:t>
            </a:r>
            <a:endParaRPr lang="en-US" sz="800" dirty="0"/>
          </a:p>
        </p:txBody>
      </p:sp>
      <p:sp>
        <p:nvSpPr>
          <p:cNvPr id="13" name="Text 6"/>
          <p:cNvSpPr/>
          <p:nvPr/>
        </p:nvSpPr>
        <p:spPr>
          <a:xfrm>
            <a:off x="200025" y="842963"/>
            <a:ext cx="8636000" cy="153514"/>
          </a:xfrm>
          <a:prstGeom prst="rect">
            <a:avLst/>
          </a:prstGeom>
          <a:noFill/>
          <a:ln/>
        </p:spPr>
        <p:txBody>
          <a:bodyPr wrap="square" lIns="42863" tIns="0" rIns="42863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i="1" dirty="0">
                <a:solidFill>
                  <a:srgbClr val="6B5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📌</a:t>
            </a:r>
            <a:pPr algn="l" indent="0" marL="0">
              <a:lnSpc>
                <a:spcPts val="1024"/>
              </a:lnSpc>
              <a:buNone/>
            </a:pPr>
            <a:r>
              <a:rPr lang="en-US" sz="800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Workflow </a:t>
            </a:r>
            <a:pPr algn="l" indent="0" marL="0">
              <a:lnSpc>
                <a:spcPts val="1024"/>
              </a:lnSpc>
              <a:buNone/>
            </a:pPr>
            <a:r>
              <a:rPr lang="en-US" sz="800" i="1" dirty="0">
                <a:solidFill>
                  <a:srgbClr val="6B5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l" indent="0" marL="0">
              <a:lnSpc>
                <a:spcPts val="1024"/>
              </a:lnSpc>
              <a:buNone/>
            </a:pPr>
            <a:r>
              <a:rPr lang="en-US" sz="800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tahap dengan </a:t>
            </a:r>
            <a:pPr algn="l" indent="0" marL="0">
              <a:lnSpc>
                <a:spcPts val="1024"/>
              </a:lnSpc>
              <a:buNone/>
            </a:pPr>
            <a:r>
              <a:rPr lang="en-US" sz="800" i="1" dirty="0">
                <a:solidFill>
                  <a:srgbClr val="6B5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pPr algn="l" indent="0" marL="0">
              <a:lnSpc>
                <a:spcPts val="1024"/>
              </a:lnSpc>
              <a:buNone/>
            </a:pPr>
            <a:r>
              <a:rPr lang="en-US" sz="800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role, tracking real-time, folder Drive otomatis — sistem yang mewadahi proses produksi bagi user.</a:t>
            </a:r>
            <a:endParaRPr lang="en-US" sz="800" dirty="0"/>
          </a:p>
        </p:txBody>
      </p:sp>
      <p:sp>
        <p:nvSpPr>
          <p:cNvPr id="14" name="Text 7"/>
          <p:cNvSpPr/>
          <p:nvPr/>
        </p:nvSpPr>
        <p:spPr>
          <a:xfrm>
            <a:off x="203597" y="1047899"/>
            <a:ext cx="1695859" cy="1764506"/>
          </a:xfrm>
          <a:prstGeom prst="roundRect">
            <a:avLst>
              <a:gd name="adj" fmla="val 6740"/>
            </a:avLst>
          </a:prstGeom>
          <a:solidFill>
            <a:srgbClr val="FFFFFF"/>
          </a:solidFill>
          <a:ln w="7144">
            <a:solidFill>
              <a:srgbClr val="4C2A85"/>
            </a:solidFill>
            <a:prstDash val="solid"/>
          </a:ln>
          <a:effectLst>
            <a:outerShdw sx="100000" sy="100000" kx="0" ky="0" algn="bl" rotWithShape="0" blurRad="76200" dist="28575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1660141" y="1094333"/>
            <a:ext cx="16430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b="1" dirty="0">
                <a:solidFill>
                  <a:srgbClr val="4C2A85">
                    <a:alpha val="1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①</a:t>
            </a:r>
            <a:endParaRPr lang="en-US" sz="1463" dirty="0"/>
          </a:p>
        </p:txBody>
      </p:sp>
      <p:sp>
        <p:nvSpPr>
          <p:cNvPr id="16" name="Text 9"/>
          <p:cNvSpPr/>
          <p:nvPr/>
        </p:nvSpPr>
        <p:spPr>
          <a:xfrm>
            <a:off x="278606" y="1122908"/>
            <a:ext cx="1545841" cy="146139"/>
          </a:xfrm>
          <a:prstGeom prst="rect">
            <a:avLst/>
          </a:prstGeom>
          <a:noFill/>
          <a:ln/>
        </p:spPr>
        <p:txBody>
          <a:bodyPr wrap="none" lIns="0" tIns="28575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🔵</a:t>
            </a:r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PRODUKSI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278606" y="1296479"/>
            <a:ext cx="1637281" cy="29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Upload mentah. 4 role: Reporter, Photographer, Creator, Designer.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282178" y="1545394"/>
            <a:ext cx="1538697" cy="1202717"/>
          </a:xfrm>
          <a:prstGeom prst="roundRect">
            <a:avLst>
              <a:gd name="adj" fmla="val 4752"/>
            </a:avLst>
          </a:prstGeom>
          <a:solidFill>
            <a:srgbClr val="E7DBFA"/>
          </a:solidFill>
          <a:ln w="7144">
            <a:solidFill>
              <a:srgbClr val="C5B3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1963750" y="1047899"/>
            <a:ext cx="1695971" cy="1764506"/>
          </a:xfrm>
          <a:prstGeom prst="roundRect">
            <a:avLst>
              <a:gd name="adj" fmla="val 6740"/>
            </a:avLst>
          </a:prstGeom>
          <a:solidFill>
            <a:srgbClr val="FFFFFF"/>
          </a:solidFill>
          <a:ln w="7144">
            <a:solidFill>
              <a:srgbClr val="4C2A85"/>
            </a:solidFill>
            <a:prstDash val="solid"/>
          </a:ln>
          <a:effectLst>
            <a:outerShdw sx="100000" sy="100000" kx="0" ky="0" algn="bl" rotWithShape="0" blurRad="76200" dist="28575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3420405" y="1094333"/>
            <a:ext cx="16430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b="1" dirty="0">
                <a:solidFill>
                  <a:srgbClr val="4C2A85">
                    <a:alpha val="1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②</a:t>
            </a:r>
            <a:endParaRPr lang="en-US" sz="1463" dirty="0"/>
          </a:p>
        </p:txBody>
      </p:sp>
      <p:sp>
        <p:nvSpPr>
          <p:cNvPr id="21" name="Text 14"/>
          <p:cNvSpPr/>
          <p:nvPr/>
        </p:nvSpPr>
        <p:spPr>
          <a:xfrm>
            <a:off x="2038759" y="1122908"/>
            <a:ext cx="1545952" cy="146139"/>
          </a:xfrm>
          <a:prstGeom prst="rect">
            <a:avLst/>
          </a:prstGeom>
          <a:noFill/>
          <a:ln/>
        </p:spPr>
        <p:txBody>
          <a:bodyPr wrap="none" lIns="0" tIns="28575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🟠</a:t>
            </a:r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PASCA PRODUKSI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2038759" y="1296479"/>
            <a:ext cx="1637392" cy="29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Editor edit. 6 role: Video, Web, Foto, Template, Streaming, Podcast.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2042331" y="1545394"/>
            <a:ext cx="1538808" cy="1202717"/>
          </a:xfrm>
          <a:prstGeom prst="roundRect">
            <a:avLst>
              <a:gd name="adj" fmla="val 4752"/>
            </a:avLst>
          </a:prstGeom>
          <a:solidFill>
            <a:srgbClr val="E7DBFA"/>
          </a:solidFill>
          <a:ln w="7144">
            <a:solidFill>
              <a:srgbClr val="C5B3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3724015" y="1047899"/>
            <a:ext cx="1695859" cy="1764506"/>
          </a:xfrm>
          <a:prstGeom prst="roundRect">
            <a:avLst>
              <a:gd name="adj" fmla="val 6740"/>
            </a:avLst>
          </a:prstGeom>
          <a:solidFill>
            <a:srgbClr val="FFFFFF"/>
          </a:solidFill>
          <a:ln w="7144">
            <a:solidFill>
              <a:srgbClr val="4C2A85"/>
            </a:solidFill>
            <a:prstDash val="solid"/>
          </a:ln>
          <a:effectLst>
            <a:outerShdw sx="100000" sy="100000" kx="0" ky="0" algn="bl" rotWithShape="0" blurRad="76200" dist="28575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5180558" y="1094333"/>
            <a:ext cx="16430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b="1" dirty="0">
                <a:solidFill>
                  <a:srgbClr val="4C2A85">
                    <a:alpha val="1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③</a:t>
            </a:r>
            <a:endParaRPr lang="en-US" sz="1463" dirty="0"/>
          </a:p>
        </p:txBody>
      </p:sp>
      <p:sp>
        <p:nvSpPr>
          <p:cNvPr id="26" name="Text 19"/>
          <p:cNvSpPr/>
          <p:nvPr/>
        </p:nvSpPr>
        <p:spPr>
          <a:xfrm>
            <a:off x="3799024" y="1122908"/>
            <a:ext cx="1545841" cy="146139"/>
          </a:xfrm>
          <a:prstGeom prst="rect">
            <a:avLst/>
          </a:prstGeom>
          <a:noFill/>
          <a:ln/>
        </p:spPr>
        <p:txBody>
          <a:bodyPr wrap="none" lIns="0" tIns="28575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🟢</a:t>
            </a:r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REVIEW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3799024" y="1296479"/>
            <a:ext cx="1669508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6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Reviewer cek kualitas. Approve atau revisi.</a:t>
            </a:r>
            <a:endParaRPr lang="en-US" sz="600" dirty="0"/>
          </a:p>
        </p:txBody>
      </p:sp>
      <p:sp>
        <p:nvSpPr>
          <p:cNvPr id="28" name="Text 21"/>
          <p:cNvSpPr/>
          <p:nvPr/>
        </p:nvSpPr>
        <p:spPr>
          <a:xfrm>
            <a:off x="3802596" y="1444154"/>
            <a:ext cx="1538697" cy="1303958"/>
          </a:xfrm>
          <a:prstGeom prst="roundRect">
            <a:avLst>
              <a:gd name="adj" fmla="val 4383"/>
            </a:avLst>
          </a:prstGeom>
          <a:solidFill>
            <a:srgbClr val="E7DBFA"/>
          </a:solidFill>
          <a:ln w="7144">
            <a:solidFill>
              <a:srgbClr val="C5B3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5484168" y="1047899"/>
            <a:ext cx="1695971" cy="1764506"/>
          </a:xfrm>
          <a:prstGeom prst="roundRect">
            <a:avLst>
              <a:gd name="adj" fmla="val 6740"/>
            </a:avLst>
          </a:prstGeom>
          <a:solidFill>
            <a:srgbClr val="FFFFFF"/>
          </a:solidFill>
          <a:ln w="7144">
            <a:solidFill>
              <a:srgbClr val="4C2A85"/>
            </a:solidFill>
            <a:prstDash val="solid"/>
          </a:ln>
          <a:effectLst>
            <a:outerShdw sx="100000" sy="100000" kx="0" ky="0" algn="bl" rotWithShape="0" blurRad="76200" dist="28575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940823" y="1094333"/>
            <a:ext cx="16430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b="1" dirty="0">
                <a:solidFill>
                  <a:srgbClr val="4C2A85">
                    <a:alpha val="1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④</a:t>
            </a:r>
            <a:endParaRPr lang="en-US" sz="1463" dirty="0"/>
          </a:p>
        </p:txBody>
      </p:sp>
      <p:sp>
        <p:nvSpPr>
          <p:cNvPr id="31" name="Text 24"/>
          <p:cNvSpPr/>
          <p:nvPr/>
        </p:nvSpPr>
        <p:spPr>
          <a:xfrm>
            <a:off x="5559177" y="1122908"/>
            <a:ext cx="1545952" cy="146139"/>
          </a:xfrm>
          <a:prstGeom prst="rect">
            <a:avLst/>
          </a:prstGeom>
          <a:noFill/>
          <a:ln/>
        </p:spPr>
        <p:txBody>
          <a:bodyPr wrap="none" lIns="0" tIns="28575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🟣</a:t>
            </a:r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PUBLIKASI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5559177" y="1296479"/>
            <a:ext cx="1669628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6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Publisher ke 14+ saluran. Link per platform.</a:t>
            </a:r>
            <a:endParaRPr lang="en-US" sz="600" dirty="0"/>
          </a:p>
        </p:txBody>
      </p:sp>
      <p:sp>
        <p:nvSpPr>
          <p:cNvPr id="33" name="Text 26"/>
          <p:cNvSpPr/>
          <p:nvPr/>
        </p:nvSpPr>
        <p:spPr>
          <a:xfrm>
            <a:off x="5562749" y="1444154"/>
            <a:ext cx="1538808" cy="1303958"/>
          </a:xfrm>
          <a:prstGeom prst="roundRect">
            <a:avLst>
              <a:gd name="adj" fmla="val 4383"/>
            </a:avLst>
          </a:prstGeom>
          <a:solidFill>
            <a:srgbClr val="E7DBFA"/>
          </a:solidFill>
          <a:ln w="7144">
            <a:solidFill>
              <a:srgbClr val="C5B3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7244432" y="1047899"/>
            <a:ext cx="1695859" cy="1764506"/>
          </a:xfrm>
          <a:prstGeom prst="roundRect">
            <a:avLst>
              <a:gd name="adj" fmla="val 6740"/>
            </a:avLst>
          </a:prstGeom>
          <a:solidFill>
            <a:srgbClr val="FFFFFF"/>
          </a:solidFill>
          <a:ln w="7144">
            <a:solidFill>
              <a:srgbClr val="4C2A85"/>
            </a:solidFill>
            <a:prstDash val="solid"/>
          </a:ln>
          <a:effectLst>
            <a:outerShdw sx="100000" sy="100000" kx="0" ky="0" algn="bl" rotWithShape="0" blurRad="76200" dist="28575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8700976" y="1094333"/>
            <a:ext cx="16430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b="1" dirty="0">
                <a:solidFill>
                  <a:srgbClr val="4C2A85">
                    <a:alpha val="1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⑤</a:t>
            </a:r>
            <a:endParaRPr lang="en-US" sz="1463" dirty="0"/>
          </a:p>
        </p:txBody>
      </p:sp>
      <p:sp>
        <p:nvSpPr>
          <p:cNvPr id="36" name="Text 29"/>
          <p:cNvSpPr/>
          <p:nvPr/>
        </p:nvSpPr>
        <p:spPr>
          <a:xfrm>
            <a:off x="7319442" y="1122908"/>
            <a:ext cx="1545841" cy="146139"/>
          </a:xfrm>
          <a:prstGeom prst="rect">
            <a:avLst/>
          </a:prstGeom>
          <a:noFill/>
          <a:ln/>
        </p:spPr>
        <p:txBody>
          <a:bodyPr wrap="none" lIns="0" tIns="28575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SELESAI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7319442" y="1296479"/>
            <a:ext cx="1638591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600" dirty="0">
                <a:solidFill>
                  <a:srgbClr val="44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Arsip + 1-klik publikasi ke LIHUM.</a:t>
            </a:r>
            <a:endParaRPr lang="en-US" sz="600" dirty="0"/>
          </a:p>
        </p:txBody>
      </p:sp>
      <p:sp>
        <p:nvSpPr>
          <p:cNvPr id="38" name="Text 31"/>
          <p:cNvSpPr/>
          <p:nvPr/>
        </p:nvSpPr>
        <p:spPr>
          <a:xfrm>
            <a:off x="7323013" y="1444154"/>
            <a:ext cx="1538697" cy="1303958"/>
          </a:xfrm>
          <a:prstGeom prst="roundRect">
            <a:avLst>
              <a:gd name="adj" fmla="val 4383"/>
            </a:avLst>
          </a:prstGeom>
          <a:solidFill>
            <a:srgbClr val="E7DBFA"/>
          </a:solidFill>
          <a:ln w="7144">
            <a:solidFill>
              <a:srgbClr val="C5B3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203597" y="2890986"/>
            <a:ext cx="5239159" cy="1652104"/>
          </a:xfrm>
          <a:prstGeom prst="roundRect">
            <a:avLst>
              <a:gd name="adj" fmla="val 6918"/>
            </a:avLst>
          </a:prstGeom>
          <a:solidFill>
            <a:srgbClr val="FFFFFF"/>
          </a:solidFill>
          <a:ln w="7144">
            <a:solidFill>
              <a:srgbClr val="C5B3E0"/>
            </a:solidFill>
            <a:prstDash val="solid"/>
          </a:ln>
          <a:effectLst>
            <a:outerShdw sx="100000" sy="100000" kx="0" ky="0" algn="bl" rotWithShape="0" blurRad="76200" dist="28575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3"/>
          <p:cNvSpPr/>
          <p:nvPr/>
        </p:nvSpPr>
        <p:spPr>
          <a:xfrm>
            <a:off x="307181" y="3144589"/>
            <a:ext cx="5031991" cy="0"/>
          </a:xfrm>
          <a:prstGeom prst="line">
            <a:avLst/>
          </a:prstGeom>
          <a:noFill/>
          <a:ln w="14288">
            <a:solidFill>
              <a:srgbClr val="D4AF37"/>
            </a:solidFill>
            <a:prstDash val="dash"/>
          </a:ln>
        </p:spPr>
      </p:sp>
      <p:sp>
        <p:nvSpPr>
          <p:cNvPr id="41" name="Text 34"/>
          <p:cNvSpPr/>
          <p:nvPr/>
        </p:nvSpPr>
        <p:spPr>
          <a:xfrm>
            <a:off x="307181" y="2980283"/>
            <a:ext cx="5141719" cy="188105"/>
          </a:xfrm>
          <a:prstGeom prst="rect">
            <a:avLst/>
          </a:prstGeom>
          <a:noFill/>
          <a:ln/>
        </p:spPr>
        <p:txBody>
          <a:bodyPr wrap="square" lIns="0" tIns="0" rIns="0" bIns="42863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🛠</a:t>
            </a:r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Fitur Pendukung Eksekusi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307181" y="3208883"/>
            <a:ext cx="91440" cy="12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450056" y="3208883"/>
            <a:ext cx="2323058" cy="14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Folder Drive otomatis per proyek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2873127" y="3208883"/>
            <a:ext cx="91440" cy="12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3016002" y="3208883"/>
            <a:ext cx="2323170" cy="14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Subfolder per petugas + output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307181" y="3642866"/>
            <a:ext cx="91440" cy="12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47" name="Text 40"/>
          <p:cNvSpPr/>
          <p:nvPr/>
        </p:nvSpPr>
        <p:spPr>
          <a:xfrm>
            <a:off x="450056" y="3642866"/>
            <a:ext cx="2323058" cy="14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Dependency tracking (ETSM nunggu EFoto)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2873127" y="3642866"/>
            <a:ext cx="91440" cy="12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3016002" y="3642866"/>
            <a:ext cx="2323170" cy="14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Auto-repair stuck projects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307181" y="4076849"/>
            <a:ext cx="91440" cy="12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450056" y="4076849"/>
            <a:ext cx="2323058" cy="14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Upload chunked langsung ke Drive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2873127" y="4076849"/>
            <a:ext cx="91440" cy="12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3016002" y="4076849"/>
            <a:ext cx="2323170" cy="14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1-klik publikasi ke LIHUM</a:t>
            </a:r>
            <a:endParaRPr lang="en-US" sz="800" dirty="0"/>
          </a:p>
        </p:txBody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053" y="2887414"/>
            <a:ext cx="3497535" cy="1659248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5535625" y="2890986"/>
            <a:ext cx="3490392" cy="1652104"/>
          </a:xfrm>
          <a:prstGeom prst="roundRect">
            <a:avLst>
              <a:gd name="adj" fmla="val 6918"/>
            </a:avLst>
          </a:prstGeom>
          <a:noFill/>
          <a:ln w="7144">
            <a:solidFill>
              <a:srgbClr val="C5B3E0"/>
            </a:solidFill>
            <a:prstDash val="solid"/>
          </a:ln>
          <a:effectLst>
            <a:outerShdw sx="100000" sy="100000" kx="0" ky="0" algn="bl" rotWithShape="0" blurRad="76200" dist="28575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5614206" y="2969568"/>
            <a:ext cx="3333229" cy="1273485"/>
          </a:xfrm>
          <a:prstGeom prst="roundRect">
            <a:avLst>
              <a:gd name="adj" fmla="val 7479"/>
            </a:avLst>
          </a:prstGeom>
          <a:solidFill>
            <a:srgbClr val="E7DBFA"/>
          </a:solidFill>
          <a:ln w="7144">
            <a:solidFill>
              <a:srgbClr val="C5B3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5614206" y="4307346"/>
            <a:ext cx="3333229" cy="157163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7144">
            <a:solidFill>
              <a:srgbClr val="C5B3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0"/>
          <p:cNvSpPr/>
          <p:nvPr/>
        </p:nvSpPr>
        <p:spPr>
          <a:xfrm>
            <a:off x="5610634" y="4303775"/>
            <a:ext cx="3340373" cy="164306"/>
          </a:xfrm>
          <a:prstGeom prst="rect">
            <a:avLst/>
          </a:prstGeom>
          <a:noFill/>
          <a:ln/>
        </p:spPr>
        <p:txBody>
          <a:bodyPr wrap="square" lIns="57150" tIns="28575" rIns="57150" bIns="28575" rtlCol="0" anchor="t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ctr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app.pushakin-flows.workers.dev/?public=tracker</a:t>
            </a:r>
            <a:endParaRPr lang="en-US" sz="800" dirty="0"/>
          </a:p>
        </p:txBody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025" y="4618100"/>
            <a:ext cx="8743950" cy="325375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207169" y="4625243"/>
            <a:ext cx="8729663" cy="311088"/>
          </a:xfrm>
          <a:prstGeom prst="roundRect">
            <a:avLst>
              <a:gd name="adj" fmla="val 36742"/>
            </a:avLst>
          </a:prstGeom>
          <a:noFill/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114300" dist="38100" dir="5400000">
              <a:srgbClr val="4C2A85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2"/>
          <p:cNvSpPr/>
          <p:nvPr/>
        </p:nvSpPr>
        <p:spPr>
          <a:xfrm>
            <a:off x="200025" y="4618100"/>
            <a:ext cx="8636000" cy="384444"/>
          </a:xfrm>
          <a:prstGeom prst="rect">
            <a:avLst/>
          </a:prstGeom>
          <a:noFill/>
          <a:ln/>
        </p:spPr>
        <p:txBody>
          <a:bodyPr wrap="square" lIns="157163" tIns="85725" rIns="157163" bIns="85725" rtlCol="0" anchor="t"/>
          <a:lstStyle/>
          <a:p>
            <a:pPr algn="ctr" indent="0" marL="0">
              <a:lnSpc>
                <a:spcPts val="987"/>
              </a:lnSpc>
              <a:buNone/>
            </a:pPr>
            <a:r>
              <a:rPr lang="en-US" sz="800" dirty="0">
                <a:solidFill>
                  <a:srgbClr val="F4D6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✅</a:t>
            </a:r>
            <a:pPr algn="ctr" indent="0" marL="0">
              <a:lnSpc>
                <a:spcPts val="98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Eksekusi = kekuatan utama: 5 tahap, 16 role, Drive otomatis, tracking real-time, 1-klik LIHUM. Sistem mewadahi seluruh proses produksi bagi user.</a:t>
            </a:r>
            <a:endParaRPr lang="en-US" sz="800" dirty="0"/>
          </a:p>
        </p:txBody>
      </p:sp>
      <p:pic>
        <p:nvPicPr>
          <p:cNvPr id="62" name="Image 7" descr="/tmp/h2p-fit-1791105370862-qhe97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750" y="1801564"/>
            <a:ext cx="1531553" cy="690376"/>
          </a:xfrm>
          <a:prstGeom prst="rect">
            <a:avLst/>
          </a:prstGeom>
        </p:spPr>
      </p:pic>
      <p:pic>
        <p:nvPicPr>
          <p:cNvPr id="63" name="Image 8" descr="/tmp/h2p-fit-1791105370861-ltt51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0417" y="1549078"/>
            <a:ext cx="382637" cy="1195350"/>
          </a:xfrm>
          <a:prstGeom prst="rect">
            <a:avLst/>
          </a:prstGeom>
        </p:spPr>
      </p:pic>
      <p:pic>
        <p:nvPicPr>
          <p:cNvPr id="64" name="Image 9" descr="/tmp/h2p-fit-1791105370862-7izl0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6168" y="1750888"/>
            <a:ext cx="1531553" cy="690376"/>
          </a:xfrm>
          <a:prstGeom prst="rect">
            <a:avLst/>
          </a:prstGeom>
        </p:spPr>
      </p:pic>
      <p:pic>
        <p:nvPicPr>
          <p:cNvPr id="65" name="Image 10" descr="/tmp/h2p-fit-1791105370862-ab6un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6321" y="1750888"/>
            <a:ext cx="1531665" cy="690376"/>
          </a:xfrm>
          <a:prstGeom prst="rect">
            <a:avLst/>
          </a:prstGeom>
        </p:spPr>
      </p:pic>
      <p:pic>
        <p:nvPicPr>
          <p:cNvPr id="66" name="Image 11" descr="/tmp/h2p-fit-1791105370862-02q9kx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26585" y="1665387"/>
            <a:ext cx="1531553" cy="861492"/>
          </a:xfrm>
          <a:prstGeom prst="rect">
            <a:avLst/>
          </a:prstGeom>
        </p:spPr>
      </p:pic>
      <p:pic>
        <p:nvPicPr>
          <p:cNvPr id="67" name="Image 12" descr="/tmp/h2p-fit-1791105370862-qeaa65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76181" y="2973139"/>
            <a:ext cx="2809168" cy="12662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200025"/>
            <a:ext cx="8743950" cy="5429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271463"/>
            <a:ext cx="400050" cy="4000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67903" y="282178"/>
            <a:ext cx="378619" cy="378619"/>
          </a:xfrm>
          <a:prstGeom prst="ellipse">
            <a:avLst/>
          </a:prstGeom>
          <a:noFill/>
          <a:ln w="21431">
            <a:solidFill>
              <a:srgbClr val="FFE9A8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357188" y="271463"/>
            <a:ext cx="4572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1238" dirty="0"/>
          </a:p>
        </p:txBody>
      </p:sp>
      <p:sp>
        <p:nvSpPr>
          <p:cNvPr id="8" name="Text 2"/>
          <p:cNvSpPr/>
          <p:nvPr/>
        </p:nvSpPr>
        <p:spPr>
          <a:xfrm>
            <a:off x="871538" y="360759"/>
            <a:ext cx="7915275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63" b="1" spc="28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pPr algn="l" indent="0" marL="0">
              <a:buNone/>
            </a:pPr>
            <a:r>
              <a:rPr lang="en-US" sz="1463" b="1" spc="28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Pengukuran</a:t>
            </a:r>
            <a:endParaRPr lang="en-US" sz="1463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778" y="346472"/>
            <a:ext cx="737034" cy="250031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8026918" y="333670"/>
            <a:ext cx="782754" cy="275634"/>
          </a:xfrm>
          <a:prstGeom prst="roundRect">
            <a:avLst>
              <a:gd name="adj" fmla="val 3452214"/>
            </a:avLst>
          </a:prstGeom>
          <a:noFill/>
          <a:ln w="14288">
            <a:solidFill>
              <a:srgbClr val="FFE9A8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4"/>
          <p:cNvSpPr/>
          <p:nvPr/>
        </p:nvSpPr>
        <p:spPr>
          <a:xfrm>
            <a:off x="8049778" y="346472"/>
            <a:ext cx="737034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 Bobot</a:t>
            </a:r>
            <a:endParaRPr lang="en-US" sz="800" dirty="0"/>
          </a:p>
        </p:txBody>
      </p:sp>
      <p:sp>
        <p:nvSpPr>
          <p:cNvPr id="12" name="Text 5"/>
          <p:cNvSpPr/>
          <p:nvPr/>
        </p:nvSpPr>
        <p:spPr>
          <a:xfrm>
            <a:off x="200025" y="828675"/>
            <a:ext cx="8636000" cy="153514"/>
          </a:xfrm>
          <a:prstGeom prst="rect">
            <a:avLst/>
          </a:prstGeom>
          <a:noFill/>
          <a:ln/>
        </p:spPr>
        <p:txBody>
          <a:bodyPr wrap="square" lIns="42863" tIns="0" rIns="42863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i="1" dirty="0">
                <a:solidFill>
                  <a:srgbClr val="6B5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📌</a:t>
            </a:r>
            <a:pPr algn="l" indent="0" marL="0">
              <a:lnSpc>
                <a:spcPts val="1024"/>
              </a:lnSpc>
              <a:buNone/>
            </a:pPr>
            <a:r>
              <a:rPr lang="en-US" sz="800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Pengukuran hasil di </a:t>
            </a:r>
            <a:pPr algn="l" indent="0" marL="0">
              <a:lnSpc>
                <a:spcPts val="1024"/>
              </a:lnSpc>
              <a:buNone/>
            </a:pPr>
            <a:r>
              <a:rPr lang="en-US" sz="800" i="1" dirty="0">
                <a:solidFill>
                  <a:srgbClr val="6B5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024"/>
              </a:lnSpc>
              <a:buNone/>
            </a:pPr>
            <a:r>
              <a:rPr lang="en-US" sz="800" i="1" dirty="0">
                <a:solidFill>
                  <a:srgbClr val="6B5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level: output, dokumentasi SKP, transparansi publik, rekapitulasi.</a:t>
            </a:r>
            <a:endParaRPr lang="en-US" sz="800" dirty="0"/>
          </a:p>
        </p:txBody>
      </p:sp>
      <p:sp>
        <p:nvSpPr>
          <p:cNvPr id="13" name="Text 6"/>
          <p:cNvSpPr/>
          <p:nvPr/>
        </p:nvSpPr>
        <p:spPr>
          <a:xfrm>
            <a:off x="200025" y="1044327"/>
            <a:ext cx="2132409" cy="2557463"/>
          </a:xfrm>
          <a:prstGeom prst="roundRect">
            <a:avLst>
              <a:gd name="adj" fmla="val 53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7"/>
          <p:cNvSpPr/>
          <p:nvPr/>
        </p:nvSpPr>
        <p:spPr>
          <a:xfrm>
            <a:off x="200025" y="1047899"/>
            <a:ext cx="2132409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2328863" y="1044327"/>
            <a:ext cx="0" cy="2557463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200025" y="3598218"/>
            <a:ext cx="2132409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221456" y="1044327"/>
            <a:ext cx="0" cy="2557463"/>
          </a:xfrm>
          <a:prstGeom prst="line">
            <a:avLst/>
          </a:prstGeom>
          <a:noFill/>
          <a:ln w="42863">
            <a:solidFill>
              <a:srgbClr val="14B8A6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342900" y="1137196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endParaRPr lang="en-US" sz="1238" dirty="0"/>
          </a:p>
        </p:txBody>
      </p:sp>
      <p:sp>
        <p:nvSpPr>
          <p:cNvPr id="19" name="Text 12"/>
          <p:cNvSpPr/>
          <p:nvPr/>
        </p:nvSpPr>
        <p:spPr>
          <a:xfrm>
            <a:off x="592931" y="1158292"/>
            <a:ext cx="1646634" cy="126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Statistik Real-time</a:t>
            </a:r>
            <a:endParaRPr lang="en-US" sz="800" dirty="0"/>
          </a:p>
        </p:txBody>
      </p:sp>
      <p:sp>
        <p:nvSpPr>
          <p:cNvPr id="20" name="Text 13"/>
          <p:cNvSpPr/>
          <p:nvPr/>
        </p:nvSpPr>
        <p:spPr>
          <a:xfrm>
            <a:off x="342900" y="1351508"/>
            <a:ext cx="2006394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Total, aktif, selesai. Filter waktu.</a:t>
            </a:r>
            <a:endParaRPr lang="en-US" sz="619" dirty="0"/>
          </a:p>
        </p:txBody>
      </p:sp>
      <p:sp>
        <p:nvSpPr>
          <p:cNvPr id="21" name="Text 14"/>
          <p:cNvSpPr/>
          <p:nvPr/>
        </p:nvSpPr>
        <p:spPr>
          <a:xfrm>
            <a:off x="346472" y="1518270"/>
            <a:ext cx="1889522" cy="1837060"/>
          </a:xfrm>
          <a:prstGeom prst="roundRect">
            <a:avLst>
              <a:gd name="adj" fmla="val 4148"/>
            </a:avLst>
          </a:prstGeom>
          <a:solidFill>
            <a:srgbClr val="E7DBFA"/>
          </a:solidFill>
          <a:ln w="7144">
            <a:solidFill>
              <a:srgbClr val="C5B3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342900" y="3430339"/>
            <a:ext cx="1896666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Statistik &amp; Progress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2403872" y="1044327"/>
            <a:ext cx="2132409" cy="2557463"/>
          </a:xfrm>
          <a:prstGeom prst="roundRect">
            <a:avLst>
              <a:gd name="adj" fmla="val 53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17"/>
          <p:cNvSpPr/>
          <p:nvPr/>
        </p:nvSpPr>
        <p:spPr>
          <a:xfrm>
            <a:off x="2403872" y="1047899"/>
            <a:ext cx="2132409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532709" y="1044327"/>
            <a:ext cx="0" cy="2557463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2403872" y="3598218"/>
            <a:ext cx="2132409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2425303" y="1044327"/>
            <a:ext cx="0" cy="2557463"/>
          </a:xfrm>
          <a:prstGeom prst="line">
            <a:avLst/>
          </a:prstGeom>
          <a:noFill/>
          <a:ln w="42863">
            <a:solidFill>
              <a:srgbClr val="F97316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2546747" y="1137196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📄</a:t>
            </a:r>
            <a:endParaRPr lang="en-US" sz="1238" dirty="0"/>
          </a:p>
        </p:txBody>
      </p:sp>
      <p:sp>
        <p:nvSpPr>
          <p:cNvPr id="29" name="Text 22"/>
          <p:cNvSpPr/>
          <p:nvPr/>
        </p:nvSpPr>
        <p:spPr>
          <a:xfrm>
            <a:off x="2796778" y="1158292"/>
            <a:ext cx="1646634" cy="126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Laporan SKP per Petugas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2546747" y="1351508"/>
            <a:ext cx="2006394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Download PDF/Excel bukti kinerja.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2550319" y="1518270"/>
            <a:ext cx="1889522" cy="1837060"/>
          </a:xfrm>
          <a:prstGeom prst="roundRect">
            <a:avLst>
              <a:gd name="adj" fmla="val 4148"/>
            </a:avLst>
          </a:prstGeom>
          <a:solidFill>
            <a:srgbClr val="E7DBFA"/>
          </a:solidFill>
          <a:ln w="7144">
            <a:solidFill>
              <a:srgbClr val="C5B3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2546747" y="3430339"/>
            <a:ext cx="1896666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Laporan Kegiatan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4607719" y="1044327"/>
            <a:ext cx="2132409" cy="2557463"/>
          </a:xfrm>
          <a:prstGeom prst="roundRect">
            <a:avLst>
              <a:gd name="adj" fmla="val 53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8575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27"/>
          <p:cNvSpPr/>
          <p:nvPr/>
        </p:nvSpPr>
        <p:spPr>
          <a:xfrm>
            <a:off x="4607719" y="1047899"/>
            <a:ext cx="2132409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736556" y="1044327"/>
            <a:ext cx="0" cy="2557463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607719" y="3598218"/>
            <a:ext cx="2132409" cy="0"/>
          </a:xfrm>
          <a:prstGeom prst="line">
            <a:avLst/>
          </a:prstGeom>
          <a:noFill/>
          <a:ln w="7144">
            <a:solidFill>
              <a:srgbClr val="4C2A85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629150" y="1044327"/>
            <a:ext cx="0" cy="2557463"/>
          </a:xfrm>
          <a:prstGeom prst="line">
            <a:avLst/>
          </a:prstGeom>
          <a:noFill/>
          <a:ln w="42863">
            <a:solidFill>
              <a:srgbClr val="2563EB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750594" y="1137196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endParaRPr lang="en-US" sz="1238" dirty="0"/>
          </a:p>
        </p:txBody>
      </p:sp>
      <p:sp>
        <p:nvSpPr>
          <p:cNvPr id="39" name="Text 32"/>
          <p:cNvSpPr/>
          <p:nvPr/>
        </p:nvSpPr>
        <p:spPr>
          <a:xfrm>
            <a:off x="5000625" y="1158292"/>
            <a:ext cx="1646634" cy="126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 Tracker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4750594" y="1351508"/>
            <a:ext cx="2006394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Transparansi publik via link.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4754166" y="1518270"/>
            <a:ext cx="1889522" cy="1837060"/>
          </a:xfrm>
          <a:prstGeom prst="roundRect">
            <a:avLst>
              <a:gd name="adj" fmla="val 4148"/>
            </a:avLst>
          </a:prstGeom>
          <a:solidFill>
            <a:srgbClr val="E7DBFA"/>
          </a:solidFill>
          <a:ln w="7144">
            <a:solidFill>
              <a:srgbClr val="C5B3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4750594" y="3430339"/>
            <a:ext cx="1896666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?public=tracker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6811566" y="1044327"/>
            <a:ext cx="2132409" cy="2557463"/>
          </a:xfrm>
          <a:prstGeom prst="roundRect">
            <a:avLst>
              <a:gd name="adj" fmla="val 53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50800" dir="16200000">
              <a:srgbClr val="D4AF37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37"/>
          <p:cNvSpPr/>
          <p:nvPr/>
        </p:nvSpPr>
        <p:spPr>
          <a:xfrm>
            <a:off x="6811566" y="1047899"/>
            <a:ext cx="2132409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940403" y="1044327"/>
            <a:ext cx="0" cy="2557463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811566" y="3598218"/>
            <a:ext cx="2132409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832997" y="1044327"/>
            <a:ext cx="0" cy="2557463"/>
          </a:xfrm>
          <a:prstGeom prst="line">
            <a:avLst/>
          </a:prstGeom>
          <a:noFill/>
          <a:ln w="42863">
            <a:solidFill>
              <a:srgbClr val="D4AF37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8729663" y="1094333"/>
            <a:ext cx="121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⭐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6954441" y="1137196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⭐</a:t>
            </a:r>
            <a:endParaRPr lang="en-US" sz="1238" dirty="0"/>
          </a:p>
        </p:txBody>
      </p:sp>
      <p:sp>
        <p:nvSpPr>
          <p:cNvPr id="50" name="Text 43"/>
          <p:cNvSpPr/>
          <p:nvPr/>
        </p:nvSpPr>
        <p:spPr>
          <a:xfrm>
            <a:off x="7204472" y="1158292"/>
            <a:ext cx="1646634" cy="126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 Stats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6954441" y="1351508"/>
            <a:ext cx="2006394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44444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Photo count + download count per gallery.</a:t>
            </a:r>
            <a:endParaRPr lang="en-US" sz="619" dirty="0"/>
          </a:p>
        </p:txBody>
      </p:sp>
      <p:sp>
        <p:nvSpPr>
          <p:cNvPr id="52" name="Text 45"/>
          <p:cNvSpPr/>
          <p:nvPr/>
        </p:nvSpPr>
        <p:spPr>
          <a:xfrm>
            <a:off x="6958013" y="1518270"/>
            <a:ext cx="1889522" cy="1837060"/>
          </a:xfrm>
          <a:prstGeom prst="roundRect">
            <a:avLst>
              <a:gd name="adj" fmla="val 4148"/>
            </a:avLst>
          </a:prstGeom>
          <a:solidFill>
            <a:srgbClr val="E7DBFA"/>
          </a:solidFill>
          <a:ln w="7144">
            <a:solidFill>
              <a:srgbClr val="C5B3E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6"/>
          <p:cNvSpPr/>
          <p:nvPr/>
        </p:nvSpPr>
        <p:spPr>
          <a:xfrm>
            <a:off x="6954441" y="3430339"/>
            <a:ext cx="200639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buNone/>
            </a:pPr>
            <a:r>
              <a:rPr lang="en-US" sz="800" b="1" u="sng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lihum.synclicen.workers.dev</a:t>
            </a:r>
            <a:endParaRPr lang="en-US" sz="800" dirty="0"/>
          </a:p>
        </p:txBody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25" y="3687514"/>
            <a:ext cx="8743950" cy="1255961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207169" y="3694658"/>
            <a:ext cx="8729663" cy="1241673"/>
          </a:xfrm>
          <a:prstGeom prst="roundRect">
            <a:avLst>
              <a:gd name="adj" fmla="val 10740"/>
            </a:avLst>
          </a:prstGeom>
          <a:noFill/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152400" dist="38100" dir="5400000">
              <a:srgbClr val="4C2A85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3192904" y="4005523"/>
            <a:ext cx="2758081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6" spc="23" kern="0" dirty="0">
                <a:solidFill>
                  <a:srgbClr val="F4D67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pPr algn="ctr" indent="0" marL="0">
              <a:buNone/>
            </a:pPr>
            <a:r>
              <a:rPr lang="en-US" sz="956" b="1" spc="23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Ringkasan: 6 Indikator Terpenuhi 100%</a:t>
            </a:r>
            <a:endParaRPr lang="en-US" sz="956" dirty="0"/>
          </a:p>
        </p:txBody>
      </p:sp>
      <p:sp>
        <p:nvSpPr>
          <p:cNvPr id="57" name="Text 49"/>
          <p:cNvSpPr/>
          <p:nvPr/>
        </p:nvSpPr>
        <p:spPr>
          <a:xfrm>
            <a:off x="714375" y="4212692"/>
            <a:ext cx="7715250" cy="292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— sistem yang mewadahi proses produksi bagi user DAN manajemen bagi humas. Dari </a:t>
            </a:r>
            <a:pPr algn="ctr" indent="0" marL="0">
              <a:lnSpc>
                <a:spcPts val="979"/>
              </a:lnSpc>
              <a:buNone/>
            </a:pPr>
            <a:r>
              <a:rPr lang="en-US" sz="800" b="1" dirty="0">
                <a:solidFill>
                  <a:srgbClr val="F4D678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objektif</a:t>
            </a:r>
            <a:pPr algn="ctr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(Surat → Kegiatan → Proyek) hingga </a:t>
            </a:r>
            <a:pPr algn="ctr" indent="0" marL="0">
              <a:lnSpc>
                <a:spcPts val="979"/>
              </a:lnSpc>
              <a:buNone/>
            </a:pPr>
            <a:r>
              <a:rPr lang="en-US" sz="800" b="1" dirty="0">
                <a:solidFill>
                  <a:srgbClr val="F4D678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pengukuran</a:t>
            </a:r>
            <a:pPr algn="ctr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(Laporan SKP + LIHUM stats). Inovasi integrasi </a:t>
            </a:r>
            <a:pPr algn="ctr" indent="0" marL="0">
              <a:lnSpc>
                <a:spcPts val="979"/>
              </a:lnSpc>
              <a:buNone/>
            </a:pPr>
            <a:r>
              <a:rPr lang="en-US" sz="800" b="1" dirty="0">
                <a:solidFill>
                  <a:srgbClr val="F4D678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</a:t>
            </a:r>
            <a:pPr algn="ctr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= workflow end-to-end otomatis.</a:t>
            </a:r>
            <a:endParaRPr lang="en-US" sz="800" dirty="0"/>
          </a:p>
        </p:txBody>
      </p:sp>
      <p:sp>
        <p:nvSpPr>
          <p:cNvPr id="58" name="Text 50"/>
          <p:cNvSpPr/>
          <p:nvPr/>
        </p:nvSpPr>
        <p:spPr>
          <a:xfrm>
            <a:off x="2484797" y="4532598"/>
            <a:ext cx="4174294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9" b="1" spc="17" kern="0" dirty="0">
                <a:solidFill>
                  <a:srgbClr val="F4D678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Pusat Humas dan Keterbukaan Informasi | UIN Antasari Banjarmasin | app.pushakin-flows.workers.dev</a:t>
            </a:r>
            <a:endParaRPr lang="en-US" sz="619" dirty="0"/>
          </a:p>
        </p:txBody>
      </p:sp>
      <p:pic>
        <p:nvPicPr>
          <p:cNvPr id="59" name="Image 6" descr="/tmp/h2p-fit-1791105370589-pj6lq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044" y="2012528"/>
            <a:ext cx="1882378" cy="848432"/>
          </a:xfrm>
          <a:prstGeom prst="rect">
            <a:avLst/>
          </a:prstGeom>
        </p:spPr>
      </p:pic>
      <p:pic>
        <p:nvPicPr>
          <p:cNvPr id="60" name="Image 7" descr="/tmp/h2p-fit-1791105370590-sjba7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3891" y="2012528"/>
            <a:ext cx="1882378" cy="848432"/>
          </a:xfrm>
          <a:prstGeom prst="rect">
            <a:avLst/>
          </a:prstGeom>
        </p:spPr>
      </p:pic>
      <p:pic>
        <p:nvPicPr>
          <p:cNvPr id="61" name="Image 8" descr="/tmp/h2p-fit-1791105370590-hxs0c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7738" y="2012528"/>
            <a:ext cx="1882378" cy="848432"/>
          </a:xfrm>
          <a:prstGeom prst="rect">
            <a:avLst/>
          </a:prstGeom>
        </p:spPr>
      </p:pic>
      <p:pic>
        <p:nvPicPr>
          <p:cNvPr id="62" name="Image 9" descr="/tmp/h2p-fit-1791105370591-t2pnw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1584" y="1907381"/>
            <a:ext cx="1882378" cy="10588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2026-10-04T09:16:10Z</dcterms:created>
  <dcterms:modified xsi:type="dcterms:W3CDTF">2026-10-04T09:16:10Z</dcterms:modified>
</cp:coreProperties>
</file>