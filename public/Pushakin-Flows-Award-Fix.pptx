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57576" y="1114425"/>
            <a:ext cx="428625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3608250" y="1578769"/>
            <a:ext cx="1927389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13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3449315" y="1914525"/>
            <a:ext cx="224525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6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Produksi &amp; Manajemen Humas</a:t>
            </a:r>
            <a:endParaRPr lang="en-US" sz="956" dirty="0"/>
          </a:p>
        </p:txBody>
      </p:sp>
      <p:sp>
        <p:nvSpPr>
          <p:cNvPr id="7" name="Text 3"/>
          <p:cNvSpPr/>
          <p:nvPr/>
        </p:nvSpPr>
        <p:spPr>
          <a:xfrm>
            <a:off x="4071826" y="2114550"/>
            <a:ext cx="1000125" cy="21431"/>
          </a:xfrm>
          <a:prstGeom prst="roundRect">
            <a:avLst>
              <a:gd name="adj" fmla="val 88890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467063" y="2193131"/>
            <a:ext cx="2209763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1" dirty="0">
                <a:solidFill>
                  <a:srgbClr val="FFFFFF">
                    <a:alpha val="90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Penghargaan Pengelolaan Komunikasi Publik Inovatif</a:t>
            </a:r>
            <a:endParaRPr lang="en-US" sz="731" dirty="0"/>
          </a:p>
        </p:txBody>
      </p:sp>
      <p:sp>
        <p:nvSpPr>
          <p:cNvPr id="9" name="Text 5"/>
          <p:cNvSpPr/>
          <p:nvPr/>
        </p:nvSpPr>
        <p:spPr>
          <a:xfrm>
            <a:off x="3556360" y="2357438"/>
            <a:ext cx="2031057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19" dirty="0">
                <a:solidFill>
                  <a:srgbClr val="FFFFFF">
                    <a:alpha val="70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Kementerian Agama RI — UIN Antasari Banjarmasin 2026</a:t>
            </a:r>
            <a:endParaRPr lang="en-US" sz="619" dirty="0"/>
          </a:p>
        </p:txBody>
      </p:sp>
      <p:sp>
        <p:nvSpPr>
          <p:cNvPr id="10" name="Text 6"/>
          <p:cNvSpPr/>
          <p:nvPr/>
        </p:nvSpPr>
        <p:spPr>
          <a:xfrm>
            <a:off x="3644875" y="2593181"/>
            <a:ext cx="1854250" cy="1207294"/>
          </a:xfrm>
          <a:prstGeom prst="roundRect">
            <a:avLst>
              <a:gd name="adj" fmla="val 11045"/>
            </a:avLst>
          </a:prstGeom>
          <a:solidFill>
            <a:srgbClr val="FFFFFF"/>
          </a:solidFill>
          <a:ln w="14288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823469" y="2714625"/>
            <a:ext cx="1556945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8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Daftar Isi — Alur Proses Sistem</a:t>
            </a:r>
            <a:endParaRPr lang="en-US" sz="788" dirty="0"/>
          </a:p>
        </p:txBody>
      </p:sp>
      <p:sp>
        <p:nvSpPr>
          <p:cNvPr id="12" name="Text 8"/>
          <p:cNvSpPr/>
          <p:nvPr/>
        </p:nvSpPr>
        <p:spPr>
          <a:xfrm>
            <a:off x="3823469" y="2900363"/>
            <a:ext cx="1586886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 Pengertian &amp; Tujuan Sistem</a:t>
            </a:r>
            <a:endParaRPr lang="en-US" sz="675" dirty="0"/>
          </a:p>
        </p:txBody>
      </p:sp>
      <p:sp>
        <p:nvSpPr>
          <p:cNvPr id="13" name="Text 9"/>
          <p:cNvSpPr/>
          <p:nvPr/>
        </p:nvSpPr>
        <p:spPr>
          <a:xfrm>
            <a:off x="3823469" y="3036094"/>
            <a:ext cx="1586886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 Alur Surat → Inisiasi Proyek</a:t>
            </a:r>
            <a:endParaRPr lang="en-US" sz="675" dirty="0"/>
          </a:p>
        </p:txBody>
      </p:sp>
      <p:sp>
        <p:nvSpPr>
          <p:cNvPr id="14" name="Text 10"/>
          <p:cNvSpPr/>
          <p:nvPr/>
        </p:nvSpPr>
        <p:spPr>
          <a:xfrm>
            <a:off x="3823469" y="3171825"/>
            <a:ext cx="1586886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 Manajemen Surat &amp; Inventaris</a:t>
            </a:r>
            <a:endParaRPr lang="en-US" sz="675" dirty="0"/>
          </a:p>
        </p:txBody>
      </p:sp>
      <p:sp>
        <p:nvSpPr>
          <p:cNvPr id="15" name="Text 11"/>
          <p:cNvSpPr/>
          <p:nvPr/>
        </p:nvSpPr>
        <p:spPr>
          <a:xfrm>
            <a:off x="3823469" y="3307556"/>
            <a:ext cx="1586886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 16 Role, Pesan &amp; Laporan SKP</a:t>
            </a:r>
            <a:endParaRPr lang="en-US" sz="675" dirty="0"/>
          </a:p>
        </p:txBody>
      </p:sp>
      <p:sp>
        <p:nvSpPr>
          <p:cNvPr id="16" name="Text 12"/>
          <p:cNvSpPr/>
          <p:nvPr/>
        </p:nvSpPr>
        <p:spPr>
          <a:xfrm>
            <a:off x="3823469" y="3443288"/>
            <a:ext cx="1586886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 Inovasi Integrasi: LIHUM</a:t>
            </a:r>
            <a:endParaRPr lang="en-US" sz="675" dirty="0"/>
          </a:p>
        </p:txBody>
      </p:sp>
      <p:sp>
        <p:nvSpPr>
          <p:cNvPr id="17" name="Text 13"/>
          <p:cNvSpPr/>
          <p:nvPr/>
        </p:nvSpPr>
        <p:spPr>
          <a:xfrm>
            <a:off x="3823469" y="3579019"/>
            <a:ext cx="158688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 Eksekusi, Pengukuran &amp; Penutup</a:t>
            </a:r>
            <a:endParaRPr lang="en-US" sz="675" dirty="0"/>
          </a:p>
        </p:txBody>
      </p:sp>
      <p:sp>
        <p:nvSpPr>
          <p:cNvPr id="18" name="Text 14"/>
          <p:cNvSpPr/>
          <p:nvPr/>
        </p:nvSpPr>
        <p:spPr>
          <a:xfrm>
            <a:off x="3672446" y="3950494"/>
            <a:ext cx="1798997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Hubangan Masyarakat dan Keterbukaan Informasi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1450"/>
            <a:ext cx="8686800" cy="3071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1475" y="242888"/>
            <a:ext cx="84010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 Pengertian &amp; Tujuan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8007586" y="241030"/>
            <a:ext cx="764939" cy="168021"/>
          </a:xfrm>
          <a:prstGeom prst="roundRect">
            <a:avLst>
              <a:gd name="adj" fmla="val 566326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7586" y="250031"/>
            <a:ext cx="7649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🎯 Objektif 20%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28600" y="550069"/>
            <a:ext cx="342617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Apa itu Pushakin Flows?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28600" y="714375"/>
            <a:ext cx="3263019" cy="323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manajemen produksi kehumasan terintegrasi end-to-end. Mewadahi proses produksi bagi setiap user sesuai peran, dan menyediakan manajemen terintegrasi untuk Humas.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28600" y="1065758"/>
            <a:ext cx="342617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Tujuan Sistem — 3 Step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28600" y="1230064"/>
            <a:ext cx="200025" cy="20002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28600" y="1230064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00063" y="1272927"/>
            <a:ext cx="1301587" cy="9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Dokumentasi tujuan komunikasi</a:t>
            </a:r>
            <a:endParaRPr lang="en-US" sz="619" dirty="0"/>
          </a:p>
        </p:txBody>
      </p:sp>
      <p:sp>
        <p:nvSpPr>
          <p:cNvPr id="12" name="Text 9"/>
          <p:cNvSpPr/>
          <p:nvPr/>
        </p:nvSpPr>
        <p:spPr>
          <a:xfrm>
            <a:off x="228600" y="1594396"/>
            <a:ext cx="200025" cy="200025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28600" y="1594396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0063" y="1637258"/>
            <a:ext cx="1959674" cy="9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Mewadahi proses produksi + manajemen Humas</a:t>
            </a:r>
            <a:endParaRPr lang="en-US" sz="619" dirty="0"/>
          </a:p>
        </p:txBody>
      </p:sp>
      <p:sp>
        <p:nvSpPr>
          <p:cNvPr id="15" name="Text 12"/>
          <p:cNvSpPr/>
          <p:nvPr/>
        </p:nvSpPr>
        <p:spPr>
          <a:xfrm>
            <a:off x="228600" y="1958727"/>
            <a:ext cx="200025" cy="200025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28600" y="1958727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00063" y="2001589"/>
            <a:ext cx="1585604" cy="9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Bukti kinerja SKP + transparansi publik</a:t>
            </a:r>
            <a:endParaRPr lang="en-US" sz="619" dirty="0"/>
          </a:p>
        </p:txBody>
      </p:sp>
      <p:sp>
        <p:nvSpPr>
          <p:cNvPr id="18" name="Text 15"/>
          <p:cNvSpPr/>
          <p:nvPr/>
        </p:nvSpPr>
        <p:spPr>
          <a:xfrm>
            <a:off x="3598776" y="860822"/>
            <a:ext cx="5309481" cy="3414713"/>
          </a:xfrm>
          <a:prstGeom prst="roundRect">
            <a:avLst>
              <a:gd name="adj" fmla="val 2789"/>
            </a:avLst>
          </a:prstGeom>
          <a:noFill/>
          <a:ln w="14288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1" descr="/tmp/h2p-fit-1791163388092-t314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919" y="867966"/>
            <a:ext cx="5295193" cy="340042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704588" y="4311253"/>
            <a:ext cx="1097856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app.pushakin-flows.workers.dev</a:t>
            </a:r>
            <a:endParaRPr lang="en-US" sz="600" dirty="0"/>
          </a:p>
        </p:txBody>
      </p:sp>
      <p:sp>
        <p:nvSpPr>
          <p:cNvPr id="21" name="Text 17"/>
          <p:cNvSpPr/>
          <p:nvPr/>
        </p:nvSpPr>
        <p:spPr>
          <a:xfrm>
            <a:off x="228600" y="4764881"/>
            <a:ext cx="8686800" cy="207169"/>
          </a:xfrm>
          <a:prstGeom prst="roundRect">
            <a:avLst>
              <a:gd name="adj" fmla="val 45977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228600" y="4764881"/>
            <a:ext cx="8636000" cy="289283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Tujuan komunikasi terdokumentasi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step: Surat → Kegiatan → Proyek. Objektif jelas, terukur, tertulis.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1450"/>
            <a:ext cx="8686800" cy="3071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1475" y="242888"/>
            <a:ext cx="815429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 Alur Surat → Inisiasi Proyek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8007474" y="241030"/>
            <a:ext cx="765051" cy="168021"/>
          </a:xfrm>
          <a:prstGeom prst="roundRect">
            <a:avLst>
              <a:gd name="adj" fmla="val 566326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007474" y="250031"/>
            <a:ext cx="76505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♟️ Strategi 20%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28600" y="564356"/>
            <a:ext cx="863600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Dari surat masuk hingga tim mulai produksi — 5 step berurutan dengan nomor.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28600" y="714375"/>
            <a:ext cx="4508063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Alur Proses — 5 Step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28600" y="900113"/>
            <a:ext cx="200025" cy="200025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28600" y="900113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0063" y="942975"/>
            <a:ext cx="690468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📬</a:t>
            </a:r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Surat Masuk</a:t>
            </a:r>
            <a:endParaRPr lang="en-US" sz="619" dirty="0"/>
          </a:p>
        </p:txBody>
      </p:sp>
      <p:sp>
        <p:nvSpPr>
          <p:cNvPr id="11" name="Text 8"/>
          <p:cNvSpPr/>
          <p:nvPr/>
        </p:nvSpPr>
        <p:spPr>
          <a:xfrm>
            <a:off x="228600" y="1382316"/>
            <a:ext cx="200025" cy="200025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28600" y="1382316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0063" y="1425178"/>
            <a:ext cx="1080492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Diteruskan ke Manager</a:t>
            </a:r>
            <a:endParaRPr lang="en-US" sz="619" dirty="0"/>
          </a:p>
        </p:txBody>
      </p:sp>
      <p:sp>
        <p:nvSpPr>
          <p:cNvPr id="14" name="Text 11"/>
          <p:cNvSpPr/>
          <p:nvPr/>
        </p:nvSpPr>
        <p:spPr>
          <a:xfrm>
            <a:off x="228600" y="1746647"/>
            <a:ext cx="200025" cy="20002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28600" y="1746647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0063" y="1789509"/>
            <a:ext cx="1098579" cy="9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🏗</a:t>
            </a:r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Manager Inisiasi Proyek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228600" y="2228850"/>
            <a:ext cx="200025" cy="200025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28600" y="2228850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00063" y="2271713"/>
            <a:ext cx="1025854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📨</a:t>
            </a:r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Surat Tugas Otomatis</a:t>
            </a:r>
            <a:endParaRPr lang="en-US" sz="619" dirty="0"/>
          </a:p>
        </p:txBody>
      </p:sp>
      <p:sp>
        <p:nvSpPr>
          <p:cNvPr id="20" name="Text 17"/>
          <p:cNvSpPr/>
          <p:nvPr/>
        </p:nvSpPr>
        <p:spPr>
          <a:xfrm>
            <a:off x="228600" y="2593181"/>
            <a:ext cx="200025" cy="200025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28600" y="2593181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00063" y="2636044"/>
            <a:ext cx="985597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▶️ Tim Mulai Produksi</a:t>
            </a:r>
            <a:endParaRPr lang="en-US" sz="619" dirty="0"/>
          </a:p>
        </p:txBody>
      </p:sp>
      <p:sp>
        <p:nvSpPr>
          <p:cNvPr id="23" name="Text 20"/>
          <p:cNvSpPr/>
          <p:nvPr/>
        </p:nvSpPr>
        <p:spPr>
          <a:xfrm>
            <a:off x="4629150" y="721519"/>
            <a:ext cx="4279106" cy="1818084"/>
          </a:xfrm>
          <a:prstGeom prst="roundRect">
            <a:avLst>
              <a:gd name="adj" fmla="val 5239"/>
            </a:avLst>
          </a:prstGeom>
          <a:noFill/>
          <a:ln w="14288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1" descr="/tmp/h2p-fit-1791163387862-iv47u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294" y="728663"/>
            <a:ext cx="4264819" cy="1803797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367693" y="2603897"/>
            <a:ext cx="80202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1: Manajemen Surat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4629150" y="2739628"/>
            <a:ext cx="4279106" cy="1818084"/>
          </a:xfrm>
          <a:prstGeom prst="roundRect">
            <a:avLst>
              <a:gd name="adj" fmla="val 5239"/>
            </a:avLst>
          </a:prstGeom>
          <a:noFill/>
          <a:ln w="14288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2" descr="/tmp/h2p-fit-1791163387863-jfzm5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294" y="2746772"/>
            <a:ext cx="4264819" cy="1803797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61805" y="4622006"/>
            <a:ext cx="813684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3: Form Buat Proyek</a:t>
            </a:r>
            <a:endParaRPr lang="en-US" sz="600" dirty="0"/>
          </a:p>
        </p:txBody>
      </p:sp>
      <p:sp>
        <p:nvSpPr>
          <p:cNvPr id="29" name="Text 24"/>
          <p:cNvSpPr/>
          <p:nvPr/>
        </p:nvSpPr>
        <p:spPr>
          <a:xfrm>
            <a:off x="228600" y="4764881"/>
            <a:ext cx="8686800" cy="207169"/>
          </a:xfrm>
          <a:prstGeom prst="roundRect">
            <a:avLst>
              <a:gd name="adj" fmla="val 45977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228600" y="4764881"/>
            <a:ext cx="8636000" cy="289283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Alur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step: Surat Masuk → Diteruskan → Manager Inisiasi → Surat Tugas → Tim Produksi. Proses terdokumentasi &amp; terstruktur.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1450"/>
            <a:ext cx="8686800" cy="3071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1475" y="242888"/>
            <a:ext cx="777697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 Manajemen Surat &amp; Inventaris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658100" y="245031"/>
            <a:ext cx="1114425" cy="160020"/>
          </a:xfrm>
          <a:prstGeom prst="roundRect">
            <a:avLst>
              <a:gd name="adj" fmla="val 5946429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658100" y="253603"/>
            <a:ext cx="11144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Modul Pendukung Utama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39316" y="560784"/>
            <a:ext cx="4271963" cy="2657475"/>
          </a:xfrm>
          <a:prstGeom prst="roundRect">
            <a:avLst>
              <a:gd name="adj" fmla="val 3584"/>
            </a:avLst>
          </a:prstGeom>
          <a:solidFill>
            <a:srgbClr val="FFFFFF"/>
          </a:solidFill>
          <a:ln w="21431">
            <a:solidFill>
              <a:srgbClr val="0D9488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35756" y="657225"/>
            <a:ext cx="407908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📬 Manajemen Surat — 4 Step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35756" y="807244"/>
            <a:ext cx="171450" cy="17145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35756" y="807244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8644" y="835819"/>
            <a:ext cx="798525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Catat surat masuk</a:t>
            </a:r>
            <a:endParaRPr lang="en-US" sz="619" dirty="0"/>
          </a:p>
        </p:txBody>
      </p:sp>
      <p:sp>
        <p:nvSpPr>
          <p:cNvPr id="11" name="Text 8"/>
          <p:cNvSpPr/>
          <p:nvPr/>
        </p:nvSpPr>
        <p:spPr>
          <a:xfrm>
            <a:off x="335756" y="1100138"/>
            <a:ext cx="171450" cy="17145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35756" y="1100138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50848" y="1128713"/>
            <a:ext cx="593131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Track status</a:t>
            </a:r>
            <a:endParaRPr lang="en-US" sz="619" dirty="0"/>
          </a:p>
        </p:txBody>
      </p:sp>
      <p:sp>
        <p:nvSpPr>
          <p:cNvPr id="14" name="Text 11"/>
          <p:cNvSpPr/>
          <p:nvPr/>
        </p:nvSpPr>
        <p:spPr>
          <a:xfrm>
            <a:off x="335756" y="1393031"/>
            <a:ext cx="171450" cy="17145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35756" y="1393031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78644" y="1421606"/>
            <a:ext cx="1190997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Upload dokumen pendukung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335756" y="1685925"/>
            <a:ext cx="171450" cy="17145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35756" y="1685925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78644" y="1714500"/>
            <a:ext cx="929083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Rekapitulasi + export</a:t>
            </a:r>
            <a:endParaRPr lang="en-US" sz="619" dirty="0"/>
          </a:p>
        </p:txBody>
      </p:sp>
      <p:sp>
        <p:nvSpPr>
          <p:cNvPr id="20" name="Text 17"/>
          <p:cNvSpPr/>
          <p:nvPr/>
        </p:nvSpPr>
        <p:spPr>
          <a:xfrm>
            <a:off x="342900" y="1985963"/>
            <a:ext cx="4064794" cy="1128713"/>
          </a:xfrm>
          <a:prstGeom prst="roundRect">
            <a:avLst>
              <a:gd name="adj" fmla="val 8439"/>
            </a:avLst>
          </a:prstGeom>
          <a:noFill/>
          <a:ln w="14288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1" descr="/tmp/h2p-fit-1791163387855-ji0jg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44" y="1993106"/>
            <a:ext cx="4050506" cy="111442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632722" y="560784"/>
            <a:ext cx="4271963" cy="2657475"/>
          </a:xfrm>
          <a:prstGeom prst="roundRect">
            <a:avLst>
              <a:gd name="adj" fmla="val 3584"/>
            </a:avLst>
          </a:prstGeom>
          <a:solidFill>
            <a:srgbClr val="FFFFFF"/>
          </a:solidFill>
          <a:ln w="21431">
            <a:solidFill>
              <a:srgbClr val="EA580C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729163" y="657225"/>
            <a:ext cx="4188809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📦 Manajemen Inventaris — 4 Step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729163" y="807244"/>
            <a:ext cx="171450" cy="17145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729163" y="807244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972050" y="835819"/>
            <a:ext cx="598763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CRUD barang</a:t>
            </a:r>
            <a:endParaRPr lang="en-US" sz="619" dirty="0"/>
          </a:p>
        </p:txBody>
      </p:sp>
      <p:sp>
        <p:nvSpPr>
          <p:cNvPr id="27" name="Text 23"/>
          <p:cNvSpPr/>
          <p:nvPr/>
        </p:nvSpPr>
        <p:spPr>
          <a:xfrm>
            <a:off x="4729163" y="1100138"/>
            <a:ext cx="171450" cy="17145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729163" y="1100138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972050" y="1128713"/>
            <a:ext cx="542641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Peminjaman</a:t>
            </a:r>
            <a:endParaRPr lang="en-US" sz="619" dirty="0"/>
          </a:p>
        </p:txBody>
      </p:sp>
      <p:sp>
        <p:nvSpPr>
          <p:cNvPr id="30" name="Text 26"/>
          <p:cNvSpPr/>
          <p:nvPr/>
        </p:nvSpPr>
        <p:spPr>
          <a:xfrm>
            <a:off x="4729163" y="1393031"/>
            <a:ext cx="171450" cy="17145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729163" y="1393031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4972050" y="1421606"/>
            <a:ext cx="536639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Pembagian</a:t>
            </a:r>
            <a:endParaRPr lang="en-US" sz="619" dirty="0"/>
          </a:p>
        </p:txBody>
      </p:sp>
      <p:sp>
        <p:nvSpPr>
          <p:cNvPr id="33" name="Text 29"/>
          <p:cNvSpPr/>
          <p:nvPr/>
        </p:nvSpPr>
        <p:spPr>
          <a:xfrm>
            <a:off x="4729163" y="1685925"/>
            <a:ext cx="171450" cy="171450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4729163" y="1685925"/>
            <a:ext cx="2071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972050" y="1714500"/>
            <a:ext cx="905649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History + Rekapitulasi</a:t>
            </a:r>
            <a:endParaRPr lang="en-US" sz="619" dirty="0"/>
          </a:p>
        </p:txBody>
      </p:sp>
      <p:sp>
        <p:nvSpPr>
          <p:cNvPr id="36" name="Text 32"/>
          <p:cNvSpPr/>
          <p:nvPr/>
        </p:nvSpPr>
        <p:spPr>
          <a:xfrm>
            <a:off x="4736306" y="1985963"/>
            <a:ext cx="4064794" cy="1128713"/>
          </a:xfrm>
          <a:prstGeom prst="roundRect">
            <a:avLst>
              <a:gd name="adj" fmla="val 8439"/>
            </a:avLst>
          </a:prstGeom>
          <a:noFill/>
          <a:ln w="14288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2" descr="/tmp/h2p-fit-1791163387857-paqnx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1993106"/>
            <a:ext cx="4050506" cy="1114425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228600" y="4764881"/>
            <a:ext cx="8686800" cy="207169"/>
          </a:xfrm>
          <a:prstGeom prst="roundRect">
            <a:avLst>
              <a:gd name="adj" fmla="val 45977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228600" y="4764881"/>
            <a:ext cx="8636000" cy="289283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Surat = dokumentasi objektif (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step). Inventaris = dukungan eksekusi (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step). Keduanya menghasilkan laporan SKP.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1450"/>
            <a:ext cx="8686800" cy="3071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1475" y="242888"/>
            <a:ext cx="788534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 16 Role, Pesan &amp; Laporan SKP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758447" y="241030"/>
            <a:ext cx="1014078" cy="168021"/>
          </a:xfrm>
          <a:prstGeom prst="roundRect">
            <a:avLst>
              <a:gd name="adj" fmla="val 566326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758447" y="250031"/>
            <a:ext cx="101407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💬 Key Messages 15%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28600" y="550069"/>
            <a:ext cx="863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Role &amp; Tugas per Tahap — 5 Step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28600" y="664369"/>
            <a:ext cx="1714500" cy="464344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228600" y="678656"/>
            <a:ext cx="1714500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39528" y="664369"/>
            <a:ext cx="0" cy="464344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" y="1125141"/>
            <a:ext cx="171450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2172" y="664369"/>
            <a:ext cx="0" cy="464344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894" y="750094"/>
            <a:ext cx="158591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1: 🔵 PRODUKSI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92894" y="842963"/>
            <a:ext cx="1585913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role: Reporter, Creator, Photographer, Designer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92894" y="928688"/>
            <a:ext cx="1681067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upload konten mentah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971675" y="664369"/>
            <a:ext cx="1714500" cy="464344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1971675" y="678656"/>
            <a:ext cx="1714500" cy="0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82603" y="664369"/>
            <a:ext cx="0" cy="464344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71675" y="1125141"/>
            <a:ext cx="171450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975247" y="664369"/>
            <a:ext cx="0" cy="464344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35969" y="750094"/>
            <a:ext cx="158591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2: 🟠 PASCA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035969" y="842963"/>
            <a:ext cx="1585913" cy="129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 role: Editor Video, Web, Foto, Template, Streaming, Podcast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2035969" y="1000125"/>
            <a:ext cx="158591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edit &amp; upload hasil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714750" y="664369"/>
            <a:ext cx="1714500" cy="464344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3714750" y="678656"/>
            <a:ext cx="1714500" cy="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25678" y="664369"/>
            <a:ext cx="0" cy="464344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14750" y="1125141"/>
            <a:ext cx="171450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718322" y="664369"/>
            <a:ext cx="0" cy="464344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79044" y="750094"/>
            <a:ext cx="158591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3: 🟢 REVIEW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779044" y="842963"/>
            <a:ext cx="1585912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role: Reviewer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779044" y="928688"/>
            <a:ext cx="1681067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cek kualitas, approve/revisi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5457825" y="664369"/>
            <a:ext cx="1714500" cy="464344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5457825" y="678656"/>
            <a:ext cx="1714500" cy="0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168753" y="664369"/>
            <a:ext cx="0" cy="464344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57825" y="1125141"/>
            <a:ext cx="171450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61397" y="664369"/>
            <a:ext cx="0" cy="464344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22119" y="750094"/>
            <a:ext cx="158591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4: 🟣 PUBLIKASI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522119" y="842963"/>
            <a:ext cx="1681067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role: Publisher Web, Publisher Sosmed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5522119" y="928688"/>
            <a:ext cx="1681067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publish + embed LIHUM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200900" y="664369"/>
            <a:ext cx="1714500" cy="464344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7200900" y="678656"/>
            <a:ext cx="1714500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911828" y="664369"/>
            <a:ext cx="0" cy="464344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200900" y="1125141"/>
            <a:ext cx="1714500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204472" y="664369"/>
            <a:ext cx="0" cy="464344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65194" y="750094"/>
            <a:ext cx="1585913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8872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5: 👑 MANAJEMEN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265194" y="842963"/>
            <a:ext cx="1681067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role: Admin, Administrator, Manager</a:t>
            </a:r>
            <a:endParaRPr lang="en-US" sz="600" dirty="0"/>
          </a:p>
        </p:txBody>
      </p:sp>
      <p:sp>
        <p:nvSpPr>
          <p:cNvPr id="46" name="Text 43"/>
          <p:cNvSpPr/>
          <p:nvPr/>
        </p:nvSpPr>
        <p:spPr>
          <a:xfrm>
            <a:off x="7265194" y="928688"/>
            <a:ext cx="1681067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Tugas: kelola sistem &amp; inisiasi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228600" y="1171575"/>
            <a:ext cx="8636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Pesan Komunikasi untuk Petugas — 3 Step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228600" y="1285875"/>
            <a:ext cx="2866988" cy="2857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6"/>
          <p:cNvSpPr/>
          <p:nvPr/>
        </p:nvSpPr>
        <p:spPr>
          <a:xfrm>
            <a:off x="228600" y="1289447"/>
            <a:ext cx="2866988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092016" y="1285875"/>
            <a:ext cx="0" cy="285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28600" y="1568053"/>
            <a:ext cx="2866988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42888" y="1285875"/>
            <a:ext cx="0" cy="285750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14325" y="1350169"/>
            <a:ext cx="157163" cy="1571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314325" y="1350169"/>
            <a:ext cx="1785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4350" y="1350169"/>
            <a:ext cx="76778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Project Description</a:t>
            </a:r>
            <a:endParaRPr lang="en-US" sz="600" dirty="0"/>
          </a:p>
        </p:txBody>
      </p:sp>
      <p:sp>
        <p:nvSpPr>
          <p:cNvPr id="56" name="Text 53"/>
          <p:cNvSpPr/>
          <p:nvPr/>
        </p:nvSpPr>
        <p:spPr>
          <a:xfrm>
            <a:off x="3138450" y="1285875"/>
            <a:ext cx="2867099" cy="2857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3138450" y="1289447"/>
            <a:ext cx="2867099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001978" y="1285875"/>
            <a:ext cx="0" cy="285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138450" y="1568053"/>
            <a:ext cx="2867099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152738" y="1285875"/>
            <a:ext cx="0" cy="28575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224175" y="1350169"/>
            <a:ext cx="157163" cy="157163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3224175" y="1350169"/>
            <a:ext cx="1785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424200" y="1350169"/>
            <a:ext cx="634346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Custom Activity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6048412" y="1285875"/>
            <a:ext cx="2866988" cy="2857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2"/>
          <p:cNvSpPr/>
          <p:nvPr/>
        </p:nvSpPr>
        <p:spPr>
          <a:xfrm>
            <a:off x="6048412" y="1289447"/>
            <a:ext cx="2866988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911828" y="1285875"/>
            <a:ext cx="0" cy="28575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048412" y="1568053"/>
            <a:ext cx="2866988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062700" y="1285875"/>
            <a:ext cx="0" cy="285750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134137" y="1350169"/>
            <a:ext cx="157163" cy="157163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6134137" y="1350169"/>
            <a:ext cx="1785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6334162" y="1350169"/>
            <a:ext cx="880156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Catatan + Surat Tugas</a:t>
            </a:r>
            <a:endParaRPr lang="en-US" sz="600" dirty="0"/>
          </a:p>
        </p:txBody>
      </p:sp>
      <p:sp>
        <p:nvSpPr>
          <p:cNvPr id="72" name="Text 69"/>
          <p:cNvSpPr/>
          <p:nvPr/>
        </p:nvSpPr>
        <p:spPr>
          <a:xfrm>
            <a:off x="228600" y="1710928"/>
            <a:ext cx="694586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Laporan SKP — 2 Step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228600" y="1825228"/>
            <a:ext cx="157163" cy="157163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228600" y="1825228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457200" y="1846659"/>
            <a:ext cx="11507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User buka Laporan Kegiatan</a:t>
            </a:r>
            <a:endParaRPr lang="en-US" sz="619" dirty="0"/>
          </a:p>
        </p:txBody>
      </p:sp>
      <p:sp>
        <p:nvSpPr>
          <p:cNvPr id="76" name="Text 73"/>
          <p:cNvSpPr/>
          <p:nvPr/>
        </p:nvSpPr>
        <p:spPr>
          <a:xfrm>
            <a:off x="228600" y="2100263"/>
            <a:ext cx="157163" cy="157163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4"/>
          <p:cNvSpPr/>
          <p:nvPr/>
        </p:nvSpPr>
        <p:spPr>
          <a:xfrm>
            <a:off x="228600" y="2100263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457200" y="2121694"/>
            <a:ext cx="7982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Download laporan</a:t>
            </a:r>
            <a:endParaRPr lang="en-US" sz="619" dirty="0"/>
          </a:p>
        </p:txBody>
      </p:sp>
      <p:sp>
        <p:nvSpPr>
          <p:cNvPr id="79" name="Text 76"/>
          <p:cNvSpPr/>
          <p:nvPr/>
        </p:nvSpPr>
        <p:spPr>
          <a:xfrm>
            <a:off x="6922294" y="1621631"/>
            <a:ext cx="1985963" cy="842963"/>
          </a:xfrm>
          <a:prstGeom prst="roundRect">
            <a:avLst>
              <a:gd name="adj" fmla="val 11299"/>
            </a:avLst>
          </a:prstGeom>
          <a:noFill/>
          <a:ln w="14288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0" name="Image 1" descr="/tmp/h2p-fit-1791163388484-k89ia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438" y="1628775"/>
            <a:ext cx="1971675" cy="828675"/>
          </a:xfrm>
          <a:prstGeom prst="rect">
            <a:avLst/>
          </a:prstGeom>
        </p:spPr>
      </p:pic>
      <p:sp>
        <p:nvSpPr>
          <p:cNvPr id="81" name="Text 77"/>
          <p:cNvSpPr/>
          <p:nvPr/>
        </p:nvSpPr>
        <p:spPr>
          <a:xfrm>
            <a:off x="228600" y="4764881"/>
            <a:ext cx="8686800" cy="207169"/>
          </a:xfrm>
          <a:prstGeom prst="roundRect">
            <a:avLst>
              <a:gd name="adj" fmla="val 45977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8"/>
          <p:cNvSpPr/>
          <p:nvPr/>
        </p:nvSpPr>
        <p:spPr>
          <a:xfrm>
            <a:off x="228600" y="4764881"/>
            <a:ext cx="8636000" cy="289283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✅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role (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step) + pesan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 + laporan SKP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step. Semua terdokumentasi dengan nomor surat resmi.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1450"/>
            <a:ext cx="8686800" cy="3071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1475" y="242888"/>
            <a:ext cx="802880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5. Inovasi Integrasi: Pushakin Flows ↔ LIHUM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891276" y="241030"/>
            <a:ext cx="881249" cy="168021"/>
          </a:xfrm>
          <a:prstGeom prst="roundRect">
            <a:avLst>
              <a:gd name="adj" fmla="val 5663265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891276" y="250031"/>
            <a:ext cx="88124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INOVASI KUNCI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28600" y="550069"/>
            <a:ext cx="8636000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Publisher Web embed gallery LIHUM di web resmi UIN Antasari. Publik unduh foto mandiri 24/7.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28600" y="700088"/>
            <a:ext cx="35240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Bagaimana Integrasi Bekerja — 4 Step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28600" y="857250"/>
            <a:ext cx="3263019" cy="421481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228600" y="860822"/>
            <a:ext cx="3263019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88048" y="857250"/>
            <a:ext cx="0" cy="421481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8600" y="1275159"/>
            <a:ext cx="3263019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2888" y="857250"/>
            <a:ext cx="0" cy="421481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8613" y="935831"/>
            <a:ext cx="185738" cy="185738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8613" y="935831"/>
            <a:ext cx="2143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71500" y="978694"/>
            <a:ext cx="885258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Petugas upload foto</a:t>
            </a:r>
            <a:endParaRPr lang="en-US" sz="619" dirty="0"/>
          </a:p>
        </p:txBody>
      </p:sp>
      <p:sp>
        <p:nvSpPr>
          <p:cNvPr id="16" name="Text 13"/>
          <p:cNvSpPr/>
          <p:nvPr/>
        </p:nvSpPr>
        <p:spPr>
          <a:xfrm>
            <a:off x="228600" y="1335881"/>
            <a:ext cx="3263019" cy="421481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228600" y="1339453"/>
            <a:ext cx="3263019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88048" y="1335881"/>
            <a:ext cx="0" cy="421481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8600" y="1753791"/>
            <a:ext cx="3263019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2888" y="1335881"/>
            <a:ext cx="0" cy="421481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8613" y="1414463"/>
            <a:ext cx="185738" cy="185738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28613" y="1414463"/>
            <a:ext cx="2143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1500" y="1457325"/>
            <a:ext cx="1056628" cy="9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klik Publikasikan</a:t>
            </a:r>
            <a:endParaRPr lang="en-US" sz="619" dirty="0"/>
          </a:p>
        </p:txBody>
      </p:sp>
      <p:sp>
        <p:nvSpPr>
          <p:cNvPr id="24" name="Text 21"/>
          <p:cNvSpPr/>
          <p:nvPr/>
        </p:nvSpPr>
        <p:spPr>
          <a:xfrm>
            <a:off x="228600" y="1814513"/>
            <a:ext cx="3263019" cy="421481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228600" y="1818084"/>
            <a:ext cx="3263019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88048" y="1814513"/>
            <a:ext cx="0" cy="421481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28600" y="2232422"/>
            <a:ext cx="3263019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42888" y="1814513"/>
            <a:ext cx="0" cy="421481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8613" y="1893094"/>
            <a:ext cx="185738" cy="185738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28613" y="1893094"/>
            <a:ext cx="2143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71500" y="1935956"/>
            <a:ext cx="916132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Gallery live di LIHUM</a:t>
            </a:r>
            <a:endParaRPr lang="en-US" sz="619" dirty="0"/>
          </a:p>
        </p:txBody>
      </p:sp>
      <p:sp>
        <p:nvSpPr>
          <p:cNvPr id="32" name="Text 29"/>
          <p:cNvSpPr/>
          <p:nvPr/>
        </p:nvSpPr>
        <p:spPr>
          <a:xfrm>
            <a:off x="228600" y="2293144"/>
            <a:ext cx="3263019" cy="421481"/>
          </a:xfrm>
          <a:prstGeom prst="roundRect">
            <a:avLst>
              <a:gd name="adj" fmla="val 225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228600" y="2296716"/>
            <a:ext cx="3263019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488048" y="2293144"/>
            <a:ext cx="0" cy="421481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28600" y="2711053"/>
            <a:ext cx="3263019" cy="0"/>
          </a:xfrm>
          <a:prstGeom prst="line">
            <a:avLst/>
          </a:prstGeom>
          <a:noFill/>
          <a:ln w="7144">
            <a:solidFill>
              <a:srgbClr val="E7E5E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42888" y="2293144"/>
            <a:ext cx="0" cy="421481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8613" y="2371725"/>
            <a:ext cx="185738" cy="18573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28613" y="2371725"/>
            <a:ext cx="2143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571500" y="2414588"/>
            <a:ext cx="960480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Publisher Web embed</a:t>
            </a:r>
            <a:endParaRPr lang="en-US" sz="619" dirty="0"/>
          </a:p>
        </p:txBody>
      </p:sp>
      <p:sp>
        <p:nvSpPr>
          <p:cNvPr id="40" name="Text 37"/>
          <p:cNvSpPr/>
          <p:nvPr/>
        </p:nvSpPr>
        <p:spPr>
          <a:xfrm>
            <a:off x="235744" y="2778919"/>
            <a:ext cx="3248732" cy="17145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4288">
            <a:solidFill>
              <a:srgbClr val="DC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228600" y="2771775"/>
            <a:ext cx="3263019" cy="316992"/>
          </a:xfrm>
          <a:prstGeom prst="rect">
            <a:avLst/>
          </a:prstGeom>
          <a:noFill/>
          <a:ln/>
        </p:spPr>
        <p:txBody>
          <a:bodyPr wrap="square" lIns="71438" tIns="42863" rIns="71438" bIns="42863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</a:t>
            </a:r>
            <a:pPr algn="l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Folder PRIVATE tidak pernah di-share. Hanya folder PUBLIC.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3602348" y="1010841"/>
            <a:ext cx="5302337" cy="3264694"/>
          </a:xfrm>
          <a:prstGeom prst="roundRect">
            <a:avLst>
              <a:gd name="adj" fmla="val 2918"/>
            </a:avLst>
          </a:prstGeom>
          <a:noFill/>
          <a:ln w="21431">
            <a:solidFill>
              <a:srgbClr val="D4AF37"/>
            </a:solidFill>
            <a:prstDash val="solid"/>
          </a:ln>
          <a:effectLst>
            <a:outerShdw sx="100000" sy="100000" kx="0" ky="0" algn="bl" rotWithShape="0" blurRad="152400" dist="50800" dir="16200000">
              <a:srgbClr val="D4AF37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3" name="Image 1" descr="/tmp/h2p-fit-1791163387984-n90m0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063" y="1021556"/>
            <a:ext cx="5280906" cy="3243263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5535974" y="4314825"/>
            <a:ext cx="1435083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 — Gallery live</a:t>
            </a:r>
            <a:endParaRPr lang="en-US" sz="600" dirty="0"/>
          </a:p>
        </p:txBody>
      </p:sp>
      <p:sp>
        <p:nvSpPr>
          <p:cNvPr id="45" name="Text 41"/>
          <p:cNvSpPr/>
          <p:nvPr/>
        </p:nvSpPr>
        <p:spPr>
          <a:xfrm>
            <a:off x="228600" y="4764881"/>
            <a:ext cx="8686800" cy="207169"/>
          </a:xfrm>
          <a:prstGeom prst="roundRect">
            <a:avLst>
              <a:gd name="adj" fmla="val 45977"/>
            </a:avLst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228600" y="4764881"/>
            <a:ext cx="8636000" cy="289283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✅ 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step: upload → publikasikan → gallery live → embed web resmi. Publisher Web embed LIHUM di uin-antasari.ac.id.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1450"/>
            <a:ext cx="8686800" cy="3071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1475" y="242888"/>
            <a:ext cx="809570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 Eksekusi, Pengukuran &amp; Penutup</a:t>
            </a:r>
            <a:endParaRPr lang="en-US" sz="1125" dirty="0"/>
          </a:p>
        </p:txBody>
      </p:sp>
      <p:sp>
        <p:nvSpPr>
          <p:cNvPr id="4" name="Text 1"/>
          <p:cNvSpPr/>
          <p:nvPr/>
        </p:nvSpPr>
        <p:spPr>
          <a:xfrm>
            <a:off x="7953226" y="241030"/>
            <a:ext cx="819299" cy="168021"/>
          </a:xfrm>
          <a:prstGeom prst="roundRect">
            <a:avLst>
              <a:gd name="adj" fmla="val 566326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953226" y="250031"/>
            <a:ext cx="81929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⚡ 20% + 📊 15%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28600" y="550069"/>
            <a:ext cx="3426170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Eksekusi — 5 Step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28600" y="692944"/>
            <a:ext cx="3263019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mewadahi proses produksi dengan tracking real-time.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228600" y="850106"/>
            <a:ext cx="157163" cy="157163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28600" y="850106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850106"/>
            <a:ext cx="3034419" cy="176784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🔵 PRODUKSI — upload mentah (4 role)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28600" y="1085850"/>
            <a:ext cx="157163" cy="157163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28600" y="1085850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57200" y="1085850"/>
            <a:ext cx="3034419" cy="176784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🟠 PASCA — editor edit (6 role)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28600" y="1321594"/>
            <a:ext cx="157163" cy="157163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28600" y="1321594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7200" y="1321594"/>
            <a:ext cx="3034419" cy="176784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🟢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REVIEW — reviewer cek kualitas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28600" y="1557338"/>
            <a:ext cx="157163" cy="1571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28600" y="1557338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57200" y="1557338"/>
            <a:ext cx="3034419" cy="176784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🟣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PUBLIKASI — publisher ke saluran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28600" y="1793081"/>
            <a:ext cx="157163" cy="157163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28600" y="1793081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7200" y="1793081"/>
            <a:ext cx="3034419" cy="176784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SELESAI — arsip + LIHUM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28600" y="2071688"/>
            <a:ext cx="3426170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Pengukuran — 4 Step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28600" y="2214563"/>
            <a:ext cx="157163" cy="157163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28600" y="2214563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57200" y="2214563"/>
            <a:ext cx="3034419" cy="176784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Statistik real-time (total, aktif, selesai)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228600" y="2450306"/>
            <a:ext cx="157163" cy="157163"/>
          </a:xfrm>
          <a:prstGeom prst="ellipse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228600" y="2450306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450306"/>
            <a:ext cx="3034419" cy="176784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Laporan SKP per petugas (PDF/Excel)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28600" y="2686050"/>
            <a:ext cx="157163" cy="157163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28600" y="2686050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57200" y="2686050"/>
            <a:ext cx="3034419" cy="176784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Public Tracker (transparansi publik)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28600" y="2921794"/>
            <a:ext cx="157163" cy="157163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228600" y="2921794"/>
            <a:ext cx="192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57200" y="2921794"/>
            <a:ext cx="3034419" cy="176784"/>
          </a:xfrm>
          <a:prstGeom prst="rect">
            <a:avLst/>
          </a:prstGeom>
          <a:noFill/>
          <a:ln/>
        </p:spPr>
        <p:txBody>
          <a:bodyPr wrap="square" lIns="0" tIns="7144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LIHUM stats (foto + download count)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598776" y="1100138"/>
            <a:ext cx="5309481" cy="2557463"/>
          </a:xfrm>
          <a:prstGeom prst="roundRect">
            <a:avLst>
              <a:gd name="adj" fmla="val 3724"/>
            </a:avLst>
          </a:prstGeom>
          <a:noFill/>
          <a:ln w="14288">
            <a:solidFill>
              <a:srgbClr val="E7E5E4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1" descr="/tmp/h2p-fit-1791163388466-jdpfu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919" y="1107281"/>
            <a:ext cx="5295193" cy="2543175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210249" y="3693319"/>
            <a:ext cx="2086533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 Tracker — app.pushakin-flows.workers.dev/?public=tracker</a:t>
            </a:r>
            <a:endParaRPr lang="en-US" sz="6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386263"/>
            <a:ext cx="8686800" cy="58578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342900" y="4457700"/>
            <a:ext cx="8458200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Kesimpulan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342900" y="4586288"/>
            <a:ext cx="8458200" cy="21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— sistem yang mewadahi proses produksi bagi user DAN manajemen bagi Humas. Semua proses dalam step berurutan: Surat → Proyek → 16 Role Produksi → Publikasi → LIHUM → Pengukuran SKP. Inovasi integrasi LIHUM: Publisher Web embed di uin-antasari.ac.id.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342900" y="4829175"/>
            <a:ext cx="8458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Humas dan Keterbukaan Informasi | UIN Antasari Banjarmasin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2026-10-05T01:23:08Z</dcterms:created>
  <dcterms:modified xsi:type="dcterms:W3CDTF">2026-10-05T01:23:08Z</dcterms:modified>
</cp:coreProperties>
</file>