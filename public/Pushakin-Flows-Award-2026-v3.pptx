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1695" cy="8572500"/>
  <p:notesSz cx="85725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1695" cy="857228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6386055" cy="857228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05754" y="463436"/>
            <a:ext cx="2310381" cy="311346"/>
          </a:xfrm>
          <a:prstGeom prst="roundRect">
            <a:avLst>
              <a:gd name="adj" fmla="val 3056238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571486" y="581010"/>
            <a:ext cx="76198" cy="76198"/>
          </a:xfrm>
          <a:prstGeom prst="roundRect">
            <a:avLst>
              <a:gd name="adj" fmla="val 50001"/>
            </a:avLst>
          </a:prstGeom>
          <a:solidFill>
            <a:srgbClr val="F59E0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3"/>
          <p:cNvSpPr/>
          <p:nvPr/>
        </p:nvSpPr>
        <p:spPr>
          <a:xfrm>
            <a:off x="428614" y="476238"/>
            <a:ext cx="2264661" cy="2857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25" spc="124" kern="0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 HUMAS KEMAG AWARD 2026</a:t>
            </a:r>
            <a:endParaRPr lang="en-US" sz="825" dirty="0"/>
          </a:p>
        </p:txBody>
      </p:sp>
      <p:sp>
        <p:nvSpPr>
          <p:cNvPr id="7" name="Text 4"/>
          <p:cNvSpPr/>
          <p:nvPr/>
        </p:nvSpPr>
        <p:spPr>
          <a:xfrm>
            <a:off x="428614" y="2602641"/>
            <a:ext cx="5528827" cy="15635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700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Pushakin</a:t>
            </a:r>
            <a:endParaRPr lang="en-US" sz="6000" dirty="0"/>
          </a:p>
          <a:p>
            <a:pPr algn="l" indent="0" marL="0">
              <a:lnSpc>
                <a:spcPts val="5700"/>
              </a:lnSpc>
              <a:buNone/>
            </a:pPr>
            <a:r>
              <a:rPr lang="en-US" sz="6000" b="1" i="1" dirty="0">
                <a:solidFill>
                  <a:srgbClr val="F59E0B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Flows</a:t>
            </a:r>
            <a:endParaRPr lang="en-US" sz="6000" dirty="0"/>
          </a:p>
        </p:txBody>
      </p:sp>
      <p:sp>
        <p:nvSpPr>
          <p:cNvPr id="8" name="Text 5"/>
          <p:cNvSpPr/>
          <p:nvPr/>
        </p:nvSpPr>
        <p:spPr>
          <a:xfrm>
            <a:off x="428614" y="4202801"/>
            <a:ext cx="4571886" cy="786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12"/>
              </a:lnSpc>
              <a:buNone/>
            </a:pPr>
            <a:r>
              <a:rPr lang="en-US" sz="1275" dirty="0">
                <a:solidFill>
                  <a:srgbClr val="FFFFFF">
                    <a:alpha val="85000"/>
                  </a:srgb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Sistem Manajemen Produksi Kehumasan Terpadu — Workflow dari Delegasi hingga Publikasi, dalam Satu Alur Kerja Inovatif, Efektif, Transparan, dan Partisipatif.</a:t>
            </a:r>
            <a:endParaRPr lang="en-US" sz="1275" dirty="0"/>
          </a:p>
        </p:txBody>
      </p:sp>
      <p:sp>
        <p:nvSpPr>
          <p:cNvPr id="9" name="Text 6"/>
          <p:cNvSpPr/>
          <p:nvPr/>
        </p:nvSpPr>
        <p:spPr>
          <a:xfrm>
            <a:off x="428614" y="5160040"/>
            <a:ext cx="5528827" cy="523862"/>
          </a:xfrm>
          <a:prstGeom prst="roundRect">
            <a:avLst>
              <a:gd name="adj" fmla="val 7273"/>
            </a:avLst>
          </a:prstGeom>
          <a:solidFill>
            <a:srgbClr val="F59E0B">
              <a:alpha val="1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7"/>
          <p:cNvSpPr/>
          <p:nvPr/>
        </p:nvSpPr>
        <p:spPr>
          <a:xfrm>
            <a:off x="442901" y="5160040"/>
            <a:ext cx="0" cy="523862"/>
          </a:xfrm>
          <a:prstGeom prst="line">
            <a:avLst/>
          </a:prstGeom>
          <a:noFill/>
          <a:ln w="28574">
            <a:solidFill>
              <a:srgbClr val="F59E0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09585" y="5274337"/>
            <a:ext cx="5195460" cy="11543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spc="150" kern="0" dirty="0">
                <a:solidFill>
                  <a:srgbClr val="F59E0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DIAJUKAN UNTUK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609585" y="5417208"/>
            <a:ext cx="5195460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Penghargaan Komunikasi Inovatif — Kementerian Agama RI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28614" y="7491225"/>
            <a:ext cx="5528827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28614" y="7648384"/>
            <a:ext cx="5638555" cy="1344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Pusat Hubungan Masyarakat</a:t>
            </a:r>
            <a:endParaRPr lang="en-US" sz="975" dirty="0"/>
          </a:p>
        </p:txBody>
      </p:sp>
      <p:sp>
        <p:nvSpPr>
          <p:cNvPr id="15" name="Text 12"/>
          <p:cNvSpPr/>
          <p:nvPr/>
        </p:nvSpPr>
        <p:spPr>
          <a:xfrm>
            <a:off x="428614" y="7810305"/>
            <a:ext cx="5528827" cy="1234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25" dirty="0">
                <a:solidFill>
                  <a:srgbClr val="FFFFFF">
                    <a:alpha val="70000"/>
                  </a:srgb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UIN Antasari Banjarmasin</a:t>
            </a:r>
            <a:endParaRPr lang="en-US" sz="825" dirty="0"/>
          </a:p>
        </p:txBody>
      </p:sp>
      <p:sp>
        <p:nvSpPr>
          <p:cNvPr id="16" name="Text 13"/>
          <p:cNvSpPr/>
          <p:nvPr/>
        </p:nvSpPr>
        <p:spPr>
          <a:xfrm>
            <a:off x="428614" y="8000800"/>
            <a:ext cx="5638555" cy="95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>
                    <a:alpha val="50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app.pushakin-flows.workers.dev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6386055" y="0"/>
            <a:ext cx="5805640" cy="857228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5"/>
          <p:cNvSpPr/>
          <p:nvPr/>
        </p:nvSpPr>
        <p:spPr>
          <a:xfrm>
            <a:off x="6767046" y="380990"/>
            <a:ext cx="5043659" cy="1234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25" b="1" spc="206" kern="0" dirty="0">
                <a:solidFill>
                  <a:srgbClr val="6D28D9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PENDAHULUAN</a:t>
            </a:r>
            <a:endParaRPr lang="en-US" sz="825" dirty="0"/>
          </a:p>
        </p:txBody>
      </p:sp>
      <p:sp>
        <p:nvSpPr>
          <p:cNvPr id="19" name="Text 16"/>
          <p:cNvSpPr/>
          <p:nvPr/>
        </p:nvSpPr>
        <p:spPr>
          <a:xfrm>
            <a:off x="6767046" y="533387"/>
            <a:ext cx="5043659" cy="3394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75"/>
              </a:lnSpc>
              <a:buNone/>
            </a:pPr>
            <a:r>
              <a:rPr lang="en-US" sz="2250" b="1" dirty="0">
                <a:solidFill>
                  <a:srgbClr val="1C1917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Pengertian &amp; Tujuan</a:t>
            </a:r>
            <a:endParaRPr lang="en-US" sz="2250" dirty="0"/>
          </a:p>
        </p:txBody>
      </p:sp>
      <p:sp>
        <p:nvSpPr>
          <p:cNvPr id="20" name="Text 17"/>
          <p:cNvSpPr/>
          <p:nvPr/>
        </p:nvSpPr>
        <p:spPr>
          <a:xfrm>
            <a:off x="6767046" y="1114397"/>
            <a:ext cx="5043659" cy="876278"/>
          </a:xfrm>
          <a:prstGeom prst="roundRect">
            <a:avLst>
              <a:gd name="adj" fmla="val 4348"/>
            </a:avLst>
          </a:prstGeom>
          <a:solidFill>
            <a:srgbClr val="FAF5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Shape 18"/>
          <p:cNvSpPr/>
          <p:nvPr/>
        </p:nvSpPr>
        <p:spPr>
          <a:xfrm>
            <a:off x="6781333" y="1114397"/>
            <a:ext cx="0" cy="876278"/>
          </a:xfrm>
          <a:prstGeom prst="line">
            <a:avLst/>
          </a:prstGeom>
          <a:noFill/>
          <a:ln w="28574">
            <a:solidFill>
              <a:srgbClr val="6D28D9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948016" y="1228694"/>
            <a:ext cx="4710292" cy="10591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b="1" spc="135" kern="0" dirty="0">
                <a:solidFill>
                  <a:srgbClr val="6D28D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📋</a:t>
            </a:r>
            <a:pPr algn="l" indent="0" marL="0">
              <a:buNone/>
            </a:pPr>
            <a:r>
              <a:rPr lang="en-US" sz="800" b="1" spc="135" kern="0" dirty="0">
                <a:solidFill>
                  <a:srgbClr val="6D28D9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KOMUNIKASI INOVATIF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6948016" y="1362041"/>
            <a:ext cx="4710292" cy="5143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44403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Terobosan strategi komunikasi publik yang menjadi cerminan </a:t>
            </a:r>
            <a:pPr algn="l" indent="0" marL="0">
              <a:lnSpc>
                <a:spcPts val="1350"/>
              </a:lnSpc>
              <a:buNone/>
            </a:pPr>
            <a:r>
              <a:rPr lang="en-US" sz="900" b="1" dirty="0">
                <a:solidFill>
                  <a:srgbClr val="1C1917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praktik baik (best practices)</a:t>
            </a:r>
            <a:pPr algn="l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44403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untuk menginspirasi dan memberi nilai tambah dalam penyampaian pesan, keterlibatan masyarakat, serta pemanfaatan teknologi komunikasi.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6767046" y="2124022"/>
            <a:ext cx="5043659" cy="704832"/>
          </a:xfrm>
          <a:prstGeom prst="roundRect">
            <a:avLst>
              <a:gd name="adj" fmla="val 5406"/>
            </a:avLst>
          </a:prstGeom>
          <a:solidFill>
            <a:srgbClr val="FAF5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hape 22"/>
          <p:cNvSpPr/>
          <p:nvPr/>
        </p:nvSpPr>
        <p:spPr>
          <a:xfrm>
            <a:off x="6781333" y="2124022"/>
            <a:ext cx="0" cy="704832"/>
          </a:xfrm>
          <a:prstGeom prst="line">
            <a:avLst/>
          </a:prstGeom>
          <a:noFill/>
          <a:ln w="28574">
            <a:solidFill>
              <a:srgbClr val="6D28D9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948016" y="2238319"/>
            <a:ext cx="4710292" cy="10591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b="1" spc="135" kern="0" dirty="0">
                <a:solidFill>
                  <a:srgbClr val="6D28D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🎯</a:t>
            </a:r>
            <a:pPr algn="l" indent="0" marL="0">
              <a:buNone/>
            </a:pPr>
            <a:r>
              <a:rPr lang="en-US" sz="800" b="1" spc="135" kern="0" dirty="0">
                <a:solidFill>
                  <a:srgbClr val="6D28D9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TUJUAN PENGHARGAAN</a:t>
            </a:r>
            <a:endParaRPr lang="en-US" sz="800" dirty="0"/>
          </a:p>
        </p:txBody>
      </p:sp>
      <p:sp>
        <p:nvSpPr>
          <p:cNvPr id="27" name="Text 24"/>
          <p:cNvSpPr/>
          <p:nvPr/>
        </p:nvSpPr>
        <p:spPr>
          <a:xfrm>
            <a:off x="6948016" y="2371666"/>
            <a:ext cx="4710292" cy="3428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44403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Mendorong terciptanya </a:t>
            </a:r>
            <a:pPr algn="l" indent="0" marL="0">
              <a:lnSpc>
                <a:spcPts val="1350"/>
              </a:lnSpc>
              <a:buNone/>
            </a:pPr>
            <a:r>
              <a:rPr lang="en-US" sz="900" b="1" dirty="0">
                <a:solidFill>
                  <a:srgbClr val="1C1917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ekosistem komunikasi publik yang lebih inovatif, efektif, transparan, dan partisipatif</a:t>
            </a:r>
            <a:pPr algn="l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44403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sebagai sarana pembelajaran bersama.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6767046" y="2962201"/>
            <a:ext cx="5153387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spc="135" kern="0" dirty="0">
                <a:solidFill>
                  <a:srgbClr val="6D28D9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📊 KRITERIA PENILAIAN — 6 INDIKATOR</a:t>
            </a:r>
            <a:endParaRPr lang="en-US" sz="8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7046" y="3114597"/>
          <a:ext cx="5043659" cy="914400"/>
        </p:xfrm>
        <a:graphic>
          <a:graphicData uri="http://schemas.openxmlformats.org/drawingml/2006/table">
            <a:tbl>
              <a:tblPr/>
              <a:tblGrid>
                <a:gridCol w="869730"/>
                <a:gridCol w="2757865"/>
                <a:gridCol w="141606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44403C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No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66673" marR="95248" marT="95248" marB="66673" anchor="ctr">
                    <a:lnL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44403C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Indikator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66673" marR="95248" marT="95248" marB="66673" anchor="ctr">
                    <a:lnL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4403C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Bobot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66673" marR="95248" marT="95248" marB="66673" anchor="ctr">
                    <a:lnL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dirty="0">
                          <a:solidFill>
                            <a:srgbClr val="44403C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1</a:t>
                      </a:r>
                      <a:endParaRPr lang="en-US" sz="825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66673" marR="95248" marT="95248" marB="66673" anchor="ctr">
                    <a:lnL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dirty="0">
                          <a:solidFill>
                            <a:srgbClr val="44403C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Objektif</a:t>
                      </a:r>
                      <a:endParaRPr lang="en-US" sz="825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66673" marR="95248" marT="95248" marB="66673" anchor="ctr">
                    <a:lnL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25" b="1" dirty="0">
                          <a:solidFill>
                            <a:srgbClr val="6D28D9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20%</a:t>
                      </a:r>
                      <a:endParaRPr lang="en-US" sz="825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66673" marR="95248" marT="95248" marB="66673" anchor="ctr">
                    <a:lnL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dirty="0">
                          <a:solidFill>
                            <a:srgbClr val="44403C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2</a:t>
                      </a:r>
                      <a:endParaRPr lang="en-US" sz="825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66673" marR="95248" marT="95248" marB="66673" anchor="ctr">
                    <a:lnL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dirty="0">
                          <a:solidFill>
                            <a:srgbClr val="44403C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Strategi</a:t>
                      </a:r>
                      <a:endParaRPr lang="en-US" sz="825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66673" marR="95248" marT="95248" marB="66673" anchor="ctr">
                    <a:lnL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25" b="1" dirty="0">
                          <a:solidFill>
                            <a:srgbClr val="6D28D9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20%</a:t>
                      </a:r>
                      <a:endParaRPr lang="en-US" sz="825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66673" marR="95248" marT="95248" marB="66673" anchor="ctr">
                    <a:lnL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dirty="0">
                          <a:solidFill>
                            <a:srgbClr val="44403C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3</a:t>
                      </a:r>
                      <a:endParaRPr lang="en-US" sz="825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66673" marR="95248" marT="95248" marB="66673" anchor="ctr">
                    <a:lnL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dirty="0">
                          <a:solidFill>
                            <a:srgbClr val="44403C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Taktik / Saluran</a:t>
                      </a:r>
                      <a:endParaRPr lang="en-US" sz="825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66673" marR="95248" marT="95248" marB="66673" anchor="ctr">
                    <a:lnL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25" b="1" dirty="0">
                          <a:solidFill>
                            <a:srgbClr val="6D28D9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10%</a:t>
                      </a:r>
                      <a:endParaRPr lang="en-US" sz="825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66673" marR="95248" marT="95248" marB="66673" anchor="ctr">
                    <a:lnL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dirty="0">
                          <a:solidFill>
                            <a:srgbClr val="44403C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4</a:t>
                      </a:r>
                      <a:endParaRPr lang="en-US" sz="825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66673" marR="95248" marT="95248" marB="66673" anchor="ctr">
                    <a:lnL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dirty="0">
                          <a:solidFill>
                            <a:srgbClr val="44403C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Key Messages</a:t>
                      </a:r>
                      <a:endParaRPr lang="en-US" sz="825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66673" marR="95248" marT="95248" marB="66673" anchor="ctr">
                    <a:lnL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25" b="1" dirty="0">
                          <a:solidFill>
                            <a:srgbClr val="6D28D9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15%</a:t>
                      </a:r>
                      <a:endParaRPr lang="en-US" sz="825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66673" marR="95248" marT="95248" marB="66673" anchor="ctr">
                    <a:lnL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dirty="0">
                          <a:solidFill>
                            <a:srgbClr val="44403C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5</a:t>
                      </a:r>
                      <a:endParaRPr lang="en-US" sz="825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66673" marR="95248" marT="95248" marB="66673" anchor="ctr">
                    <a:lnL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dirty="0">
                          <a:solidFill>
                            <a:srgbClr val="44403C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Eksekusi</a:t>
                      </a:r>
                      <a:endParaRPr lang="en-US" sz="825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66673" marR="95248" marT="95248" marB="66673" anchor="ctr">
                    <a:lnL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25" b="1" dirty="0">
                          <a:solidFill>
                            <a:srgbClr val="6D28D9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20%</a:t>
                      </a:r>
                      <a:endParaRPr lang="en-US" sz="825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66673" marR="95248" marT="95248" marB="66673" anchor="ctr">
                    <a:lnL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dirty="0">
                          <a:solidFill>
                            <a:srgbClr val="44403C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6</a:t>
                      </a:r>
                      <a:endParaRPr lang="en-US" sz="825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66673" marR="95248" marT="95248" marB="66673" anchor="ctr">
                    <a:lnL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dirty="0">
                          <a:solidFill>
                            <a:srgbClr val="44403C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Pengukuran (Hasil)</a:t>
                      </a:r>
                      <a:endParaRPr lang="en-US" sz="825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66673" marR="95248" marT="95248" marB="66673" anchor="ctr">
                    <a:lnL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25" b="1" dirty="0">
                          <a:solidFill>
                            <a:srgbClr val="6D28D9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15%</a:t>
                      </a:r>
                      <a:endParaRPr lang="en-US" sz="825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66673" marR="95248" marT="95248" marB="66673" anchor="ctr">
                    <a:lnL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 gridSpan="2"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b="1" dirty="0">
                          <a:solidFill>
                            <a:srgbClr val="4C1D95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TOTAL</a:t>
                      </a:r>
                      <a:endParaRPr lang="en-US" sz="825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66673" marR="95248" marT="95248" marB="66673" anchor="ctr">
                    <a:lnL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5FF"/>
                    </a:solidFill>
                  </a:tcPr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25" b="1" dirty="0">
                          <a:solidFill>
                            <a:srgbClr val="4C1D95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100%</a:t>
                      </a:r>
                      <a:endParaRPr lang="en-US" sz="825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66673" marR="95248" marT="95248" marB="66673" anchor="ctr">
                    <a:lnL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5FF"/>
                    </a:solidFill>
                  </a:tcPr>
                </a:tc>
              </a:tr>
            </a:tbl>
          </a:graphicData>
        </a:graphic>
      </p:graphicFrame>
      <p:pic>
        <p:nvPicPr>
          <p:cNvPr id="3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7046" y="5391015"/>
            <a:ext cx="1203692" cy="645600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6771808" y="5395778"/>
            <a:ext cx="1194167" cy="636075"/>
          </a:xfrm>
          <a:prstGeom prst="roundRect">
            <a:avLst>
              <a:gd name="adj" fmla="val 8985"/>
            </a:avLst>
          </a:prstGeom>
          <a:noFill/>
          <a:ln w="9525">
            <a:solidFill>
              <a:srgbClr val="F3E8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27"/>
          <p:cNvSpPr/>
          <p:nvPr/>
        </p:nvSpPr>
        <p:spPr>
          <a:xfrm>
            <a:off x="6852768" y="5495788"/>
            <a:ext cx="1032246" cy="21068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ctr" indent="0" marL="0">
              <a:lnSpc>
                <a:spcPts val="1650"/>
              </a:lnSpc>
              <a:buNone/>
            </a:pPr>
            <a:r>
              <a:rPr lang="en-US" sz="1650" b="1" dirty="0">
                <a:solidFill>
                  <a:srgbClr val="6D28D9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253</a:t>
            </a:r>
            <a:endParaRPr lang="en-US" sz="1650" dirty="0"/>
          </a:p>
        </p:txBody>
      </p:sp>
      <p:sp>
        <p:nvSpPr>
          <p:cNvPr id="33" name="Text 28"/>
          <p:cNvSpPr/>
          <p:nvPr/>
        </p:nvSpPr>
        <p:spPr>
          <a:xfrm>
            <a:off x="6852768" y="5733907"/>
            <a:ext cx="1032246" cy="197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780"/>
              </a:lnSpc>
              <a:buNone/>
            </a:pPr>
            <a:r>
              <a:rPr lang="en-US" sz="800" spc="60" kern="0" dirty="0">
                <a:solidFill>
                  <a:srgbClr val="57534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PROYEK</a:t>
            </a:r>
            <a:endParaRPr lang="en-US" sz="800" dirty="0"/>
          </a:p>
          <a:p>
            <a:pPr algn="ctr" indent="0" marL="0">
              <a:lnSpc>
                <a:spcPts val="780"/>
              </a:lnSpc>
              <a:buNone/>
            </a:pPr>
            <a:r>
              <a:rPr lang="en-US" sz="800" spc="60" kern="0" dirty="0">
                <a:solidFill>
                  <a:srgbClr val="57534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TRACKED</a:t>
            </a:r>
            <a:endParaRPr lang="en-US" sz="800" dirty="0"/>
          </a:p>
        </p:txBody>
      </p:sp>
      <p:pic>
        <p:nvPicPr>
          <p:cNvPr id="3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935" y="5391015"/>
            <a:ext cx="1203841" cy="645600"/>
          </a:xfrm>
          <a:prstGeom prst="rect">
            <a:avLst/>
          </a:prstGeom>
        </p:spPr>
      </p:pic>
      <p:sp>
        <p:nvSpPr>
          <p:cNvPr id="35" name="Text 29"/>
          <p:cNvSpPr/>
          <p:nvPr/>
        </p:nvSpPr>
        <p:spPr>
          <a:xfrm>
            <a:off x="8051698" y="5395778"/>
            <a:ext cx="1194316" cy="636075"/>
          </a:xfrm>
          <a:prstGeom prst="roundRect">
            <a:avLst>
              <a:gd name="adj" fmla="val 8985"/>
            </a:avLst>
          </a:prstGeom>
          <a:noFill/>
          <a:ln w="9525">
            <a:solidFill>
              <a:srgbClr val="F3E8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0"/>
          <p:cNvSpPr/>
          <p:nvPr/>
        </p:nvSpPr>
        <p:spPr>
          <a:xfrm>
            <a:off x="8132658" y="5495788"/>
            <a:ext cx="1032395" cy="21068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ctr" indent="0" marL="0">
              <a:lnSpc>
                <a:spcPts val="1650"/>
              </a:lnSpc>
              <a:buNone/>
            </a:pPr>
            <a:r>
              <a:rPr lang="en-US" sz="1650" b="1" dirty="0">
                <a:solidFill>
                  <a:srgbClr val="6D28D9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15</a:t>
            </a:r>
            <a:endParaRPr lang="en-US" sz="1650" dirty="0"/>
          </a:p>
        </p:txBody>
      </p:sp>
      <p:sp>
        <p:nvSpPr>
          <p:cNvPr id="37" name="Text 31"/>
          <p:cNvSpPr/>
          <p:nvPr/>
        </p:nvSpPr>
        <p:spPr>
          <a:xfrm>
            <a:off x="8132658" y="5733907"/>
            <a:ext cx="1032395" cy="197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780"/>
              </a:lnSpc>
              <a:buNone/>
            </a:pPr>
            <a:r>
              <a:rPr lang="en-US" sz="800" spc="60" kern="0" dirty="0">
                <a:solidFill>
                  <a:srgbClr val="57534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ROLE</a:t>
            </a:r>
            <a:endParaRPr lang="en-US" sz="800" dirty="0"/>
          </a:p>
          <a:p>
            <a:pPr algn="ctr" indent="0" marL="0">
              <a:lnSpc>
                <a:spcPts val="780"/>
              </a:lnSpc>
              <a:buNone/>
            </a:pPr>
            <a:r>
              <a:rPr lang="en-US" sz="800" spc="60" kern="0" dirty="0">
                <a:solidFill>
                  <a:srgbClr val="57534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TERLIBAT</a:t>
            </a:r>
            <a:endParaRPr lang="en-US" sz="800" dirty="0"/>
          </a:p>
        </p:txBody>
      </p:sp>
      <p:pic>
        <p:nvPicPr>
          <p:cNvPr id="3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974" y="5391015"/>
            <a:ext cx="1203692" cy="645600"/>
          </a:xfrm>
          <a:prstGeom prst="rect">
            <a:avLst/>
          </a:prstGeom>
        </p:spPr>
      </p:pic>
      <p:sp>
        <p:nvSpPr>
          <p:cNvPr id="39" name="Text 32"/>
          <p:cNvSpPr/>
          <p:nvPr/>
        </p:nvSpPr>
        <p:spPr>
          <a:xfrm>
            <a:off x="9331736" y="5395778"/>
            <a:ext cx="1194167" cy="636075"/>
          </a:xfrm>
          <a:prstGeom prst="roundRect">
            <a:avLst>
              <a:gd name="adj" fmla="val 8985"/>
            </a:avLst>
          </a:prstGeom>
          <a:noFill/>
          <a:ln w="9525">
            <a:solidFill>
              <a:srgbClr val="F3E8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3"/>
          <p:cNvSpPr/>
          <p:nvPr/>
        </p:nvSpPr>
        <p:spPr>
          <a:xfrm>
            <a:off x="9412697" y="5495788"/>
            <a:ext cx="1032246" cy="21068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ctr" indent="0" marL="0">
              <a:lnSpc>
                <a:spcPts val="1650"/>
              </a:lnSpc>
              <a:buNone/>
            </a:pPr>
            <a:r>
              <a:rPr lang="en-US" sz="1650" b="1" dirty="0">
                <a:solidFill>
                  <a:srgbClr val="6D28D9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529</a:t>
            </a:r>
            <a:endParaRPr lang="en-US" sz="1650" dirty="0"/>
          </a:p>
        </p:txBody>
      </p:sp>
      <p:sp>
        <p:nvSpPr>
          <p:cNvPr id="41" name="Text 34"/>
          <p:cNvSpPr/>
          <p:nvPr/>
        </p:nvSpPr>
        <p:spPr>
          <a:xfrm>
            <a:off x="9412697" y="5733907"/>
            <a:ext cx="1032246" cy="197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780"/>
              </a:lnSpc>
              <a:buNone/>
            </a:pPr>
            <a:r>
              <a:rPr lang="en-US" sz="800" spc="60" kern="0" dirty="0">
                <a:solidFill>
                  <a:srgbClr val="57534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SURAT TUGAS</a:t>
            </a:r>
            <a:endParaRPr lang="en-US" sz="800" dirty="0"/>
          </a:p>
          <a:p>
            <a:pPr algn="ctr" indent="0" marL="0">
              <a:lnSpc>
                <a:spcPts val="780"/>
              </a:lnSpc>
              <a:buNone/>
            </a:pPr>
            <a:r>
              <a:rPr lang="en-US" sz="800" spc="60" kern="0" dirty="0">
                <a:solidFill>
                  <a:srgbClr val="57534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OTOMATIS</a:t>
            </a:r>
            <a:endParaRPr lang="en-US" sz="800" dirty="0"/>
          </a:p>
        </p:txBody>
      </p:sp>
      <p:pic>
        <p:nvPicPr>
          <p:cNvPr id="4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06864" y="5391015"/>
            <a:ext cx="1203841" cy="645600"/>
          </a:xfrm>
          <a:prstGeom prst="rect">
            <a:avLst/>
          </a:prstGeom>
        </p:spPr>
      </p:pic>
      <p:sp>
        <p:nvSpPr>
          <p:cNvPr id="43" name="Text 35"/>
          <p:cNvSpPr/>
          <p:nvPr/>
        </p:nvSpPr>
        <p:spPr>
          <a:xfrm>
            <a:off x="10611626" y="5395778"/>
            <a:ext cx="1194316" cy="636075"/>
          </a:xfrm>
          <a:prstGeom prst="roundRect">
            <a:avLst>
              <a:gd name="adj" fmla="val 8985"/>
            </a:avLst>
          </a:prstGeom>
          <a:noFill/>
          <a:ln w="9525">
            <a:solidFill>
              <a:srgbClr val="F3E8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36"/>
          <p:cNvSpPr/>
          <p:nvPr/>
        </p:nvSpPr>
        <p:spPr>
          <a:xfrm>
            <a:off x="10692587" y="5495788"/>
            <a:ext cx="1032395" cy="21068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ctr" indent="0" marL="0">
              <a:lnSpc>
                <a:spcPts val="1650"/>
              </a:lnSpc>
              <a:buNone/>
            </a:pPr>
            <a:r>
              <a:rPr lang="en-US" sz="1650" b="1" dirty="0">
                <a:solidFill>
                  <a:srgbClr val="6D28D9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1.361</a:t>
            </a:r>
            <a:endParaRPr lang="en-US" sz="1650" dirty="0"/>
          </a:p>
        </p:txBody>
      </p:sp>
      <p:sp>
        <p:nvSpPr>
          <p:cNvPr id="45" name="Text 37"/>
          <p:cNvSpPr/>
          <p:nvPr/>
        </p:nvSpPr>
        <p:spPr>
          <a:xfrm>
            <a:off x="10692587" y="5733907"/>
            <a:ext cx="1032395" cy="197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780"/>
              </a:lnSpc>
              <a:buNone/>
            </a:pPr>
            <a:r>
              <a:rPr lang="en-US" sz="800" spc="60" kern="0" dirty="0">
                <a:solidFill>
                  <a:srgbClr val="57534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NOTIFIKASI</a:t>
            </a:r>
            <a:endParaRPr lang="en-US" sz="800" dirty="0"/>
          </a:p>
          <a:p>
            <a:pPr algn="ctr" indent="0" marL="0">
              <a:lnSpc>
                <a:spcPts val="780"/>
              </a:lnSpc>
              <a:buNone/>
            </a:pPr>
            <a:r>
              <a:rPr lang="en-US" sz="800" spc="60" kern="0" dirty="0">
                <a:solidFill>
                  <a:srgbClr val="57534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TERKIRIM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1695" cy="857228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476238" y="881040"/>
            <a:ext cx="11239219" cy="0"/>
          </a:xfrm>
          <a:prstGeom prst="line">
            <a:avLst/>
          </a:prstGeom>
          <a:noFill/>
          <a:ln w="19050">
            <a:solidFill>
              <a:srgbClr val="E7E5E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76238" y="304792"/>
            <a:ext cx="8636000" cy="1154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b="1" spc="187" kern="0" dirty="0">
                <a:solidFill>
                  <a:srgbClr val="6D28D9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WORKFLOW TERPADU — DARI DELEGASI HINGGA PUBLIKASI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76238" y="447664"/>
            <a:ext cx="8636000" cy="328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87"/>
              </a:lnSpc>
              <a:buNone/>
            </a:pPr>
            <a:r>
              <a:rPr lang="en-US" sz="2250" b="1" dirty="0">
                <a:solidFill>
                  <a:srgbClr val="1C1917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Alur Sistem Pushakin Flows — Tree Diagram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10038146" y="395278"/>
            <a:ext cx="1677311" cy="10591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spc="101" kern="0" dirty="0">
                <a:solidFill>
                  <a:srgbClr val="78716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TAHAP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373608" y="528624"/>
            <a:ext cx="1341848" cy="2468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800"/>
              </a:lnSpc>
              <a:buNone/>
            </a:pPr>
            <a:r>
              <a:rPr lang="en-US" sz="1800" b="1" dirty="0">
                <a:solidFill>
                  <a:srgbClr val="6D28D9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8 Langkah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76238" y="1023912"/>
            <a:ext cx="11239219" cy="504812"/>
          </a:xfrm>
          <a:prstGeom prst="roundRect">
            <a:avLst>
              <a:gd name="adj" fmla="val 7547"/>
            </a:avLst>
          </a:prstGeom>
          <a:solidFill>
            <a:srgbClr val="FAF5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490525" y="1023912"/>
            <a:ext cx="0" cy="504812"/>
          </a:xfrm>
          <a:prstGeom prst="line">
            <a:avLst/>
          </a:prstGeom>
          <a:noFill/>
          <a:ln w="28574">
            <a:solidFill>
              <a:srgbClr val="6D28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6238" y="1023912"/>
            <a:ext cx="8636000" cy="545197"/>
          </a:xfrm>
          <a:prstGeom prst="rect">
            <a:avLst/>
          </a:prstGeom>
          <a:noFill/>
          <a:ln/>
        </p:spPr>
        <p:txBody>
          <a:bodyPr wrap="square" lIns="133347" tIns="95248" rIns="133347" bIns="95248" rtlCol="0" anchor="t"/>
          <a:lstStyle/>
          <a:p>
            <a:pPr algn="l" indent="0" marL="0">
              <a:lnSpc>
                <a:spcPts val="1237"/>
              </a:lnSpc>
              <a:buNone/>
            </a:pPr>
            <a:r>
              <a:rPr lang="en-US" sz="825" b="1" dirty="0">
                <a:solidFill>
                  <a:srgbClr val="4C1D95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Workflow 8-langkah</a:t>
            </a:r>
            <a:pPr algn="l" indent="0" marL="0">
              <a:lnSpc>
                <a:spcPts val="1237"/>
              </a:lnSpc>
              <a:buNone/>
            </a:pPr>
            <a:r>
              <a:rPr lang="en-US" sz="825" dirty="0">
                <a:solidFill>
                  <a:srgbClr val="44403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mengubah surat fisik manual menjadi alur digital terstruktur: Administrator terima surat → teruskan ke Manager → Manager inisiasi proyek → sistem auto-buat Surat Tugas → petugas kerjakan 5-tahap → Reviewer QC → Publisher publish → sistem </a:t>
            </a:r>
            <a:pPr algn="l" indent="0" marL="0">
              <a:lnSpc>
                <a:spcPts val="1237"/>
              </a:lnSpc>
              <a:buNone/>
            </a:pPr>
            <a:r>
              <a:rPr lang="en-US" sz="825" b="1" dirty="0">
                <a:solidFill>
                  <a:srgbClr val="4C1D9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auto-generate Laporan Kegiatan untuk SKP</a:t>
            </a:r>
            <a:pPr algn="l" indent="0" marL="0">
              <a:lnSpc>
                <a:spcPts val="1237"/>
              </a:lnSpc>
              <a:buNone/>
            </a:pPr>
            <a:r>
              <a:rPr lang="en-US" sz="825" dirty="0">
                <a:solidFill>
                  <a:srgbClr val="44403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.</a:t>
            </a:r>
            <a:endParaRPr lang="en-US" sz="825" dirty="0"/>
          </a:p>
        </p:txBody>
      </p:sp>
      <p:sp>
        <p:nvSpPr>
          <p:cNvPr id="11" name="Text 9"/>
          <p:cNvSpPr/>
          <p:nvPr/>
        </p:nvSpPr>
        <p:spPr>
          <a:xfrm>
            <a:off x="481000" y="1647784"/>
            <a:ext cx="5543411" cy="6691145"/>
          </a:xfrm>
          <a:prstGeom prst="roundRect">
            <a:avLst>
              <a:gd name="adj" fmla="val 1375"/>
            </a:avLst>
          </a:prstGeom>
          <a:solidFill>
            <a:srgbClr val="FAFAF9"/>
          </a:solidFill>
          <a:ln w="9525">
            <a:solidFill>
              <a:srgbClr val="E7E5E4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19110" y="1785893"/>
            <a:ext cx="5376921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spc="150" kern="0" dirty="0">
                <a:solidFill>
                  <a:srgbClr val="6D28D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📐</a:t>
            </a:r>
            <a:pPr algn="l" indent="0" marL="0">
              <a:buNone/>
            </a:pPr>
            <a:r>
              <a:rPr lang="en-US" sz="800" b="1" spc="150" kern="0" dirty="0">
                <a:solidFill>
                  <a:srgbClr val="6D28D9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TREE DIAGRAM ALUR SISTEM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619110" y="1985913"/>
            <a:ext cx="5267193" cy="361941"/>
          </a:xfrm>
          <a:prstGeom prst="roundRect">
            <a:avLst>
              <a:gd name="adj" fmla="val 15790"/>
            </a:avLst>
          </a:prstGeom>
          <a:solidFill>
            <a:srgbClr val="FFFBE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619110" y="2000200"/>
            <a:ext cx="5267193" cy="0"/>
          </a:xfrm>
          <a:prstGeom prst="line">
            <a:avLst/>
          </a:prstGeom>
          <a:noFill/>
          <a:ln w="28574">
            <a:solidFill>
              <a:srgbClr val="D9770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881540" y="1985913"/>
            <a:ext cx="0" cy="361941"/>
          </a:xfrm>
          <a:prstGeom prst="line">
            <a:avLst/>
          </a:prstGeom>
          <a:noFill/>
          <a:ln w="9525">
            <a:solidFill>
              <a:srgbClr val="E7E5E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9110" y="2343091"/>
            <a:ext cx="5267193" cy="0"/>
          </a:xfrm>
          <a:prstGeom prst="line">
            <a:avLst/>
          </a:prstGeom>
          <a:noFill/>
          <a:ln w="9525">
            <a:solidFill>
              <a:srgbClr val="E7E5E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3872" y="1985913"/>
            <a:ext cx="0" cy="361941"/>
          </a:xfrm>
          <a:prstGeom prst="line">
            <a:avLst/>
          </a:prstGeom>
          <a:noFill/>
          <a:ln w="9525">
            <a:solidFill>
              <a:srgbClr val="E7E5E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23882" y="2071636"/>
            <a:ext cx="5057648" cy="1234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b="1" spc="60" kern="0" dirty="0">
                <a:solidFill>
                  <a:srgbClr val="78716C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🔧</a:t>
            </a:r>
            <a:pPr algn="ctr" indent="0" marL="0">
              <a:buNone/>
            </a:pPr>
            <a:r>
              <a:rPr lang="en-US" sz="800" b="1" spc="60" kern="0" dirty="0">
                <a:solidFill>
                  <a:srgbClr val="78716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ADMINISTRATOR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723882" y="2157359"/>
            <a:ext cx="5057648" cy="1234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25" b="1" dirty="0">
                <a:solidFill>
                  <a:srgbClr val="1C1917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1. Surat Masuk</a:t>
            </a:r>
            <a:endParaRPr lang="en-US" sz="825" dirty="0"/>
          </a:p>
        </p:txBody>
      </p:sp>
      <p:sp>
        <p:nvSpPr>
          <p:cNvPr id="20" name="Text 18"/>
          <p:cNvSpPr/>
          <p:nvPr/>
        </p:nvSpPr>
        <p:spPr>
          <a:xfrm>
            <a:off x="619110" y="2405002"/>
            <a:ext cx="5267193" cy="11429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8A29E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↓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19110" y="2576448"/>
            <a:ext cx="5267193" cy="361941"/>
          </a:xfrm>
          <a:prstGeom prst="roundRect">
            <a:avLst>
              <a:gd name="adj" fmla="val 15790"/>
            </a:avLst>
          </a:prstGeom>
          <a:solidFill>
            <a:srgbClr val="FAF5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Shape 20"/>
          <p:cNvSpPr/>
          <p:nvPr/>
        </p:nvSpPr>
        <p:spPr>
          <a:xfrm>
            <a:off x="619110" y="2590735"/>
            <a:ext cx="5267193" cy="0"/>
          </a:xfrm>
          <a:prstGeom prst="line">
            <a:avLst/>
          </a:prstGeom>
          <a:noFill/>
          <a:ln w="28574">
            <a:solidFill>
              <a:srgbClr val="6D28D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881540" y="2576448"/>
            <a:ext cx="0" cy="361941"/>
          </a:xfrm>
          <a:prstGeom prst="line">
            <a:avLst/>
          </a:prstGeom>
          <a:noFill/>
          <a:ln w="9525">
            <a:solidFill>
              <a:srgbClr val="E7E5E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19110" y="2933627"/>
            <a:ext cx="5267193" cy="0"/>
          </a:xfrm>
          <a:prstGeom prst="line">
            <a:avLst/>
          </a:prstGeom>
          <a:noFill/>
          <a:ln w="9525">
            <a:solidFill>
              <a:srgbClr val="E7E5E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3872" y="2576448"/>
            <a:ext cx="0" cy="361941"/>
          </a:xfrm>
          <a:prstGeom prst="line">
            <a:avLst/>
          </a:prstGeom>
          <a:noFill/>
          <a:ln w="9525">
            <a:solidFill>
              <a:srgbClr val="E7E5E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23882" y="2662171"/>
            <a:ext cx="5057648" cy="1234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b="1" spc="60" kern="0" dirty="0">
                <a:solidFill>
                  <a:srgbClr val="78716C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📋</a:t>
            </a:r>
            <a:pPr algn="ctr" indent="0" marL="0">
              <a:buNone/>
            </a:pPr>
            <a:r>
              <a:rPr lang="en-US" sz="800" b="1" spc="60" kern="0" dirty="0">
                <a:solidFill>
                  <a:srgbClr val="78716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MANAGER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723882" y="2747894"/>
            <a:ext cx="5057648" cy="1234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25" b="1" dirty="0">
                <a:solidFill>
                  <a:srgbClr val="1C1917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2. Inisiasi Proyek</a:t>
            </a:r>
            <a:endParaRPr lang="en-US" sz="825" dirty="0"/>
          </a:p>
        </p:txBody>
      </p:sp>
      <p:sp>
        <p:nvSpPr>
          <p:cNvPr id="28" name="Text 26"/>
          <p:cNvSpPr/>
          <p:nvPr/>
        </p:nvSpPr>
        <p:spPr>
          <a:xfrm>
            <a:off x="619110" y="2995538"/>
            <a:ext cx="5267193" cy="11429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8A29E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↓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19110" y="3166983"/>
            <a:ext cx="5267193" cy="361941"/>
          </a:xfrm>
          <a:prstGeom prst="roundRect">
            <a:avLst>
              <a:gd name="adj" fmla="val 15790"/>
            </a:avLst>
          </a:prstGeom>
          <a:solidFill>
            <a:srgbClr val="F0F9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Shape 28"/>
          <p:cNvSpPr/>
          <p:nvPr/>
        </p:nvSpPr>
        <p:spPr>
          <a:xfrm>
            <a:off x="619110" y="3181270"/>
            <a:ext cx="5267193" cy="0"/>
          </a:xfrm>
          <a:prstGeom prst="line">
            <a:avLst/>
          </a:prstGeom>
          <a:noFill/>
          <a:ln w="28574">
            <a:solidFill>
              <a:srgbClr val="0284C7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881540" y="3166983"/>
            <a:ext cx="0" cy="361941"/>
          </a:xfrm>
          <a:prstGeom prst="line">
            <a:avLst/>
          </a:prstGeom>
          <a:noFill/>
          <a:ln w="9525">
            <a:solidFill>
              <a:srgbClr val="E7E5E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9110" y="3524162"/>
            <a:ext cx="5267193" cy="0"/>
          </a:xfrm>
          <a:prstGeom prst="line">
            <a:avLst/>
          </a:prstGeom>
          <a:noFill/>
          <a:ln w="9525">
            <a:solidFill>
              <a:srgbClr val="E7E5E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23872" y="3166983"/>
            <a:ext cx="0" cy="361941"/>
          </a:xfrm>
          <a:prstGeom prst="line">
            <a:avLst/>
          </a:prstGeom>
          <a:noFill/>
          <a:ln w="9525">
            <a:solidFill>
              <a:srgbClr val="E7E5E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23882" y="3252706"/>
            <a:ext cx="5057648" cy="1234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b="1" spc="60" kern="0" dirty="0">
                <a:solidFill>
                  <a:srgbClr val="78716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⚙ SISTEM OTOMATIS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723882" y="3338429"/>
            <a:ext cx="5057648" cy="1234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25" b="1" dirty="0">
                <a:solidFill>
                  <a:srgbClr val="1C1917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3. Surat Tugas Bernomor</a:t>
            </a:r>
            <a:endParaRPr lang="en-US" sz="825" dirty="0"/>
          </a:p>
        </p:txBody>
      </p:sp>
      <p:sp>
        <p:nvSpPr>
          <p:cNvPr id="36" name="Text 34"/>
          <p:cNvSpPr/>
          <p:nvPr/>
        </p:nvSpPr>
        <p:spPr>
          <a:xfrm>
            <a:off x="619110" y="3586073"/>
            <a:ext cx="5267193" cy="11429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8A29E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↓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19110" y="3757518"/>
            <a:ext cx="5267193" cy="361941"/>
          </a:xfrm>
          <a:prstGeom prst="roundRect">
            <a:avLst>
              <a:gd name="adj" fmla="val 15790"/>
            </a:avLst>
          </a:prstGeom>
          <a:solidFill>
            <a:srgbClr val="ECFD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Shape 36"/>
          <p:cNvSpPr/>
          <p:nvPr/>
        </p:nvSpPr>
        <p:spPr>
          <a:xfrm>
            <a:off x="619110" y="3771806"/>
            <a:ext cx="5267193" cy="0"/>
          </a:xfrm>
          <a:prstGeom prst="line">
            <a:avLst/>
          </a:prstGeom>
          <a:noFill/>
          <a:ln w="28574">
            <a:solidFill>
              <a:srgbClr val="0596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881540" y="3757518"/>
            <a:ext cx="0" cy="361941"/>
          </a:xfrm>
          <a:prstGeom prst="line">
            <a:avLst/>
          </a:prstGeom>
          <a:noFill/>
          <a:ln w="9525">
            <a:solidFill>
              <a:srgbClr val="E7E5E4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19110" y="4114697"/>
            <a:ext cx="5267193" cy="0"/>
          </a:xfrm>
          <a:prstGeom prst="line">
            <a:avLst/>
          </a:prstGeom>
          <a:noFill/>
          <a:ln w="9525">
            <a:solidFill>
              <a:srgbClr val="E7E5E4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23872" y="3757518"/>
            <a:ext cx="0" cy="361941"/>
          </a:xfrm>
          <a:prstGeom prst="line">
            <a:avLst/>
          </a:prstGeom>
          <a:noFill/>
          <a:ln w="9525">
            <a:solidFill>
              <a:srgbClr val="E7E5E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3882" y="3843241"/>
            <a:ext cx="5057648" cy="1234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b="1" spc="60" kern="0" dirty="0">
                <a:solidFill>
                  <a:srgbClr val="78716C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📸 15 ROLE EKSEKUSI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723882" y="3928964"/>
            <a:ext cx="5167376" cy="123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25" b="1" dirty="0">
                <a:solidFill>
                  <a:srgbClr val="1C1917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4. 5-Tahap Workflow Gating</a:t>
            </a:r>
            <a:endParaRPr lang="en-US" sz="825" dirty="0"/>
          </a:p>
        </p:txBody>
      </p:sp>
      <p:sp>
        <p:nvSpPr>
          <p:cNvPr id="44" name="Text 42"/>
          <p:cNvSpPr/>
          <p:nvPr/>
        </p:nvSpPr>
        <p:spPr>
          <a:xfrm>
            <a:off x="619110" y="4163806"/>
            <a:ext cx="1022870" cy="282772"/>
          </a:xfrm>
          <a:prstGeom prst="roundRect">
            <a:avLst>
              <a:gd name="adj" fmla="val 20211"/>
            </a:avLst>
          </a:prstGeom>
          <a:solidFill>
            <a:srgbClr val="FFFFFF"/>
          </a:solidFill>
          <a:ln w="9525">
            <a:solidFill>
              <a:srgbClr val="E7E5E4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647684" y="4224232"/>
            <a:ext cx="965722" cy="1234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C1917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T1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647684" y="4319479"/>
            <a:ext cx="965722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b="1" spc="52" kern="0" dirty="0">
                <a:solidFill>
                  <a:srgbClr val="78716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PRODUKSI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1680079" y="4163806"/>
            <a:ext cx="1023019" cy="282772"/>
          </a:xfrm>
          <a:prstGeom prst="roundRect">
            <a:avLst>
              <a:gd name="adj" fmla="val 20211"/>
            </a:avLst>
          </a:prstGeom>
          <a:solidFill>
            <a:srgbClr val="FFFFFF"/>
          </a:solidFill>
          <a:ln w="9525">
            <a:solidFill>
              <a:srgbClr val="E7E5E4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1708653" y="4224232"/>
            <a:ext cx="965870" cy="1234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C1917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T2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1708653" y="4319479"/>
            <a:ext cx="96587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b="1" spc="52" kern="0" dirty="0">
                <a:solidFill>
                  <a:srgbClr val="78716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PASCA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2741197" y="4163806"/>
            <a:ext cx="1022870" cy="282772"/>
          </a:xfrm>
          <a:prstGeom prst="roundRect">
            <a:avLst>
              <a:gd name="adj" fmla="val 20211"/>
            </a:avLst>
          </a:prstGeom>
          <a:solidFill>
            <a:srgbClr val="FFFFFF"/>
          </a:solidFill>
          <a:ln w="9525">
            <a:solidFill>
              <a:srgbClr val="E7E5E4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2769771" y="4224232"/>
            <a:ext cx="965722" cy="1234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C1917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T3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2769771" y="4319479"/>
            <a:ext cx="965722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b="1" spc="52" kern="0" dirty="0">
                <a:solidFill>
                  <a:srgbClr val="78716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REVIEW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3802166" y="4163806"/>
            <a:ext cx="1023019" cy="282772"/>
          </a:xfrm>
          <a:prstGeom prst="roundRect">
            <a:avLst>
              <a:gd name="adj" fmla="val 20211"/>
            </a:avLst>
          </a:prstGeom>
          <a:solidFill>
            <a:srgbClr val="FFFFFF"/>
          </a:solidFill>
          <a:ln w="9525">
            <a:solidFill>
              <a:srgbClr val="E7E5E4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Text 52"/>
          <p:cNvSpPr/>
          <p:nvPr/>
        </p:nvSpPr>
        <p:spPr>
          <a:xfrm>
            <a:off x="3830740" y="4224232"/>
            <a:ext cx="965870" cy="1234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C1917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T4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3830740" y="4319479"/>
            <a:ext cx="96587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b="1" spc="52" kern="0" dirty="0">
                <a:solidFill>
                  <a:srgbClr val="78716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PUBLIKASI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4863284" y="4163806"/>
            <a:ext cx="1023019" cy="282772"/>
          </a:xfrm>
          <a:prstGeom prst="roundRect">
            <a:avLst>
              <a:gd name="adj" fmla="val 20211"/>
            </a:avLst>
          </a:prstGeom>
          <a:solidFill>
            <a:srgbClr val="FFFFFF"/>
          </a:solidFill>
          <a:ln w="9525">
            <a:solidFill>
              <a:srgbClr val="E7E5E4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4891858" y="4224232"/>
            <a:ext cx="965870" cy="1234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C1917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T5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4891858" y="4319479"/>
            <a:ext cx="96587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b="1" spc="52" kern="0" dirty="0">
                <a:solidFill>
                  <a:srgbClr val="78716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SELESAI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619110" y="4490925"/>
            <a:ext cx="5267193" cy="11429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8A29E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↓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619110" y="4662371"/>
            <a:ext cx="5267193" cy="361941"/>
          </a:xfrm>
          <a:prstGeom prst="roundRect">
            <a:avLst>
              <a:gd name="adj" fmla="val 15790"/>
            </a:avLst>
          </a:prstGeom>
          <a:solidFill>
            <a:srgbClr val="F0F9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Shape 59"/>
          <p:cNvSpPr/>
          <p:nvPr/>
        </p:nvSpPr>
        <p:spPr>
          <a:xfrm>
            <a:off x="619110" y="4676658"/>
            <a:ext cx="5267193" cy="0"/>
          </a:xfrm>
          <a:prstGeom prst="line">
            <a:avLst/>
          </a:prstGeom>
          <a:noFill/>
          <a:ln w="28574">
            <a:solidFill>
              <a:srgbClr val="0284C7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5881540" y="4662371"/>
            <a:ext cx="0" cy="361941"/>
          </a:xfrm>
          <a:prstGeom prst="line">
            <a:avLst/>
          </a:prstGeom>
          <a:noFill/>
          <a:ln w="9525">
            <a:solidFill>
              <a:srgbClr val="E7E5E4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19110" y="5019549"/>
            <a:ext cx="5267193" cy="0"/>
          </a:xfrm>
          <a:prstGeom prst="line">
            <a:avLst/>
          </a:prstGeom>
          <a:noFill/>
          <a:ln w="9525">
            <a:solidFill>
              <a:srgbClr val="E7E5E4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623872" y="4662371"/>
            <a:ext cx="0" cy="361941"/>
          </a:xfrm>
          <a:prstGeom prst="line">
            <a:avLst/>
          </a:prstGeom>
          <a:noFill/>
          <a:ln w="9525">
            <a:solidFill>
              <a:srgbClr val="E7E5E4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23882" y="4748094"/>
            <a:ext cx="5057648" cy="1234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b="1" spc="60" kern="0" dirty="0">
                <a:solidFill>
                  <a:srgbClr val="78716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⚙ SISTEM OTOMATIS</a:t>
            </a:r>
            <a:endParaRPr lang="en-US" sz="800" dirty="0"/>
          </a:p>
        </p:txBody>
      </p:sp>
      <p:sp>
        <p:nvSpPr>
          <p:cNvPr id="66" name="Text 64"/>
          <p:cNvSpPr/>
          <p:nvPr/>
        </p:nvSpPr>
        <p:spPr>
          <a:xfrm>
            <a:off x="723882" y="4833817"/>
            <a:ext cx="5167376" cy="123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25" b="1" dirty="0">
                <a:solidFill>
                  <a:srgbClr val="1C1917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5. Laporan SKP Auto-Generate</a:t>
            </a:r>
            <a:endParaRPr lang="en-US" sz="825" dirty="0"/>
          </a:p>
        </p:txBody>
      </p:sp>
      <p:sp>
        <p:nvSpPr>
          <p:cNvPr id="67" name="Text 65"/>
          <p:cNvSpPr/>
          <p:nvPr/>
        </p:nvSpPr>
        <p:spPr>
          <a:xfrm>
            <a:off x="6167283" y="1647784"/>
            <a:ext cx="2719319" cy="6691145"/>
          </a:xfrm>
          <a:prstGeom prst="roundRect">
            <a:avLst>
              <a:gd name="adj" fmla="val 2802"/>
            </a:avLst>
          </a:prstGeom>
          <a:solidFill>
            <a:srgbClr val="FFFFFF"/>
          </a:solidFill>
          <a:ln w="9525">
            <a:solidFill>
              <a:srgbClr val="E7E5E4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Text 66"/>
          <p:cNvSpPr/>
          <p:nvPr/>
        </p:nvSpPr>
        <p:spPr>
          <a:xfrm>
            <a:off x="6172046" y="1652546"/>
            <a:ext cx="2709795" cy="333367"/>
          </a:xfrm>
          <a:prstGeom prst="rect">
            <a:avLst/>
          </a:prstGeom>
          <a:solidFill>
            <a:srgbClr val="F5F5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Shape 67"/>
          <p:cNvSpPr/>
          <p:nvPr/>
        </p:nvSpPr>
        <p:spPr>
          <a:xfrm>
            <a:off x="6172046" y="1981150"/>
            <a:ext cx="2709795" cy="0"/>
          </a:xfrm>
          <a:prstGeom prst="line">
            <a:avLst/>
          </a:prstGeom>
          <a:noFill/>
          <a:ln w="9525">
            <a:solidFill>
              <a:srgbClr val="E7E5E4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169269" y="1719219"/>
            <a:ext cx="617324" cy="190495"/>
          </a:xfrm>
          <a:prstGeom prst="roundRect">
            <a:avLst>
              <a:gd name="adj" fmla="val 15000"/>
            </a:avLst>
          </a:prstGeom>
          <a:solidFill>
            <a:srgbClr val="6D28D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Text 69"/>
          <p:cNvSpPr/>
          <p:nvPr/>
        </p:nvSpPr>
        <p:spPr>
          <a:xfrm>
            <a:off x="6267293" y="1709695"/>
            <a:ext cx="1225867" cy="241402"/>
          </a:xfrm>
          <a:prstGeom prst="rect">
            <a:avLst/>
          </a:prstGeom>
          <a:noFill/>
          <a:ln/>
        </p:spPr>
        <p:txBody>
          <a:bodyPr wrap="square" lIns="95248" tIns="57149" rIns="95248" bIns="57149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44403C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📋</a:t>
            </a:r>
            <a:pPr algn="l" indent="0" marL="0">
              <a:buNone/>
            </a:pPr>
            <a:r>
              <a:rPr lang="en-US" sz="750" b="1" dirty="0">
                <a:solidFill>
                  <a:srgbClr val="44403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Bukti: Manajemen Surat (Administrator)</a:t>
            </a:r>
            <a:endParaRPr lang="en-US" sz="750" dirty="0"/>
          </a:p>
        </p:txBody>
      </p:sp>
      <p:sp>
        <p:nvSpPr>
          <p:cNvPr id="72" name="Text 70"/>
          <p:cNvSpPr/>
          <p:nvPr/>
        </p:nvSpPr>
        <p:spPr>
          <a:xfrm>
            <a:off x="8146409" y="1707790"/>
            <a:ext cx="663044" cy="213355"/>
          </a:xfrm>
          <a:prstGeom prst="roundRect">
            <a:avLst>
              <a:gd name="adj" fmla="val 13393"/>
            </a:avLst>
          </a:prstGeom>
          <a:solidFill>
            <a:srgbClr val="6D28D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Text 71"/>
          <p:cNvSpPr/>
          <p:nvPr/>
        </p:nvSpPr>
        <p:spPr>
          <a:xfrm>
            <a:off x="8146044" y="1719219"/>
            <a:ext cx="663773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00" b="1" spc="60" kern="0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LANGKAH 1</a:t>
            </a:r>
            <a:endParaRPr lang="en-US" sz="800" dirty="0"/>
          </a:p>
        </p:txBody>
      </p:sp>
      <p:pic>
        <p:nvPicPr>
          <p:cNvPr id="74" name="Image 0" descr="/tmp/h2p-fit-1791730488340-m45mu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72046" y="1985913"/>
            <a:ext cx="2709795" cy="6114004"/>
          </a:xfrm>
          <a:prstGeom prst="rect">
            <a:avLst/>
          </a:prstGeom>
        </p:spPr>
      </p:pic>
      <p:sp>
        <p:nvSpPr>
          <p:cNvPr id="75" name="Text 72"/>
          <p:cNvSpPr/>
          <p:nvPr/>
        </p:nvSpPr>
        <p:spPr>
          <a:xfrm>
            <a:off x="6172046" y="8099917"/>
            <a:ext cx="2709795" cy="234250"/>
          </a:xfrm>
          <a:prstGeom prst="rect">
            <a:avLst/>
          </a:prstGeom>
          <a:solidFill>
            <a:srgbClr val="FAFA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Text 73"/>
          <p:cNvSpPr/>
          <p:nvPr/>
        </p:nvSpPr>
        <p:spPr>
          <a:xfrm>
            <a:off x="6172046" y="8099917"/>
            <a:ext cx="2709795" cy="234250"/>
          </a:xfrm>
          <a:prstGeom prst="rect">
            <a:avLst/>
          </a:prstGeom>
          <a:noFill/>
          <a:ln/>
        </p:spPr>
        <p:txBody>
          <a:bodyPr wrap="square" lIns="95248" tIns="57149" rIns="95248" bIns="57149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800" b="1" dirty="0">
                <a:solidFill>
                  <a:srgbClr val="1C1917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Administrator</a:t>
            </a:r>
            <a:pPr algn="l" indent="0" marL="0">
              <a:lnSpc>
                <a:spcPts val="945"/>
              </a:lnSpc>
              <a:buNone/>
            </a:pPr>
            <a:r>
              <a:rPr lang="en-US" sz="800" dirty="0">
                <a:solidFill>
                  <a:srgbClr val="57534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terima surat, kategorikan, teruskan ke Manager</a:t>
            </a:r>
            <a:endParaRPr lang="en-US" sz="800" dirty="0"/>
          </a:p>
        </p:txBody>
      </p:sp>
      <p:sp>
        <p:nvSpPr>
          <p:cNvPr id="77" name="Text 74"/>
          <p:cNvSpPr/>
          <p:nvPr/>
        </p:nvSpPr>
        <p:spPr>
          <a:xfrm>
            <a:off x="8991375" y="1647784"/>
            <a:ext cx="2719319" cy="6691145"/>
          </a:xfrm>
          <a:prstGeom prst="roundRect">
            <a:avLst>
              <a:gd name="adj" fmla="val 2802"/>
            </a:avLst>
          </a:prstGeom>
          <a:solidFill>
            <a:srgbClr val="FFFFFF"/>
          </a:solidFill>
          <a:ln w="9525">
            <a:solidFill>
              <a:srgbClr val="E7E5E4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Text 75"/>
          <p:cNvSpPr/>
          <p:nvPr/>
        </p:nvSpPr>
        <p:spPr>
          <a:xfrm>
            <a:off x="8996137" y="1652546"/>
            <a:ext cx="2709795" cy="228594"/>
          </a:xfrm>
          <a:prstGeom prst="rect">
            <a:avLst/>
          </a:prstGeom>
          <a:solidFill>
            <a:srgbClr val="F5F5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Shape 76"/>
          <p:cNvSpPr/>
          <p:nvPr/>
        </p:nvSpPr>
        <p:spPr>
          <a:xfrm>
            <a:off x="8996137" y="1876378"/>
            <a:ext cx="2709795" cy="0"/>
          </a:xfrm>
          <a:prstGeom prst="line">
            <a:avLst/>
          </a:prstGeom>
          <a:noFill/>
          <a:ln w="9525">
            <a:solidFill>
              <a:srgbClr val="E7E5E4"/>
            </a:solidFill>
            <a:prstDash val="solid"/>
          </a:ln>
        </p:spPr>
      </p:sp>
      <p:sp>
        <p:nvSpPr>
          <p:cNvPr id="80" name="Text 77"/>
          <p:cNvSpPr/>
          <p:nvPr/>
        </p:nvSpPr>
        <p:spPr>
          <a:xfrm>
            <a:off x="10983241" y="1709695"/>
            <a:ext cx="627444" cy="104772"/>
          </a:xfrm>
          <a:prstGeom prst="roundRect">
            <a:avLst>
              <a:gd name="adj" fmla="val 27274"/>
            </a:avLst>
          </a:prstGeom>
          <a:solidFill>
            <a:srgbClr val="6D28D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1" name="Text 78"/>
          <p:cNvSpPr/>
          <p:nvPr/>
        </p:nvSpPr>
        <p:spPr>
          <a:xfrm>
            <a:off x="9091385" y="1709695"/>
            <a:ext cx="1585873" cy="120701"/>
          </a:xfrm>
          <a:prstGeom prst="rect">
            <a:avLst/>
          </a:prstGeom>
          <a:noFill/>
          <a:ln/>
        </p:spPr>
        <p:txBody>
          <a:bodyPr wrap="square" lIns="95248" tIns="57149" rIns="95248" bIns="57149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44403C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🎯</a:t>
            </a:r>
            <a:pPr algn="l" indent="0" marL="0">
              <a:buNone/>
            </a:pPr>
            <a:r>
              <a:rPr lang="en-US" sz="750" b="1" dirty="0">
                <a:solidFill>
                  <a:srgbClr val="44403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Bukti: Inisiasi Proyek (Manager)</a:t>
            </a:r>
            <a:endParaRPr lang="en-US" sz="750" dirty="0"/>
          </a:p>
        </p:txBody>
      </p:sp>
      <p:sp>
        <p:nvSpPr>
          <p:cNvPr id="82" name="Text 79"/>
          <p:cNvSpPr/>
          <p:nvPr/>
        </p:nvSpPr>
        <p:spPr>
          <a:xfrm>
            <a:off x="10960381" y="1703408"/>
            <a:ext cx="673164" cy="117345"/>
          </a:xfrm>
          <a:prstGeom prst="roundRect">
            <a:avLst>
              <a:gd name="adj" fmla="val 24351"/>
            </a:avLst>
          </a:prstGeom>
          <a:solidFill>
            <a:srgbClr val="6D28D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3" name="Text 80"/>
          <p:cNvSpPr/>
          <p:nvPr/>
        </p:nvSpPr>
        <p:spPr>
          <a:xfrm>
            <a:off x="10965076" y="1709695"/>
            <a:ext cx="663773" cy="104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00" b="1" spc="60" kern="0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LANGKAH 2</a:t>
            </a:r>
            <a:endParaRPr lang="en-US" sz="800" dirty="0"/>
          </a:p>
        </p:txBody>
      </p:sp>
      <p:pic>
        <p:nvPicPr>
          <p:cNvPr id="84" name="Image 1" descr="/tmp/h2p-fit-1791730488341-3y3fa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96137" y="1881140"/>
            <a:ext cx="2709795" cy="6098824"/>
          </a:xfrm>
          <a:prstGeom prst="rect">
            <a:avLst/>
          </a:prstGeom>
        </p:spPr>
      </p:pic>
      <p:sp>
        <p:nvSpPr>
          <p:cNvPr id="85" name="Text 81"/>
          <p:cNvSpPr/>
          <p:nvPr/>
        </p:nvSpPr>
        <p:spPr>
          <a:xfrm>
            <a:off x="8996137" y="7979964"/>
            <a:ext cx="2709795" cy="354202"/>
          </a:xfrm>
          <a:prstGeom prst="rect">
            <a:avLst/>
          </a:prstGeom>
          <a:solidFill>
            <a:srgbClr val="FAFA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6" name="Text 82"/>
          <p:cNvSpPr/>
          <p:nvPr/>
        </p:nvSpPr>
        <p:spPr>
          <a:xfrm>
            <a:off x="8996137" y="7979964"/>
            <a:ext cx="2709795" cy="354202"/>
          </a:xfrm>
          <a:prstGeom prst="rect">
            <a:avLst/>
          </a:prstGeom>
          <a:noFill/>
          <a:ln/>
        </p:spPr>
        <p:txBody>
          <a:bodyPr wrap="square" lIns="95248" tIns="57149" rIns="95248" bIns="57149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800" b="1" dirty="0">
                <a:solidFill>
                  <a:srgbClr val="1C1917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Manager</a:t>
            </a:r>
            <a:pPr algn="l" indent="0" marL="0">
              <a:lnSpc>
                <a:spcPts val="945"/>
              </a:lnSpc>
              <a:buNone/>
            </a:pPr>
            <a:r>
              <a:rPr lang="en-US" sz="800" dirty="0">
                <a:solidFill>
                  <a:srgbClr val="57534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isi form mandatori, sistem auto-buat Surat Tugas + Drive folder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1695" cy="857228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476238" y="881040"/>
            <a:ext cx="11239219" cy="0"/>
          </a:xfrm>
          <a:prstGeom prst="line">
            <a:avLst/>
          </a:prstGeom>
          <a:noFill/>
          <a:ln w="19050">
            <a:solidFill>
              <a:srgbClr val="E7E5E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76238" y="304792"/>
            <a:ext cx="8636000" cy="1154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b="1" spc="187" kern="0" dirty="0">
                <a:solidFill>
                  <a:srgbClr val="6D28D9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USER-TO-USER CONNECTION — 15 ROLE TERHUBUNG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76238" y="447664"/>
            <a:ext cx="8636000" cy="328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87"/>
              </a:lnSpc>
              <a:buNone/>
            </a:pPr>
            <a:r>
              <a:rPr lang="en-US" sz="2250" b="1" dirty="0">
                <a:solidFill>
                  <a:srgbClr val="1C1917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Bagaimana User Saling Terhubung via Sistem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11259459" y="395278"/>
            <a:ext cx="455998" cy="10591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spc="101" kern="0" dirty="0">
                <a:solidFill>
                  <a:srgbClr val="78716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ROLE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259459" y="528624"/>
            <a:ext cx="455998" cy="2468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800"/>
              </a:lnSpc>
              <a:buNone/>
            </a:pPr>
            <a:r>
              <a:rPr lang="en-US" sz="1800" b="1" dirty="0">
                <a:solidFill>
                  <a:srgbClr val="6D28D9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15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76238" y="1023912"/>
            <a:ext cx="2080119" cy="627444"/>
          </a:xfrm>
          <a:prstGeom prst="roundRect">
            <a:avLst>
              <a:gd name="adj" fmla="val 9108"/>
            </a:avLst>
          </a:prstGeom>
          <a:solidFill>
            <a:srgbClr val="FAF5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476238" y="1038199"/>
            <a:ext cx="2080119" cy="0"/>
          </a:xfrm>
          <a:prstGeom prst="line">
            <a:avLst/>
          </a:prstGeom>
          <a:noFill/>
          <a:ln w="28574">
            <a:solidFill>
              <a:srgbClr val="6D28D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551594" y="1023912"/>
            <a:ext cx="0" cy="627444"/>
          </a:xfrm>
          <a:prstGeom prst="line">
            <a:avLst/>
          </a:prstGeom>
          <a:noFill/>
          <a:ln w="9525">
            <a:solidFill>
              <a:srgbClr val="E7E5E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6238" y="1646593"/>
            <a:ext cx="2080119" cy="0"/>
          </a:xfrm>
          <a:prstGeom prst="line">
            <a:avLst/>
          </a:prstGeom>
          <a:noFill/>
          <a:ln w="9525">
            <a:solidFill>
              <a:srgbClr val="E7E5E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81000" y="1023912"/>
            <a:ext cx="0" cy="627444"/>
          </a:xfrm>
          <a:prstGeom prst="line">
            <a:avLst/>
          </a:prstGeom>
          <a:noFill/>
          <a:ln w="9525">
            <a:solidFill>
              <a:srgbClr val="E7E5E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2911" y="1147734"/>
            <a:ext cx="1946772" cy="9639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00" b="1" spc="60" kern="0" dirty="0">
                <a:solidFill>
                  <a:srgbClr val="78716C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📋</a:t>
            </a:r>
            <a:pPr algn="ctr" indent="0" marL="0">
              <a:buNone/>
            </a:pPr>
            <a:r>
              <a:rPr lang="en-US" sz="800" b="1" spc="60" kern="0" dirty="0">
                <a:solidFill>
                  <a:srgbClr val="78716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MANAGER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542911" y="1271556"/>
            <a:ext cx="1946772" cy="1356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1C1917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Inisiasi &amp; Delegasi</a:t>
            </a:r>
            <a:endParaRPr lang="en-US" sz="825" dirty="0"/>
          </a:p>
        </p:txBody>
      </p:sp>
      <p:sp>
        <p:nvSpPr>
          <p:cNvPr id="15" name="Text 13"/>
          <p:cNvSpPr/>
          <p:nvPr/>
        </p:nvSpPr>
        <p:spPr>
          <a:xfrm>
            <a:off x="542911" y="1435263"/>
            <a:ext cx="2024643" cy="111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877"/>
              </a:lnSpc>
              <a:buNone/>
            </a:pPr>
            <a:r>
              <a:rPr lang="en-US" sz="800" dirty="0">
                <a:solidFill>
                  <a:srgbClr val="78716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Buat proyek, assign petugas per role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2594456" y="1261436"/>
            <a:ext cx="133347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8A29E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→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2765902" y="1023912"/>
            <a:ext cx="2080267" cy="627444"/>
          </a:xfrm>
          <a:prstGeom prst="roundRect">
            <a:avLst>
              <a:gd name="adj" fmla="val 9108"/>
            </a:avLst>
          </a:prstGeom>
          <a:solidFill>
            <a:srgbClr val="ECFD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Shape 16"/>
          <p:cNvSpPr/>
          <p:nvPr/>
        </p:nvSpPr>
        <p:spPr>
          <a:xfrm>
            <a:off x="2765902" y="1038199"/>
            <a:ext cx="2080267" cy="0"/>
          </a:xfrm>
          <a:prstGeom prst="line">
            <a:avLst/>
          </a:prstGeom>
          <a:noFill/>
          <a:ln w="28574">
            <a:solidFill>
              <a:srgbClr val="05966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841407" y="1023912"/>
            <a:ext cx="0" cy="627444"/>
          </a:xfrm>
          <a:prstGeom prst="line">
            <a:avLst/>
          </a:prstGeom>
          <a:noFill/>
          <a:ln w="9525">
            <a:solidFill>
              <a:srgbClr val="E7E5E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765902" y="1646593"/>
            <a:ext cx="2080267" cy="0"/>
          </a:xfrm>
          <a:prstGeom prst="line">
            <a:avLst/>
          </a:prstGeom>
          <a:noFill/>
          <a:ln w="9525">
            <a:solidFill>
              <a:srgbClr val="E7E5E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770664" y="1023912"/>
            <a:ext cx="0" cy="627444"/>
          </a:xfrm>
          <a:prstGeom prst="line">
            <a:avLst/>
          </a:prstGeom>
          <a:noFill/>
          <a:ln w="9525">
            <a:solidFill>
              <a:srgbClr val="E7E5E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832575" y="1147734"/>
            <a:ext cx="1946921" cy="9639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00" b="1" spc="60" kern="0" dirty="0">
                <a:solidFill>
                  <a:srgbClr val="78716C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📸</a:t>
            </a:r>
            <a:pPr algn="ctr" indent="0" marL="0">
              <a:buNone/>
            </a:pPr>
            <a:r>
              <a:rPr lang="en-US" sz="800" b="1" spc="60" kern="0" dirty="0">
                <a:solidFill>
                  <a:srgbClr val="78716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REPORTER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2832575" y="1271556"/>
            <a:ext cx="1946921" cy="1356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1C1917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Tahap 1: Produksi</a:t>
            </a:r>
            <a:endParaRPr lang="en-US" sz="825" dirty="0"/>
          </a:p>
        </p:txBody>
      </p:sp>
      <p:sp>
        <p:nvSpPr>
          <p:cNvPr id="24" name="Text 22"/>
          <p:cNvSpPr/>
          <p:nvPr/>
        </p:nvSpPr>
        <p:spPr>
          <a:xfrm>
            <a:off x="2832575" y="1435263"/>
            <a:ext cx="2024798" cy="111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877"/>
              </a:lnSpc>
              <a:buNone/>
            </a:pPr>
            <a:r>
              <a:rPr lang="en-US" sz="800" dirty="0">
                <a:solidFill>
                  <a:srgbClr val="78716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Upload file mentah ke Drive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4884268" y="1261436"/>
            <a:ext cx="133347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8A29E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→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055714" y="1023912"/>
            <a:ext cx="2080119" cy="627444"/>
          </a:xfrm>
          <a:prstGeom prst="roundRect">
            <a:avLst>
              <a:gd name="adj" fmla="val 9108"/>
            </a:avLst>
          </a:prstGeom>
          <a:solidFill>
            <a:srgbClr val="F0F9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Shape 25"/>
          <p:cNvSpPr/>
          <p:nvPr/>
        </p:nvSpPr>
        <p:spPr>
          <a:xfrm>
            <a:off x="5055714" y="1038199"/>
            <a:ext cx="2080119" cy="0"/>
          </a:xfrm>
          <a:prstGeom prst="line">
            <a:avLst/>
          </a:prstGeom>
          <a:noFill/>
          <a:ln w="28574">
            <a:solidFill>
              <a:srgbClr val="0284C7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131070" y="1023912"/>
            <a:ext cx="0" cy="627444"/>
          </a:xfrm>
          <a:prstGeom prst="line">
            <a:avLst/>
          </a:prstGeom>
          <a:noFill/>
          <a:ln w="9525">
            <a:solidFill>
              <a:srgbClr val="E7E5E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055714" y="1646593"/>
            <a:ext cx="2080119" cy="0"/>
          </a:xfrm>
          <a:prstGeom prst="line">
            <a:avLst/>
          </a:prstGeom>
          <a:noFill/>
          <a:ln w="9525">
            <a:solidFill>
              <a:srgbClr val="E7E5E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60476" y="1023912"/>
            <a:ext cx="0" cy="627444"/>
          </a:xfrm>
          <a:prstGeom prst="line">
            <a:avLst/>
          </a:prstGeom>
          <a:noFill/>
          <a:ln w="9525">
            <a:solidFill>
              <a:srgbClr val="E7E5E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122387" y="1147734"/>
            <a:ext cx="1946772" cy="9639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00" b="1" spc="60" kern="0" dirty="0">
                <a:solidFill>
                  <a:srgbClr val="78716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✏️ EDITOR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5122387" y="1271556"/>
            <a:ext cx="1946772" cy="1356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1C1917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Tahap 2: Pasca</a:t>
            </a:r>
            <a:endParaRPr lang="en-US" sz="825" dirty="0"/>
          </a:p>
        </p:txBody>
      </p:sp>
      <p:sp>
        <p:nvSpPr>
          <p:cNvPr id="33" name="Text 31"/>
          <p:cNvSpPr/>
          <p:nvPr/>
        </p:nvSpPr>
        <p:spPr>
          <a:xfrm>
            <a:off x="5122387" y="1435263"/>
            <a:ext cx="2024643" cy="111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877"/>
              </a:lnSpc>
              <a:buNone/>
            </a:pPr>
            <a:r>
              <a:rPr lang="en-US" sz="800" dirty="0">
                <a:solidFill>
                  <a:srgbClr val="78716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Download, edit, upload hasil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7173931" y="1261436"/>
            <a:ext cx="133347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8A29E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→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7345377" y="1023912"/>
            <a:ext cx="2080267" cy="627444"/>
          </a:xfrm>
          <a:prstGeom prst="roundRect">
            <a:avLst>
              <a:gd name="adj" fmla="val 9108"/>
            </a:avLst>
          </a:prstGeom>
          <a:solidFill>
            <a:srgbClr val="FFFBE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Shape 34"/>
          <p:cNvSpPr/>
          <p:nvPr/>
        </p:nvSpPr>
        <p:spPr>
          <a:xfrm>
            <a:off x="7345377" y="1038199"/>
            <a:ext cx="2080267" cy="0"/>
          </a:xfrm>
          <a:prstGeom prst="line">
            <a:avLst/>
          </a:prstGeom>
          <a:noFill/>
          <a:ln w="28574">
            <a:solidFill>
              <a:srgbClr val="D9770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420882" y="1023912"/>
            <a:ext cx="0" cy="627444"/>
          </a:xfrm>
          <a:prstGeom prst="line">
            <a:avLst/>
          </a:prstGeom>
          <a:noFill/>
          <a:ln w="9525">
            <a:solidFill>
              <a:srgbClr val="E7E5E4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345377" y="1646593"/>
            <a:ext cx="2080267" cy="0"/>
          </a:xfrm>
          <a:prstGeom prst="line">
            <a:avLst/>
          </a:prstGeom>
          <a:noFill/>
          <a:ln w="9525">
            <a:solidFill>
              <a:srgbClr val="E7E5E4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350140" y="1023912"/>
            <a:ext cx="0" cy="627444"/>
          </a:xfrm>
          <a:prstGeom prst="line">
            <a:avLst/>
          </a:prstGeom>
          <a:noFill/>
          <a:ln w="9525">
            <a:solidFill>
              <a:srgbClr val="E7E5E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412051" y="1147734"/>
            <a:ext cx="1946921" cy="9639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00" b="1" spc="60" kern="0" dirty="0">
                <a:solidFill>
                  <a:srgbClr val="78716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✓ REVIEWER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7412051" y="1271556"/>
            <a:ext cx="1946921" cy="1356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1C1917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Tahap 3: Review</a:t>
            </a:r>
            <a:endParaRPr lang="en-US" sz="825" dirty="0"/>
          </a:p>
        </p:txBody>
      </p:sp>
      <p:sp>
        <p:nvSpPr>
          <p:cNvPr id="42" name="Text 40"/>
          <p:cNvSpPr/>
          <p:nvPr/>
        </p:nvSpPr>
        <p:spPr>
          <a:xfrm>
            <a:off x="7412051" y="1435263"/>
            <a:ext cx="1946921" cy="1113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877"/>
              </a:lnSpc>
              <a:buNone/>
            </a:pPr>
            <a:r>
              <a:rPr lang="en-US" sz="800" dirty="0">
                <a:solidFill>
                  <a:srgbClr val="78716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QC, setuju/tolak + revisi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9463744" y="1261436"/>
            <a:ext cx="133347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8A29E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→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9635189" y="1023912"/>
            <a:ext cx="2080267" cy="627444"/>
          </a:xfrm>
          <a:prstGeom prst="roundRect">
            <a:avLst>
              <a:gd name="adj" fmla="val 9108"/>
            </a:avLst>
          </a:prstGeom>
          <a:solidFill>
            <a:srgbClr val="FFF1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Shape 43"/>
          <p:cNvSpPr/>
          <p:nvPr/>
        </p:nvSpPr>
        <p:spPr>
          <a:xfrm>
            <a:off x="9635189" y="1038199"/>
            <a:ext cx="2080267" cy="0"/>
          </a:xfrm>
          <a:prstGeom prst="line">
            <a:avLst/>
          </a:prstGeom>
          <a:noFill/>
          <a:ln w="28574">
            <a:solidFill>
              <a:srgbClr val="E11D48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1710695" y="1023912"/>
            <a:ext cx="0" cy="627444"/>
          </a:xfrm>
          <a:prstGeom prst="line">
            <a:avLst/>
          </a:prstGeom>
          <a:noFill/>
          <a:ln w="9525">
            <a:solidFill>
              <a:srgbClr val="E7E5E4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9635189" y="1646593"/>
            <a:ext cx="2080267" cy="0"/>
          </a:xfrm>
          <a:prstGeom prst="line">
            <a:avLst/>
          </a:prstGeom>
          <a:noFill/>
          <a:ln w="9525">
            <a:solidFill>
              <a:srgbClr val="E7E5E4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9639952" y="1023912"/>
            <a:ext cx="0" cy="627444"/>
          </a:xfrm>
          <a:prstGeom prst="line">
            <a:avLst/>
          </a:prstGeom>
          <a:noFill/>
          <a:ln w="9525">
            <a:solidFill>
              <a:srgbClr val="E7E5E4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701863" y="1147734"/>
            <a:ext cx="1946921" cy="9639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00" b="1" spc="60" kern="0" dirty="0">
                <a:solidFill>
                  <a:srgbClr val="78716C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🌐</a:t>
            </a:r>
            <a:pPr algn="ctr" indent="0" marL="0">
              <a:buNone/>
            </a:pPr>
            <a:r>
              <a:rPr lang="en-US" sz="800" b="1" spc="60" kern="0" dirty="0">
                <a:solidFill>
                  <a:srgbClr val="78716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PUBLISHER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9701863" y="1271556"/>
            <a:ext cx="1946921" cy="1356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1C1917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Tahap 4: Publikasi</a:t>
            </a:r>
            <a:endParaRPr lang="en-US" sz="825" dirty="0"/>
          </a:p>
        </p:txBody>
      </p:sp>
      <p:sp>
        <p:nvSpPr>
          <p:cNvPr id="51" name="Text 49"/>
          <p:cNvSpPr/>
          <p:nvPr/>
        </p:nvSpPr>
        <p:spPr>
          <a:xfrm>
            <a:off x="9701863" y="1435263"/>
            <a:ext cx="1946921" cy="1113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877"/>
              </a:lnSpc>
              <a:buNone/>
            </a:pPr>
            <a:r>
              <a:rPr lang="en-US" sz="800" dirty="0">
                <a:solidFill>
                  <a:srgbClr val="78716C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Publish ke 14 platform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481000" y="1770415"/>
            <a:ext cx="2743131" cy="725668"/>
          </a:xfrm>
          <a:prstGeom prst="roundRect">
            <a:avLst>
              <a:gd name="adj" fmla="val 7876"/>
            </a:avLst>
          </a:prstGeom>
          <a:solidFill>
            <a:srgbClr val="FFFFFF"/>
          </a:solidFill>
          <a:ln w="9525">
            <a:solidFill>
              <a:srgbClr val="E7E5E4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581010" y="1851376"/>
            <a:ext cx="2543111" cy="172588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292524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📨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581010" y="2051396"/>
            <a:ext cx="2543111" cy="9639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C1917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Surat Tugas Otomatis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581010" y="2175217"/>
            <a:ext cx="2543111" cy="239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800" dirty="0">
                <a:solidFill>
                  <a:srgbClr val="57534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Bernomor resmi ("ST/001/I/2026"), kirim ke Inbox tiap user saat ditugaskan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3309855" y="1770415"/>
            <a:ext cx="2743131" cy="725668"/>
          </a:xfrm>
          <a:prstGeom prst="roundRect">
            <a:avLst>
              <a:gd name="adj" fmla="val 7876"/>
            </a:avLst>
          </a:prstGeom>
          <a:solidFill>
            <a:srgbClr val="FFFFFF"/>
          </a:solidFill>
          <a:ln w="9525">
            <a:solidFill>
              <a:srgbClr val="E7E5E4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3409865" y="1851376"/>
            <a:ext cx="2543111" cy="172588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292524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💬</a:t>
            </a:r>
            <a:endParaRPr lang="en-US" sz="1200" dirty="0"/>
          </a:p>
        </p:txBody>
      </p:sp>
      <p:sp>
        <p:nvSpPr>
          <p:cNvPr id="58" name="Text 56"/>
          <p:cNvSpPr/>
          <p:nvPr/>
        </p:nvSpPr>
        <p:spPr>
          <a:xfrm>
            <a:off x="3409865" y="2051396"/>
            <a:ext cx="2543111" cy="9639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C1917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WA Notifikasi Otomatis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3409865" y="2175217"/>
            <a:ext cx="2543111" cy="239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800" dirty="0">
                <a:solidFill>
                  <a:srgbClr val="57534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3 trigger: Tugas Baru, Stage Advance, Review Reject — via UltraMsg GRATIS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6138709" y="1770415"/>
            <a:ext cx="2743131" cy="725668"/>
          </a:xfrm>
          <a:prstGeom prst="roundRect">
            <a:avLst>
              <a:gd name="adj" fmla="val 7876"/>
            </a:avLst>
          </a:prstGeom>
          <a:solidFill>
            <a:srgbClr val="FFFFFF"/>
          </a:solidFill>
          <a:ln w="9525">
            <a:solidFill>
              <a:srgbClr val="E7E5E4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Text 59"/>
          <p:cNvSpPr/>
          <p:nvPr/>
        </p:nvSpPr>
        <p:spPr>
          <a:xfrm>
            <a:off x="6238719" y="1851376"/>
            <a:ext cx="2543111" cy="172588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292524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📁</a:t>
            </a:r>
            <a:endParaRPr lang="en-US" sz="1200" dirty="0"/>
          </a:p>
        </p:txBody>
      </p:sp>
      <p:sp>
        <p:nvSpPr>
          <p:cNvPr id="62" name="Text 60"/>
          <p:cNvSpPr/>
          <p:nvPr/>
        </p:nvSpPr>
        <p:spPr>
          <a:xfrm>
            <a:off x="6238719" y="2051396"/>
            <a:ext cx="2543111" cy="9639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C1917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Drive Folder Sharing</a:t>
            </a:r>
            <a:endParaRPr lang="en-US" sz="800" dirty="0"/>
          </a:p>
        </p:txBody>
      </p:sp>
      <p:sp>
        <p:nvSpPr>
          <p:cNvPr id="63" name="Text 61"/>
          <p:cNvSpPr/>
          <p:nvPr/>
        </p:nvSpPr>
        <p:spPr>
          <a:xfrm>
            <a:off x="6238719" y="2175217"/>
            <a:ext cx="2543111" cy="153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675" dirty="0">
                <a:solidFill>
                  <a:srgbClr val="57534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Subfolder per role + DL/UL policy otomatis, file sharing antar tahap</a:t>
            </a:r>
            <a:endParaRPr lang="en-US" sz="675" dirty="0"/>
          </a:p>
        </p:txBody>
      </p:sp>
      <p:sp>
        <p:nvSpPr>
          <p:cNvPr id="64" name="Text 62"/>
          <p:cNvSpPr/>
          <p:nvPr/>
        </p:nvSpPr>
        <p:spPr>
          <a:xfrm>
            <a:off x="8967563" y="1770415"/>
            <a:ext cx="2743131" cy="725668"/>
          </a:xfrm>
          <a:prstGeom prst="roundRect">
            <a:avLst>
              <a:gd name="adj" fmla="val 7876"/>
            </a:avLst>
          </a:prstGeom>
          <a:solidFill>
            <a:srgbClr val="FFFFFF"/>
          </a:solidFill>
          <a:ln w="9525">
            <a:solidFill>
              <a:srgbClr val="E7E5E4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9067573" y="1851376"/>
            <a:ext cx="2543111" cy="172588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292524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📊</a:t>
            </a:r>
            <a:endParaRPr lang="en-US" sz="1200" dirty="0"/>
          </a:p>
        </p:txBody>
      </p:sp>
      <p:sp>
        <p:nvSpPr>
          <p:cNvPr id="66" name="Text 64"/>
          <p:cNvSpPr/>
          <p:nvPr/>
        </p:nvSpPr>
        <p:spPr>
          <a:xfrm>
            <a:off x="9067573" y="2051396"/>
            <a:ext cx="2543111" cy="9639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C1917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Stage Advance Gating</a:t>
            </a:r>
            <a:endParaRPr lang="en-US" sz="800" dirty="0"/>
          </a:p>
        </p:txBody>
      </p:sp>
      <p:sp>
        <p:nvSpPr>
          <p:cNvPr id="67" name="Text 65"/>
          <p:cNvSpPr/>
          <p:nvPr/>
        </p:nvSpPr>
        <p:spPr>
          <a:xfrm>
            <a:off x="9067573" y="2175217"/>
            <a:ext cx="2543111" cy="239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800" dirty="0">
                <a:solidFill>
                  <a:srgbClr val="57534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Sistem auto-advance saat semua task currentStage selesai, notif petugas next</a:t>
            </a:r>
            <a:endParaRPr lang="en-US" sz="800" dirty="0"/>
          </a:p>
        </p:txBody>
      </p:sp>
      <p:sp>
        <p:nvSpPr>
          <p:cNvPr id="68" name="Text 66"/>
          <p:cNvSpPr/>
          <p:nvPr/>
        </p:nvSpPr>
        <p:spPr>
          <a:xfrm>
            <a:off x="481000" y="2619905"/>
            <a:ext cx="5562461" cy="5719024"/>
          </a:xfrm>
          <a:prstGeom prst="roundRect">
            <a:avLst>
              <a:gd name="adj" fmla="val 1370"/>
            </a:avLst>
          </a:prstGeom>
          <a:solidFill>
            <a:srgbClr val="FFFFFF"/>
          </a:solidFill>
          <a:ln w="9525">
            <a:solidFill>
              <a:srgbClr val="E7E5E4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Text 67"/>
          <p:cNvSpPr/>
          <p:nvPr/>
        </p:nvSpPr>
        <p:spPr>
          <a:xfrm>
            <a:off x="485763" y="2624667"/>
            <a:ext cx="5552936" cy="228594"/>
          </a:xfrm>
          <a:prstGeom prst="rect">
            <a:avLst/>
          </a:prstGeom>
          <a:solidFill>
            <a:srgbClr val="F5F5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Shape 68"/>
          <p:cNvSpPr/>
          <p:nvPr/>
        </p:nvSpPr>
        <p:spPr>
          <a:xfrm>
            <a:off x="485763" y="2848499"/>
            <a:ext cx="5552936" cy="0"/>
          </a:xfrm>
          <a:prstGeom prst="line">
            <a:avLst/>
          </a:prstGeom>
          <a:noFill/>
          <a:ln w="9525">
            <a:solidFill>
              <a:srgbClr val="E7E5E4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349791" y="2681816"/>
            <a:ext cx="593661" cy="104772"/>
          </a:xfrm>
          <a:prstGeom prst="roundRect">
            <a:avLst>
              <a:gd name="adj" fmla="val 27274"/>
            </a:avLst>
          </a:prstGeom>
          <a:solidFill>
            <a:srgbClr val="6D28D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Text 70"/>
          <p:cNvSpPr/>
          <p:nvPr/>
        </p:nvSpPr>
        <p:spPr>
          <a:xfrm>
            <a:off x="581010" y="2681816"/>
            <a:ext cx="1499108" cy="120701"/>
          </a:xfrm>
          <a:prstGeom prst="rect">
            <a:avLst/>
          </a:prstGeom>
          <a:noFill/>
          <a:ln/>
        </p:spPr>
        <p:txBody>
          <a:bodyPr wrap="none" lIns="95248" tIns="57149" rIns="95248" bIns="57149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44403C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📥</a:t>
            </a:r>
            <a:pPr algn="l" indent="0" marL="0">
              <a:buNone/>
            </a:pPr>
            <a:r>
              <a:rPr lang="en-US" sz="750" b="1" dirty="0">
                <a:solidFill>
                  <a:srgbClr val="44403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Bukti: Inbox Surat Tugas User</a:t>
            </a:r>
            <a:endParaRPr lang="en-US" sz="750" dirty="0"/>
          </a:p>
        </p:txBody>
      </p:sp>
      <p:sp>
        <p:nvSpPr>
          <p:cNvPr id="73" name="Text 71"/>
          <p:cNvSpPr/>
          <p:nvPr/>
        </p:nvSpPr>
        <p:spPr>
          <a:xfrm>
            <a:off x="5326931" y="2675529"/>
            <a:ext cx="639381" cy="117345"/>
          </a:xfrm>
          <a:prstGeom prst="roundRect">
            <a:avLst>
              <a:gd name="adj" fmla="val 24351"/>
            </a:avLst>
          </a:prstGeom>
          <a:solidFill>
            <a:srgbClr val="6D28D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Text 72"/>
          <p:cNvSpPr/>
          <p:nvPr/>
        </p:nvSpPr>
        <p:spPr>
          <a:xfrm>
            <a:off x="5314734" y="2681816"/>
            <a:ext cx="663773" cy="104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00" b="1" spc="60" kern="0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KONEKSI 1</a:t>
            </a:r>
            <a:endParaRPr lang="en-US" sz="800" dirty="0"/>
          </a:p>
        </p:txBody>
      </p:sp>
      <p:pic>
        <p:nvPicPr>
          <p:cNvPr id="75" name="Image 0" descr="/tmp/h2p-fit-1791730488055-khz66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5763" y="2853261"/>
            <a:ext cx="5552936" cy="5246655"/>
          </a:xfrm>
          <a:prstGeom prst="rect">
            <a:avLst/>
          </a:prstGeom>
        </p:spPr>
      </p:pic>
      <p:sp>
        <p:nvSpPr>
          <p:cNvPr id="76" name="Text 73"/>
          <p:cNvSpPr/>
          <p:nvPr/>
        </p:nvSpPr>
        <p:spPr>
          <a:xfrm>
            <a:off x="485763" y="8099917"/>
            <a:ext cx="5552936" cy="234250"/>
          </a:xfrm>
          <a:prstGeom prst="rect">
            <a:avLst/>
          </a:prstGeom>
          <a:solidFill>
            <a:srgbClr val="FAFA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Text 74"/>
          <p:cNvSpPr/>
          <p:nvPr/>
        </p:nvSpPr>
        <p:spPr>
          <a:xfrm>
            <a:off x="485763" y="8099917"/>
            <a:ext cx="5552936" cy="234250"/>
          </a:xfrm>
          <a:prstGeom prst="rect">
            <a:avLst/>
          </a:prstGeom>
          <a:noFill/>
          <a:ln/>
        </p:spPr>
        <p:txBody>
          <a:bodyPr wrap="square" lIns="95248" tIns="57149" rIns="95248" bIns="57149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800" b="1" dirty="0">
                <a:solidFill>
                  <a:srgbClr val="1C1917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Setiap user</a:t>
            </a:r>
            <a:pPr algn="l" indent="0" marL="0">
              <a:lnSpc>
                <a:spcPts val="945"/>
              </a:lnSpc>
              <a:buNone/>
            </a:pPr>
            <a:r>
              <a:rPr lang="en-US" sz="800" dirty="0">
                <a:solidFill>
                  <a:srgbClr val="57534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terima Surat Tugas di Inbox dengan nomor resmi → klik link → buka proyek</a:t>
            </a:r>
            <a:endParaRPr lang="en-US" sz="800" dirty="0"/>
          </a:p>
        </p:txBody>
      </p:sp>
      <p:sp>
        <p:nvSpPr>
          <p:cNvPr id="78" name="Text 75"/>
          <p:cNvSpPr/>
          <p:nvPr/>
        </p:nvSpPr>
        <p:spPr>
          <a:xfrm>
            <a:off x="6148234" y="2619905"/>
            <a:ext cx="5562461" cy="5719024"/>
          </a:xfrm>
          <a:prstGeom prst="roundRect">
            <a:avLst>
              <a:gd name="adj" fmla="val 1370"/>
            </a:avLst>
          </a:prstGeom>
          <a:solidFill>
            <a:srgbClr val="FFFFFF"/>
          </a:solidFill>
          <a:ln w="9525">
            <a:solidFill>
              <a:srgbClr val="E7E5E4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Text 76"/>
          <p:cNvSpPr/>
          <p:nvPr/>
        </p:nvSpPr>
        <p:spPr>
          <a:xfrm>
            <a:off x="6152996" y="2624667"/>
            <a:ext cx="5552936" cy="228594"/>
          </a:xfrm>
          <a:prstGeom prst="rect">
            <a:avLst/>
          </a:prstGeom>
          <a:solidFill>
            <a:srgbClr val="F5F5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0" name="Shape 77"/>
          <p:cNvSpPr/>
          <p:nvPr/>
        </p:nvSpPr>
        <p:spPr>
          <a:xfrm>
            <a:off x="6152996" y="2848499"/>
            <a:ext cx="5552936" cy="0"/>
          </a:xfrm>
          <a:prstGeom prst="line">
            <a:avLst/>
          </a:prstGeom>
          <a:noFill/>
          <a:ln w="9525">
            <a:solidFill>
              <a:srgbClr val="E7E5E4"/>
            </a:solidFill>
            <a:prstDash val="solid"/>
          </a:ln>
        </p:spPr>
      </p:sp>
      <p:sp>
        <p:nvSpPr>
          <p:cNvPr id="81" name="Text 78"/>
          <p:cNvSpPr/>
          <p:nvPr/>
        </p:nvSpPr>
        <p:spPr>
          <a:xfrm>
            <a:off x="11017024" y="2681816"/>
            <a:ext cx="593661" cy="104772"/>
          </a:xfrm>
          <a:prstGeom prst="roundRect">
            <a:avLst>
              <a:gd name="adj" fmla="val 27274"/>
            </a:avLst>
          </a:prstGeom>
          <a:solidFill>
            <a:srgbClr val="6D28D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2" name="Text 79"/>
          <p:cNvSpPr/>
          <p:nvPr/>
        </p:nvSpPr>
        <p:spPr>
          <a:xfrm>
            <a:off x="6248244" y="2681816"/>
            <a:ext cx="1633645" cy="120701"/>
          </a:xfrm>
          <a:prstGeom prst="rect">
            <a:avLst/>
          </a:prstGeom>
          <a:noFill/>
          <a:ln/>
        </p:spPr>
        <p:txBody>
          <a:bodyPr wrap="square" lIns="95248" tIns="57149" rIns="95248" bIns="57149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44403C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📊</a:t>
            </a:r>
            <a:pPr algn="l" indent="0" marL="0">
              <a:buNone/>
            </a:pPr>
            <a:r>
              <a:rPr lang="en-US" sz="750" b="1" dirty="0">
                <a:solidFill>
                  <a:srgbClr val="44403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Bukti: Statistik Evaluasi per User</a:t>
            </a:r>
            <a:endParaRPr lang="en-US" sz="750" dirty="0"/>
          </a:p>
        </p:txBody>
      </p:sp>
      <p:sp>
        <p:nvSpPr>
          <p:cNvPr id="83" name="Text 80"/>
          <p:cNvSpPr/>
          <p:nvPr/>
        </p:nvSpPr>
        <p:spPr>
          <a:xfrm>
            <a:off x="10994164" y="2675529"/>
            <a:ext cx="639381" cy="117345"/>
          </a:xfrm>
          <a:prstGeom prst="roundRect">
            <a:avLst>
              <a:gd name="adj" fmla="val 24351"/>
            </a:avLst>
          </a:prstGeom>
          <a:solidFill>
            <a:srgbClr val="6D28D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4" name="Text 81"/>
          <p:cNvSpPr/>
          <p:nvPr/>
        </p:nvSpPr>
        <p:spPr>
          <a:xfrm>
            <a:off x="10981968" y="2681816"/>
            <a:ext cx="663773" cy="104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00" b="1" spc="60" kern="0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KONEKSI 2</a:t>
            </a:r>
            <a:endParaRPr lang="en-US" sz="800" dirty="0"/>
          </a:p>
        </p:txBody>
      </p:sp>
      <p:pic>
        <p:nvPicPr>
          <p:cNvPr id="85" name="Image 1" descr="/tmp/h2p-fit-1791730488056-f2z67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2996" y="2853261"/>
            <a:ext cx="5552936" cy="5246655"/>
          </a:xfrm>
          <a:prstGeom prst="rect">
            <a:avLst/>
          </a:prstGeom>
        </p:spPr>
      </p:pic>
      <p:sp>
        <p:nvSpPr>
          <p:cNvPr id="86" name="Text 82"/>
          <p:cNvSpPr/>
          <p:nvPr/>
        </p:nvSpPr>
        <p:spPr>
          <a:xfrm>
            <a:off x="6152996" y="8099917"/>
            <a:ext cx="5552936" cy="234250"/>
          </a:xfrm>
          <a:prstGeom prst="rect">
            <a:avLst/>
          </a:prstGeom>
          <a:solidFill>
            <a:srgbClr val="FAFA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7" name="Text 83"/>
          <p:cNvSpPr/>
          <p:nvPr/>
        </p:nvSpPr>
        <p:spPr>
          <a:xfrm>
            <a:off x="6152996" y="8099917"/>
            <a:ext cx="5552936" cy="234250"/>
          </a:xfrm>
          <a:prstGeom prst="rect">
            <a:avLst/>
          </a:prstGeom>
          <a:noFill/>
          <a:ln/>
        </p:spPr>
        <p:txBody>
          <a:bodyPr wrap="square" lIns="95248" tIns="57149" rIns="95248" bIns="57149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800" b="1" dirty="0">
                <a:solidFill>
                  <a:srgbClr val="1C1917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Statistik per user</a:t>
            </a:r>
            <a:pPr algn="l" indent="0" marL="0">
              <a:lnSpc>
                <a:spcPts val="945"/>
              </a:lnSpc>
              <a:buNone/>
            </a:pPr>
            <a:r>
              <a:rPr lang="en-US" sz="800" dirty="0">
                <a:solidFill>
                  <a:srgbClr val="57534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: completion, duration, revisions — ukur kinerja tiap role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1695" cy="857228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476238" y="881040"/>
            <a:ext cx="11239219" cy="0"/>
          </a:xfrm>
          <a:prstGeom prst="line">
            <a:avLst/>
          </a:prstGeom>
          <a:noFill/>
          <a:ln w="19050">
            <a:solidFill>
              <a:srgbClr val="E7E5E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76238" y="304792"/>
            <a:ext cx="8636000" cy="1154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b="1" spc="187" kern="0" dirty="0">
                <a:solidFill>
                  <a:srgbClr val="6D28D9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LIHUM — LIHAT &amp; UNDAH MANDIRI (KHUSUS)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76238" y="447664"/>
            <a:ext cx="8636000" cy="328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87"/>
              </a:lnSpc>
              <a:buNone/>
            </a:pPr>
            <a:r>
              <a:rPr lang="en-US" sz="2250" b="1" dirty="0">
                <a:solidFill>
                  <a:srgbClr val="1C1917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Portal Galeri Foto Publik — Embedded di Web UIN Antasari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7275727" y="395278"/>
            <a:ext cx="4439730" cy="10591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spc="101" kern="0" dirty="0">
                <a:solidFill>
                  <a:srgbClr val="78716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URL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18639" y="528624"/>
            <a:ext cx="2996817" cy="24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800"/>
              </a:lnSpc>
              <a:buNone/>
            </a:pPr>
            <a:r>
              <a:rPr lang="en-US" sz="1800" b="1" dirty="0">
                <a:solidFill>
                  <a:srgbClr val="6D28D9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lihum.synclicen.workers.dev</a:t>
            </a:r>
            <a:endParaRPr lang="en-US" sz="18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6238" y="1023912"/>
            <a:ext cx="2752656" cy="525648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90525" y="1023912"/>
            <a:ext cx="0" cy="525648"/>
          </a:xfrm>
          <a:prstGeom prst="line">
            <a:avLst/>
          </a:prstGeom>
          <a:noFill/>
          <a:ln w="28574">
            <a:solidFill>
              <a:srgbClr val="6D28D9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00060" y="1100110"/>
            <a:ext cx="2533587" cy="10591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C1D95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📸</a:t>
            </a:r>
            <a:pPr algn="l" indent="0" marL="0">
              <a:buNone/>
            </a:pPr>
            <a:r>
              <a:rPr lang="en-US" sz="800" b="1" dirty="0">
                <a:solidFill>
                  <a:srgbClr val="4C1D9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Apa itu LIHUM?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600060" y="1233457"/>
            <a:ext cx="2533587" cy="239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800" dirty="0">
                <a:solidFill>
                  <a:srgbClr val="44403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Galeri foto publik otomatis dari folder </a:t>
            </a:r>
            <a:pPr algn="l" indent="0" marL="0">
              <a:lnSpc>
                <a:spcPts val="945"/>
              </a:lnSpc>
              <a:buNone/>
            </a:pPr>
            <a:r>
              <a:rPr lang="en-US" sz="800" b="1" dirty="0">
                <a:solidFill>
                  <a:srgbClr val="1C1917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PUBLIC</a:t>
            </a:r>
            <a:pPr algn="l" indent="0" marL="0">
              <a:lnSpc>
                <a:spcPts val="945"/>
              </a:lnSpc>
              <a:buNone/>
            </a:pPr>
            <a:r>
              <a:rPr lang="en-US" sz="800" dirty="0">
                <a:solidFill>
                  <a:srgbClr val="44403C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 proyek. 1-klik publish.</a:t>
            </a:r>
            <a:endParaRPr lang="en-US" sz="8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5092" y="1023912"/>
            <a:ext cx="2752656" cy="525648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3319379" y="1023912"/>
            <a:ext cx="0" cy="525648"/>
          </a:xfrm>
          <a:prstGeom prst="line">
            <a:avLst/>
          </a:prstGeom>
          <a:noFill/>
          <a:ln w="28574">
            <a:solidFill>
              <a:srgbClr val="6D28D9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3428914" y="1100110"/>
            <a:ext cx="2533587" cy="10591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C1D95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🔧</a:t>
            </a:r>
            <a:pPr algn="l" indent="0" marL="0">
              <a:buNone/>
            </a:pPr>
            <a:r>
              <a:rPr lang="en-US" sz="800" b="1" dirty="0">
                <a:solidFill>
                  <a:srgbClr val="4C1D9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Cara Kerja</a:t>
            </a:r>
            <a:endParaRPr lang="en-US" sz="800" dirty="0"/>
          </a:p>
        </p:txBody>
      </p:sp>
      <p:sp>
        <p:nvSpPr>
          <p:cNvPr id="15" name="Text 11"/>
          <p:cNvSpPr/>
          <p:nvPr/>
        </p:nvSpPr>
        <p:spPr>
          <a:xfrm>
            <a:off x="3428914" y="1233457"/>
            <a:ext cx="2533587" cy="239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800" dirty="0">
                <a:solidFill>
                  <a:srgbClr val="44403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Manager klik "Publish ke LIHUM" → auto-buat gallery dengan nama &amp; deskripsi proyek.</a:t>
            </a:r>
            <a:endParaRPr lang="en-US" sz="80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3947" y="1023912"/>
            <a:ext cx="2752656" cy="525648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6148234" y="1023912"/>
            <a:ext cx="0" cy="525648"/>
          </a:xfrm>
          <a:prstGeom prst="line">
            <a:avLst/>
          </a:prstGeom>
          <a:noFill/>
          <a:ln w="28574">
            <a:solidFill>
              <a:srgbClr val="6D28D9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6257768" y="1100110"/>
            <a:ext cx="2533587" cy="10591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C1D95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🔒</a:t>
            </a:r>
            <a:pPr algn="l" indent="0" marL="0">
              <a:buNone/>
            </a:pPr>
            <a:r>
              <a:rPr lang="en-US" sz="800" b="1" dirty="0">
                <a:solidFill>
                  <a:srgbClr val="4C1D9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Privasi Terjaga</a:t>
            </a:r>
            <a:endParaRPr lang="en-US" sz="800" dirty="0"/>
          </a:p>
        </p:txBody>
      </p:sp>
      <p:sp>
        <p:nvSpPr>
          <p:cNvPr id="19" name="Text 14"/>
          <p:cNvSpPr/>
          <p:nvPr/>
        </p:nvSpPr>
        <p:spPr>
          <a:xfrm>
            <a:off x="6257768" y="1233457"/>
            <a:ext cx="2533587" cy="239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800" dirty="0">
                <a:solidFill>
                  <a:srgbClr val="44403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Hanya folder </a:t>
            </a:r>
            <a:pPr algn="l" indent="0" marL="0">
              <a:lnSpc>
                <a:spcPts val="945"/>
              </a:lnSpc>
              <a:buNone/>
            </a:pPr>
            <a:r>
              <a:rPr lang="en-US" sz="800" b="1" dirty="0">
                <a:solidFill>
                  <a:srgbClr val="1C1917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PUBLIC</a:t>
            </a:r>
            <a:pPr algn="l" indent="0" marL="0">
              <a:lnSpc>
                <a:spcPts val="945"/>
              </a:lnSpc>
              <a:buNone/>
            </a:pPr>
            <a:r>
              <a:rPr lang="en-US" sz="800" dirty="0">
                <a:solidFill>
                  <a:srgbClr val="44403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di-share. Folder </a:t>
            </a:r>
            <a:pPr algn="l" indent="0" marL="0">
              <a:lnSpc>
                <a:spcPts val="945"/>
              </a:lnSpc>
              <a:buNone/>
            </a:pPr>
            <a:r>
              <a:rPr lang="en-US" sz="800" b="1" dirty="0">
                <a:solidFill>
                  <a:srgbClr val="1C1917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PRIVATE</a:t>
            </a:r>
            <a:pPr algn="l" indent="0" marL="0">
              <a:lnSpc>
                <a:spcPts val="945"/>
              </a:lnSpc>
              <a:buNone/>
            </a:pPr>
            <a:r>
              <a:rPr lang="en-US" sz="800" dirty="0">
                <a:solidFill>
                  <a:srgbClr val="44403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tidak pernah dipublikasikan.</a:t>
            </a:r>
            <a:endParaRPr lang="en-US" sz="800" dirty="0"/>
          </a:p>
        </p:txBody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2801" y="1023912"/>
            <a:ext cx="2752656" cy="525648"/>
          </a:xfrm>
          <a:prstGeom prst="rect">
            <a:avLst/>
          </a:prstGeom>
        </p:spPr>
      </p:pic>
      <p:sp>
        <p:nvSpPr>
          <p:cNvPr id="21" name="Shape 15"/>
          <p:cNvSpPr/>
          <p:nvPr/>
        </p:nvSpPr>
        <p:spPr>
          <a:xfrm>
            <a:off x="8977088" y="1023912"/>
            <a:ext cx="0" cy="525648"/>
          </a:xfrm>
          <a:prstGeom prst="line">
            <a:avLst/>
          </a:prstGeom>
          <a:noFill/>
          <a:ln w="28574">
            <a:solidFill>
              <a:srgbClr val="6D28D9"/>
            </a:solidFill>
            <a:prstDash val="solid"/>
          </a:ln>
        </p:spPr>
      </p:sp>
      <p:sp>
        <p:nvSpPr>
          <p:cNvPr id="22" name="Text 16"/>
          <p:cNvSpPr/>
          <p:nvPr/>
        </p:nvSpPr>
        <p:spPr>
          <a:xfrm>
            <a:off x="9086623" y="1100110"/>
            <a:ext cx="2533587" cy="10591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C1D95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📊</a:t>
            </a:r>
            <a:pPr algn="l" indent="0" marL="0">
              <a:buNone/>
            </a:pPr>
            <a:r>
              <a:rPr lang="en-US" sz="800" b="1" dirty="0">
                <a:solidFill>
                  <a:srgbClr val="4C1D9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Statistik</a:t>
            </a:r>
            <a:endParaRPr lang="en-US" sz="800" dirty="0"/>
          </a:p>
        </p:txBody>
      </p:sp>
      <p:sp>
        <p:nvSpPr>
          <p:cNvPr id="23" name="Text 17"/>
          <p:cNvSpPr/>
          <p:nvPr/>
        </p:nvSpPr>
        <p:spPr>
          <a:xfrm>
            <a:off x="9086623" y="1233457"/>
            <a:ext cx="2533587" cy="153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675" b="1" dirty="0">
                <a:solidFill>
                  <a:srgbClr val="1C1917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54 galeri</a:t>
            </a:r>
            <a:pPr algn="l" indent="0" marL="0">
              <a:lnSpc>
                <a:spcPts val="945"/>
              </a:lnSpc>
              <a:buNone/>
            </a:pPr>
            <a:r>
              <a:rPr lang="en-US" sz="675" dirty="0">
                <a:solidFill>
                  <a:srgbClr val="44403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aktif, ribuan foto kegiatan, publik tanpa login.</a:t>
            </a:r>
            <a:endParaRPr lang="en-US" sz="675" dirty="0"/>
          </a:p>
        </p:txBody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6238" y="1644807"/>
            <a:ext cx="11239219" cy="361941"/>
          </a:xfrm>
          <a:prstGeom prst="rect">
            <a:avLst/>
          </a:prstGeom>
        </p:spPr>
      </p:pic>
      <p:sp>
        <p:nvSpPr>
          <p:cNvPr id="25" name="Shape 18"/>
          <p:cNvSpPr/>
          <p:nvPr/>
        </p:nvSpPr>
        <p:spPr>
          <a:xfrm>
            <a:off x="490525" y="1644807"/>
            <a:ext cx="0" cy="361941"/>
          </a:xfrm>
          <a:prstGeom prst="line">
            <a:avLst/>
          </a:prstGeom>
          <a:noFill/>
          <a:ln w="28574">
            <a:solidFill>
              <a:srgbClr val="059669"/>
            </a:solidFill>
            <a:prstDash val="solid"/>
          </a:ln>
        </p:spPr>
      </p:sp>
      <p:sp>
        <p:nvSpPr>
          <p:cNvPr id="26" name="Text 19"/>
          <p:cNvSpPr/>
          <p:nvPr/>
        </p:nvSpPr>
        <p:spPr>
          <a:xfrm>
            <a:off x="619110" y="1721005"/>
            <a:ext cx="209545" cy="2095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292524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🌐</a:t>
            </a:r>
            <a:endParaRPr lang="en-US" sz="1350" dirty="0"/>
          </a:p>
        </p:txBody>
      </p:sp>
      <p:sp>
        <p:nvSpPr>
          <p:cNvPr id="27" name="Text 20"/>
          <p:cNvSpPr/>
          <p:nvPr/>
        </p:nvSpPr>
        <p:spPr>
          <a:xfrm>
            <a:off x="923902" y="1754342"/>
            <a:ext cx="863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750" b="1" dirty="0">
                <a:solidFill>
                  <a:srgbClr val="047857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Embedded di Web UIN Antasari</a:t>
            </a:r>
            <a:pPr algn="l" indent="0" marL="0">
              <a:lnSpc>
                <a:spcPts val="1125"/>
              </a:lnSpc>
              <a:buNone/>
            </a:pPr>
            <a:r>
              <a:rPr lang="en-US" sz="750" dirty="0">
                <a:solidFill>
                  <a:srgbClr val="44403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— LIHUM di-embed via </a:t>
            </a:r>
            <a:pPr algn="l" indent="0" marL="0">
              <a:lnSpc>
                <a:spcPts val="1125"/>
              </a:lnSpc>
              <a:buNone/>
            </a:pPr>
            <a:r>
              <a:rPr lang="en-US" sz="750" b="1" dirty="0">
                <a:solidFill>
                  <a:srgbClr val="047857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iframe</a:t>
            </a:r>
            <a:pPr algn="l" indent="0" marL="0">
              <a:lnSpc>
                <a:spcPts val="1125"/>
              </a:lnSpc>
              <a:buNone/>
            </a:pPr>
            <a:r>
              <a:rPr lang="en-US" sz="750" dirty="0">
                <a:solidFill>
                  <a:srgbClr val="44403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di website resmi </a:t>
            </a:r>
            <a:pPr algn="l" indent="0" marL="0">
              <a:lnSpc>
                <a:spcPts val="1125"/>
              </a:lnSpc>
              <a:buNone/>
            </a:pPr>
            <a:r>
              <a:rPr lang="en-US" sz="750" b="1" dirty="0">
                <a:solidFill>
                  <a:srgbClr val="047857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uin-antasari.ac.id</a:t>
            </a:r>
            <a:pPr algn="l" indent="0" marL="0">
              <a:lnSpc>
                <a:spcPts val="1125"/>
              </a:lnSpc>
              <a:buNone/>
            </a:pPr>
            <a:r>
              <a:rPr lang="en-US" sz="750" dirty="0">
                <a:solidFill>
                  <a:srgbClr val="44403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sebagai </a:t>
            </a:r>
            <a:pPr algn="l" indent="0" marL="0">
              <a:lnSpc>
                <a:spcPts val="1125"/>
              </a:lnSpc>
              <a:buNone/>
            </a:pPr>
            <a:r>
              <a:rPr lang="en-US" sz="750" b="1" dirty="0">
                <a:solidFill>
                  <a:srgbClr val="047857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portal kehumasan publik</a:t>
            </a:r>
            <a:pPr algn="l" indent="0" marL="0">
              <a:lnSpc>
                <a:spcPts val="1125"/>
              </a:lnSpc>
              <a:buNone/>
            </a:pPr>
            <a:r>
              <a:rPr lang="en-US" sz="750" dirty="0">
                <a:solidFill>
                  <a:srgbClr val="44403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. Masyarakat dapat melihat &amp; mengunduh foto kegiatan tanpa login.</a:t>
            </a:r>
            <a:endParaRPr lang="en-US" sz="750" dirty="0"/>
          </a:p>
        </p:txBody>
      </p:sp>
      <p:sp>
        <p:nvSpPr>
          <p:cNvPr id="28" name="Text 21"/>
          <p:cNvSpPr/>
          <p:nvPr/>
        </p:nvSpPr>
        <p:spPr>
          <a:xfrm>
            <a:off x="481000" y="2106758"/>
            <a:ext cx="11229694" cy="6232171"/>
          </a:xfrm>
          <a:prstGeom prst="roundRect">
            <a:avLst>
              <a:gd name="adj" fmla="val 1223"/>
            </a:avLst>
          </a:prstGeom>
          <a:noFill/>
          <a:ln w="9525">
            <a:solidFill>
              <a:srgbClr val="E7E5E4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2"/>
          <p:cNvSpPr/>
          <p:nvPr/>
        </p:nvSpPr>
        <p:spPr>
          <a:xfrm>
            <a:off x="485763" y="2111521"/>
            <a:ext cx="11220169" cy="228594"/>
          </a:xfrm>
          <a:prstGeom prst="rect">
            <a:avLst/>
          </a:prstGeom>
          <a:solidFill>
            <a:srgbClr val="F5F5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Shape 23"/>
          <p:cNvSpPr/>
          <p:nvPr/>
        </p:nvSpPr>
        <p:spPr>
          <a:xfrm>
            <a:off x="485763" y="2335353"/>
            <a:ext cx="11220169" cy="0"/>
          </a:xfrm>
          <a:prstGeom prst="line">
            <a:avLst/>
          </a:prstGeom>
          <a:noFill/>
          <a:ln w="9525">
            <a:solidFill>
              <a:srgbClr val="E7E5E4"/>
            </a:solidFill>
            <a:prstDash val="solid"/>
          </a:ln>
        </p:spPr>
      </p:sp>
      <p:sp>
        <p:nvSpPr>
          <p:cNvPr id="31" name="Text 24"/>
          <p:cNvSpPr/>
          <p:nvPr/>
        </p:nvSpPr>
        <p:spPr>
          <a:xfrm>
            <a:off x="11296516" y="2168669"/>
            <a:ext cx="314168" cy="104772"/>
          </a:xfrm>
          <a:prstGeom prst="roundRect">
            <a:avLst>
              <a:gd name="adj" fmla="val 27274"/>
            </a:avLst>
          </a:prstGeom>
          <a:solidFill>
            <a:srgbClr val="6D28D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25"/>
          <p:cNvSpPr/>
          <p:nvPr/>
        </p:nvSpPr>
        <p:spPr>
          <a:xfrm>
            <a:off x="581010" y="2168669"/>
            <a:ext cx="2845523" cy="120701"/>
          </a:xfrm>
          <a:prstGeom prst="rect">
            <a:avLst/>
          </a:prstGeom>
          <a:noFill/>
          <a:ln/>
        </p:spPr>
        <p:txBody>
          <a:bodyPr wrap="square" lIns="95248" tIns="57149" rIns="95248" bIns="57149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44403C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📸</a:t>
            </a:r>
            <a:pPr algn="l" indent="0" marL="0">
              <a:buNone/>
            </a:pPr>
            <a:r>
              <a:rPr lang="en-US" sz="750" b="1" dirty="0">
                <a:solidFill>
                  <a:srgbClr val="44403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Bukti: LIHUM Gallery Publik — lihum.synclicen.workers.dev</a:t>
            </a:r>
            <a:endParaRPr lang="en-US" sz="750" dirty="0"/>
          </a:p>
        </p:txBody>
      </p:sp>
      <p:sp>
        <p:nvSpPr>
          <p:cNvPr id="33" name="Text 26"/>
          <p:cNvSpPr/>
          <p:nvPr/>
        </p:nvSpPr>
        <p:spPr>
          <a:xfrm>
            <a:off x="11283949" y="2162383"/>
            <a:ext cx="339302" cy="117345"/>
          </a:xfrm>
          <a:prstGeom prst="roundRect">
            <a:avLst>
              <a:gd name="adj" fmla="val 24351"/>
            </a:avLst>
          </a:prstGeom>
          <a:solidFill>
            <a:srgbClr val="6D28D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27"/>
          <p:cNvSpPr/>
          <p:nvPr/>
        </p:nvSpPr>
        <p:spPr>
          <a:xfrm>
            <a:off x="11287159" y="2168669"/>
            <a:ext cx="332882" cy="104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00" b="1" spc="60" kern="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LIVE</a:t>
            </a:r>
            <a:endParaRPr lang="en-US" sz="800" dirty="0"/>
          </a:p>
        </p:txBody>
      </p:sp>
      <p:pic>
        <p:nvPicPr>
          <p:cNvPr id="35" name="Image 5" descr="/tmp/h2p-fit-1791730487965-fgrwfc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5763" y="2340115"/>
            <a:ext cx="11220169" cy="599405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1695" cy="857228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476238" y="881040"/>
            <a:ext cx="11239219" cy="0"/>
          </a:xfrm>
          <a:prstGeom prst="line">
            <a:avLst/>
          </a:prstGeom>
          <a:noFill/>
          <a:ln w="19050">
            <a:solidFill>
              <a:srgbClr val="E7E5E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76238" y="304792"/>
            <a:ext cx="8636000" cy="1154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b="1" spc="187" kern="0" dirty="0">
                <a:solidFill>
                  <a:srgbClr val="6D28D9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MANAJEMEN INVENTARIS — SARANA PRASARANA (KHUSUS)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76238" y="447664"/>
            <a:ext cx="8636000" cy="328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87"/>
              </a:lnSpc>
              <a:buNone/>
            </a:pPr>
            <a:r>
              <a:rPr lang="en-US" sz="2250" b="1" dirty="0">
                <a:solidFill>
                  <a:srgbClr val="1C1917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Pengelolaan Sarana, Peminjaman, Distribusi Barang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10110058" y="395278"/>
            <a:ext cx="1605399" cy="10591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spc="101" kern="0" dirty="0">
                <a:solidFill>
                  <a:srgbClr val="78716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MODUL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372661" y="528624"/>
            <a:ext cx="1509637" cy="24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800"/>
              </a:lnSpc>
              <a:buNone/>
            </a:pPr>
            <a:r>
              <a:rPr lang="en-US" sz="1800" b="1" dirty="0">
                <a:solidFill>
                  <a:srgbClr val="6D28D9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Inventaris</a:t>
            </a:r>
            <a:endParaRPr lang="en-US" sz="18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6238" y="1023912"/>
            <a:ext cx="2752656" cy="525648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90525" y="1023912"/>
            <a:ext cx="0" cy="525648"/>
          </a:xfrm>
          <a:prstGeom prst="line">
            <a:avLst/>
          </a:prstGeom>
          <a:noFill/>
          <a:ln w="28574">
            <a:solidFill>
              <a:srgbClr val="D9770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00060" y="1100110"/>
            <a:ext cx="2533587" cy="10591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97706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📦</a:t>
            </a:r>
            <a:pPr algn="l" indent="0" marL="0">
              <a:buNone/>
            </a:pPr>
            <a:r>
              <a:rPr lang="en-US" sz="800" b="1" dirty="0">
                <a:solidFill>
                  <a:srgbClr val="D97706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Sarana Prasarana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600060" y="1233457"/>
            <a:ext cx="2533587" cy="153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675" b="1" dirty="0">
                <a:solidFill>
                  <a:srgbClr val="D97706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CRUD items</a:t>
            </a:r>
            <a:pPr algn="l" indent="0" marL="0">
              <a:lnSpc>
                <a:spcPts val="945"/>
              </a:lnSpc>
              <a:buNone/>
            </a:pPr>
            <a:r>
              <a:rPr lang="en-US" sz="675" dirty="0">
                <a:solidFill>
                  <a:srgbClr val="44403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dengan foto + </a:t>
            </a:r>
            <a:pPr algn="l" indent="0" marL="0">
              <a:lnSpc>
                <a:spcPts val="945"/>
              </a:lnSpc>
              <a:buNone/>
            </a:pPr>
            <a:r>
              <a:rPr lang="en-US" sz="675" b="1" dirty="0">
                <a:solidFill>
                  <a:srgbClr val="D97706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QR code</a:t>
            </a:r>
            <a:pPr algn="l" indent="0" marL="0">
              <a:lnSpc>
                <a:spcPts val="945"/>
              </a:lnSpc>
              <a:buNone/>
            </a:pPr>
            <a:r>
              <a:rPr lang="en-US" sz="675" dirty="0">
                <a:solidFill>
                  <a:srgbClr val="44403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. Kondisi, lokasi, kategori.</a:t>
            </a:r>
            <a:endParaRPr lang="en-US" sz="675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5092" y="1023912"/>
            <a:ext cx="2752656" cy="525648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3319379" y="1023912"/>
            <a:ext cx="0" cy="525648"/>
          </a:xfrm>
          <a:prstGeom prst="line">
            <a:avLst/>
          </a:prstGeom>
          <a:noFill/>
          <a:ln w="28574">
            <a:solidFill>
              <a:srgbClr val="D97706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3428914" y="1100110"/>
            <a:ext cx="2533587" cy="10591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97706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📥</a:t>
            </a:r>
            <a:pPr algn="l" indent="0" marL="0">
              <a:buNone/>
            </a:pPr>
            <a:r>
              <a:rPr lang="en-US" sz="800" b="1" dirty="0">
                <a:solidFill>
                  <a:srgbClr val="D97706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Peminjaman</a:t>
            </a:r>
            <a:endParaRPr lang="en-US" sz="800" dirty="0"/>
          </a:p>
        </p:txBody>
      </p:sp>
      <p:sp>
        <p:nvSpPr>
          <p:cNvPr id="15" name="Text 11"/>
          <p:cNvSpPr/>
          <p:nvPr/>
        </p:nvSpPr>
        <p:spPr>
          <a:xfrm>
            <a:off x="3428914" y="1233457"/>
            <a:ext cx="2533587" cy="239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800" b="1" dirty="0">
                <a:solidFill>
                  <a:srgbClr val="D97706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Request → approval → kembali</a:t>
            </a:r>
            <a:pPr algn="l" indent="0" marL="0">
              <a:lnSpc>
                <a:spcPts val="945"/>
              </a:lnSpc>
              <a:buNone/>
            </a:pPr>
            <a:r>
              <a:rPr lang="en-US" sz="800" dirty="0">
                <a:solidFill>
                  <a:srgbClr val="44403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. </a:t>
            </a:r>
            <a:pPr algn="l" indent="0" marL="0">
              <a:lnSpc>
                <a:spcPts val="945"/>
              </a:lnSpc>
              <a:buNone/>
            </a:pPr>
            <a:r>
              <a:rPr lang="en-US" sz="800" b="1" dirty="0">
                <a:solidFill>
                  <a:srgbClr val="D97706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Webcam capture</a:t>
            </a:r>
            <a:pPr algn="l" indent="0" marL="0">
              <a:lnSpc>
                <a:spcPts val="945"/>
              </a:lnSpc>
              <a:buNone/>
            </a:pPr>
            <a:r>
              <a:rPr lang="en-US" sz="800" dirty="0">
                <a:solidFill>
                  <a:srgbClr val="44403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item + peminjam.</a:t>
            </a:r>
            <a:endParaRPr lang="en-US" sz="80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3947" y="1023912"/>
            <a:ext cx="2752656" cy="525648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6148234" y="1023912"/>
            <a:ext cx="0" cy="525648"/>
          </a:xfrm>
          <a:prstGeom prst="line">
            <a:avLst/>
          </a:prstGeom>
          <a:noFill/>
          <a:ln w="28574">
            <a:solidFill>
              <a:srgbClr val="D97706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6257768" y="1100110"/>
            <a:ext cx="2533587" cy="10591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97706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📤</a:t>
            </a:r>
            <a:pPr algn="l" indent="0" marL="0">
              <a:buNone/>
            </a:pPr>
            <a:r>
              <a:rPr lang="en-US" sz="800" b="1" dirty="0">
                <a:solidFill>
                  <a:srgbClr val="D97706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Distribusi</a:t>
            </a:r>
            <a:endParaRPr lang="en-US" sz="800" dirty="0"/>
          </a:p>
        </p:txBody>
      </p:sp>
      <p:sp>
        <p:nvSpPr>
          <p:cNvPr id="19" name="Text 14"/>
          <p:cNvSpPr/>
          <p:nvPr/>
        </p:nvSpPr>
        <p:spPr>
          <a:xfrm>
            <a:off x="6257768" y="1233457"/>
            <a:ext cx="2533587" cy="153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675" dirty="0">
                <a:solidFill>
                  <a:srgbClr val="44403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Pencatatan </a:t>
            </a:r>
            <a:pPr algn="l" indent="0" marL="0">
              <a:lnSpc>
                <a:spcPts val="945"/>
              </a:lnSpc>
              <a:buNone/>
            </a:pPr>
            <a:r>
              <a:rPr lang="en-US" sz="675" b="1" dirty="0">
                <a:solidFill>
                  <a:srgbClr val="D97706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keluar/masuk barang</a:t>
            </a:r>
            <a:pPr algn="l" indent="0" marL="0">
              <a:lnSpc>
                <a:spcPts val="945"/>
              </a:lnSpc>
              <a:buNone/>
            </a:pPr>
            <a:r>
              <a:rPr lang="en-US" sz="675" dirty="0">
                <a:solidFill>
                  <a:srgbClr val="44403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antar unit. Mutasi tracking.</a:t>
            </a:r>
            <a:endParaRPr lang="en-US" sz="675" dirty="0"/>
          </a:p>
        </p:txBody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2801" y="1023912"/>
            <a:ext cx="2752656" cy="525648"/>
          </a:xfrm>
          <a:prstGeom prst="rect">
            <a:avLst/>
          </a:prstGeom>
        </p:spPr>
      </p:pic>
      <p:sp>
        <p:nvSpPr>
          <p:cNvPr id="21" name="Shape 15"/>
          <p:cNvSpPr/>
          <p:nvPr/>
        </p:nvSpPr>
        <p:spPr>
          <a:xfrm>
            <a:off x="8977088" y="1023912"/>
            <a:ext cx="0" cy="525648"/>
          </a:xfrm>
          <a:prstGeom prst="line">
            <a:avLst/>
          </a:prstGeom>
          <a:noFill/>
          <a:ln w="28574">
            <a:solidFill>
              <a:srgbClr val="D97706"/>
            </a:solidFill>
            <a:prstDash val="solid"/>
          </a:ln>
        </p:spPr>
      </p:sp>
      <p:sp>
        <p:nvSpPr>
          <p:cNvPr id="22" name="Text 16"/>
          <p:cNvSpPr/>
          <p:nvPr/>
        </p:nvSpPr>
        <p:spPr>
          <a:xfrm>
            <a:off x="9086623" y="1100110"/>
            <a:ext cx="2533587" cy="10591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97706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📋</a:t>
            </a:r>
            <a:pPr algn="l" indent="0" marL="0">
              <a:buNone/>
            </a:pPr>
            <a:r>
              <a:rPr lang="en-US" sz="800" b="1" dirty="0">
                <a:solidFill>
                  <a:srgbClr val="D97706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History &amp; Rekap</a:t>
            </a:r>
            <a:endParaRPr lang="en-US" sz="800" dirty="0"/>
          </a:p>
        </p:txBody>
      </p:sp>
      <p:sp>
        <p:nvSpPr>
          <p:cNvPr id="23" name="Text 17"/>
          <p:cNvSpPr/>
          <p:nvPr/>
        </p:nvSpPr>
        <p:spPr>
          <a:xfrm>
            <a:off x="9086623" y="1233457"/>
            <a:ext cx="2533587" cy="153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675" b="1" dirty="0">
                <a:solidFill>
                  <a:srgbClr val="D97706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Log semua transaksi</a:t>
            </a:r>
            <a:pPr algn="l" indent="0" marL="0">
              <a:lnSpc>
                <a:spcPts val="945"/>
              </a:lnSpc>
              <a:buNone/>
            </a:pPr>
            <a:r>
              <a:rPr lang="en-US" sz="675" dirty="0">
                <a:solidFill>
                  <a:srgbClr val="44403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. Export </a:t>
            </a:r>
            <a:pPr algn="l" indent="0" marL="0">
              <a:lnSpc>
                <a:spcPts val="945"/>
              </a:lnSpc>
              <a:buNone/>
            </a:pPr>
            <a:r>
              <a:rPr lang="en-US" sz="675" b="1" dirty="0">
                <a:solidFill>
                  <a:srgbClr val="D97706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Excel/PDF</a:t>
            </a:r>
            <a:pPr algn="l" indent="0" marL="0">
              <a:lnSpc>
                <a:spcPts val="945"/>
              </a:lnSpc>
              <a:buNone/>
            </a:pPr>
            <a:r>
              <a:rPr lang="en-US" sz="675" dirty="0">
                <a:solidFill>
                  <a:srgbClr val="44403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rekap branded.</a:t>
            </a:r>
            <a:endParaRPr lang="en-US" sz="675" dirty="0"/>
          </a:p>
        </p:txBody>
      </p:sp>
      <p:sp>
        <p:nvSpPr>
          <p:cNvPr id="24" name="Text 18"/>
          <p:cNvSpPr/>
          <p:nvPr/>
        </p:nvSpPr>
        <p:spPr>
          <a:xfrm>
            <a:off x="481000" y="1649570"/>
            <a:ext cx="11229694" cy="6689359"/>
          </a:xfrm>
          <a:prstGeom prst="roundRect">
            <a:avLst>
              <a:gd name="adj" fmla="val 1139"/>
            </a:avLst>
          </a:prstGeom>
          <a:noFill/>
          <a:ln w="9525">
            <a:solidFill>
              <a:srgbClr val="E7E5E4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19"/>
          <p:cNvSpPr/>
          <p:nvPr/>
        </p:nvSpPr>
        <p:spPr>
          <a:xfrm>
            <a:off x="485763" y="1654332"/>
            <a:ext cx="11220169" cy="228594"/>
          </a:xfrm>
          <a:prstGeom prst="rect">
            <a:avLst/>
          </a:prstGeom>
          <a:solidFill>
            <a:srgbClr val="F5F5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Shape 20"/>
          <p:cNvSpPr/>
          <p:nvPr/>
        </p:nvSpPr>
        <p:spPr>
          <a:xfrm>
            <a:off x="485763" y="1878164"/>
            <a:ext cx="11220169" cy="0"/>
          </a:xfrm>
          <a:prstGeom prst="line">
            <a:avLst/>
          </a:prstGeom>
          <a:noFill/>
          <a:ln w="9525">
            <a:solidFill>
              <a:srgbClr val="E7E5E4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11296516" y="1711481"/>
            <a:ext cx="314168" cy="104772"/>
          </a:xfrm>
          <a:prstGeom prst="roundRect">
            <a:avLst>
              <a:gd name="adj" fmla="val 27274"/>
            </a:avLst>
          </a:prstGeom>
          <a:solidFill>
            <a:srgbClr val="6D28D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2"/>
          <p:cNvSpPr/>
          <p:nvPr/>
        </p:nvSpPr>
        <p:spPr>
          <a:xfrm>
            <a:off x="581010" y="1711481"/>
            <a:ext cx="3051942" cy="120701"/>
          </a:xfrm>
          <a:prstGeom prst="rect">
            <a:avLst/>
          </a:prstGeom>
          <a:noFill/>
          <a:ln/>
        </p:spPr>
        <p:txBody>
          <a:bodyPr wrap="square" lIns="95248" tIns="57149" rIns="95248" bIns="57149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44403C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📦</a:t>
            </a:r>
            <a:pPr algn="l" indent="0" marL="0">
              <a:buNone/>
            </a:pPr>
            <a:r>
              <a:rPr lang="en-US" sz="750" b="1" dirty="0">
                <a:solidFill>
                  <a:srgbClr val="44403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Bukti: Manajemen Inventaris — app.pushakin-flows.workers.dev</a:t>
            </a:r>
            <a:endParaRPr lang="en-US" sz="750" dirty="0"/>
          </a:p>
        </p:txBody>
      </p:sp>
      <p:sp>
        <p:nvSpPr>
          <p:cNvPr id="29" name="Text 23"/>
          <p:cNvSpPr/>
          <p:nvPr/>
        </p:nvSpPr>
        <p:spPr>
          <a:xfrm>
            <a:off x="11283949" y="1705194"/>
            <a:ext cx="339302" cy="117345"/>
          </a:xfrm>
          <a:prstGeom prst="roundRect">
            <a:avLst>
              <a:gd name="adj" fmla="val 24351"/>
            </a:avLst>
          </a:prstGeom>
          <a:solidFill>
            <a:srgbClr val="6D28D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4"/>
          <p:cNvSpPr/>
          <p:nvPr/>
        </p:nvSpPr>
        <p:spPr>
          <a:xfrm>
            <a:off x="11287159" y="1711481"/>
            <a:ext cx="332882" cy="104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00" b="1" spc="60" kern="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LIVE</a:t>
            </a:r>
            <a:endParaRPr lang="en-US" sz="800" dirty="0"/>
          </a:p>
        </p:txBody>
      </p:sp>
      <p:pic>
        <p:nvPicPr>
          <p:cNvPr id="31" name="Image 4" descr="/tmp/h2p-fit-1791730487860-q1bt0b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5763" y="1882926"/>
            <a:ext cx="11220169" cy="64512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1695" cy="857228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476238" y="881040"/>
            <a:ext cx="11239219" cy="0"/>
          </a:xfrm>
          <a:prstGeom prst="line">
            <a:avLst/>
          </a:prstGeom>
          <a:noFill/>
          <a:ln w="19050">
            <a:solidFill>
              <a:srgbClr val="E7E5E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76238" y="304792"/>
            <a:ext cx="8636000" cy="1154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b="1" spc="187" kern="0" dirty="0">
                <a:solidFill>
                  <a:srgbClr val="6D28D9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MANAJEMEN LAINNYA — SISTEM TERINTEGRASI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76238" y="447664"/>
            <a:ext cx="8636000" cy="328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87"/>
              </a:lnSpc>
              <a:buNone/>
            </a:pPr>
            <a:r>
              <a:rPr lang="en-US" sz="2250" b="1" dirty="0">
                <a:solidFill>
                  <a:srgbClr val="1C1917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Modul Pendukung: Surat, Relasi, Statistik, Laporan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9773834" y="395278"/>
            <a:ext cx="1941623" cy="10591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spc="101" kern="0" dirty="0">
                <a:solidFill>
                  <a:srgbClr val="78716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MODUL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268401" y="528624"/>
            <a:ext cx="1471873" cy="2468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800"/>
              </a:lnSpc>
              <a:buNone/>
            </a:pPr>
            <a:r>
              <a:rPr lang="en-US" sz="1800" b="1" dirty="0">
                <a:solidFill>
                  <a:srgbClr val="6D28D9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4 Tambahan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81000" y="1028674"/>
            <a:ext cx="5543411" cy="4196699"/>
          </a:xfrm>
          <a:prstGeom prst="roundRect">
            <a:avLst>
              <a:gd name="adj" fmla="val 1816"/>
            </a:avLst>
          </a:prstGeom>
          <a:noFill/>
          <a:ln w="9525">
            <a:solidFill>
              <a:srgbClr val="E7E5E4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85763" y="1033437"/>
            <a:ext cx="5533887" cy="424745"/>
          </a:xfrm>
          <a:prstGeom prst="rect">
            <a:avLst/>
          </a:prstGeom>
          <a:solidFill>
            <a:srgbClr val="FAF5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485763" y="1453419"/>
            <a:ext cx="5533887" cy="0"/>
          </a:xfrm>
          <a:prstGeom prst="line">
            <a:avLst/>
          </a:prstGeom>
          <a:noFill/>
          <a:ln w="9525">
            <a:solidFill>
              <a:srgbClr val="F3E8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00060" y="1109635"/>
            <a:ext cx="5415020" cy="1154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25" b="1" dirty="0">
                <a:solidFill>
                  <a:srgbClr val="4C1D95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📋</a:t>
            </a:r>
            <a:pPr algn="l" indent="0" marL="0">
              <a:buNone/>
            </a:pPr>
            <a:r>
              <a:rPr lang="en-US" sz="825" b="1" dirty="0">
                <a:solidFill>
                  <a:srgbClr val="4C1D9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Manajemen Surat (Administrator)</a:t>
            </a:r>
            <a:endParaRPr lang="en-US" sz="825" dirty="0"/>
          </a:p>
        </p:txBody>
      </p:sp>
      <p:sp>
        <p:nvSpPr>
          <p:cNvPr id="12" name="Text 10"/>
          <p:cNvSpPr/>
          <p:nvPr/>
        </p:nvSpPr>
        <p:spPr>
          <a:xfrm>
            <a:off x="600060" y="1252506"/>
            <a:ext cx="5305292" cy="119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800" dirty="0">
                <a:solidFill>
                  <a:srgbClr val="57534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Surat masuk/keluar dengan kategori, status transisi, arsip digital</a:t>
            </a:r>
            <a:endParaRPr lang="en-US" sz="800" dirty="0"/>
          </a:p>
        </p:txBody>
      </p:sp>
      <p:pic>
        <p:nvPicPr>
          <p:cNvPr id="13" name="Image 0" descr="/tmp/h2p-fit-1791730487371-i54i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5763" y="1458181"/>
            <a:ext cx="5533887" cy="376243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6167283" y="1028674"/>
            <a:ext cx="5543411" cy="4196699"/>
          </a:xfrm>
          <a:prstGeom prst="roundRect">
            <a:avLst>
              <a:gd name="adj" fmla="val 1816"/>
            </a:avLst>
          </a:prstGeom>
          <a:noFill/>
          <a:ln w="9525">
            <a:solidFill>
              <a:srgbClr val="E7E5E4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2"/>
          <p:cNvSpPr/>
          <p:nvPr/>
        </p:nvSpPr>
        <p:spPr>
          <a:xfrm>
            <a:off x="6172046" y="1033437"/>
            <a:ext cx="5533887" cy="424745"/>
          </a:xfrm>
          <a:prstGeom prst="rect">
            <a:avLst/>
          </a:prstGeom>
          <a:solidFill>
            <a:srgbClr val="FAF5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Shape 13"/>
          <p:cNvSpPr/>
          <p:nvPr/>
        </p:nvSpPr>
        <p:spPr>
          <a:xfrm>
            <a:off x="6172046" y="1453419"/>
            <a:ext cx="5533887" cy="0"/>
          </a:xfrm>
          <a:prstGeom prst="line">
            <a:avLst/>
          </a:prstGeom>
          <a:noFill/>
          <a:ln w="9525">
            <a:solidFill>
              <a:srgbClr val="F3E8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286343" y="1109635"/>
            <a:ext cx="5415020" cy="1154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25" b="1" dirty="0">
                <a:solidFill>
                  <a:srgbClr val="4C1D95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📝</a:t>
            </a:r>
            <a:pPr algn="l" indent="0" marL="0">
              <a:buNone/>
            </a:pPr>
            <a:r>
              <a:rPr lang="en-US" sz="825" b="1" dirty="0">
                <a:solidFill>
                  <a:srgbClr val="4C1D9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Relasi Public Form (Mitra Eksternal)</a:t>
            </a:r>
            <a:endParaRPr lang="en-US" sz="825" dirty="0"/>
          </a:p>
        </p:txBody>
      </p:sp>
      <p:sp>
        <p:nvSpPr>
          <p:cNvPr id="18" name="Text 15"/>
          <p:cNvSpPr/>
          <p:nvPr/>
        </p:nvSpPr>
        <p:spPr>
          <a:xfrm>
            <a:off x="6286343" y="1252506"/>
            <a:ext cx="5305292" cy="119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800" dirty="0">
                <a:solidFill>
                  <a:srgbClr val="57534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Form no-auth untuk mitra eksternal kontribusi berita tanpa akun</a:t>
            </a:r>
            <a:endParaRPr lang="en-US" sz="800" dirty="0"/>
          </a:p>
        </p:txBody>
      </p:sp>
      <p:pic>
        <p:nvPicPr>
          <p:cNvPr id="19" name="Image 1" descr="/tmp/h2p-fit-1791730487372-uer0l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046" y="1458181"/>
            <a:ext cx="5533887" cy="3762430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481000" y="5368245"/>
            <a:ext cx="5543411" cy="2970684"/>
          </a:xfrm>
          <a:prstGeom prst="roundRect">
            <a:avLst>
              <a:gd name="adj" fmla="val 2565"/>
            </a:avLst>
          </a:prstGeom>
          <a:noFill/>
          <a:ln w="9525">
            <a:solidFill>
              <a:srgbClr val="E7E5E4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7"/>
          <p:cNvSpPr/>
          <p:nvPr/>
        </p:nvSpPr>
        <p:spPr>
          <a:xfrm>
            <a:off x="485763" y="5373007"/>
            <a:ext cx="5533887" cy="424745"/>
          </a:xfrm>
          <a:prstGeom prst="rect">
            <a:avLst/>
          </a:prstGeom>
          <a:solidFill>
            <a:srgbClr val="FAF5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Shape 18"/>
          <p:cNvSpPr/>
          <p:nvPr/>
        </p:nvSpPr>
        <p:spPr>
          <a:xfrm>
            <a:off x="485763" y="5792990"/>
            <a:ext cx="5533887" cy="0"/>
          </a:xfrm>
          <a:prstGeom prst="line">
            <a:avLst/>
          </a:prstGeom>
          <a:noFill/>
          <a:ln w="9525">
            <a:solidFill>
              <a:srgbClr val="F3E8FF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600060" y="5449205"/>
            <a:ext cx="5415020" cy="1154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25" b="1" dirty="0">
                <a:solidFill>
                  <a:srgbClr val="4C1D95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📊 Statistik Evaluasi 5-Section</a:t>
            </a:r>
            <a:endParaRPr lang="en-US" sz="825" dirty="0"/>
          </a:p>
        </p:txBody>
      </p:sp>
      <p:sp>
        <p:nvSpPr>
          <p:cNvPr id="24" name="Text 20"/>
          <p:cNvSpPr/>
          <p:nvPr/>
        </p:nvSpPr>
        <p:spPr>
          <a:xfrm>
            <a:off x="600060" y="5592077"/>
            <a:ext cx="5305292" cy="119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800" dirty="0">
                <a:solidFill>
                  <a:srgbClr val="57534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Per user, per tahap, per role, per tim, workflow — real-time</a:t>
            </a:r>
            <a:endParaRPr lang="en-US" sz="800" dirty="0"/>
          </a:p>
        </p:txBody>
      </p:sp>
      <p:pic>
        <p:nvPicPr>
          <p:cNvPr id="25" name="Image 2" descr="/tmp/h2p-fit-1791730487373-rcm1cu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763" y="5797752"/>
            <a:ext cx="5533887" cy="2536414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6167283" y="5368245"/>
            <a:ext cx="5543411" cy="2970684"/>
          </a:xfrm>
          <a:prstGeom prst="roundRect">
            <a:avLst>
              <a:gd name="adj" fmla="val 2565"/>
            </a:avLst>
          </a:prstGeom>
          <a:noFill/>
          <a:ln w="9525">
            <a:solidFill>
              <a:srgbClr val="E7E5E4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2"/>
          <p:cNvSpPr/>
          <p:nvPr/>
        </p:nvSpPr>
        <p:spPr>
          <a:xfrm>
            <a:off x="6172046" y="5373007"/>
            <a:ext cx="5533887" cy="424745"/>
          </a:xfrm>
          <a:prstGeom prst="rect">
            <a:avLst/>
          </a:prstGeom>
          <a:solidFill>
            <a:srgbClr val="FAF5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Shape 23"/>
          <p:cNvSpPr/>
          <p:nvPr/>
        </p:nvSpPr>
        <p:spPr>
          <a:xfrm>
            <a:off x="6172046" y="5792990"/>
            <a:ext cx="5533887" cy="0"/>
          </a:xfrm>
          <a:prstGeom prst="line">
            <a:avLst/>
          </a:prstGeom>
          <a:noFill/>
          <a:ln w="9525">
            <a:solidFill>
              <a:srgbClr val="F3E8FF"/>
            </a:solidFill>
            <a:prstDash val="solid"/>
          </a:ln>
        </p:spPr>
      </p:sp>
      <p:sp>
        <p:nvSpPr>
          <p:cNvPr id="29" name="Text 24"/>
          <p:cNvSpPr/>
          <p:nvPr/>
        </p:nvSpPr>
        <p:spPr>
          <a:xfrm>
            <a:off x="6286343" y="5449205"/>
            <a:ext cx="5415020" cy="1154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25" b="1" dirty="0">
                <a:solidFill>
                  <a:srgbClr val="4C1D95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📄</a:t>
            </a:r>
            <a:pPr algn="l" indent="0" marL="0">
              <a:buNone/>
            </a:pPr>
            <a:r>
              <a:rPr lang="en-US" sz="825" b="1" dirty="0">
                <a:solidFill>
                  <a:srgbClr val="4C1D9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Laporan Kegiatan SKP (Auto-Generate)</a:t>
            </a:r>
            <a:endParaRPr lang="en-US" sz="825" dirty="0"/>
          </a:p>
        </p:txBody>
      </p:sp>
      <p:sp>
        <p:nvSpPr>
          <p:cNvPr id="30" name="Text 25"/>
          <p:cNvSpPr/>
          <p:nvPr/>
        </p:nvSpPr>
        <p:spPr>
          <a:xfrm>
            <a:off x="6286343" y="5592077"/>
            <a:ext cx="5415020" cy="119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800" dirty="0">
                <a:solidFill>
                  <a:srgbClr val="57534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PDF + Excel saat Tahap 5, self-service semua role</a:t>
            </a:r>
            <a:endParaRPr lang="en-US" sz="800" dirty="0"/>
          </a:p>
        </p:txBody>
      </p:sp>
      <p:pic>
        <p:nvPicPr>
          <p:cNvPr id="31" name="Image 3" descr="/tmp/h2p-fit-1791730487373-15p7r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046" y="5797752"/>
            <a:ext cx="5533887" cy="253641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1695" cy="857228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476238" y="881040"/>
            <a:ext cx="11239219" cy="0"/>
          </a:xfrm>
          <a:prstGeom prst="line">
            <a:avLst/>
          </a:prstGeom>
          <a:noFill/>
          <a:ln w="19050">
            <a:solidFill>
              <a:srgbClr val="E7E5E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76238" y="304792"/>
            <a:ext cx="8636000" cy="1154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b="1" spc="187" kern="0" dirty="0">
                <a:solidFill>
                  <a:srgbClr val="6D28D9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PEMENUHAN 6 INDIKATOR PENILAIAN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76238" y="447664"/>
            <a:ext cx="8636000" cy="328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87"/>
              </a:lnSpc>
              <a:buNone/>
            </a:pPr>
            <a:r>
              <a:rPr lang="en-US" sz="2250" b="1" dirty="0">
                <a:solidFill>
                  <a:srgbClr val="1C1917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Pushakin Flows Menjawab Kriteria Komunikasi Inovatif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10801080" y="395278"/>
            <a:ext cx="914377" cy="10591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spc="101" kern="0" dirty="0">
                <a:solidFill>
                  <a:srgbClr val="78716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TOTAL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01080" y="528624"/>
            <a:ext cx="914377" cy="2468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800"/>
              </a:lnSpc>
              <a:buNone/>
            </a:pPr>
            <a:r>
              <a:rPr lang="en-US" sz="1800" b="1" dirty="0">
                <a:solidFill>
                  <a:srgbClr val="6D28D9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100%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76238" y="1023912"/>
            <a:ext cx="11239219" cy="347654"/>
          </a:xfrm>
          <a:prstGeom prst="roundRect">
            <a:avLst>
              <a:gd name="adj" fmla="val 10959"/>
            </a:avLst>
          </a:prstGeom>
          <a:solidFill>
            <a:srgbClr val="FAF5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490525" y="1023912"/>
            <a:ext cx="0" cy="347654"/>
          </a:xfrm>
          <a:prstGeom prst="line">
            <a:avLst/>
          </a:prstGeom>
          <a:noFill/>
          <a:ln w="28574">
            <a:solidFill>
              <a:srgbClr val="6D28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6238" y="1023912"/>
            <a:ext cx="8636000" cy="375466"/>
          </a:xfrm>
          <a:prstGeom prst="rect">
            <a:avLst/>
          </a:prstGeom>
          <a:noFill/>
          <a:ln/>
        </p:spPr>
        <p:txBody>
          <a:bodyPr wrap="square" lIns="133347" tIns="95248" rIns="133347" bIns="95248" rtlCol="0" anchor="t"/>
          <a:lstStyle/>
          <a:p>
            <a:pPr algn="l" indent="0" marL="0">
              <a:lnSpc>
                <a:spcPts val="1237"/>
              </a:lnSpc>
              <a:buNone/>
            </a:pPr>
            <a:r>
              <a:rPr lang="en-US" sz="825" b="1" dirty="0">
                <a:solidFill>
                  <a:srgbClr val="4C1D95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6/6 indikator terpenuhi</a:t>
            </a:r>
            <a:pPr algn="l" indent="0" marL="0">
              <a:lnSpc>
                <a:spcPts val="1237"/>
              </a:lnSpc>
              <a:buNone/>
            </a:pPr>
            <a:r>
              <a:rPr lang="en-US" sz="825" dirty="0">
                <a:solidFill>
                  <a:srgbClr val="44403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dengan bukti sistem di slide sebelumnya. Pushakin Flows mewujudkan ekosistem komunikasi publik yang </a:t>
            </a:r>
            <a:pPr algn="l" indent="0" marL="0">
              <a:lnSpc>
                <a:spcPts val="1237"/>
              </a:lnSpc>
              <a:buNone/>
            </a:pPr>
            <a:r>
              <a:rPr lang="en-US" sz="825" b="1" dirty="0">
                <a:solidFill>
                  <a:srgbClr val="4C1D9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inovatif, efektif, transparan, dan partisipatif</a:t>
            </a:r>
            <a:pPr algn="l" indent="0" marL="0">
              <a:lnSpc>
                <a:spcPts val="1237"/>
              </a:lnSpc>
              <a:buNone/>
            </a:pPr>
            <a:r>
              <a:rPr lang="en-US" sz="825" dirty="0">
                <a:solidFill>
                  <a:srgbClr val="44403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.</a:t>
            </a:r>
            <a:endParaRPr lang="en-US" sz="825" dirty="0"/>
          </a:p>
        </p:txBody>
      </p:sp>
      <p:sp>
        <p:nvSpPr>
          <p:cNvPr id="11" name="Text 9"/>
          <p:cNvSpPr/>
          <p:nvPr/>
        </p:nvSpPr>
        <p:spPr>
          <a:xfrm>
            <a:off x="481000" y="1509675"/>
            <a:ext cx="5533887" cy="6829254"/>
          </a:xfrm>
          <a:prstGeom prst="roundRect">
            <a:avLst>
              <a:gd name="adj" fmla="val 1377"/>
            </a:avLst>
          </a:prstGeom>
          <a:solidFill>
            <a:srgbClr val="FFFFFF"/>
          </a:solidFill>
          <a:ln w="9525">
            <a:solidFill>
              <a:srgbClr val="E7E5E4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619110" y="1838279"/>
            <a:ext cx="5257668" cy="0"/>
          </a:xfrm>
          <a:prstGeom prst="line">
            <a:avLst/>
          </a:prstGeom>
          <a:noFill/>
          <a:ln w="19050">
            <a:solidFill>
              <a:srgbClr val="F3E8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19110" y="1647784"/>
            <a:ext cx="5257668" cy="216022"/>
          </a:xfrm>
          <a:prstGeom prst="rect">
            <a:avLst/>
          </a:prstGeom>
          <a:noFill/>
          <a:ln/>
        </p:spPr>
        <p:txBody>
          <a:bodyPr wrap="none" lIns="0" tIns="0" rIns="0" bIns="57149" rtlCol="0" anchor="t"/>
          <a:lstStyle/>
          <a:p>
            <a:pPr algn="l" indent="0" marL="0">
              <a:buNone/>
            </a:pPr>
            <a:r>
              <a:rPr lang="en-US" sz="825" b="1" spc="165" kern="0" dirty="0">
                <a:solidFill>
                  <a:srgbClr val="6D28D9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📊 PEMENUHAN 6 INDIKATOR</a:t>
            </a:r>
            <a:endParaRPr lang="en-US" sz="825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9110" y="1943051"/>
          <a:ext cx="5257668" cy="914400"/>
        </p:xfrm>
        <a:graphic>
          <a:graphicData uri="http://schemas.openxmlformats.org/drawingml/2006/table">
            <a:tbl>
              <a:tblPr/>
              <a:tblGrid>
                <a:gridCol w="449747"/>
                <a:gridCol w="1172141"/>
                <a:gridCol w="2874097"/>
                <a:gridCol w="761683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4C1D95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No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57149" marR="76198" marT="76198" marB="57149" anchor="ctr">
                    <a:lnL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5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4C1D95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Indikator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57149" marR="76198" marT="76198" marB="57149" anchor="ctr">
                    <a:lnL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5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4C1D95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Bukti Pemenuhan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57149" marR="76198" marT="76198" marB="57149" anchor="ctr">
                    <a:lnL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5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C1D95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Bobot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57149" marR="76198" marT="76198" marB="57149" anchor="ctr">
                    <a:lnL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5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44403C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1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66673" marR="76198" marT="76198" marB="66673" anchor="ctr">
                    <a:lnL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44403C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Objektif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66673" marR="76198" marT="76198" marB="66673" anchor="ctr">
                    <a:lnL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44403C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Workflow 3-lapis + Surat Tugas bernomor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66673" marR="76198" marT="76198" marB="66673" anchor="ctr">
                    <a:lnL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6D28D9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20%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66673" marR="76198" marT="76198" marB="66673" anchor="ctr">
                    <a:lnL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44403C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2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66673" marR="76198" marT="76198" marB="66673" anchor="ctr">
                    <a:lnL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44403C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Strategi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66673" marR="76198" marT="76198" marB="66673" anchor="ctr">
                    <a:lnL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44403C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5-tahap gating + 3 mode adaptif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66673" marR="76198" marT="76198" marB="66673" anchor="ctr">
                    <a:lnL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6D28D9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20%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66673" marR="76198" marT="76198" marB="66673" anchor="ctr">
                    <a:lnL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44403C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3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66673" marR="76198" marT="76198" marB="66673" anchor="ctr">
                    <a:lnL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44403C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Taktik/Saluran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66673" marR="76198" marT="76198" marB="66673" anchor="ctr">
                    <a:lnL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44403C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12+ channel (WA, LIHUM, 14 platform)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66673" marR="76198" marT="76198" marB="66673" anchor="ctr">
                    <a:lnL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6D28D9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10%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66673" marR="76198" marT="76198" marB="66673" anchor="ctr">
                    <a:lnL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44403C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4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66673" marR="76198" marT="76198" marB="66673" anchor="ctr">
                    <a:lnL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44403C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Key Messages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66673" marR="76198" marT="76198" marB="66673" anchor="ctr">
                    <a:lnL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44403C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5-lapis pesan + 3-trigger notifikasi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66673" marR="76198" marT="76198" marB="66673" anchor="ctr">
                    <a:lnL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6D28D9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15%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66673" marR="76198" marT="76198" marB="66673" anchor="ctr">
                    <a:lnL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44403C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5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66673" marR="76198" marT="76198" marB="66673" anchor="ctr">
                    <a:lnL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44403C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Eksekusi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66673" marR="76198" marT="76198" marB="66673" anchor="ctr">
                    <a:lnL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44403C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15 fitur end-to-end + audit trail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66673" marR="76198" marT="76198" marB="66673" anchor="ctr">
                    <a:lnL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6D28D9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20%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66673" marR="76198" marT="76198" marB="66673" anchor="ctr">
                    <a:lnL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44403C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6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66673" marR="76198" marT="76198" marB="66673" anchor="ctr">
                    <a:lnL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44403C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Pengukuran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66673" marR="76198" marT="76198" marB="66673" anchor="ctr">
                    <a:lnL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44403C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5-section dashboard + Laporan SKP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66673" marR="76198" marT="76198" marB="66673" anchor="ctr">
                    <a:lnL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6D28D9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15%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66673" marR="76198" marT="76198" marB="66673" anchor="ctr">
                    <a:lnL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 gridSpan="3"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TOTAL BOBOT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66673" marR="76198" marT="76198" marB="66673" anchor="ctr">
                    <a:lnL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8D9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F59E0B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100%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66673" marR="76198" marT="76198" marB="66673" anchor="ctr">
                    <a:lnL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925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8D9"/>
                    </a:solidFill>
                  </a:tcPr>
                </a:tc>
              </a:tr>
            </a:tbl>
          </a:graphicData>
        </a:graphic>
      </p:graphicFrame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72046" y="1504912"/>
            <a:ext cx="5543411" cy="1652546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6305392" y="2178789"/>
            <a:ext cx="5276718" cy="1440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💡</a:t>
            </a:r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INOVATIF</a:t>
            </a: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6305392" y="2350235"/>
            <a:ext cx="5276718" cy="153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50" b="1" dirty="0">
                <a:solidFill>
                  <a:srgbClr val="FFFFFF">
                    <a:alpha val="90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3 mode produksi</a:t>
            </a:r>
            <a:pPr algn="l" indent="0" marL="0">
              <a:lnSpc>
                <a:spcPts val="1050"/>
              </a:lnSpc>
              <a:buNone/>
            </a:pPr>
            <a:r>
              <a:rPr lang="en-US" sz="750" dirty="0">
                <a:solidFill>
                  <a:srgbClr val="FFFFFF">
                    <a:alpha val="90000"/>
                  </a:srgb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+ intra-stage dependency + </a:t>
            </a:r>
            <a:pPr algn="l" indent="0" marL="0">
              <a:lnSpc>
                <a:spcPts val="1050"/>
              </a:lnSpc>
              <a:buNone/>
            </a:pPr>
            <a:r>
              <a:rPr lang="en-US" sz="750" b="1" dirty="0">
                <a:solidFill>
                  <a:srgbClr val="FFFFFF">
                    <a:alpha val="90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3 WA provider gratis</a:t>
            </a:r>
            <a:pPr algn="l" indent="0" marL="0">
              <a:lnSpc>
                <a:spcPts val="1050"/>
              </a:lnSpc>
              <a:buNone/>
            </a:pPr>
            <a:r>
              <a:rPr lang="en-US" sz="750" dirty="0">
                <a:solidFill>
                  <a:srgbClr val="FFFFFF">
                    <a:alpha val="90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 + LIHUM 1-click + </a:t>
            </a:r>
            <a:pPr algn="l" indent="0" marL="0">
              <a:lnSpc>
                <a:spcPts val="1050"/>
              </a:lnSpc>
              <a:buNone/>
            </a:pPr>
            <a:r>
              <a:rPr lang="en-US" sz="750" b="1" dirty="0">
                <a:solidFill>
                  <a:srgbClr val="FFFFFF">
                    <a:alpha val="90000"/>
                  </a:srgb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active duration</a:t>
            </a:r>
            <a:pPr algn="l" indent="0" marL="0">
              <a:lnSpc>
                <a:spcPts val="1050"/>
              </a:lnSpc>
              <a:buNone/>
            </a:pPr>
            <a:r>
              <a:rPr lang="en-US" sz="750" dirty="0">
                <a:solidFill>
                  <a:srgbClr val="FFFFFF">
                    <a:alpha val="90000"/>
                  </a:srgb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measurement</a:t>
            </a:r>
            <a:endParaRPr lang="en-US" sz="750" dirty="0"/>
          </a:p>
        </p:txBody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046" y="3233657"/>
            <a:ext cx="5543411" cy="165254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305392" y="3907533"/>
            <a:ext cx="5276718" cy="1440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⚡ EFEKTIF</a:t>
            </a:r>
            <a:endParaRPr lang="en-US" sz="900" dirty="0"/>
          </a:p>
        </p:txBody>
      </p:sp>
      <p:sp>
        <p:nvSpPr>
          <p:cNvPr id="20" name="Text 15"/>
          <p:cNvSpPr/>
          <p:nvPr/>
        </p:nvSpPr>
        <p:spPr>
          <a:xfrm>
            <a:off x="6305392" y="4078979"/>
            <a:ext cx="5276718" cy="153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800" b="1" dirty="0">
                <a:solidFill>
                  <a:srgbClr val="FFFFFF">
                    <a:alpha val="90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253 proyek</a:t>
            </a:r>
            <a:pPr algn="l" indent="0" marL="0">
              <a:lnSpc>
                <a:spcPts val="1050"/>
              </a:lnSpc>
              <a:buNone/>
            </a:pPr>
            <a:r>
              <a:rPr lang="en-US" sz="800" dirty="0">
                <a:solidFill>
                  <a:srgbClr val="FFFFFF">
                    <a:alpha val="90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 tracked, 793 task, 529 surat tugas, </a:t>
            </a:r>
            <a:pPr algn="l" indent="0" marL="0">
              <a:lnSpc>
                <a:spcPts val="1050"/>
              </a:lnSpc>
              <a:buNone/>
            </a:pPr>
            <a:r>
              <a:rPr lang="en-US" sz="800" b="1" dirty="0">
                <a:solidFill>
                  <a:srgbClr val="FFFFFF">
                    <a:alpha val="90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 stuck permanen</a:t>
            </a:r>
            <a:pPr algn="l" indent="0" marL="0">
              <a:lnSpc>
                <a:spcPts val="1050"/>
              </a:lnSpc>
              <a:buNone/>
            </a:pPr>
            <a:r>
              <a:rPr lang="en-US" sz="800" dirty="0">
                <a:solidFill>
                  <a:srgbClr val="FFFFFF">
                    <a:alpha val="90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, Worker startup 26ms</a:t>
            </a:r>
            <a:endParaRPr lang="en-US" sz="800" dirty="0"/>
          </a:p>
        </p:txBody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046" y="4962401"/>
            <a:ext cx="5543411" cy="165254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6305392" y="5636278"/>
            <a:ext cx="5276718" cy="1440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🔍</a:t>
            </a:r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TRANSPARAN</a:t>
            </a:r>
            <a:endParaRPr lang="en-US" sz="900" dirty="0"/>
          </a:p>
        </p:txBody>
      </p:sp>
      <p:sp>
        <p:nvSpPr>
          <p:cNvPr id="23" name="Text 17"/>
          <p:cNvSpPr/>
          <p:nvPr/>
        </p:nvSpPr>
        <p:spPr>
          <a:xfrm>
            <a:off x="6305392" y="5807723"/>
            <a:ext cx="5276718" cy="153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50" b="1" dirty="0">
                <a:solidFill>
                  <a:srgbClr val="FFFFFF">
                    <a:alpha val="90000"/>
                  </a:srgb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Public Tracker no-auth</a:t>
            </a:r>
            <a:pPr algn="l" indent="0" marL="0">
              <a:lnSpc>
                <a:spcPts val="1050"/>
              </a:lnSpc>
              <a:buNone/>
            </a:pPr>
            <a:r>
              <a:rPr lang="en-US" sz="750" dirty="0">
                <a:solidFill>
                  <a:srgbClr val="FFFFFF">
                    <a:alpha val="90000"/>
                  </a:srgb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+ </a:t>
            </a:r>
            <a:pPr algn="l" indent="0" marL="0">
              <a:lnSpc>
                <a:spcPts val="1050"/>
              </a:lnSpc>
              <a:buNone/>
            </a:pPr>
            <a:r>
              <a:rPr lang="en-US" sz="750" b="1" dirty="0">
                <a:solidFill>
                  <a:srgbClr val="FFFFFF">
                    <a:alpha val="90000"/>
                  </a:srgb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LIHUM gallery publik</a:t>
            </a:r>
            <a:pPr algn="l" indent="0" marL="0">
              <a:lnSpc>
                <a:spcPts val="1050"/>
              </a:lnSpc>
              <a:buNone/>
            </a:pPr>
            <a:r>
              <a:rPr lang="en-US" sz="750" dirty="0">
                <a:solidFill>
                  <a:srgbClr val="FFFFFF">
                    <a:alpha val="90000"/>
                  </a:srgb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embedded di web UIN Antasari + audit trail lengkap</a:t>
            </a:r>
            <a:endParaRPr lang="en-US" sz="750" dirty="0"/>
          </a:p>
        </p:txBody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046" y="6691145"/>
            <a:ext cx="5543411" cy="1652546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6305392" y="7365022"/>
            <a:ext cx="5276718" cy="1440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🤝</a:t>
            </a:r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PARTISIPATIF</a:t>
            </a:r>
            <a:endParaRPr lang="en-US" sz="900" dirty="0"/>
          </a:p>
        </p:txBody>
      </p:sp>
      <p:sp>
        <p:nvSpPr>
          <p:cNvPr id="26" name="Text 19"/>
          <p:cNvSpPr/>
          <p:nvPr/>
        </p:nvSpPr>
        <p:spPr>
          <a:xfrm>
            <a:off x="6305392" y="7536468"/>
            <a:ext cx="5276718" cy="153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50" b="1" dirty="0">
                <a:solidFill>
                  <a:srgbClr val="FFFFFF">
                    <a:alpha val="90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15 role kontribusi</a:t>
            </a:r>
            <a:pPr algn="l" indent="0" marL="0">
              <a:lnSpc>
                <a:spcPts val="1050"/>
              </a:lnSpc>
              <a:buNone/>
            </a:pPr>
            <a:r>
              <a:rPr lang="en-US" sz="750" dirty="0">
                <a:solidFill>
                  <a:srgbClr val="FFFFFF">
                    <a:alpha val="90000"/>
                  </a:srgb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+ Relasi public form (mitra eksternal) + self-service laporan + Inventaris terintegrasi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2026-10-11T14:54:48Z</dcterms:created>
  <dcterms:modified xsi:type="dcterms:W3CDTF">2026-10-11T14:54:48Z</dcterms:modified>
</cp:coreProperties>
</file>