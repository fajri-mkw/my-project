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8572500"/>
  <p:notesSz cx="85725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857228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386055" cy="85722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5754" y="463436"/>
            <a:ext cx="2310381" cy="311346"/>
          </a:xfrm>
          <a:prstGeom prst="roundRect">
            <a:avLst>
              <a:gd name="adj" fmla="val 3056238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571486" y="581010"/>
            <a:ext cx="76198" cy="76198"/>
          </a:xfrm>
          <a:prstGeom prst="roundRect">
            <a:avLst>
              <a:gd name="adj" fmla="val 50001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28614" y="476238"/>
            <a:ext cx="2264661" cy="2857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25" spc="124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HUMAS KEMAG AWARD 2026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428614" y="2602641"/>
            <a:ext cx="5528827" cy="1563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7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Pushakin</a:t>
            </a:r>
            <a:endParaRPr lang="en-US" sz="6000" dirty="0"/>
          </a:p>
          <a:p>
            <a:pPr algn="l" indent="0" marL="0">
              <a:lnSpc>
                <a:spcPts val="5700"/>
              </a:lnSpc>
              <a:buNone/>
            </a:pPr>
            <a:r>
              <a:rPr lang="en-US" sz="6000" b="1" i="1" dirty="0">
                <a:solidFill>
                  <a:srgbClr val="F59E0B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Flows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428614" y="4202801"/>
            <a:ext cx="4571886" cy="786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2"/>
              </a:lnSpc>
              <a:buNone/>
            </a:pPr>
            <a:r>
              <a:rPr lang="en-US" sz="1275" dirty="0">
                <a:solidFill>
                  <a:srgbClr val="FFFFFF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Sistem Manajemen Produksi Kehumasan Terpadu — Workflow dari Delegasi hingga Publikasi, dalam Satu Alur Kerja Inovatif, Efektif, Transparan, dan Partisipatif.</a:t>
            </a:r>
            <a:endParaRPr lang="en-US" sz="1275" dirty="0"/>
          </a:p>
        </p:txBody>
      </p:sp>
      <p:sp>
        <p:nvSpPr>
          <p:cNvPr id="9" name="Text 6"/>
          <p:cNvSpPr/>
          <p:nvPr/>
        </p:nvSpPr>
        <p:spPr>
          <a:xfrm>
            <a:off x="428614" y="5160040"/>
            <a:ext cx="5528827" cy="523862"/>
          </a:xfrm>
          <a:prstGeom prst="roundRect">
            <a:avLst>
              <a:gd name="adj" fmla="val 7273"/>
            </a:avLst>
          </a:prstGeom>
          <a:solidFill>
            <a:srgbClr val="F59E0B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42901" y="5160040"/>
            <a:ext cx="0" cy="523862"/>
          </a:xfrm>
          <a:prstGeom prst="line">
            <a:avLst/>
          </a:prstGeom>
          <a:noFill/>
          <a:ln w="28574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9585" y="5274337"/>
            <a:ext cx="5195460" cy="1154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F59E0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DIAJUKAN UNTUK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09585" y="5417208"/>
            <a:ext cx="5195460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Penghargaan Komunikasi Inovatif — Kementerian Agama RI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28614" y="7491225"/>
            <a:ext cx="5528827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8614" y="7648384"/>
            <a:ext cx="5638555" cy="134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Pusat Hubungan Masyarakat</a:t>
            </a:r>
            <a:endParaRPr lang="en-US" sz="975" dirty="0"/>
          </a:p>
        </p:txBody>
      </p:sp>
      <p:sp>
        <p:nvSpPr>
          <p:cNvPr id="15" name="Text 12"/>
          <p:cNvSpPr/>
          <p:nvPr/>
        </p:nvSpPr>
        <p:spPr>
          <a:xfrm>
            <a:off x="428614" y="7810305"/>
            <a:ext cx="5528827" cy="123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UIN Antasari Banjarmasin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428614" y="8000800"/>
            <a:ext cx="5638555" cy="95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app.pushakin-flows.workers.dev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386055" y="0"/>
            <a:ext cx="5805640" cy="857228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767046" y="380990"/>
            <a:ext cx="5043659" cy="123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206" kern="0" dirty="0">
                <a:solidFill>
                  <a:srgbClr val="6D28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PENDAHULUAN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6767046" y="533387"/>
            <a:ext cx="5043659" cy="339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250" b="1" dirty="0">
                <a:solidFill>
                  <a:srgbClr val="1C191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Pengertian &amp; Tujuan</a:t>
            </a:r>
            <a:endParaRPr lang="en-US" sz="2250" dirty="0"/>
          </a:p>
        </p:txBody>
      </p:sp>
      <p:sp>
        <p:nvSpPr>
          <p:cNvPr id="20" name="Text 17"/>
          <p:cNvSpPr/>
          <p:nvPr/>
        </p:nvSpPr>
        <p:spPr>
          <a:xfrm>
            <a:off x="6767046" y="1114397"/>
            <a:ext cx="5043659" cy="876278"/>
          </a:xfrm>
          <a:prstGeom prst="roundRect">
            <a:avLst>
              <a:gd name="adj" fmla="val 4348"/>
            </a:avLst>
          </a:prstGeom>
          <a:solidFill>
            <a:srgbClr val="FAF5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6781333" y="1114397"/>
            <a:ext cx="0" cy="876278"/>
          </a:xfrm>
          <a:prstGeom prst="line">
            <a:avLst/>
          </a:prstGeom>
          <a:noFill/>
          <a:ln w="28574">
            <a:solidFill>
              <a:srgbClr val="6D28D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948016" y="1228694"/>
            <a:ext cx="4710292" cy="1059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35" kern="0" dirty="0">
                <a:solidFill>
                  <a:srgbClr val="6D28D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📋</a:t>
            </a:r>
            <a:pPr algn="l" indent="0" marL="0">
              <a:buNone/>
            </a:pPr>
            <a:r>
              <a:rPr lang="en-US" sz="800" b="1" spc="135" kern="0" dirty="0">
                <a:solidFill>
                  <a:srgbClr val="6D28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KOMUNIKASI INOVATIF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948016" y="1362041"/>
            <a:ext cx="4710292" cy="514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Terobosan strategi komunikasi publik yang menjadi cerminan </a:t>
            </a:r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praktik baik (best practices)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untuk menginspirasi dan memberi nilai tambah dalam penyampaian pesan, keterlibatan masyarakat, serta pemanfaatan teknologi komunikasi.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767046" y="2124022"/>
            <a:ext cx="5043659" cy="704832"/>
          </a:xfrm>
          <a:prstGeom prst="roundRect">
            <a:avLst>
              <a:gd name="adj" fmla="val 5406"/>
            </a:avLst>
          </a:prstGeom>
          <a:solidFill>
            <a:srgbClr val="FAF5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2"/>
          <p:cNvSpPr/>
          <p:nvPr/>
        </p:nvSpPr>
        <p:spPr>
          <a:xfrm>
            <a:off x="6781333" y="2124022"/>
            <a:ext cx="0" cy="704832"/>
          </a:xfrm>
          <a:prstGeom prst="line">
            <a:avLst/>
          </a:prstGeom>
          <a:noFill/>
          <a:ln w="28574">
            <a:solidFill>
              <a:srgbClr val="6D28D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948016" y="2238319"/>
            <a:ext cx="4710292" cy="1059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35" kern="0" dirty="0">
                <a:solidFill>
                  <a:srgbClr val="6D28D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🎯</a:t>
            </a:r>
            <a:pPr algn="l" indent="0" marL="0">
              <a:buNone/>
            </a:pPr>
            <a:r>
              <a:rPr lang="en-US" sz="800" b="1" spc="135" kern="0" dirty="0">
                <a:solidFill>
                  <a:srgbClr val="6D28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TUJUAN PENGHARGAAN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6948016" y="2371666"/>
            <a:ext cx="4710292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Mendorong terciptanya </a:t>
            </a:r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ekosistem komunikasi publik yang lebih inovatif, efektif, transparan, dan partisipatif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sebagai sarana pembelajaran bersama.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767046" y="2962201"/>
            <a:ext cx="5153387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35" kern="0" dirty="0">
                <a:solidFill>
                  <a:srgbClr val="6D28D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📊 KRITERIA PENILAIAN — 6 INDIKATOR</a:t>
            </a:r>
            <a:endParaRPr lang="en-US" sz="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7046" y="3114597"/>
          <a:ext cx="5043659" cy="914400"/>
        </p:xfrm>
        <a:graphic>
          <a:graphicData uri="http://schemas.openxmlformats.org/drawingml/2006/table">
            <a:tbl>
              <a:tblPr/>
              <a:tblGrid>
                <a:gridCol w="869730"/>
                <a:gridCol w="2757865"/>
                <a:gridCol w="141606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44403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No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3" marR="95248" marT="95248" marB="66673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44403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Indikator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3" marR="95248" marT="95248" marB="66673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4403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Bobot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3" marR="95248" marT="95248" marB="66673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44403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</a:t>
                      </a:r>
                      <a:endParaRPr lang="en-US" sz="825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3" marR="95248" marT="95248" marB="66673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44403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Objektif</a:t>
                      </a:r>
                      <a:endParaRPr lang="en-US" sz="825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3" marR="95248" marT="95248" marB="66673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6D28D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20%</a:t>
                      </a:r>
                      <a:endParaRPr lang="en-US" sz="825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3" marR="95248" marT="95248" marB="66673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44403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</a:t>
                      </a:r>
                      <a:endParaRPr lang="en-US" sz="825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3" marR="95248" marT="95248" marB="66673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44403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Strategi</a:t>
                      </a:r>
                      <a:endParaRPr lang="en-US" sz="825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3" marR="95248" marT="95248" marB="66673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6D28D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20%</a:t>
                      </a:r>
                      <a:endParaRPr lang="en-US" sz="825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3" marR="95248" marT="95248" marB="66673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44403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3</a:t>
                      </a:r>
                      <a:endParaRPr lang="en-US" sz="825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3" marR="95248" marT="95248" marB="66673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44403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Taktik / Saluran</a:t>
                      </a:r>
                      <a:endParaRPr lang="en-US" sz="825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3" marR="95248" marT="95248" marB="66673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6D28D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10%</a:t>
                      </a:r>
                      <a:endParaRPr lang="en-US" sz="825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3" marR="95248" marT="95248" marB="66673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44403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4</a:t>
                      </a:r>
                      <a:endParaRPr lang="en-US" sz="825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3" marR="95248" marT="95248" marB="66673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44403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Key Messages</a:t>
                      </a:r>
                      <a:endParaRPr lang="en-US" sz="825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3" marR="95248" marT="95248" marB="66673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6D28D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15%</a:t>
                      </a:r>
                      <a:endParaRPr lang="en-US" sz="825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3" marR="95248" marT="95248" marB="66673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44403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5</a:t>
                      </a:r>
                      <a:endParaRPr lang="en-US" sz="825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3" marR="95248" marT="95248" marB="66673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44403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Eksekusi</a:t>
                      </a:r>
                      <a:endParaRPr lang="en-US" sz="825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3" marR="95248" marT="95248" marB="66673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6D28D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20%</a:t>
                      </a:r>
                      <a:endParaRPr lang="en-US" sz="825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3" marR="95248" marT="95248" marB="66673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44403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6</a:t>
                      </a:r>
                      <a:endParaRPr lang="en-US" sz="825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3" marR="95248" marT="95248" marB="66673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44403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Pengukuran (Hasil)</a:t>
                      </a:r>
                      <a:endParaRPr lang="en-US" sz="825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3" marR="95248" marT="95248" marB="66673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6D28D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15%</a:t>
                      </a:r>
                      <a:endParaRPr lang="en-US" sz="825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3" marR="95248" marT="95248" marB="66673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4C1D9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TOTAL</a:t>
                      </a:r>
                      <a:endParaRPr lang="en-US" sz="825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3" marR="95248" marT="95248" marB="66673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4C1D9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100%</a:t>
                      </a:r>
                      <a:endParaRPr lang="en-US" sz="825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3" marR="95248" marT="95248" marB="66673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F"/>
                    </a:solidFill>
                  </a:tcPr>
                </a:tc>
              </a:tr>
            </a:tbl>
          </a:graphicData>
        </a:graphic>
      </p:graphicFrame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7046" y="5391015"/>
            <a:ext cx="1203692" cy="64560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771808" y="5395778"/>
            <a:ext cx="1194167" cy="636075"/>
          </a:xfrm>
          <a:prstGeom prst="roundRect">
            <a:avLst>
              <a:gd name="adj" fmla="val 8985"/>
            </a:avLst>
          </a:prstGeom>
          <a:noFill/>
          <a:ln w="9525">
            <a:solidFill>
              <a:srgbClr val="F3E8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7"/>
          <p:cNvSpPr/>
          <p:nvPr/>
        </p:nvSpPr>
        <p:spPr>
          <a:xfrm>
            <a:off x="6852768" y="5495788"/>
            <a:ext cx="1032246" cy="2106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6D28D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253</a:t>
            </a:r>
            <a:endParaRPr lang="en-US" sz="1650" dirty="0"/>
          </a:p>
        </p:txBody>
      </p:sp>
      <p:sp>
        <p:nvSpPr>
          <p:cNvPr id="33" name="Text 28"/>
          <p:cNvSpPr/>
          <p:nvPr/>
        </p:nvSpPr>
        <p:spPr>
          <a:xfrm>
            <a:off x="6852768" y="5733907"/>
            <a:ext cx="1032246" cy="197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800" spc="60" kern="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PROYEK</a:t>
            </a:r>
            <a:endParaRPr lang="en-US" sz="800" dirty="0"/>
          </a:p>
          <a:p>
            <a:pPr algn="ctr" indent="0" marL="0">
              <a:lnSpc>
                <a:spcPts val="780"/>
              </a:lnSpc>
              <a:buNone/>
            </a:pPr>
            <a:r>
              <a:rPr lang="en-US" sz="800" spc="60" kern="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TRACKED</a:t>
            </a:r>
            <a:endParaRPr lang="en-US" sz="800" dirty="0"/>
          </a:p>
        </p:txBody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935" y="5391015"/>
            <a:ext cx="1203841" cy="64560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8051698" y="5395778"/>
            <a:ext cx="1194316" cy="636075"/>
          </a:xfrm>
          <a:prstGeom prst="roundRect">
            <a:avLst>
              <a:gd name="adj" fmla="val 8985"/>
            </a:avLst>
          </a:prstGeom>
          <a:noFill/>
          <a:ln w="9525">
            <a:solidFill>
              <a:srgbClr val="F3E8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0"/>
          <p:cNvSpPr/>
          <p:nvPr/>
        </p:nvSpPr>
        <p:spPr>
          <a:xfrm>
            <a:off x="8132658" y="5495788"/>
            <a:ext cx="1032395" cy="2106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6D28D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</a:t>
            </a:r>
            <a:endParaRPr lang="en-US" sz="1650" dirty="0"/>
          </a:p>
        </p:txBody>
      </p:sp>
      <p:sp>
        <p:nvSpPr>
          <p:cNvPr id="37" name="Text 31"/>
          <p:cNvSpPr/>
          <p:nvPr/>
        </p:nvSpPr>
        <p:spPr>
          <a:xfrm>
            <a:off x="8132658" y="5733907"/>
            <a:ext cx="1032395" cy="197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800" spc="60" kern="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ROLE</a:t>
            </a:r>
            <a:endParaRPr lang="en-US" sz="800" dirty="0"/>
          </a:p>
          <a:p>
            <a:pPr algn="ctr" indent="0" marL="0">
              <a:lnSpc>
                <a:spcPts val="780"/>
              </a:lnSpc>
              <a:buNone/>
            </a:pPr>
            <a:r>
              <a:rPr lang="en-US" sz="800" spc="60" kern="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TERLIBAT</a:t>
            </a:r>
            <a:endParaRPr lang="en-US" sz="800" dirty="0"/>
          </a:p>
        </p:txBody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974" y="5391015"/>
            <a:ext cx="1203692" cy="64560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9331736" y="5395778"/>
            <a:ext cx="1194167" cy="636075"/>
          </a:xfrm>
          <a:prstGeom prst="roundRect">
            <a:avLst>
              <a:gd name="adj" fmla="val 8985"/>
            </a:avLst>
          </a:prstGeom>
          <a:noFill/>
          <a:ln w="9525">
            <a:solidFill>
              <a:srgbClr val="F3E8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3"/>
          <p:cNvSpPr/>
          <p:nvPr/>
        </p:nvSpPr>
        <p:spPr>
          <a:xfrm>
            <a:off x="9412697" y="5495788"/>
            <a:ext cx="1032246" cy="2106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6D28D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529</a:t>
            </a:r>
            <a:endParaRPr lang="en-US" sz="1650" dirty="0"/>
          </a:p>
        </p:txBody>
      </p:sp>
      <p:sp>
        <p:nvSpPr>
          <p:cNvPr id="41" name="Text 34"/>
          <p:cNvSpPr/>
          <p:nvPr/>
        </p:nvSpPr>
        <p:spPr>
          <a:xfrm>
            <a:off x="9412697" y="5733907"/>
            <a:ext cx="1032246" cy="197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800" spc="60" kern="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SURAT TUGAS</a:t>
            </a:r>
            <a:endParaRPr lang="en-US" sz="800" dirty="0"/>
          </a:p>
          <a:p>
            <a:pPr algn="ctr" indent="0" marL="0">
              <a:lnSpc>
                <a:spcPts val="780"/>
              </a:lnSpc>
              <a:buNone/>
            </a:pPr>
            <a:r>
              <a:rPr lang="en-US" sz="800" spc="60" kern="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OTOMATIS</a:t>
            </a:r>
            <a:endParaRPr lang="en-US" sz="800" dirty="0"/>
          </a:p>
        </p:txBody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6864" y="5391015"/>
            <a:ext cx="1203841" cy="645600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10611626" y="5395778"/>
            <a:ext cx="1194316" cy="636075"/>
          </a:xfrm>
          <a:prstGeom prst="roundRect">
            <a:avLst>
              <a:gd name="adj" fmla="val 8985"/>
            </a:avLst>
          </a:prstGeom>
          <a:noFill/>
          <a:ln w="9525">
            <a:solidFill>
              <a:srgbClr val="F3E8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6"/>
          <p:cNvSpPr/>
          <p:nvPr/>
        </p:nvSpPr>
        <p:spPr>
          <a:xfrm>
            <a:off x="10692587" y="5495788"/>
            <a:ext cx="1032395" cy="2106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6D28D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1.361</a:t>
            </a:r>
            <a:endParaRPr lang="en-US" sz="1650" dirty="0"/>
          </a:p>
        </p:txBody>
      </p:sp>
      <p:sp>
        <p:nvSpPr>
          <p:cNvPr id="45" name="Text 37"/>
          <p:cNvSpPr/>
          <p:nvPr/>
        </p:nvSpPr>
        <p:spPr>
          <a:xfrm>
            <a:off x="10692587" y="5733907"/>
            <a:ext cx="1032395" cy="197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800" spc="60" kern="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NOTIFIKASI</a:t>
            </a:r>
            <a:endParaRPr lang="en-US" sz="800" dirty="0"/>
          </a:p>
          <a:p>
            <a:pPr algn="ctr" indent="0" marL="0">
              <a:lnSpc>
                <a:spcPts val="780"/>
              </a:lnSpc>
              <a:buNone/>
            </a:pPr>
            <a:r>
              <a:rPr lang="en-US" sz="800" spc="60" kern="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TERKIRIM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857228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76238" y="881040"/>
            <a:ext cx="11239219" cy="0"/>
          </a:xfrm>
          <a:prstGeom prst="line">
            <a:avLst/>
          </a:prstGeom>
          <a:noFill/>
          <a:ln w="19050">
            <a:solidFill>
              <a:srgbClr val="E7E5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6238" y="304792"/>
            <a:ext cx="8636000" cy="1154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87" kern="0" dirty="0">
                <a:solidFill>
                  <a:srgbClr val="6D28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WORKFLOW TERPADU — DARI DELEGASI HINGGA PUBLIKASI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76238" y="447664"/>
            <a:ext cx="8636000" cy="328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87"/>
              </a:lnSpc>
              <a:buNone/>
            </a:pPr>
            <a:r>
              <a:rPr lang="en-US" sz="2250" b="1" dirty="0">
                <a:solidFill>
                  <a:srgbClr val="1C191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Alur Sistem Pushakin Flows — 8 Langkah Terstruktur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0038146" y="395278"/>
            <a:ext cx="1677311" cy="1059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spc="101" kern="0" dirty="0">
                <a:solidFill>
                  <a:srgbClr val="78716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TAHAP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373608" y="528624"/>
            <a:ext cx="1341848" cy="246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6D28D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 Langkah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6238" y="1023912"/>
            <a:ext cx="11239219" cy="445580"/>
          </a:xfrm>
          <a:prstGeom prst="roundRect">
            <a:avLst>
              <a:gd name="adj" fmla="val 8551"/>
            </a:avLst>
          </a:prstGeom>
          <a:solidFill>
            <a:srgbClr val="FAF5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90525" y="1023912"/>
            <a:ext cx="0" cy="445580"/>
          </a:xfrm>
          <a:prstGeom prst="line">
            <a:avLst/>
          </a:prstGeom>
          <a:noFill/>
          <a:ln w="28574">
            <a:solidFill>
              <a:srgbClr val="6D28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6238" y="1023912"/>
            <a:ext cx="8636000" cy="481227"/>
          </a:xfrm>
          <a:prstGeom prst="rect">
            <a:avLst/>
          </a:prstGeom>
          <a:noFill/>
          <a:ln/>
        </p:spPr>
        <p:txBody>
          <a:bodyPr wrap="square" lIns="114297" tIns="76198" rIns="114297" bIns="76198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4C1D9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Workflow 8-langkah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mengubah surat fisik manual menjadi alur digital terstruktur: Administrator terima surat → Manager inisiasi → sistem auto-buat Surat Tugas → petugas kerjakan 5-tahap → Reviewer QC → Publisher publish → </a:t>
            </a:r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4C1D9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auto-generate Laporan Kegiatan SKP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476238" y="1564740"/>
            <a:ext cx="2080119" cy="551246"/>
          </a:xfrm>
          <a:prstGeom prst="roundRect">
            <a:avLst>
              <a:gd name="adj" fmla="val 10367"/>
            </a:avLst>
          </a:prstGeom>
          <a:solidFill>
            <a:srgbClr val="FFFB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76238" y="1579027"/>
            <a:ext cx="2080119" cy="0"/>
          </a:xfrm>
          <a:prstGeom prst="line">
            <a:avLst/>
          </a:prstGeom>
          <a:noFill/>
          <a:ln w="28574">
            <a:solidFill>
              <a:srgbClr val="D9770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51594" y="1564740"/>
            <a:ext cx="0" cy="551246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6238" y="2111223"/>
            <a:ext cx="2080119" cy="0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1000" y="1564740"/>
            <a:ext cx="0" cy="551246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2911" y="1669512"/>
            <a:ext cx="1946772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78716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🔧</a:t>
            </a:r>
            <a:pPr algn="ctr" indent="0" marL="0">
              <a:buNone/>
            </a:pPr>
            <a:r>
              <a:rPr lang="en-US" sz="800" b="1" spc="60" kern="0" dirty="0">
                <a:solidFill>
                  <a:srgbClr val="78716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ADMINISTRATOR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42911" y="1774285"/>
            <a:ext cx="1946772" cy="1172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990"/>
              </a:lnSpc>
              <a:buNone/>
            </a:pPr>
            <a:r>
              <a:rPr lang="en-US" sz="825" b="1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1. Surat Masuk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542911" y="1918942"/>
            <a:ext cx="1946772" cy="111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78716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Terima &amp; kategorikan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594456" y="1764164"/>
            <a:ext cx="133347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8A29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765902" y="1564740"/>
            <a:ext cx="2080267" cy="551246"/>
          </a:xfrm>
          <a:prstGeom prst="roundRect">
            <a:avLst>
              <a:gd name="adj" fmla="val 10367"/>
            </a:avLst>
          </a:prstGeom>
          <a:solidFill>
            <a:srgbClr val="FAF5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2765902" y="1579027"/>
            <a:ext cx="2080267" cy="0"/>
          </a:xfrm>
          <a:prstGeom prst="line">
            <a:avLst/>
          </a:prstGeom>
          <a:noFill/>
          <a:ln w="28574">
            <a:solidFill>
              <a:srgbClr val="6D28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1407" y="1564740"/>
            <a:ext cx="0" cy="551246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65902" y="2111223"/>
            <a:ext cx="2080267" cy="0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70664" y="1564740"/>
            <a:ext cx="0" cy="551246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32575" y="1669512"/>
            <a:ext cx="1946921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78716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📋</a:t>
            </a:r>
            <a:pPr algn="ctr" indent="0" marL="0">
              <a:buNone/>
            </a:pPr>
            <a:r>
              <a:rPr lang="en-US" sz="800" b="1" spc="60" kern="0" dirty="0">
                <a:solidFill>
                  <a:srgbClr val="78716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MANAGER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832575" y="1774285"/>
            <a:ext cx="1946921" cy="1172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990"/>
              </a:lnSpc>
              <a:buNone/>
            </a:pPr>
            <a:r>
              <a:rPr lang="en-US" sz="825" b="1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2. Inisiasi Proyek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2832575" y="1918942"/>
            <a:ext cx="1946921" cy="111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78716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Form mandatori + assign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84268" y="1764164"/>
            <a:ext cx="133347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8A29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55714" y="1564740"/>
            <a:ext cx="2080119" cy="551246"/>
          </a:xfrm>
          <a:prstGeom prst="roundRect">
            <a:avLst>
              <a:gd name="adj" fmla="val 10367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5055714" y="1579027"/>
            <a:ext cx="2080119" cy="0"/>
          </a:xfrm>
          <a:prstGeom prst="line">
            <a:avLst/>
          </a:prstGeom>
          <a:noFill/>
          <a:ln w="28574">
            <a:solidFill>
              <a:srgbClr val="0284C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31070" y="1564740"/>
            <a:ext cx="0" cy="551246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55714" y="2111223"/>
            <a:ext cx="2080119" cy="0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60476" y="1564740"/>
            <a:ext cx="0" cy="551246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2387" y="1669512"/>
            <a:ext cx="1946772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78716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⚙ SISTEM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122387" y="1774285"/>
            <a:ext cx="1946772" cy="1172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990"/>
              </a:lnSpc>
              <a:buNone/>
            </a:pPr>
            <a:r>
              <a:rPr lang="en-US" sz="825" b="1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3. Surat Tugas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5122387" y="1918942"/>
            <a:ext cx="1946772" cy="111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78716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 bernomor resmi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173931" y="1764164"/>
            <a:ext cx="133347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8A29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345377" y="1564740"/>
            <a:ext cx="2080267" cy="551246"/>
          </a:xfrm>
          <a:prstGeom prst="roundRect">
            <a:avLst>
              <a:gd name="adj" fmla="val 10367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7345377" y="1579027"/>
            <a:ext cx="2080267" cy="0"/>
          </a:xfrm>
          <a:prstGeom prst="line">
            <a:avLst/>
          </a:prstGeom>
          <a:noFill/>
          <a:ln w="28574">
            <a:solidFill>
              <a:srgbClr val="05966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420882" y="1564740"/>
            <a:ext cx="0" cy="551246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45377" y="2111223"/>
            <a:ext cx="2080267" cy="0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350140" y="1564740"/>
            <a:ext cx="0" cy="551246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12051" y="1669512"/>
            <a:ext cx="1946921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78716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📸 15 ROLE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412051" y="1774285"/>
            <a:ext cx="1946921" cy="1172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990"/>
              </a:lnSpc>
              <a:buNone/>
            </a:pPr>
            <a:r>
              <a:rPr lang="en-US" sz="825" b="1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4. 5-Tahap Gating</a:t>
            </a:r>
            <a:endParaRPr lang="en-US" sz="825" dirty="0"/>
          </a:p>
        </p:txBody>
      </p:sp>
      <p:sp>
        <p:nvSpPr>
          <p:cNvPr id="45" name="Text 43"/>
          <p:cNvSpPr/>
          <p:nvPr/>
        </p:nvSpPr>
        <p:spPr>
          <a:xfrm>
            <a:off x="7412051" y="1918942"/>
            <a:ext cx="1946921" cy="111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78716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Produksi→Publikasi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9463744" y="1764164"/>
            <a:ext cx="133347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8A29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9635189" y="1564740"/>
            <a:ext cx="2080267" cy="551246"/>
          </a:xfrm>
          <a:prstGeom prst="roundRect">
            <a:avLst>
              <a:gd name="adj" fmla="val 10367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Shape 46"/>
          <p:cNvSpPr/>
          <p:nvPr/>
        </p:nvSpPr>
        <p:spPr>
          <a:xfrm>
            <a:off x="9635189" y="1579027"/>
            <a:ext cx="2080267" cy="0"/>
          </a:xfrm>
          <a:prstGeom prst="line">
            <a:avLst/>
          </a:prstGeom>
          <a:noFill/>
          <a:ln w="28574">
            <a:solidFill>
              <a:srgbClr val="0284C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710695" y="1564740"/>
            <a:ext cx="0" cy="551246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635189" y="2111223"/>
            <a:ext cx="2080267" cy="0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639952" y="1564740"/>
            <a:ext cx="0" cy="551246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701863" y="1669512"/>
            <a:ext cx="1946921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78716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⚙ SISTEM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9701863" y="1774285"/>
            <a:ext cx="1946921" cy="1172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990"/>
              </a:lnSpc>
              <a:buNone/>
            </a:pPr>
            <a:r>
              <a:rPr lang="en-US" sz="825" b="1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5. Laporan SKP</a:t>
            </a:r>
            <a:endParaRPr lang="en-US" sz="825" dirty="0"/>
          </a:p>
        </p:txBody>
      </p:sp>
      <p:sp>
        <p:nvSpPr>
          <p:cNvPr id="54" name="Text 52"/>
          <p:cNvSpPr/>
          <p:nvPr/>
        </p:nvSpPr>
        <p:spPr>
          <a:xfrm>
            <a:off x="9701863" y="1918942"/>
            <a:ext cx="1946921" cy="111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78716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Auto-generate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81000" y="2215995"/>
            <a:ext cx="5552936" cy="6122934"/>
          </a:xfrm>
          <a:prstGeom prst="roundRect">
            <a:avLst>
              <a:gd name="adj" fmla="val 1372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485763" y="2220758"/>
            <a:ext cx="5543411" cy="228594"/>
          </a:xfrm>
          <a:prstGeom prst="rect">
            <a:avLst/>
          </a:prstGeom>
          <a:solidFill>
            <a:srgbClr val="F5F5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Shape 55"/>
          <p:cNvSpPr/>
          <p:nvPr/>
        </p:nvSpPr>
        <p:spPr>
          <a:xfrm>
            <a:off x="485763" y="2444590"/>
            <a:ext cx="5543411" cy="0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306483" y="2277906"/>
            <a:ext cx="627444" cy="104772"/>
          </a:xfrm>
          <a:prstGeom prst="roundRect">
            <a:avLst>
              <a:gd name="adj" fmla="val 27274"/>
            </a:avLst>
          </a:prstGeom>
          <a:solidFill>
            <a:srgbClr val="6D28D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581010" y="2277906"/>
            <a:ext cx="1940224" cy="120701"/>
          </a:xfrm>
          <a:prstGeom prst="rect">
            <a:avLst/>
          </a:prstGeom>
          <a:noFill/>
          <a:ln/>
        </p:spPr>
        <p:txBody>
          <a:bodyPr wrap="square" lIns="95248" tIns="57149" rIns="95248" bIns="57149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44403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📋</a:t>
            </a:r>
            <a:pPr algn="l" indent="0" marL="0">
              <a:buNone/>
            </a:pPr>
            <a:r>
              <a:rPr lang="en-US" sz="750" b="1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Bukti: Manajemen Surat (Administrator)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5283623" y="2271620"/>
            <a:ext cx="673164" cy="117345"/>
          </a:xfrm>
          <a:prstGeom prst="roundRect">
            <a:avLst>
              <a:gd name="adj" fmla="val 24351"/>
            </a:avLst>
          </a:prstGeom>
          <a:solidFill>
            <a:srgbClr val="6D28D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5288318" y="2277906"/>
            <a:ext cx="663773" cy="1047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LANGKAH 1</a:t>
            </a:r>
            <a:endParaRPr lang="en-US" sz="800" dirty="0"/>
          </a:p>
        </p:txBody>
      </p:sp>
      <p:pic>
        <p:nvPicPr>
          <p:cNvPr id="62" name="Image 0" descr="/tmp/h2p-fit-1791732984934-napyj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763" y="2449352"/>
            <a:ext cx="5543411" cy="5650565"/>
          </a:xfrm>
          <a:prstGeom prst="rect">
            <a:avLst/>
          </a:prstGeom>
        </p:spPr>
      </p:pic>
      <p:sp>
        <p:nvSpPr>
          <p:cNvPr id="63" name="Text 60"/>
          <p:cNvSpPr/>
          <p:nvPr/>
        </p:nvSpPr>
        <p:spPr>
          <a:xfrm>
            <a:off x="485763" y="8099917"/>
            <a:ext cx="5543411" cy="234250"/>
          </a:xfrm>
          <a:prstGeom prst="rect">
            <a:avLst/>
          </a:prstGeom>
          <a:solidFill>
            <a:srgbClr val="FAFA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1"/>
          <p:cNvSpPr/>
          <p:nvPr/>
        </p:nvSpPr>
        <p:spPr>
          <a:xfrm>
            <a:off x="485763" y="8099917"/>
            <a:ext cx="5543411" cy="234250"/>
          </a:xfrm>
          <a:prstGeom prst="rect">
            <a:avLst/>
          </a:prstGeom>
          <a:noFill/>
          <a:ln/>
        </p:spPr>
        <p:txBody>
          <a:bodyPr wrap="square" lIns="95248" tIns="57149" rIns="95248" bIns="57149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Administrator</a:t>
            </a:r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terima surat masuk, kategorikan, teruskan ke Manager</a:t>
            </a:r>
            <a:endParaRPr lang="en-US" sz="800" dirty="0"/>
          </a:p>
        </p:txBody>
      </p:sp>
      <p:sp>
        <p:nvSpPr>
          <p:cNvPr id="65" name="Text 62"/>
          <p:cNvSpPr/>
          <p:nvPr/>
        </p:nvSpPr>
        <p:spPr>
          <a:xfrm>
            <a:off x="6157758" y="2215995"/>
            <a:ext cx="5552936" cy="6122934"/>
          </a:xfrm>
          <a:prstGeom prst="roundRect">
            <a:avLst>
              <a:gd name="adj" fmla="val 1372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3"/>
          <p:cNvSpPr/>
          <p:nvPr/>
        </p:nvSpPr>
        <p:spPr>
          <a:xfrm>
            <a:off x="6162521" y="2220758"/>
            <a:ext cx="5543411" cy="228594"/>
          </a:xfrm>
          <a:prstGeom prst="rect">
            <a:avLst/>
          </a:prstGeom>
          <a:solidFill>
            <a:srgbClr val="F5F5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Shape 64"/>
          <p:cNvSpPr/>
          <p:nvPr/>
        </p:nvSpPr>
        <p:spPr>
          <a:xfrm>
            <a:off x="6162521" y="2444590"/>
            <a:ext cx="5543411" cy="0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10983241" y="2277906"/>
            <a:ext cx="627444" cy="104772"/>
          </a:xfrm>
          <a:prstGeom prst="roundRect">
            <a:avLst>
              <a:gd name="adj" fmla="val 27274"/>
            </a:avLst>
          </a:prstGeom>
          <a:solidFill>
            <a:srgbClr val="6D28D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6"/>
          <p:cNvSpPr/>
          <p:nvPr/>
        </p:nvSpPr>
        <p:spPr>
          <a:xfrm>
            <a:off x="6257768" y="2277906"/>
            <a:ext cx="1585873" cy="120701"/>
          </a:xfrm>
          <a:prstGeom prst="rect">
            <a:avLst/>
          </a:prstGeom>
          <a:noFill/>
          <a:ln/>
        </p:spPr>
        <p:txBody>
          <a:bodyPr wrap="square" lIns="95248" tIns="57149" rIns="95248" bIns="57149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44403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🎯</a:t>
            </a:r>
            <a:pPr algn="l" indent="0" marL="0">
              <a:buNone/>
            </a:pPr>
            <a:r>
              <a:rPr lang="en-US" sz="750" b="1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Bukti: Inisiasi Proyek (Manager)</a:t>
            </a:r>
            <a:endParaRPr lang="en-US" sz="750" dirty="0"/>
          </a:p>
        </p:txBody>
      </p:sp>
      <p:sp>
        <p:nvSpPr>
          <p:cNvPr id="70" name="Text 67"/>
          <p:cNvSpPr/>
          <p:nvPr/>
        </p:nvSpPr>
        <p:spPr>
          <a:xfrm>
            <a:off x="10960381" y="2271620"/>
            <a:ext cx="673164" cy="117345"/>
          </a:xfrm>
          <a:prstGeom prst="roundRect">
            <a:avLst>
              <a:gd name="adj" fmla="val 24351"/>
            </a:avLst>
          </a:prstGeom>
          <a:solidFill>
            <a:srgbClr val="6D28D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8"/>
          <p:cNvSpPr/>
          <p:nvPr/>
        </p:nvSpPr>
        <p:spPr>
          <a:xfrm>
            <a:off x="10965076" y="2277906"/>
            <a:ext cx="663773" cy="1047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LANGKAH 2</a:t>
            </a:r>
            <a:endParaRPr lang="en-US" sz="800" dirty="0"/>
          </a:p>
        </p:txBody>
      </p:sp>
      <p:pic>
        <p:nvPicPr>
          <p:cNvPr id="72" name="Image 1" descr="/tmp/h2p-fit-1791732984935-0ouu5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2521" y="2449352"/>
            <a:ext cx="5543411" cy="5650565"/>
          </a:xfrm>
          <a:prstGeom prst="rect">
            <a:avLst/>
          </a:prstGeom>
        </p:spPr>
      </p:pic>
      <p:sp>
        <p:nvSpPr>
          <p:cNvPr id="73" name="Text 69"/>
          <p:cNvSpPr/>
          <p:nvPr/>
        </p:nvSpPr>
        <p:spPr>
          <a:xfrm>
            <a:off x="6162521" y="8099917"/>
            <a:ext cx="5543411" cy="234250"/>
          </a:xfrm>
          <a:prstGeom prst="rect">
            <a:avLst/>
          </a:prstGeom>
          <a:solidFill>
            <a:srgbClr val="FAFA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0"/>
          <p:cNvSpPr/>
          <p:nvPr/>
        </p:nvSpPr>
        <p:spPr>
          <a:xfrm>
            <a:off x="6162521" y="8099917"/>
            <a:ext cx="5543411" cy="234250"/>
          </a:xfrm>
          <a:prstGeom prst="rect">
            <a:avLst/>
          </a:prstGeom>
          <a:noFill/>
          <a:ln/>
        </p:spPr>
        <p:txBody>
          <a:bodyPr wrap="square" lIns="95248" tIns="57149" rIns="95248" bIns="57149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Manager</a:t>
            </a:r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lihat Inbox Surat Tugas + form inisiasi proyek dengan field mandatori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857228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76238" y="881040"/>
            <a:ext cx="11239219" cy="0"/>
          </a:xfrm>
          <a:prstGeom prst="line">
            <a:avLst/>
          </a:prstGeom>
          <a:noFill/>
          <a:ln w="19050">
            <a:solidFill>
              <a:srgbClr val="E7E5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6238" y="304792"/>
            <a:ext cx="8636000" cy="1154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87" kern="0" dirty="0">
                <a:solidFill>
                  <a:srgbClr val="6D28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USER-TO-USER CONNECTION — 15 ROLE TERHUBUNG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76238" y="447664"/>
            <a:ext cx="8636000" cy="328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87"/>
              </a:lnSpc>
              <a:buNone/>
            </a:pPr>
            <a:r>
              <a:rPr lang="en-US" sz="2250" b="1" dirty="0">
                <a:solidFill>
                  <a:srgbClr val="1C191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Bagaimana User Saling Terhubung via Sistem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1259459" y="395278"/>
            <a:ext cx="455998" cy="1059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spc="101" kern="0" dirty="0">
                <a:solidFill>
                  <a:srgbClr val="78716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59459" y="528624"/>
            <a:ext cx="455998" cy="246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6D28D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6238" y="1023912"/>
            <a:ext cx="2080119" cy="627444"/>
          </a:xfrm>
          <a:prstGeom prst="roundRect">
            <a:avLst>
              <a:gd name="adj" fmla="val 9108"/>
            </a:avLst>
          </a:prstGeom>
          <a:solidFill>
            <a:srgbClr val="FAF5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76238" y="1038199"/>
            <a:ext cx="2080119" cy="0"/>
          </a:xfrm>
          <a:prstGeom prst="line">
            <a:avLst/>
          </a:prstGeom>
          <a:noFill/>
          <a:ln w="28574">
            <a:solidFill>
              <a:srgbClr val="6D28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51594" y="1023912"/>
            <a:ext cx="0" cy="627444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6238" y="1646593"/>
            <a:ext cx="2080119" cy="0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1000" y="1023912"/>
            <a:ext cx="0" cy="627444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2911" y="1147734"/>
            <a:ext cx="1946772" cy="963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78716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📋</a:t>
            </a:r>
            <a:pPr algn="ctr" indent="0" marL="0">
              <a:buNone/>
            </a:pPr>
            <a:r>
              <a:rPr lang="en-US" sz="800" b="1" spc="60" kern="0" dirty="0">
                <a:solidFill>
                  <a:srgbClr val="78716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MANAGER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42911" y="1271556"/>
            <a:ext cx="1946772" cy="135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90"/>
              </a:lnSpc>
              <a:buNone/>
            </a:pPr>
            <a:r>
              <a:rPr lang="en-US" sz="825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Inisiasi &amp; Delegasi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542911" y="1435263"/>
            <a:ext cx="2024643" cy="111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78716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Buat proyek, assign petugas per role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594456" y="1261436"/>
            <a:ext cx="133347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8A29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65902" y="1023912"/>
            <a:ext cx="2080267" cy="627444"/>
          </a:xfrm>
          <a:prstGeom prst="roundRect">
            <a:avLst>
              <a:gd name="adj" fmla="val 9108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2765902" y="1038199"/>
            <a:ext cx="2080267" cy="0"/>
          </a:xfrm>
          <a:prstGeom prst="line">
            <a:avLst/>
          </a:prstGeom>
          <a:noFill/>
          <a:ln w="28574">
            <a:solidFill>
              <a:srgbClr val="05966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1407" y="1023912"/>
            <a:ext cx="0" cy="627444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65902" y="1646593"/>
            <a:ext cx="2080267" cy="0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70664" y="1023912"/>
            <a:ext cx="0" cy="627444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32575" y="1147734"/>
            <a:ext cx="1946921" cy="963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78716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📸</a:t>
            </a:r>
            <a:pPr algn="ctr" indent="0" marL="0">
              <a:buNone/>
            </a:pPr>
            <a:r>
              <a:rPr lang="en-US" sz="800" b="1" spc="60" kern="0" dirty="0">
                <a:solidFill>
                  <a:srgbClr val="78716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REPORTER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832575" y="1271556"/>
            <a:ext cx="1946921" cy="135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90"/>
              </a:lnSpc>
              <a:buNone/>
            </a:pPr>
            <a:r>
              <a:rPr lang="en-US" sz="825" b="1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Tahap 1: Produksi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2832575" y="1435263"/>
            <a:ext cx="2024798" cy="111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78716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Upload file mentah ke Drive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84268" y="1261436"/>
            <a:ext cx="133347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8A29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55714" y="1023912"/>
            <a:ext cx="2080119" cy="627444"/>
          </a:xfrm>
          <a:prstGeom prst="roundRect">
            <a:avLst>
              <a:gd name="adj" fmla="val 9108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5055714" y="1038199"/>
            <a:ext cx="2080119" cy="0"/>
          </a:xfrm>
          <a:prstGeom prst="line">
            <a:avLst/>
          </a:prstGeom>
          <a:noFill/>
          <a:ln w="28574">
            <a:solidFill>
              <a:srgbClr val="0284C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31070" y="1023912"/>
            <a:ext cx="0" cy="627444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55714" y="1646593"/>
            <a:ext cx="2080119" cy="0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60476" y="1023912"/>
            <a:ext cx="0" cy="627444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2387" y="1147734"/>
            <a:ext cx="1946772" cy="963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78716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✏️ EDITOR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122387" y="1271556"/>
            <a:ext cx="1946772" cy="135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90"/>
              </a:lnSpc>
              <a:buNone/>
            </a:pPr>
            <a:r>
              <a:rPr lang="en-US" sz="825" b="1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Tahap 2: Pasca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5122387" y="1435263"/>
            <a:ext cx="2024643" cy="111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78716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Download, edit, upload hasil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173931" y="1261436"/>
            <a:ext cx="133347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8A29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345377" y="1023912"/>
            <a:ext cx="2080267" cy="627444"/>
          </a:xfrm>
          <a:prstGeom prst="roundRect">
            <a:avLst>
              <a:gd name="adj" fmla="val 9108"/>
            </a:avLst>
          </a:prstGeom>
          <a:solidFill>
            <a:srgbClr val="FFFB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7345377" y="1038199"/>
            <a:ext cx="2080267" cy="0"/>
          </a:xfrm>
          <a:prstGeom prst="line">
            <a:avLst/>
          </a:prstGeom>
          <a:noFill/>
          <a:ln w="28574">
            <a:solidFill>
              <a:srgbClr val="D9770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420882" y="1023912"/>
            <a:ext cx="0" cy="627444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45377" y="1646593"/>
            <a:ext cx="2080267" cy="0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350140" y="1023912"/>
            <a:ext cx="0" cy="627444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12051" y="1147734"/>
            <a:ext cx="1946921" cy="963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78716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 REVIEWER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412051" y="1271556"/>
            <a:ext cx="1946921" cy="135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90"/>
              </a:lnSpc>
              <a:buNone/>
            </a:pPr>
            <a:r>
              <a:rPr lang="en-US" sz="825" b="1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Tahap 3: Review</a:t>
            </a:r>
            <a:endParaRPr lang="en-US" sz="825" dirty="0"/>
          </a:p>
        </p:txBody>
      </p:sp>
      <p:sp>
        <p:nvSpPr>
          <p:cNvPr id="42" name="Text 40"/>
          <p:cNvSpPr/>
          <p:nvPr/>
        </p:nvSpPr>
        <p:spPr>
          <a:xfrm>
            <a:off x="7412051" y="1435263"/>
            <a:ext cx="1946921" cy="111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78716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QC, setuju/tolak + revisi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9463744" y="1261436"/>
            <a:ext cx="133347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8A29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9635189" y="1023912"/>
            <a:ext cx="2080267" cy="627444"/>
          </a:xfrm>
          <a:prstGeom prst="roundRect">
            <a:avLst>
              <a:gd name="adj" fmla="val 9108"/>
            </a:avLst>
          </a:prstGeom>
          <a:solidFill>
            <a:srgbClr val="FFF1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9635189" y="1038199"/>
            <a:ext cx="2080267" cy="0"/>
          </a:xfrm>
          <a:prstGeom prst="line">
            <a:avLst/>
          </a:prstGeom>
          <a:noFill/>
          <a:ln w="28574">
            <a:solidFill>
              <a:srgbClr val="E11D4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710695" y="1023912"/>
            <a:ext cx="0" cy="627444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635189" y="1646593"/>
            <a:ext cx="2080267" cy="0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639952" y="1023912"/>
            <a:ext cx="0" cy="627444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701863" y="1147734"/>
            <a:ext cx="1946921" cy="963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78716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🌐</a:t>
            </a:r>
            <a:pPr algn="ctr" indent="0" marL="0">
              <a:buNone/>
            </a:pPr>
            <a:r>
              <a:rPr lang="en-US" sz="800" b="1" spc="60" kern="0" dirty="0">
                <a:solidFill>
                  <a:srgbClr val="78716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PUBLISHER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9701863" y="1271556"/>
            <a:ext cx="1946921" cy="135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90"/>
              </a:lnSpc>
              <a:buNone/>
            </a:pPr>
            <a:r>
              <a:rPr lang="en-US" sz="825" b="1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Tahap 4: Publikasi</a:t>
            </a:r>
            <a:endParaRPr lang="en-US" sz="825" dirty="0"/>
          </a:p>
        </p:txBody>
      </p:sp>
      <p:sp>
        <p:nvSpPr>
          <p:cNvPr id="51" name="Text 49"/>
          <p:cNvSpPr/>
          <p:nvPr/>
        </p:nvSpPr>
        <p:spPr>
          <a:xfrm>
            <a:off x="9701863" y="1435263"/>
            <a:ext cx="1946921" cy="111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78716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Publish ke 14 platform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81000" y="1770415"/>
            <a:ext cx="2743131" cy="725668"/>
          </a:xfrm>
          <a:prstGeom prst="roundRect">
            <a:avLst>
              <a:gd name="adj" fmla="val 7876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581010" y="1851376"/>
            <a:ext cx="2543111" cy="172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925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📨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81010" y="2051396"/>
            <a:ext cx="2543111" cy="963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Surat Tugas Otomatis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81010" y="2175217"/>
            <a:ext cx="2543111" cy="239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Bernomor resmi ("ST/001/I/2026"), kirim ke Inbox tiap user saat ditugaskan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3309855" y="1770415"/>
            <a:ext cx="2743131" cy="725668"/>
          </a:xfrm>
          <a:prstGeom prst="roundRect">
            <a:avLst>
              <a:gd name="adj" fmla="val 7876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3409865" y="1851376"/>
            <a:ext cx="2543111" cy="172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925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💬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3409865" y="2051396"/>
            <a:ext cx="2543111" cy="963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WA Notifikasi Otomatis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3409865" y="2175217"/>
            <a:ext cx="2543111" cy="239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 trigger: Tugas Baru, Stage Advance, Review Reject — via UltraMsg GRATIS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138709" y="1770415"/>
            <a:ext cx="2743131" cy="725668"/>
          </a:xfrm>
          <a:prstGeom prst="roundRect">
            <a:avLst>
              <a:gd name="adj" fmla="val 7876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6238719" y="1851376"/>
            <a:ext cx="2543111" cy="172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925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📁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6238719" y="2051396"/>
            <a:ext cx="2543111" cy="963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Drive Folder Sharing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238719" y="2175217"/>
            <a:ext cx="2543111" cy="153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Subfolder per role + DL/UL policy otomatis, file sharing antar tahap</a:t>
            </a:r>
            <a:endParaRPr lang="en-US" sz="675" dirty="0"/>
          </a:p>
        </p:txBody>
      </p:sp>
      <p:sp>
        <p:nvSpPr>
          <p:cNvPr id="64" name="Text 62"/>
          <p:cNvSpPr/>
          <p:nvPr/>
        </p:nvSpPr>
        <p:spPr>
          <a:xfrm>
            <a:off x="8967563" y="1770415"/>
            <a:ext cx="2743131" cy="725668"/>
          </a:xfrm>
          <a:prstGeom prst="roundRect">
            <a:avLst>
              <a:gd name="adj" fmla="val 7876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9067573" y="1851376"/>
            <a:ext cx="2543111" cy="172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925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📊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9067573" y="2051396"/>
            <a:ext cx="2543111" cy="963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Stage Advance Gating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9067573" y="2175217"/>
            <a:ext cx="2543111" cy="239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Sistem auto-advance saat semua task currentStage selesai, notif petugas next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481000" y="2619905"/>
            <a:ext cx="5562461" cy="5719024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485763" y="2624667"/>
            <a:ext cx="5552936" cy="228594"/>
          </a:xfrm>
          <a:prstGeom prst="rect">
            <a:avLst/>
          </a:prstGeom>
          <a:solidFill>
            <a:srgbClr val="F5F5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Shape 68"/>
          <p:cNvSpPr/>
          <p:nvPr/>
        </p:nvSpPr>
        <p:spPr>
          <a:xfrm>
            <a:off x="485763" y="2848499"/>
            <a:ext cx="5552936" cy="0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349791" y="2681816"/>
            <a:ext cx="593661" cy="104772"/>
          </a:xfrm>
          <a:prstGeom prst="roundRect">
            <a:avLst>
              <a:gd name="adj" fmla="val 27274"/>
            </a:avLst>
          </a:prstGeom>
          <a:solidFill>
            <a:srgbClr val="6D28D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581010" y="2681816"/>
            <a:ext cx="1499108" cy="120701"/>
          </a:xfrm>
          <a:prstGeom prst="rect">
            <a:avLst/>
          </a:prstGeom>
          <a:noFill/>
          <a:ln/>
        </p:spPr>
        <p:txBody>
          <a:bodyPr wrap="none" lIns="95248" tIns="57149" rIns="95248" bIns="57149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44403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📥</a:t>
            </a:r>
            <a:pPr algn="l" indent="0" marL="0">
              <a:buNone/>
            </a:pPr>
            <a:r>
              <a:rPr lang="en-US" sz="750" b="1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Bukti: Inbox Surat Tugas User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5326931" y="2675529"/>
            <a:ext cx="639381" cy="117345"/>
          </a:xfrm>
          <a:prstGeom prst="roundRect">
            <a:avLst>
              <a:gd name="adj" fmla="val 24351"/>
            </a:avLst>
          </a:prstGeom>
          <a:solidFill>
            <a:srgbClr val="6D28D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5314734" y="2681816"/>
            <a:ext cx="663773" cy="1047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KONEKSI 1</a:t>
            </a:r>
            <a:endParaRPr lang="en-US" sz="800" dirty="0"/>
          </a:p>
        </p:txBody>
      </p:sp>
      <p:pic>
        <p:nvPicPr>
          <p:cNvPr id="75" name="Image 0" descr="/tmp/h2p-fit-1791732985395-b4cm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763" y="2853261"/>
            <a:ext cx="5552936" cy="5246655"/>
          </a:xfrm>
          <a:prstGeom prst="rect">
            <a:avLst/>
          </a:prstGeom>
        </p:spPr>
      </p:pic>
      <p:sp>
        <p:nvSpPr>
          <p:cNvPr id="76" name="Text 73"/>
          <p:cNvSpPr/>
          <p:nvPr/>
        </p:nvSpPr>
        <p:spPr>
          <a:xfrm>
            <a:off x="485763" y="8099917"/>
            <a:ext cx="5552936" cy="234250"/>
          </a:xfrm>
          <a:prstGeom prst="rect">
            <a:avLst/>
          </a:prstGeom>
          <a:solidFill>
            <a:srgbClr val="FAFA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74"/>
          <p:cNvSpPr/>
          <p:nvPr/>
        </p:nvSpPr>
        <p:spPr>
          <a:xfrm>
            <a:off x="485763" y="8099917"/>
            <a:ext cx="5552936" cy="234250"/>
          </a:xfrm>
          <a:prstGeom prst="rect">
            <a:avLst/>
          </a:prstGeom>
          <a:noFill/>
          <a:ln/>
        </p:spPr>
        <p:txBody>
          <a:bodyPr wrap="square" lIns="95248" tIns="57149" rIns="95248" bIns="57149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Setiap user</a:t>
            </a:r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terima Surat Tugas di Inbox dengan nomor resmi → klik link → buka proyek</a:t>
            </a:r>
            <a:endParaRPr lang="en-US" sz="800" dirty="0"/>
          </a:p>
        </p:txBody>
      </p:sp>
      <p:sp>
        <p:nvSpPr>
          <p:cNvPr id="78" name="Text 75"/>
          <p:cNvSpPr/>
          <p:nvPr/>
        </p:nvSpPr>
        <p:spPr>
          <a:xfrm>
            <a:off x="6148234" y="2619905"/>
            <a:ext cx="5562461" cy="5719024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6"/>
          <p:cNvSpPr/>
          <p:nvPr/>
        </p:nvSpPr>
        <p:spPr>
          <a:xfrm>
            <a:off x="6152996" y="2624667"/>
            <a:ext cx="5552936" cy="228594"/>
          </a:xfrm>
          <a:prstGeom prst="rect">
            <a:avLst/>
          </a:prstGeom>
          <a:solidFill>
            <a:srgbClr val="F5F5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Shape 77"/>
          <p:cNvSpPr/>
          <p:nvPr/>
        </p:nvSpPr>
        <p:spPr>
          <a:xfrm>
            <a:off x="6152996" y="2848499"/>
            <a:ext cx="5552936" cy="0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11017024" y="2681816"/>
            <a:ext cx="593661" cy="104772"/>
          </a:xfrm>
          <a:prstGeom prst="roundRect">
            <a:avLst>
              <a:gd name="adj" fmla="val 27274"/>
            </a:avLst>
          </a:prstGeom>
          <a:solidFill>
            <a:srgbClr val="6D28D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2" name="Text 79"/>
          <p:cNvSpPr/>
          <p:nvPr/>
        </p:nvSpPr>
        <p:spPr>
          <a:xfrm>
            <a:off x="6248244" y="2681816"/>
            <a:ext cx="1633645" cy="120701"/>
          </a:xfrm>
          <a:prstGeom prst="rect">
            <a:avLst/>
          </a:prstGeom>
          <a:noFill/>
          <a:ln/>
        </p:spPr>
        <p:txBody>
          <a:bodyPr wrap="square" lIns="95248" tIns="57149" rIns="95248" bIns="57149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44403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📊</a:t>
            </a:r>
            <a:pPr algn="l" indent="0" marL="0">
              <a:buNone/>
            </a:pPr>
            <a:r>
              <a:rPr lang="en-US" sz="750" b="1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Bukti: Statistik Evaluasi per User</a:t>
            </a:r>
            <a:endParaRPr lang="en-US" sz="750" dirty="0"/>
          </a:p>
        </p:txBody>
      </p:sp>
      <p:sp>
        <p:nvSpPr>
          <p:cNvPr id="83" name="Text 80"/>
          <p:cNvSpPr/>
          <p:nvPr/>
        </p:nvSpPr>
        <p:spPr>
          <a:xfrm>
            <a:off x="10994164" y="2675529"/>
            <a:ext cx="639381" cy="117345"/>
          </a:xfrm>
          <a:prstGeom prst="roundRect">
            <a:avLst>
              <a:gd name="adj" fmla="val 24351"/>
            </a:avLst>
          </a:prstGeom>
          <a:solidFill>
            <a:srgbClr val="6D28D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Text 81"/>
          <p:cNvSpPr/>
          <p:nvPr/>
        </p:nvSpPr>
        <p:spPr>
          <a:xfrm>
            <a:off x="10981968" y="2681816"/>
            <a:ext cx="663773" cy="1047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KONEKSI 2</a:t>
            </a:r>
            <a:endParaRPr lang="en-US" sz="800" dirty="0"/>
          </a:p>
        </p:txBody>
      </p:sp>
      <p:pic>
        <p:nvPicPr>
          <p:cNvPr id="85" name="Image 1" descr="/tmp/h2p-fit-1791732985397-tgu8w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2996" y="2853261"/>
            <a:ext cx="5552936" cy="5246655"/>
          </a:xfrm>
          <a:prstGeom prst="rect">
            <a:avLst/>
          </a:prstGeom>
        </p:spPr>
      </p:pic>
      <p:sp>
        <p:nvSpPr>
          <p:cNvPr id="86" name="Text 82"/>
          <p:cNvSpPr/>
          <p:nvPr/>
        </p:nvSpPr>
        <p:spPr>
          <a:xfrm>
            <a:off x="6152996" y="8099917"/>
            <a:ext cx="5552936" cy="234250"/>
          </a:xfrm>
          <a:prstGeom prst="rect">
            <a:avLst/>
          </a:prstGeom>
          <a:solidFill>
            <a:srgbClr val="FAFA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Text 83"/>
          <p:cNvSpPr/>
          <p:nvPr/>
        </p:nvSpPr>
        <p:spPr>
          <a:xfrm>
            <a:off x="6152996" y="8099917"/>
            <a:ext cx="5552936" cy="234250"/>
          </a:xfrm>
          <a:prstGeom prst="rect">
            <a:avLst/>
          </a:prstGeom>
          <a:noFill/>
          <a:ln/>
        </p:spPr>
        <p:txBody>
          <a:bodyPr wrap="square" lIns="95248" tIns="57149" rIns="95248" bIns="57149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Statistik per user</a:t>
            </a:r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: completion, duration, revisions — ukur kinerja tiap role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857228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76238" y="881040"/>
            <a:ext cx="11239219" cy="0"/>
          </a:xfrm>
          <a:prstGeom prst="line">
            <a:avLst/>
          </a:prstGeom>
          <a:noFill/>
          <a:ln w="19050">
            <a:solidFill>
              <a:srgbClr val="E7E5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6238" y="304792"/>
            <a:ext cx="8636000" cy="1154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87" kern="0" dirty="0">
                <a:solidFill>
                  <a:srgbClr val="6D28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LIHUM — LIHAT &amp; UNDAH MANDIRI (KHUSUS)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76238" y="447664"/>
            <a:ext cx="8636000" cy="328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87"/>
              </a:lnSpc>
              <a:buNone/>
            </a:pPr>
            <a:r>
              <a:rPr lang="en-US" sz="2250" b="1" dirty="0">
                <a:solidFill>
                  <a:srgbClr val="1C191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Portal Galeri Foto Publik — Embedded di Web UIN Antasari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7275727" y="395278"/>
            <a:ext cx="4439730" cy="1059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spc="101" kern="0" dirty="0">
                <a:solidFill>
                  <a:srgbClr val="78716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URL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718639" y="528624"/>
            <a:ext cx="2996817" cy="246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6D28D9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lihum.synclicen.workers.dev</a:t>
            </a:r>
            <a:endParaRPr lang="en-US" sz="1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38" y="1023912"/>
            <a:ext cx="2752656" cy="52564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90525" y="1023912"/>
            <a:ext cx="0" cy="525648"/>
          </a:xfrm>
          <a:prstGeom prst="line">
            <a:avLst/>
          </a:prstGeom>
          <a:noFill/>
          <a:ln w="28574">
            <a:solidFill>
              <a:srgbClr val="6D28D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0060" y="1100110"/>
            <a:ext cx="2533587" cy="1059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1D9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📸</a:t>
            </a:r>
            <a:pPr algn="l" indent="0" marL="0">
              <a:buNone/>
            </a:pPr>
            <a:r>
              <a:rPr lang="en-US" sz="800" b="1" dirty="0">
                <a:solidFill>
                  <a:srgbClr val="4C1D9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Apa itu LIHUM?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00060" y="1233457"/>
            <a:ext cx="2533587" cy="239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Galeri foto publik otomatis dari folder </a:t>
            </a:r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PUBLIC</a:t>
            </a:r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44403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proyek. 1-klik publish.</a:t>
            </a:r>
            <a:endParaRPr lang="en-US" sz="8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5092" y="1023912"/>
            <a:ext cx="2752656" cy="52564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319379" y="1023912"/>
            <a:ext cx="0" cy="525648"/>
          </a:xfrm>
          <a:prstGeom prst="line">
            <a:avLst/>
          </a:prstGeom>
          <a:noFill/>
          <a:ln w="28574">
            <a:solidFill>
              <a:srgbClr val="6D28D9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428914" y="1100110"/>
            <a:ext cx="2533587" cy="1059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1D9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🔧</a:t>
            </a:r>
            <a:pPr algn="l" indent="0" marL="0">
              <a:buNone/>
            </a:pPr>
            <a:r>
              <a:rPr lang="en-US" sz="800" b="1" dirty="0">
                <a:solidFill>
                  <a:srgbClr val="4C1D9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Cara Kerja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3428914" y="1233457"/>
            <a:ext cx="2533587" cy="239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Manager klik "Publish ke LIHUM" → auto-buat gallery dengan nama &amp; deskripsi proyek.</a:t>
            </a:r>
            <a:endParaRPr lang="en-US" sz="8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3947" y="1023912"/>
            <a:ext cx="2752656" cy="52564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148234" y="1023912"/>
            <a:ext cx="0" cy="525648"/>
          </a:xfrm>
          <a:prstGeom prst="line">
            <a:avLst/>
          </a:prstGeom>
          <a:noFill/>
          <a:ln w="28574">
            <a:solidFill>
              <a:srgbClr val="6D28D9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257768" y="1100110"/>
            <a:ext cx="2533587" cy="1059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1D9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🔒</a:t>
            </a:r>
            <a:pPr algn="l" indent="0" marL="0">
              <a:buNone/>
            </a:pPr>
            <a:r>
              <a:rPr lang="en-US" sz="800" b="1" dirty="0">
                <a:solidFill>
                  <a:srgbClr val="4C1D9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Privasi Terjaga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6257768" y="1233457"/>
            <a:ext cx="2533587" cy="239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Hanya folder </a:t>
            </a:r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PUBLIC</a:t>
            </a:r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di-share. Folder </a:t>
            </a:r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PRIVATE</a:t>
            </a:r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tidak pernah dipublikasikan.</a:t>
            </a:r>
            <a:endParaRPr lang="en-US" sz="8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2801" y="1023912"/>
            <a:ext cx="2752656" cy="525648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8977088" y="1023912"/>
            <a:ext cx="0" cy="525648"/>
          </a:xfrm>
          <a:prstGeom prst="line">
            <a:avLst/>
          </a:prstGeom>
          <a:noFill/>
          <a:ln w="28574">
            <a:solidFill>
              <a:srgbClr val="6D28D9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9086623" y="1100110"/>
            <a:ext cx="2533587" cy="1059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1D9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📊</a:t>
            </a:r>
            <a:pPr algn="l" indent="0" marL="0">
              <a:buNone/>
            </a:pPr>
            <a:r>
              <a:rPr lang="en-US" sz="800" b="1" dirty="0">
                <a:solidFill>
                  <a:srgbClr val="4C1D9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Statistik</a:t>
            </a:r>
            <a:endParaRPr lang="en-US" sz="800" dirty="0"/>
          </a:p>
        </p:txBody>
      </p:sp>
      <p:sp>
        <p:nvSpPr>
          <p:cNvPr id="23" name="Text 17"/>
          <p:cNvSpPr/>
          <p:nvPr/>
        </p:nvSpPr>
        <p:spPr>
          <a:xfrm>
            <a:off x="9086623" y="1233457"/>
            <a:ext cx="2533587" cy="153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54 galeri</a:t>
            </a:r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aktif, ribuan foto kegiatan, publik tanpa login.</a:t>
            </a:r>
            <a:endParaRPr lang="en-US" sz="675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38" y="1644807"/>
            <a:ext cx="11239219" cy="361941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90525" y="1644807"/>
            <a:ext cx="0" cy="361941"/>
          </a:xfrm>
          <a:prstGeom prst="line">
            <a:avLst/>
          </a:prstGeom>
          <a:noFill/>
          <a:ln w="28574">
            <a:solidFill>
              <a:srgbClr val="059669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619110" y="1721005"/>
            <a:ext cx="209545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925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🌐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923902" y="1754342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04785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Embedded di Web UIN Antasari</a:t>
            </a:r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LIHUM di-embed via </a:t>
            </a:r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04785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iframe</a:t>
            </a:r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di website resmi </a:t>
            </a:r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04785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uin-antasari.ac.id</a:t>
            </a:r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sebagai </a:t>
            </a:r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04785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portal kehumasan publik</a:t>
            </a:r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Masyarakat dapat melihat &amp; mengunduh foto kegiatan tanpa login.</a:t>
            </a:r>
            <a:endParaRPr lang="en-US" sz="750" dirty="0"/>
          </a:p>
        </p:txBody>
      </p:sp>
      <p:sp>
        <p:nvSpPr>
          <p:cNvPr id="28" name="Text 21"/>
          <p:cNvSpPr/>
          <p:nvPr/>
        </p:nvSpPr>
        <p:spPr>
          <a:xfrm>
            <a:off x="481000" y="2106758"/>
            <a:ext cx="11229694" cy="6232171"/>
          </a:xfrm>
          <a:prstGeom prst="roundRect">
            <a:avLst>
              <a:gd name="adj" fmla="val 1223"/>
            </a:avLst>
          </a:prstGeom>
          <a:noFill/>
          <a:ln w="9525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2"/>
          <p:cNvSpPr/>
          <p:nvPr/>
        </p:nvSpPr>
        <p:spPr>
          <a:xfrm>
            <a:off x="485763" y="2111521"/>
            <a:ext cx="11220169" cy="228594"/>
          </a:xfrm>
          <a:prstGeom prst="rect">
            <a:avLst/>
          </a:prstGeom>
          <a:solidFill>
            <a:srgbClr val="F5F5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3"/>
          <p:cNvSpPr/>
          <p:nvPr/>
        </p:nvSpPr>
        <p:spPr>
          <a:xfrm>
            <a:off x="485763" y="2335353"/>
            <a:ext cx="11220169" cy="0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11296516" y="2168669"/>
            <a:ext cx="314168" cy="104772"/>
          </a:xfrm>
          <a:prstGeom prst="roundRect">
            <a:avLst>
              <a:gd name="adj" fmla="val 27274"/>
            </a:avLst>
          </a:prstGeom>
          <a:solidFill>
            <a:srgbClr val="6D28D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5"/>
          <p:cNvSpPr/>
          <p:nvPr/>
        </p:nvSpPr>
        <p:spPr>
          <a:xfrm>
            <a:off x="581010" y="2168669"/>
            <a:ext cx="2845523" cy="120701"/>
          </a:xfrm>
          <a:prstGeom prst="rect">
            <a:avLst/>
          </a:prstGeom>
          <a:noFill/>
          <a:ln/>
        </p:spPr>
        <p:txBody>
          <a:bodyPr wrap="square" lIns="95248" tIns="57149" rIns="95248" bIns="57149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44403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📸</a:t>
            </a:r>
            <a:pPr algn="l" indent="0" marL="0">
              <a:buNone/>
            </a:pPr>
            <a:r>
              <a:rPr lang="en-US" sz="750" b="1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Bukti: LIHUM Gallery Publik — lihum.synclicen.workers.dev</a:t>
            </a:r>
            <a:endParaRPr lang="en-US" sz="750" dirty="0"/>
          </a:p>
        </p:txBody>
      </p:sp>
      <p:sp>
        <p:nvSpPr>
          <p:cNvPr id="33" name="Text 26"/>
          <p:cNvSpPr/>
          <p:nvPr/>
        </p:nvSpPr>
        <p:spPr>
          <a:xfrm>
            <a:off x="11283949" y="2162383"/>
            <a:ext cx="339302" cy="117345"/>
          </a:xfrm>
          <a:prstGeom prst="roundRect">
            <a:avLst>
              <a:gd name="adj" fmla="val 24351"/>
            </a:avLst>
          </a:prstGeom>
          <a:solidFill>
            <a:srgbClr val="6D28D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7"/>
          <p:cNvSpPr/>
          <p:nvPr/>
        </p:nvSpPr>
        <p:spPr>
          <a:xfrm>
            <a:off x="11287159" y="2168669"/>
            <a:ext cx="332882" cy="1047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</a:t>
            </a:r>
            <a:endParaRPr lang="en-US" sz="800" dirty="0"/>
          </a:p>
        </p:txBody>
      </p:sp>
      <p:pic>
        <p:nvPicPr>
          <p:cNvPr id="35" name="Image 5" descr="/tmp/h2p-fit-1791732985741-v8v1oz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63" y="2340115"/>
            <a:ext cx="11220169" cy="59940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857228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76238" y="881040"/>
            <a:ext cx="11239219" cy="0"/>
          </a:xfrm>
          <a:prstGeom prst="line">
            <a:avLst/>
          </a:prstGeom>
          <a:noFill/>
          <a:ln w="19050">
            <a:solidFill>
              <a:srgbClr val="E7E5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6238" y="304792"/>
            <a:ext cx="8636000" cy="1154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87" kern="0" dirty="0">
                <a:solidFill>
                  <a:srgbClr val="6D28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MANAJEMEN INVENTARIS — SARANA PRASARANA (KHUSUS)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76238" y="447664"/>
            <a:ext cx="8636000" cy="328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87"/>
              </a:lnSpc>
              <a:buNone/>
            </a:pPr>
            <a:r>
              <a:rPr lang="en-US" sz="2250" b="1" dirty="0">
                <a:solidFill>
                  <a:srgbClr val="1C191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Pengelolaan Sarana, Peminjaman, Distribusi Barang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0110058" y="395278"/>
            <a:ext cx="1605399" cy="1059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spc="101" kern="0" dirty="0">
                <a:solidFill>
                  <a:srgbClr val="78716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MODUL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372661" y="528624"/>
            <a:ext cx="1509637" cy="246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6D28D9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Inventaris</a:t>
            </a:r>
            <a:endParaRPr lang="en-US" sz="1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38" y="1023912"/>
            <a:ext cx="2752656" cy="52564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90525" y="1023912"/>
            <a:ext cx="0" cy="525648"/>
          </a:xfrm>
          <a:prstGeom prst="line">
            <a:avLst/>
          </a:prstGeom>
          <a:noFill/>
          <a:ln w="28574">
            <a:solidFill>
              <a:srgbClr val="D9770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0060" y="1100110"/>
            <a:ext cx="2533587" cy="1059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📦</a:t>
            </a:r>
            <a:pPr algn="l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Sarana Prasarana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00060" y="1233457"/>
            <a:ext cx="2533587" cy="153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CRUD items</a:t>
            </a:r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dengan foto + </a:t>
            </a:r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QR code</a:t>
            </a:r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Kondisi, lokasi, kategori.</a:t>
            </a:r>
            <a:endParaRPr lang="en-US" sz="675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5092" y="1023912"/>
            <a:ext cx="2752656" cy="52564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319379" y="1023912"/>
            <a:ext cx="0" cy="525648"/>
          </a:xfrm>
          <a:prstGeom prst="line">
            <a:avLst/>
          </a:prstGeom>
          <a:noFill/>
          <a:ln w="28574">
            <a:solidFill>
              <a:srgbClr val="D97706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428914" y="1100110"/>
            <a:ext cx="2533587" cy="1059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📥</a:t>
            </a:r>
            <a:pPr algn="l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Peminjaman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3428914" y="1233457"/>
            <a:ext cx="2533587" cy="239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Request → approval → kembali</a:t>
            </a:r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</a:t>
            </a:r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Webcam capture</a:t>
            </a:r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item + peminjam.</a:t>
            </a:r>
            <a:endParaRPr lang="en-US" sz="8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3947" y="1023912"/>
            <a:ext cx="2752656" cy="52564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148234" y="1023912"/>
            <a:ext cx="0" cy="525648"/>
          </a:xfrm>
          <a:prstGeom prst="line">
            <a:avLst/>
          </a:prstGeom>
          <a:noFill/>
          <a:ln w="28574">
            <a:solidFill>
              <a:srgbClr val="D9770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257768" y="1100110"/>
            <a:ext cx="2533587" cy="1059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📤</a:t>
            </a:r>
            <a:pPr algn="l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Distribusi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6257768" y="1233457"/>
            <a:ext cx="2533587" cy="153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Pencatatan </a:t>
            </a:r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keluar/masuk barang</a:t>
            </a:r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antar unit. Mutasi tracking.</a:t>
            </a:r>
            <a:endParaRPr lang="en-US" sz="675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2801" y="1023912"/>
            <a:ext cx="2752656" cy="525648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8977088" y="1023912"/>
            <a:ext cx="0" cy="525648"/>
          </a:xfrm>
          <a:prstGeom prst="line">
            <a:avLst/>
          </a:prstGeom>
          <a:noFill/>
          <a:ln w="28574">
            <a:solidFill>
              <a:srgbClr val="D97706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9086623" y="1100110"/>
            <a:ext cx="2533587" cy="1059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📋</a:t>
            </a:r>
            <a:pPr algn="l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History &amp; Rekap</a:t>
            </a:r>
            <a:endParaRPr lang="en-US" sz="800" dirty="0"/>
          </a:p>
        </p:txBody>
      </p:sp>
      <p:sp>
        <p:nvSpPr>
          <p:cNvPr id="23" name="Text 17"/>
          <p:cNvSpPr/>
          <p:nvPr/>
        </p:nvSpPr>
        <p:spPr>
          <a:xfrm>
            <a:off x="9086623" y="1233457"/>
            <a:ext cx="2533587" cy="153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Log semua transaksi</a:t>
            </a:r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Export </a:t>
            </a:r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Excel/PDF</a:t>
            </a:r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rekap branded.</a:t>
            </a:r>
            <a:endParaRPr lang="en-US" sz="675" dirty="0"/>
          </a:p>
        </p:txBody>
      </p:sp>
      <p:sp>
        <p:nvSpPr>
          <p:cNvPr id="24" name="Text 18"/>
          <p:cNvSpPr/>
          <p:nvPr/>
        </p:nvSpPr>
        <p:spPr>
          <a:xfrm>
            <a:off x="481000" y="1649570"/>
            <a:ext cx="11229694" cy="6689359"/>
          </a:xfrm>
          <a:prstGeom prst="roundRect">
            <a:avLst>
              <a:gd name="adj" fmla="val 1139"/>
            </a:avLst>
          </a:prstGeom>
          <a:noFill/>
          <a:ln w="9525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19"/>
          <p:cNvSpPr/>
          <p:nvPr/>
        </p:nvSpPr>
        <p:spPr>
          <a:xfrm>
            <a:off x="485763" y="1654332"/>
            <a:ext cx="11220169" cy="228594"/>
          </a:xfrm>
          <a:prstGeom prst="rect">
            <a:avLst/>
          </a:prstGeom>
          <a:solidFill>
            <a:srgbClr val="F5F5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0"/>
          <p:cNvSpPr/>
          <p:nvPr/>
        </p:nvSpPr>
        <p:spPr>
          <a:xfrm>
            <a:off x="485763" y="1878164"/>
            <a:ext cx="11220169" cy="0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11296516" y="1711481"/>
            <a:ext cx="314168" cy="104772"/>
          </a:xfrm>
          <a:prstGeom prst="roundRect">
            <a:avLst>
              <a:gd name="adj" fmla="val 27274"/>
            </a:avLst>
          </a:prstGeom>
          <a:solidFill>
            <a:srgbClr val="6D28D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2"/>
          <p:cNvSpPr/>
          <p:nvPr/>
        </p:nvSpPr>
        <p:spPr>
          <a:xfrm>
            <a:off x="581010" y="1711481"/>
            <a:ext cx="3051942" cy="120701"/>
          </a:xfrm>
          <a:prstGeom prst="rect">
            <a:avLst/>
          </a:prstGeom>
          <a:noFill/>
          <a:ln/>
        </p:spPr>
        <p:txBody>
          <a:bodyPr wrap="square" lIns="95248" tIns="57149" rIns="95248" bIns="57149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44403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📦</a:t>
            </a:r>
            <a:pPr algn="l" indent="0" marL="0">
              <a:buNone/>
            </a:pPr>
            <a:r>
              <a:rPr lang="en-US" sz="750" b="1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Bukti: Manajemen Inventaris — app.pushakin-flows.workers.dev</a:t>
            </a:r>
            <a:endParaRPr lang="en-US" sz="750" dirty="0"/>
          </a:p>
        </p:txBody>
      </p:sp>
      <p:sp>
        <p:nvSpPr>
          <p:cNvPr id="29" name="Text 23"/>
          <p:cNvSpPr/>
          <p:nvPr/>
        </p:nvSpPr>
        <p:spPr>
          <a:xfrm>
            <a:off x="11283949" y="1705194"/>
            <a:ext cx="339302" cy="117345"/>
          </a:xfrm>
          <a:prstGeom prst="roundRect">
            <a:avLst>
              <a:gd name="adj" fmla="val 24351"/>
            </a:avLst>
          </a:prstGeom>
          <a:solidFill>
            <a:srgbClr val="6D28D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4"/>
          <p:cNvSpPr/>
          <p:nvPr/>
        </p:nvSpPr>
        <p:spPr>
          <a:xfrm>
            <a:off x="11287159" y="1711481"/>
            <a:ext cx="332882" cy="1047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</a:t>
            </a:r>
            <a:endParaRPr lang="en-US" sz="800" dirty="0"/>
          </a:p>
        </p:txBody>
      </p:sp>
      <p:pic>
        <p:nvPicPr>
          <p:cNvPr id="31" name="Image 4" descr="/tmp/h2p-fit-1791732985803-nlcxn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63" y="1882926"/>
            <a:ext cx="11220169" cy="6451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857228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76238" y="881040"/>
            <a:ext cx="11239219" cy="0"/>
          </a:xfrm>
          <a:prstGeom prst="line">
            <a:avLst/>
          </a:prstGeom>
          <a:noFill/>
          <a:ln w="19050">
            <a:solidFill>
              <a:srgbClr val="E7E5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6238" y="304792"/>
            <a:ext cx="8636000" cy="1154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87" kern="0" dirty="0">
                <a:solidFill>
                  <a:srgbClr val="6D28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MANAJEMEN LAINNYA — SISTEM TERINTEGRASI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76238" y="447664"/>
            <a:ext cx="8636000" cy="328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87"/>
              </a:lnSpc>
              <a:buNone/>
            </a:pPr>
            <a:r>
              <a:rPr lang="en-US" sz="2250" b="1" dirty="0">
                <a:solidFill>
                  <a:srgbClr val="1C191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Modul Pendukung: Surat, Relasi, Statistik, Laporan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773834" y="395278"/>
            <a:ext cx="1941623" cy="1059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spc="101" kern="0" dirty="0">
                <a:solidFill>
                  <a:srgbClr val="78716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MODUL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268401" y="528624"/>
            <a:ext cx="1471873" cy="246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6D28D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 Tambahan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1000" y="1028674"/>
            <a:ext cx="5543411" cy="3583692"/>
          </a:xfrm>
          <a:prstGeom prst="roundRect">
            <a:avLst>
              <a:gd name="adj" fmla="val 2126"/>
            </a:avLst>
          </a:prstGeom>
          <a:noFill/>
          <a:ln w="9525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5763" y="1033437"/>
            <a:ext cx="5533887" cy="424745"/>
          </a:xfrm>
          <a:prstGeom prst="rect">
            <a:avLst/>
          </a:prstGeom>
          <a:solidFill>
            <a:srgbClr val="FAF5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85763" y="1453419"/>
            <a:ext cx="5533887" cy="0"/>
          </a:xfrm>
          <a:prstGeom prst="line">
            <a:avLst/>
          </a:prstGeom>
          <a:noFill/>
          <a:ln w="9525">
            <a:solidFill>
              <a:srgbClr val="F3E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0060" y="1109635"/>
            <a:ext cx="5415020" cy="1154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4C1D9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📋</a:t>
            </a:r>
            <a:pPr algn="l" indent="0" marL="0">
              <a:buNone/>
            </a:pPr>
            <a:r>
              <a:rPr lang="en-US" sz="825" b="1" dirty="0">
                <a:solidFill>
                  <a:srgbClr val="4C1D9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Manajemen Surat (Administrator)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600060" y="1252506"/>
            <a:ext cx="5305292" cy="11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Surat masuk/keluar dengan kategori, status transisi, arsip digital</a:t>
            </a:r>
            <a:endParaRPr lang="en-US" sz="800" dirty="0"/>
          </a:p>
        </p:txBody>
      </p:sp>
      <p:pic>
        <p:nvPicPr>
          <p:cNvPr id="13" name="Image 0" descr="/tmp/h2p-fit-1791732985394-zftw6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763" y="1458181"/>
            <a:ext cx="5533887" cy="314942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167283" y="1028674"/>
            <a:ext cx="5543411" cy="3583692"/>
          </a:xfrm>
          <a:prstGeom prst="roundRect">
            <a:avLst>
              <a:gd name="adj" fmla="val 2126"/>
            </a:avLst>
          </a:prstGeom>
          <a:noFill/>
          <a:ln w="9525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172046" y="1033437"/>
            <a:ext cx="5533887" cy="424745"/>
          </a:xfrm>
          <a:prstGeom prst="rect">
            <a:avLst/>
          </a:prstGeom>
          <a:solidFill>
            <a:srgbClr val="FAF5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6172046" y="1453419"/>
            <a:ext cx="5533887" cy="0"/>
          </a:xfrm>
          <a:prstGeom prst="line">
            <a:avLst/>
          </a:prstGeom>
          <a:noFill/>
          <a:ln w="9525">
            <a:solidFill>
              <a:srgbClr val="F3E8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86343" y="1109635"/>
            <a:ext cx="5415020" cy="1154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4C1D9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📝</a:t>
            </a:r>
            <a:pPr algn="l" indent="0" marL="0">
              <a:buNone/>
            </a:pPr>
            <a:r>
              <a:rPr lang="en-US" sz="825" b="1" dirty="0">
                <a:solidFill>
                  <a:srgbClr val="4C1D9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Relasi Public Form (Mitra Eksternal)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6286343" y="1252506"/>
            <a:ext cx="5305292" cy="11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Form no-auth untuk mitra eksternal kontribusi berita tanpa akun</a:t>
            </a:r>
            <a:endParaRPr lang="en-US" sz="800" dirty="0"/>
          </a:p>
        </p:txBody>
      </p:sp>
      <p:pic>
        <p:nvPicPr>
          <p:cNvPr id="19" name="Image 1" descr="/tmp/h2p-fit-1791732985395-8yzqh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046" y="1458181"/>
            <a:ext cx="5533887" cy="314942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81000" y="4755237"/>
            <a:ext cx="5543411" cy="3583692"/>
          </a:xfrm>
          <a:prstGeom prst="roundRect">
            <a:avLst>
              <a:gd name="adj" fmla="val 2126"/>
            </a:avLst>
          </a:prstGeom>
          <a:noFill/>
          <a:ln w="9525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485763" y="4760000"/>
            <a:ext cx="5533887" cy="424745"/>
          </a:xfrm>
          <a:prstGeom prst="rect">
            <a:avLst/>
          </a:prstGeom>
          <a:solidFill>
            <a:srgbClr val="FAF5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18"/>
          <p:cNvSpPr/>
          <p:nvPr/>
        </p:nvSpPr>
        <p:spPr>
          <a:xfrm>
            <a:off x="485763" y="5179982"/>
            <a:ext cx="5533887" cy="0"/>
          </a:xfrm>
          <a:prstGeom prst="line">
            <a:avLst/>
          </a:prstGeom>
          <a:noFill/>
          <a:ln w="9525">
            <a:solidFill>
              <a:srgbClr val="F3E8F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00060" y="4836198"/>
            <a:ext cx="5415020" cy="1154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4C1D9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📊 Statistik Evaluasi 5-Section</a:t>
            </a:r>
            <a:endParaRPr lang="en-US" sz="825" dirty="0"/>
          </a:p>
        </p:txBody>
      </p:sp>
      <p:sp>
        <p:nvSpPr>
          <p:cNvPr id="24" name="Text 20"/>
          <p:cNvSpPr/>
          <p:nvPr/>
        </p:nvSpPr>
        <p:spPr>
          <a:xfrm>
            <a:off x="600060" y="4979069"/>
            <a:ext cx="5305292" cy="11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 user, per tahap, per role, per tim, workflow — real-time</a:t>
            </a:r>
            <a:endParaRPr lang="en-US" sz="800" dirty="0"/>
          </a:p>
        </p:txBody>
      </p:sp>
      <p:pic>
        <p:nvPicPr>
          <p:cNvPr id="25" name="Image 2" descr="/tmp/h2p-fit-1791732985395-r6n9i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63" y="5184745"/>
            <a:ext cx="5533887" cy="314942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167283" y="4755237"/>
            <a:ext cx="5543411" cy="3583692"/>
          </a:xfrm>
          <a:prstGeom prst="roundRect">
            <a:avLst>
              <a:gd name="adj" fmla="val 2126"/>
            </a:avLst>
          </a:prstGeom>
          <a:noFill/>
          <a:ln w="9525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2"/>
          <p:cNvSpPr/>
          <p:nvPr/>
        </p:nvSpPr>
        <p:spPr>
          <a:xfrm>
            <a:off x="6172046" y="4760000"/>
            <a:ext cx="5533887" cy="424745"/>
          </a:xfrm>
          <a:prstGeom prst="rect">
            <a:avLst/>
          </a:prstGeom>
          <a:solidFill>
            <a:srgbClr val="FAF5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3"/>
          <p:cNvSpPr/>
          <p:nvPr/>
        </p:nvSpPr>
        <p:spPr>
          <a:xfrm>
            <a:off x="6172046" y="5179982"/>
            <a:ext cx="5533887" cy="0"/>
          </a:xfrm>
          <a:prstGeom prst="line">
            <a:avLst/>
          </a:prstGeom>
          <a:noFill/>
          <a:ln w="9525">
            <a:solidFill>
              <a:srgbClr val="F3E8FF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286343" y="4836198"/>
            <a:ext cx="5415020" cy="1154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4C1D9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📄</a:t>
            </a:r>
            <a:pPr algn="l" indent="0" marL="0">
              <a:buNone/>
            </a:pPr>
            <a:r>
              <a:rPr lang="en-US" sz="825" b="1" dirty="0">
                <a:solidFill>
                  <a:srgbClr val="4C1D9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Laporan Kegiatan SKP (Auto-Generate)</a:t>
            </a:r>
            <a:endParaRPr lang="en-US" sz="825" dirty="0"/>
          </a:p>
        </p:txBody>
      </p:sp>
      <p:sp>
        <p:nvSpPr>
          <p:cNvPr id="30" name="Text 25"/>
          <p:cNvSpPr/>
          <p:nvPr/>
        </p:nvSpPr>
        <p:spPr>
          <a:xfrm>
            <a:off x="6286343" y="4979069"/>
            <a:ext cx="5415020" cy="11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PDF + Excel saat Tahap 5, self-service semua role</a:t>
            </a:r>
            <a:endParaRPr lang="en-US" sz="800" dirty="0"/>
          </a:p>
        </p:txBody>
      </p:sp>
      <p:pic>
        <p:nvPicPr>
          <p:cNvPr id="31" name="Image 3" descr="/tmp/h2p-fit-1791732985395-oc5md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046" y="5184745"/>
            <a:ext cx="5533887" cy="314942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857228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76238" y="881040"/>
            <a:ext cx="11239219" cy="0"/>
          </a:xfrm>
          <a:prstGeom prst="line">
            <a:avLst/>
          </a:prstGeom>
          <a:noFill/>
          <a:ln w="19050">
            <a:solidFill>
              <a:srgbClr val="E7E5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6238" y="304792"/>
            <a:ext cx="8636000" cy="1154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87" kern="0" dirty="0">
                <a:solidFill>
                  <a:srgbClr val="6D28D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PEMENUHAN 6 INDIKATOR PENILAIAN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76238" y="447664"/>
            <a:ext cx="8636000" cy="328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87"/>
              </a:lnSpc>
              <a:buNone/>
            </a:pPr>
            <a:r>
              <a:rPr lang="en-US" sz="2250" b="1" dirty="0">
                <a:solidFill>
                  <a:srgbClr val="1C191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Pushakin Flows Menjawab Kriteria Komunikasi Inovatif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0801080" y="395278"/>
            <a:ext cx="914377" cy="1059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spc="101" kern="0" dirty="0">
                <a:solidFill>
                  <a:srgbClr val="78716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TOTAL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01080" y="528624"/>
            <a:ext cx="914377" cy="246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6D28D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100%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6238" y="1023912"/>
            <a:ext cx="11239219" cy="347654"/>
          </a:xfrm>
          <a:prstGeom prst="roundRect">
            <a:avLst>
              <a:gd name="adj" fmla="val 10959"/>
            </a:avLst>
          </a:prstGeom>
          <a:solidFill>
            <a:srgbClr val="FAF5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90525" y="1023912"/>
            <a:ext cx="0" cy="347654"/>
          </a:xfrm>
          <a:prstGeom prst="line">
            <a:avLst/>
          </a:prstGeom>
          <a:noFill/>
          <a:ln w="28574">
            <a:solidFill>
              <a:srgbClr val="6D28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6238" y="1023912"/>
            <a:ext cx="8636000" cy="375466"/>
          </a:xfrm>
          <a:prstGeom prst="rect">
            <a:avLst/>
          </a:prstGeom>
          <a:noFill/>
          <a:ln/>
        </p:spPr>
        <p:txBody>
          <a:bodyPr wrap="square" lIns="133347" tIns="95248" rIns="133347" bIns="95248" rtlCol="0" anchor="t"/>
          <a:lstStyle/>
          <a:p>
            <a:pPr algn="l" indent="0" marL="0">
              <a:lnSpc>
                <a:spcPts val="1237"/>
              </a:lnSpc>
              <a:buNone/>
            </a:pPr>
            <a:r>
              <a:rPr lang="en-US" sz="825" b="1" dirty="0">
                <a:solidFill>
                  <a:srgbClr val="4C1D9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6/6 indikator terpenuhi</a:t>
            </a:r>
            <a:pPr algn="l" indent="0" marL="0">
              <a:lnSpc>
                <a:spcPts val="1237"/>
              </a:lnSpc>
              <a:buNone/>
            </a:pPr>
            <a:r>
              <a:rPr lang="en-US" sz="825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dengan bukti sistem di slide sebelumnya. Pushakin Flows mewujudkan ekosistem komunikasi publik yang </a:t>
            </a:r>
            <a:pPr algn="l" indent="0" marL="0">
              <a:lnSpc>
                <a:spcPts val="1237"/>
              </a:lnSpc>
              <a:buNone/>
            </a:pPr>
            <a:r>
              <a:rPr lang="en-US" sz="825" b="1" dirty="0">
                <a:solidFill>
                  <a:srgbClr val="4C1D9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inovatif, efektif, transparan, dan partisipatif</a:t>
            </a:r>
            <a:pPr algn="l" indent="0" marL="0">
              <a:lnSpc>
                <a:spcPts val="1237"/>
              </a:lnSpc>
              <a:buNone/>
            </a:pPr>
            <a:r>
              <a:rPr lang="en-US" sz="825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481000" y="1509675"/>
            <a:ext cx="5533887" cy="6829254"/>
          </a:xfrm>
          <a:prstGeom prst="roundRect">
            <a:avLst>
              <a:gd name="adj" fmla="val 1377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19110" y="1838279"/>
            <a:ext cx="5257668" cy="0"/>
          </a:xfrm>
          <a:prstGeom prst="line">
            <a:avLst/>
          </a:prstGeom>
          <a:noFill/>
          <a:ln w="19050">
            <a:solidFill>
              <a:srgbClr val="F3E8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9110" y="1647784"/>
            <a:ext cx="5257668" cy="216022"/>
          </a:xfrm>
          <a:prstGeom prst="rect">
            <a:avLst/>
          </a:prstGeom>
          <a:noFill/>
          <a:ln/>
        </p:spPr>
        <p:txBody>
          <a:bodyPr wrap="none" lIns="0" tIns="0" rIns="0" bIns="57149" rtlCol="0" anchor="t"/>
          <a:lstStyle/>
          <a:p>
            <a:pPr algn="l" indent="0" marL="0">
              <a:buNone/>
            </a:pPr>
            <a:r>
              <a:rPr lang="en-US" sz="825" b="1" spc="165" kern="0" dirty="0">
                <a:solidFill>
                  <a:srgbClr val="6D28D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📊 PEMENUHAN 6 INDIKATOR</a:t>
            </a:r>
            <a:endParaRPr lang="en-US" sz="825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110" y="1943051"/>
          <a:ext cx="5257668" cy="914400"/>
        </p:xfrm>
        <a:graphic>
          <a:graphicData uri="http://schemas.openxmlformats.org/drawingml/2006/table">
            <a:tbl>
              <a:tblPr/>
              <a:tblGrid>
                <a:gridCol w="449747"/>
                <a:gridCol w="1172141"/>
                <a:gridCol w="2874097"/>
                <a:gridCol w="761683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4C1D9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No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49" marR="76198" marT="76198" marB="57149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4C1D9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Indikator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49" marR="76198" marT="76198" marB="57149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4C1D9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Bukti Pemenuhan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49" marR="76198" marT="76198" marB="57149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C1D9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Bobot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49" marR="76198" marT="76198" marB="57149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4403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3" marR="76198" marT="76198" marB="66673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4403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Objektif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3" marR="76198" marT="76198" marB="66673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4403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Workflow 3-lapis + Surat Tugas bernomor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3" marR="76198" marT="76198" marB="66673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D28D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20%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3" marR="76198" marT="76198" marB="66673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4403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3" marR="76198" marT="76198" marB="66673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4403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Strategi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3" marR="76198" marT="76198" marB="66673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4403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5-tahap gating + 3 mode adaptif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3" marR="76198" marT="76198" marB="66673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D28D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20%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3" marR="76198" marT="76198" marB="66673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4403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3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3" marR="76198" marT="76198" marB="66673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4403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Taktik/Saluran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3" marR="76198" marT="76198" marB="66673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4403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12+ channel (WA, LIHUM, 14 platform)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3" marR="76198" marT="76198" marB="66673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D28D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10%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3" marR="76198" marT="76198" marB="66673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4403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4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3" marR="76198" marT="76198" marB="66673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4403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Key Messages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3" marR="76198" marT="76198" marB="66673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4403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5-lapis pesan + 3-trigger notifikasi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3" marR="76198" marT="76198" marB="66673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D28D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15%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3" marR="76198" marT="76198" marB="66673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4403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5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3" marR="76198" marT="76198" marB="66673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4403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Eksekusi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3" marR="76198" marT="76198" marB="66673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4403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15 fitur end-to-end + audit trail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3" marR="76198" marT="76198" marB="66673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D28D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20%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3" marR="76198" marT="76198" marB="66673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4403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6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3" marR="76198" marT="76198" marB="66673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4403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Pengukuran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3" marR="76198" marT="76198" marB="66673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4403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5-section dashboard + Laporan SKP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3" marR="76198" marT="76198" marB="66673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D28D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15%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3" marR="76198" marT="76198" marB="66673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 gridSpan="3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TOTAL BOBOT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3" marR="76198" marT="76198" marB="66673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100%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6673" marR="76198" marT="76198" marB="66673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</a:tr>
            </a:tbl>
          </a:graphicData>
        </a:graphic>
      </p:graphicFrame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046" y="1504912"/>
            <a:ext cx="5543411" cy="165254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305392" y="2178789"/>
            <a:ext cx="5276718" cy="144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💡</a:t>
            </a:r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INOVATIF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305392" y="2350235"/>
            <a:ext cx="527671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>
                    <a:alpha val="9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mode produksi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9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+ intra-stage dependency + </a:t>
            </a:r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>
                    <a:alpha val="9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WA provider gratis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9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+ LIHUM 1-click + </a:t>
            </a:r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>
                    <a:alpha val="9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active duration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9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measurement</a:t>
            </a:r>
            <a:endParaRPr lang="en-US" sz="75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046" y="3233657"/>
            <a:ext cx="5543411" cy="165254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05392" y="3907533"/>
            <a:ext cx="5276718" cy="144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⚡ EFEKTIF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6305392" y="4078979"/>
            <a:ext cx="527671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FFFFFF">
                    <a:alpha val="9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253 proyek</a:t>
            </a:r>
            <a:pPr algn="l"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FFFFFF">
                    <a:alpha val="9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tracked, 793 task, 529 surat tugas, </a:t>
            </a:r>
            <a:pPr algn="l" indent="0" marL="0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FFFFFF">
                    <a:alpha val="9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 stuck permanen</a:t>
            </a:r>
            <a:pPr algn="l"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FFFFFF">
                    <a:alpha val="9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, Worker startup 26ms</a:t>
            </a:r>
            <a:endParaRPr lang="en-US" sz="8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046" y="4962401"/>
            <a:ext cx="5543411" cy="165254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05392" y="5636278"/>
            <a:ext cx="5276718" cy="144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🔍</a:t>
            </a:r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TRANSPARAN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6305392" y="5807723"/>
            <a:ext cx="527671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>
                    <a:alpha val="9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Public Tracker no-auth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9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+ </a:t>
            </a:r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>
                    <a:alpha val="9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LIHUM gallery publik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9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embedded di web UIN Antasari + audit trail lengkap</a:t>
            </a:r>
            <a:endParaRPr lang="en-US" sz="75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046" y="6691145"/>
            <a:ext cx="5543411" cy="165254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305392" y="7365022"/>
            <a:ext cx="5276718" cy="144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🤝</a:t>
            </a:r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PARTISIPATIF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6305392" y="7536468"/>
            <a:ext cx="527671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>
                    <a:alpha val="9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 role kontribusi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9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+ Relasi public form (mitra eksternal) + self-service laporan + Inventaris terintegrasi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2026-10-11T15:36:26Z</dcterms:created>
  <dcterms:modified xsi:type="dcterms:W3CDTF">2026-10-11T15:36:26Z</dcterms:modified>
</cp:coreProperties>
</file>